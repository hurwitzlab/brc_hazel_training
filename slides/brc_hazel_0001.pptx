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9" r:id="rId3"/>
    <p:sldId id="258" r:id="rId4"/>
    <p:sldId id="301" r:id="rId5"/>
    <p:sldId id="296" r:id="rId6"/>
    <p:sldId id="291" r:id="rId7"/>
    <p:sldId id="297" r:id="rId8"/>
    <p:sldId id="260" r:id="rId9"/>
    <p:sldId id="261" r:id="rId10"/>
    <p:sldId id="262" r:id="rId11"/>
    <p:sldId id="263" r:id="rId12"/>
    <p:sldId id="264" r:id="rId13"/>
    <p:sldId id="272" r:id="rId14"/>
    <p:sldId id="274" r:id="rId15"/>
    <p:sldId id="265" r:id="rId16"/>
    <p:sldId id="273" r:id="rId17"/>
    <p:sldId id="266" r:id="rId18"/>
    <p:sldId id="298" r:id="rId19"/>
    <p:sldId id="299" r:id="rId20"/>
    <p:sldId id="267" r:id="rId21"/>
    <p:sldId id="275" r:id="rId22"/>
    <p:sldId id="268" r:id="rId23"/>
    <p:sldId id="276" r:id="rId24"/>
    <p:sldId id="277" r:id="rId25"/>
    <p:sldId id="278" r:id="rId26"/>
    <p:sldId id="269" r:id="rId27"/>
    <p:sldId id="270" r:id="rId28"/>
    <p:sldId id="271" r:id="rId29"/>
    <p:sldId id="279" r:id="rId30"/>
    <p:sldId id="280" r:id="rId31"/>
    <p:sldId id="281" r:id="rId32"/>
    <p:sldId id="282" r:id="rId33"/>
    <p:sldId id="283" r:id="rId34"/>
    <p:sldId id="284" r:id="rId35"/>
    <p:sldId id="285" r:id="rId36"/>
    <p:sldId id="286" r:id="rId37"/>
    <p:sldId id="300" r:id="rId38"/>
    <p:sldId id="287" r:id="rId39"/>
    <p:sldId id="288" r:id="rId40"/>
    <p:sldId id="289" r:id="rId41"/>
    <p:sldId id="290" r:id="rId42"/>
    <p:sldId id="292" r:id="rId43"/>
    <p:sldId id="293" r:id="rId44"/>
    <p:sldId id="302" r:id="rId45"/>
    <p:sldId id="295" r:id="rId46"/>
    <p:sldId id="294" r:id="rId47"/>
    <p:sldId id="303" r:id="rId48"/>
    <p:sldId id="308" r:id="rId49"/>
    <p:sldId id="316" r:id="rId50"/>
    <p:sldId id="314" r:id="rId51"/>
    <p:sldId id="315" r:id="rId52"/>
    <p:sldId id="306" r:id="rId53"/>
    <p:sldId id="317" r:id="rId54"/>
    <p:sldId id="31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0003"/>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32"/>
    <p:restoredTop sz="94720"/>
  </p:normalViewPr>
  <p:slideViewPr>
    <p:cSldViewPr snapToGrid="0">
      <p:cViewPr varScale="1">
        <p:scale>
          <a:sx n="215" d="100"/>
          <a:sy n="215" d="100"/>
        </p:scale>
        <p:origin x="10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7B1BB-B1A5-EC45-BF3A-DF1134B2DC02}" type="datetimeFigureOut">
              <a:rPr lang="en-US" smtClean="0"/>
              <a:t>11/10/25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FC26C8-C37B-D543-9AB9-4FE91B5DFE38}" type="slidenum">
              <a:rPr lang="en-US" smtClean="0"/>
              <a:t>‹#›</a:t>
            </a:fld>
            <a:endParaRPr lang="en-US"/>
          </a:p>
        </p:txBody>
      </p:sp>
    </p:spTree>
    <p:extLst>
      <p:ext uri="{BB962C8B-B14F-4D97-AF65-F5344CB8AC3E}">
        <p14:creationId xmlns:p14="http://schemas.microsoft.com/office/powerpoint/2010/main" val="125425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hpc.ncsu.edu/Documents/LoginUsingVSCode.php"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hpc.ncsu.edu/Documents/LoginUsingVSCode.php"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6</a:t>
            </a:fld>
            <a:endParaRPr lang="en-US"/>
          </a:p>
        </p:txBody>
      </p:sp>
    </p:spTree>
    <p:extLst>
      <p:ext uri="{BB962C8B-B14F-4D97-AF65-F5344CB8AC3E}">
        <p14:creationId xmlns:p14="http://schemas.microsoft.com/office/powerpoint/2010/main" val="1397008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FC08E-A492-0805-0A89-BB5B4755C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5616D-4654-FADB-7C87-C0862898C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01DCA-20C8-6E14-00D3-0A1094197A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C194C8-7DC4-CB65-8825-6E6073E2DCC9}"/>
              </a:ext>
            </a:extLst>
          </p:cNvPr>
          <p:cNvSpPr>
            <a:spLocks noGrp="1"/>
          </p:cNvSpPr>
          <p:nvPr>
            <p:ph type="sldNum" sz="quarter" idx="5"/>
          </p:nvPr>
        </p:nvSpPr>
        <p:spPr/>
        <p:txBody>
          <a:bodyPr/>
          <a:lstStyle/>
          <a:p>
            <a:fld id="{13FC26C8-C37B-D543-9AB9-4FE91B5DFE38}" type="slidenum">
              <a:rPr lang="en-US" smtClean="0"/>
              <a:t>7</a:t>
            </a:fld>
            <a:endParaRPr lang="en-US"/>
          </a:p>
        </p:txBody>
      </p:sp>
    </p:spTree>
    <p:extLst>
      <p:ext uri="{BB962C8B-B14F-4D97-AF65-F5344CB8AC3E}">
        <p14:creationId xmlns:p14="http://schemas.microsoft.com/office/powerpoint/2010/main" val="3252420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21</a:t>
            </a:fld>
            <a:endParaRPr lang="en-US"/>
          </a:p>
        </p:txBody>
      </p:sp>
    </p:spTree>
    <p:extLst>
      <p:ext uri="{BB962C8B-B14F-4D97-AF65-F5344CB8AC3E}">
        <p14:creationId xmlns:p14="http://schemas.microsoft.com/office/powerpoint/2010/main" val="378576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27</a:t>
            </a:fld>
            <a:endParaRPr lang="en-US"/>
          </a:p>
        </p:txBody>
      </p:sp>
    </p:spTree>
    <p:extLst>
      <p:ext uri="{BB962C8B-B14F-4D97-AF65-F5344CB8AC3E}">
        <p14:creationId xmlns:p14="http://schemas.microsoft.com/office/powerpoint/2010/main" val="2665356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FF41-CC3F-5A0E-418C-1D40D7AE1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67B53-6DF2-B104-2BD0-930901CF2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DD57C-C4C4-9EAE-E160-B526DB1FD7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1B777-880E-7E79-34BA-0435F7700F41}"/>
              </a:ext>
            </a:extLst>
          </p:cNvPr>
          <p:cNvSpPr>
            <a:spLocks noGrp="1"/>
          </p:cNvSpPr>
          <p:nvPr>
            <p:ph type="sldNum" sz="quarter" idx="5"/>
          </p:nvPr>
        </p:nvSpPr>
        <p:spPr/>
        <p:txBody>
          <a:bodyPr/>
          <a:lstStyle/>
          <a:p>
            <a:fld id="{13FC26C8-C37B-D543-9AB9-4FE91B5DFE38}" type="slidenum">
              <a:rPr lang="en-US" smtClean="0"/>
              <a:t>28</a:t>
            </a:fld>
            <a:endParaRPr lang="en-US"/>
          </a:p>
        </p:txBody>
      </p:sp>
    </p:spTree>
    <p:extLst>
      <p:ext uri="{BB962C8B-B14F-4D97-AF65-F5344CB8AC3E}">
        <p14:creationId xmlns:p14="http://schemas.microsoft.com/office/powerpoint/2010/main" val="1896466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62632-F0A1-B2AD-69EE-842C8139D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173C9-DFBF-411B-3B20-D7F3D900C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64C56-706C-85FF-1B61-3AC725E041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AF1565-7A23-778A-7899-08591CDB8455}"/>
              </a:ext>
            </a:extLst>
          </p:cNvPr>
          <p:cNvSpPr>
            <a:spLocks noGrp="1"/>
          </p:cNvSpPr>
          <p:nvPr>
            <p:ph type="sldNum" sz="quarter" idx="5"/>
          </p:nvPr>
        </p:nvSpPr>
        <p:spPr/>
        <p:txBody>
          <a:bodyPr/>
          <a:lstStyle/>
          <a:p>
            <a:fld id="{13FC26C8-C37B-D543-9AB9-4FE91B5DFE38}" type="slidenum">
              <a:rPr lang="en-US" smtClean="0"/>
              <a:t>29</a:t>
            </a:fld>
            <a:endParaRPr lang="en-US"/>
          </a:p>
        </p:txBody>
      </p:sp>
    </p:spTree>
    <p:extLst>
      <p:ext uri="{BB962C8B-B14F-4D97-AF65-F5344CB8AC3E}">
        <p14:creationId xmlns:p14="http://schemas.microsoft.com/office/powerpoint/2010/main" val="1569521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D0E64-4E60-910B-346F-6E23E043C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3484C-9AE3-F43E-F047-E13DF66C5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95CCF-42D6-E97B-61FC-5BF064CC7F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C5EEB0-829E-B962-EB57-BD725EBA0D42}"/>
              </a:ext>
            </a:extLst>
          </p:cNvPr>
          <p:cNvSpPr>
            <a:spLocks noGrp="1"/>
          </p:cNvSpPr>
          <p:nvPr>
            <p:ph type="sldNum" sz="quarter" idx="5"/>
          </p:nvPr>
        </p:nvSpPr>
        <p:spPr/>
        <p:txBody>
          <a:bodyPr/>
          <a:lstStyle/>
          <a:p>
            <a:fld id="{13FC26C8-C37B-D543-9AB9-4FE91B5DFE38}" type="slidenum">
              <a:rPr lang="en-US" smtClean="0"/>
              <a:t>30</a:t>
            </a:fld>
            <a:endParaRPr lang="en-US"/>
          </a:p>
        </p:txBody>
      </p:sp>
    </p:spTree>
    <p:extLst>
      <p:ext uri="{BB962C8B-B14F-4D97-AF65-F5344CB8AC3E}">
        <p14:creationId xmlns:p14="http://schemas.microsoft.com/office/powerpoint/2010/main" val="208446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224E9-A020-6FBB-227A-E67CE5D38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10D1F-A13B-E125-2E6E-F1179C264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52916-25CE-ADBA-EF05-4CE4EE77EA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46E800-1537-9A3F-C385-AA8E64D1B5EB}"/>
              </a:ext>
            </a:extLst>
          </p:cNvPr>
          <p:cNvSpPr>
            <a:spLocks noGrp="1"/>
          </p:cNvSpPr>
          <p:nvPr>
            <p:ph type="sldNum" sz="quarter" idx="5"/>
          </p:nvPr>
        </p:nvSpPr>
        <p:spPr/>
        <p:txBody>
          <a:bodyPr/>
          <a:lstStyle/>
          <a:p>
            <a:fld id="{13FC26C8-C37B-D543-9AB9-4FE91B5DFE38}" type="slidenum">
              <a:rPr lang="en-US" smtClean="0"/>
              <a:t>31</a:t>
            </a:fld>
            <a:endParaRPr lang="en-US"/>
          </a:p>
        </p:txBody>
      </p:sp>
    </p:spTree>
    <p:extLst>
      <p:ext uri="{BB962C8B-B14F-4D97-AF65-F5344CB8AC3E}">
        <p14:creationId xmlns:p14="http://schemas.microsoft.com/office/powerpoint/2010/main" val="1171249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23206-8EFF-D14D-D547-963ADB57E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38ABD-C7C0-E137-6450-36F8A9B3D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5BCB7-1969-311C-782C-5EA0A0C6C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677AE-4555-8F0F-7CEE-A30CEF2E8E7F}"/>
              </a:ext>
            </a:extLst>
          </p:cNvPr>
          <p:cNvSpPr>
            <a:spLocks noGrp="1"/>
          </p:cNvSpPr>
          <p:nvPr>
            <p:ph type="sldNum" sz="quarter" idx="5"/>
          </p:nvPr>
        </p:nvSpPr>
        <p:spPr/>
        <p:txBody>
          <a:bodyPr/>
          <a:lstStyle/>
          <a:p>
            <a:fld id="{13FC26C8-C37B-D543-9AB9-4FE91B5DFE38}" type="slidenum">
              <a:rPr lang="en-US" smtClean="0"/>
              <a:t>32</a:t>
            </a:fld>
            <a:endParaRPr lang="en-US"/>
          </a:p>
        </p:txBody>
      </p:sp>
    </p:spTree>
    <p:extLst>
      <p:ext uri="{BB962C8B-B14F-4D97-AF65-F5344CB8AC3E}">
        <p14:creationId xmlns:p14="http://schemas.microsoft.com/office/powerpoint/2010/main" val="1531390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CFEBC-BCD4-7844-A59C-5909EF358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1DA7F-A43D-29D3-BD13-28F6462C8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152BD-2EEF-514D-95F8-E7BC8E3984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57DF49-D5B8-7B7E-39F0-B0D6C1A0D697}"/>
              </a:ext>
            </a:extLst>
          </p:cNvPr>
          <p:cNvSpPr>
            <a:spLocks noGrp="1"/>
          </p:cNvSpPr>
          <p:nvPr>
            <p:ph type="sldNum" sz="quarter" idx="5"/>
          </p:nvPr>
        </p:nvSpPr>
        <p:spPr/>
        <p:txBody>
          <a:bodyPr/>
          <a:lstStyle/>
          <a:p>
            <a:fld id="{13FC26C8-C37B-D543-9AB9-4FE91B5DFE38}" type="slidenum">
              <a:rPr lang="en-US" smtClean="0"/>
              <a:t>33</a:t>
            </a:fld>
            <a:endParaRPr lang="en-US"/>
          </a:p>
        </p:txBody>
      </p:sp>
    </p:spTree>
    <p:extLst>
      <p:ext uri="{BB962C8B-B14F-4D97-AF65-F5344CB8AC3E}">
        <p14:creationId xmlns:p14="http://schemas.microsoft.com/office/powerpoint/2010/main" val="3616082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4602-573C-E7B2-144B-CC99687A0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771D4-87E8-C940-DC8A-40D048CE6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F1E72-B414-5AF4-6E93-E17BA3F34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31FE67-91B6-7C7F-A77B-9A45D1D24008}"/>
              </a:ext>
            </a:extLst>
          </p:cNvPr>
          <p:cNvSpPr>
            <a:spLocks noGrp="1"/>
          </p:cNvSpPr>
          <p:nvPr>
            <p:ph type="sldNum" sz="quarter" idx="5"/>
          </p:nvPr>
        </p:nvSpPr>
        <p:spPr/>
        <p:txBody>
          <a:bodyPr/>
          <a:lstStyle/>
          <a:p>
            <a:fld id="{13FC26C8-C37B-D543-9AB9-4FE91B5DFE38}" type="slidenum">
              <a:rPr lang="en-US" smtClean="0"/>
              <a:t>34</a:t>
            </a:fld>
            <a:endParaRPr lang="en-US"/>
          </a:p>
        </p:txBody>
      </p:sp>
    </p:spTree>
    <p:extLst>
      <p:ext uri="{BB962C8B-B14F-4D97-AF65-F5344CB8AC3E}">
        <p14:creationId xmlns:p14="http://schemas.microsoft.com/office/powerpoint/2010/main" val="3364549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8FFE3-9ECC-6C12-5900-C8FA0CBF2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DB182-C5A0-6356-19F4-BCDFE7913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66B04-332C-53F7-B8AD-FAD5E85CB0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7425FC-BA0A-0997-4984-29BD8F2D7D67}"/>
              </a:ext>
            </a:extLst>
          </p:cNvPr>
          <p:cNvSpPr>
            <a:spLocks noGrp="1"/>
          </p:cNvSpPr>
          <p:nvPr>
            <p:ph type="sldNum" sz="quarter" idx="5"/>
          </p:nvPr>
        </p:nvSpPr>
        <p:spPr/>
        <p:txBody>
          <a:bodyPr/>
          <a:lstStyle/>
          <a:p>
            <a:fld id="{13FC26C8-C37B-D543-9AB9-4FE91B5DFE38}" type="slidenum">
              <a:rPr lang="en-US" smtClean="0"/>
              <a:t>35</a:t>
            </a:fld>
            <a:endParaRPr lang="en-US"/>
          </a:p>
        </p:txBody>
      </p:sp>
    </p:spTree>
    <p:extLst>
      <p:ext uri="{BB962C8B-B14F-4D97-AF65-F5344CB8AC3E}">
        <p14:creationId xmlns:p14="http://schemas.microsoft.com/office/powerpoint/2010/main" val="3486693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10FCB-5535-354B-34DB-2367F9082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A893F-448F-5CBE-86C7-2E47DB600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7129E-9789-D93E-01AC-0FF9A601D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7FFD77-8873-BAC2-A318-1DE079FEBADD}"/>
              </a:ext>
            </a:extLst>
          </p:cNvPr>
          <p:cNvSpPr>
            <a:spLocks noGrp="1"/>
          </p:cNvSpPr>
          <p:nvPr>
            <p:ph type="sldNum" sz="quarter" idx="5"/>
          </p:nvPr>
        </p:nvSpPr>
        <p:spPr/>
        <p:txBody>
          <a:bodyPr/>
          <a:lstStyle/>
          <a:p>
            <a:fld id="{13FC26C8-C37B-D543-9AB9-4FE91B5DFE38}" type="slidenum">
              <a:rPr lang="en-US" smtClean="0"/>
              <a:t>36</a:t>
            </a:fld>
            <a:endParaRPr lang="en-US"/>
          </a:p>
        </p:txBody>
      </p:sp>
    </p:spTree>
    <p:extLst>
      <p:ext uri="{BB962C8B-B14F-4D97-AF65-F5344CB8AC3E}">
        <p14:creationId xmlns:p14="http://schemas.microsoft.com/office/powerpoint/2010/main" val="3662264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91D32-EFC4-2E06-9C26-4E671E11B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B2999-F979-637F-2241-980CB44FF7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EC6D76-EE55-0DAE-0F2F-8A911709E2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F3F58-6256-DB9D-E358-955DCFB45270}"/>
              </a:ext>
            </a:extLst>
          </p:cNvPr>
          <p:cNvSpPr>
            <a:spLocks noGrp="1"/>
          </p:cNvSpPr>
          <p:nvPr>
            <p:ph type="sldNum" sz="quarter" idx="5"/>
          </p:nvPr>
        </p:nvSpPr>
        <p:spPr/>
        <p:txBody>
          <a:bodyPr/>
          <a:lstStyle/>
          <a:p>
            <a:fld id="{13FC26C8-C37B-D543-9AB9-4FE91B5DFE38}" type="slidenum">
              <a:rPr lang="en-US" smtClean="0"/>
              <a:t>37</a:t>
            </a:fld>
            <a:endParaRPr lang="en-US"/>
          </a:p>
        </p:txBody>
      </p:sp>
    </p:spTree>
    <p:extLst>
      <p:ext uri="{BB962C8B-B14F-4D97-AF65-F5344CB8AC3E}">
        <p14:creationId xmlns:p14="http://schemas.microsoft.com/office/powerpoint/2010/main" val="1225429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79A51-9F81-CAC4-AD4E-68E7B7D70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DA96D-F14E-A720-70C2-316117BF9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D6023-2214-CC73-C82A-3CE61A49F9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93839E-BA1D-E893-1442-62F3E66091C7}"/>
              </a:ext>
            </a:extLst>
          </p:cNvPr>
          <p:cNvSpPr>
            <a:spLocks noGrp="1"/>
          </p:cNvSpPr>
          <p:nvPr>
            <p:ph type="sldNum" sz="quarter" idx="5"/>
          </p:nvPr>
        </p:nvSpPr>
        <p:spPr/>
        <p:txBody>
          <a:bodyPr/>
          <a:lstStyle/>
          <a:p>
            <a:fld id="{13FC26C8-C37B-D543-9AB9-4FE91B5DFE38}" type="slidenum">
              <a:rPr lang="en-US" smtClean="0"/>
              <a:t>38</a:t>
            </a:fld>
            <a:endParaRPr lang="en-US"/>
          </a:p>
        </p:txBody>
      </p:sp>
    </p:spTree>
    <p:extLst>
      <p:ext uri="{BB962C8B-B14F-4D97-AF65-F5344CB8AC3E}">
        <p14:creationId xmlns:p14="http://schemas.microsoft.com/office/powerpoint/2010/main" val="3471722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7D46F-EF91-7E45-4462-1663E30E3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F0991-3D99-A1A8-839E-4A3652CD9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28F57-5C77-EDAA-6454-79C0147D92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Vscode</a:t>
            </a:r>
            <a:r>
              <a:rPr lang="en-US" dirty="0"/>
              <a:t> instructions: </a:t>
            </a:r>
            <a:r>
              <a:rPr kumimoji="0" lang="en-US" altLang="en-US" sz="1200" b="0" i="0" u="sng" strike="noStrike" cap="none" normalizeH="0" baseline="0" dirty="0">
                <a:ln>
                  <a:noFill/>
                </a:ln>
                <a:solidFill>
                  <a:srgbClr val="0D6EFD"/>
                </a:solidFill>
                <a:effectLst/>
                <a:latin typeface="system-ui"/>
                <a:hlinkClick r:id="rId3"/>
              </a:rPr>
              <a:t>https://hpc.ncsu.edu/Documents/LoginUsingVSCode.php</a:t>
            </a:r>
            <a:endParaRPr kumimoji="0" lang="en-US" altLang="en-US" sz="1200" b="0" i="0" u="none" strike="noStrike" cap="none" normalizeH="0" baseline="0" dirty="0">
              <a:ln>
                <a:noFill/>
              </a:ln>
              <a:solidFill>
                <a:srgbClr val="212529"/>
              </a:solidFill>
              <a:effectLst/>
              <a:latin typeface="system-ui"/>
            </a:endParaRPr>
          </a:p>
          <a:p>
            <a:endParaRPr lang="en-US" dirty="0"/>
          </a:p>
        </p:txBody>
      </p:sp>
      <p:sp>
        <p:nvSpPr>
          <p:cNvPr id="4" name="Slide Number Placeholder 3">
            <a:extLst>
              <a:ext uri="{FF2B5EF4-FFF2-40B4-BE49-F238E27FC236}">
                <a16:creationId xmlns:a16="http://schemas.microsoft.com/office/drawing/2014/main" id="{F0A452B4-3C2B-8301-8040-4498B0C862EE}"/>
              </a:ext>
            </a:extLst>
          </p:cNvPr>
          <p:cNvSpPr>
            <a:spLocks noGrp="1"/>
          </p:cNvSpPr>
          <p:nvPr>
            <p:ph type="sldNum" sz="quarter" idx="5"/>
          </p:nvPr>
        </p:nvSpPr>
        <p:spPr/>
        <p:txBody>
          <a:bodyPr/>
          <a:lstStyle/>
          <a:p>
            <a:fld id="{13FC26C8-C37B-D543-9AB9-4FE91B5DFE38}" type="slidenum">
              <a:rPr lang="en-US" smtClean="0"/>
              <a:t>40</a:t>
            </a:fld>
            <a:endParaRPr lang="en-US"/>
          </a:p>
        </p:txBody>
      </p:sp>
    </p:spTree>
    <p:extLst>
      <p:ext uri="{BB962C8B-B14F-4D97-AF65-F5344CB8AC3E}">
        <p14:creationId xmlns:p14="http://schemas.microsoft.com/office/powerpoint/2010/main" val="188560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DBFB5-B661-BBF7-C29F-F07C5A4A4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62DC1-549C-F5E6-9508-8C72400C3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48FBA-B7F5-EEAF-E254-525BEAE1A8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Vscode</a:t>
            </a:r>
            <a:r>
              <a:rPr lang="en-US" dirty="0"/>
              <a:t> instructions: </a:t>
            </a:r>
            <a:r>
              <a:rPr kumimoji="0" lang="en-US" altLang="en-US" sz="1200" b="0" i="0" u="sng" strike="noStrike" cap="none" normalizeH="0" baseline="0" dirty="0">
                <a:ln>
                  <a:noFill/>
                </a:ln>
                <a:solidFill>
                  <a:srgbClr val="0D6EFD"/>
                </a:solidFill>
                <a:effectLst/>
                <a:latin typeface="system-ui"/>
                <a:hlinkClick r:id="rId3"/>
              </a:rPr>
              <a:t>https://hpc.ncsu.edu/Documents/LoginUsingVSCode.php</a:t>
            </a:r>
            <a:endParaRPr kumimoji="0" lang="en-US" altLang="en-US" sz="1200" b="0" i="0" u="none" strike="noStrike" cap="none" normalizeH="0" baseline="0" dirty="0">
              <a:ln>
                <a:noFill/>
              </a:ln>
              <a:solidFill>
                <a:srgbClr val="212529"/>
              </a:solidFill>
              <a:effectLst/>
              <a:latin typeface="system-ui"/>
            </a:endParaRPr>
          </a:p>
          <a:p>
            <a:endParaRPr lang="en-US" dirty="0"/>
          </a:p>
        </p:txBody>
      </p:sp>
      <p:sp>
        <p:nvSpPr>
          <p:cNvPr id="4" name="Slide Number Placeholder 3">
            <a:extLst>
              <a:ext uri="{FF2B5EF4-FFF2-40B4-BE49-F238E27FC236}">
                <a16:creationId xmlns:a16="http://schemas.microsoft.com/office/drawing/2014/main" id="{98B631FA-388B-BA7B-0064-C2C85956084B}"/>
              </a:ext>
            </a:extLst>
          </p:cNvPr>
          <p:cNvSpPr>
            <a:spLocks noGrp="1"/>
          </p:cNvSpPr>
          <p:nvPr>
            <p:ph type="sldNum" sz="quarter" idx="5"/>
          </p:nvPr>
        </p:nvSpPr>
        <p:spPr/>
        <p:txBody>
          <a:bodyPr/>
          <a:lstStyle/>
          <a:p>
            <a:fld id="{13FC26C8-C37B-D543-9AB9-4FE91B5DFE38}" type="slidenum">
              <a:rPr lang="en-US" smtClean="0"/>
              <a:t>41</a:t>
            </a:fld>
            <a:endParaRPr lang="en-US"/>
          </a:p>
        </p:txBody>
      </p:sp>
    </p:spTree>
    <p:extLst>
      <p:ext uri="{BB962C8B-B14F-4D97-AF65-F5344CB8AC3E}">
        <p14:creationId xmlns:p14="http://schemas.microsoft.com/office/powerpoint/2010/main" val="58070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DCA4-D69C-733A-6765-F8A922AD9E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483B57-BAF9-96FD-898F-0B50997590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1506B7-FDAF-8B42-302D-057C9108D574}"/>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5" name="Footer Placeholder 4">
            <a:extLst>
              <a:ext uri="{FF2B5EF4-FFF2-40B4-BE49-F238E27FC236}">
                <a16:creationId xmlns:a16="http://schemas.microsoft.com/office/drawing/2014/main" id="{83437A50-65A1-6AC3-5C78-F8FC4DD8F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3987CE-D3E6-0CB4-B324-3B5949375E40}"/>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191915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66BCB-B749-7C85-E5DD-8F91234CD0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AF7EA-6A50-2705-214C-51640FC3A4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EE829-65E4-22B2-F105-924F2073EDDA}"/>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5" name="Footer Placeholder 4">
            <a:extLst>
              <a:ext uri="{FF2B5EF4-FFF2-40B4-BE49-F238E27FC236}">
                <a16:creationId xmlns:a16="http://schemas.microsoft.com/office/drawing/2014/main" id="{9ED4C970-E335-E488-081E-736CB2386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EC2DB-AE0A-C896-BD7B-62AED0FC8344}"/>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831672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D5B-1803-A599-E44B-1514EF357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1DABBA-F63B-FB70-C562-12C31F3E35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A3A61-1470-39AC-7335-EB760751475E}"/>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5" name="Footer Placeholder 4">
            <a:extLst>
              <a:ext uri="{FF2B5EF4-FFF2-40B4-BE49-F238E27FC236}">
                <a16:creationId xmlns:a16="http://schemas.microsoft.com/office/drawing/2014/main" id="{D6B96C5A-5578-4234-1B5B-BA1F95C40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21843-6B10-8B5B-D8C5-E0E16787AF06}"/>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35547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38EF6-6A5F-A30E-4465-6FA2398F3F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0FFCFD-326D-0BA0-C02B-955328A652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56912-633A-870B-B588-7B03B73C12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0E65A8-35EE-89F2-F539-54326B0BA869}"/>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6" name="Footer Placeholder 5">
            <a:extLst>
              <a:ext uri="{FF2B5EF4-FFF2-40B4-BE49-F238E27FC236}">
                <a16:creationId xmlns:a16="http://schemas.microsoft.com/office/drawing/2014/main" id="{69432110-F0E3-5417-A69F-7C430922E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0734EE-0B72-EBB8-99EA-E501EA06C9F4}"/>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817193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0E10-4A97-3176-B5D9-FCE17D8C10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139328-FEC3-CEB7-E85C-42922502C1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122EB1-DB19-E3EC-D9AB-6083BA3A3D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CAAC9C-35AD-B604-A5A0-251CBBFD2F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37EC8-25A9-BFB4-65FF-A5E7CB43B2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7FE671-07C5-F9A5-818B-59F0A331D6DA}"/>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8" name="Footer Placeholder 7">
            <a:extLst>
              <a:ext uri="{FF2B5EF4-FFF2-40B4-BE49-F238E27FC236}">
                <a16:creationId xmlns:a16="http://schemas.microsoft.com/office/drawing/2014/main" id="{E70D4719-A8F1-5691-BB4E-75C20107F0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9D6FE2-B56F-90BB-2EDE-D699BBF34C8D}"/>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409016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701A7-715A-25C3-5CF7-CC763E7E22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F21E9E-C079-9642-ED91-62385BC9B192}"/>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4" name="Footer Placeholder 3">
            <a:extLst>
              <a:ext uri="{FF2B5EF4-FFF2-40B4-BE49-F238E27FC236}">
                <a16:creationId xmlns:a16="http://schemas.microsoft.com/office/drawing/2014/main" id="{007A3446-18EF-AB43-16D2-9F673C8A49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DB57B4-4539-78E3-C728-C92A8ADA4BBF}"/>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715511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86BF2E-BBA5-8ADA-9F81-2EAE08DE7126}"/>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3" name="Footer Placeholder 2">
            <a:extLst>
              <a:ext uri="{FF2B5EF4-FFF2-40B4-BE49-F238E27FC236}">
                <a16:creationId xmlns:a16="http://schemas.microsoft.com/office/drawing/2014/main" id="{D8EDA15F-2333-DD73-10EB-1BBF60147B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8C964B-5591-424B-C41E-37241B72481A}"/>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501113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03A02-D73B-F845-F148-1B9202A477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5C155C-924C-551B-BB1D-2F0D9FECDF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A3D932-BE38-F8D0-CCFE-153AFA1BC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86B00-749E-2A92-1C08-FD35B3064868}"/>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6" name="Footer Placeholder 5">
            <a:extLst>
              <a:ext uri="{FF2B5EF4-FFF2-40B4-BE49-F238E27FC236}">
                <a16:creationId xmlns:a16="http://schemas.microsoft.com/office/drawing/2014/main" id="{0EA5AC2F-CE02-FBB0-3C34-48EA0189E3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303969-F328-BAF7-7A44-07F24E368C59}"/>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144103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B373-D9C7-9750-69C6-C17E3BEBB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612547-2DA5-B4B5-9784-11E7AB4A26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79D8E2-B775-B393-7821-A33B78CCEB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F2922E-B6F2-5E32-FD1A-796A4BE70B97}"/>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6" name="Footer Placeholder 5">
            <a:extLst>
              <a:ext uri="{FF2B5EF4-FFF2-40B4-BE49-F238E27FC236}">
                <a16:creationId xmlns:a16="http://schemas.microsoft.com/office/drawing/2014/main" id="{B3B11430-C37F-38EA-17D4-39F36108F6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A7E71E-450F-C2BD-4736-86702A67D648}"/>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885910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99A4-6D27-17A5-D21E-8EF758A72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80B756-FECF-9A85-8A32-69E92C78A1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11F35-027B-CACF-61C3-9E12FC807300}"/>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5" name="Footer Placeholder 4">
            <a:extLst>
              <a:ext uri="{FF2B5EF4-FFF2-40B4-BE49-F238E27FC236}">
                <a16:creationId xmlns:a16="http://schemas.microsoft.com/office/drawing/2014/main" id="{2625DB7D-F335-1BE5-552B-843D3647D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77FA1-D1AC-50B7-3F41-1F022CF96D1B}"/>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213078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DD0BD-A7DF-8C1A-3130-9CCB7C33AC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087075-ED1A-1DAC-057C-B218889BD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4CED7-CD35-8CEF-1C3D-C2A70558EF90}"/>
              </a:ext>
            </a:extLst>
          </p:cNvPr>
          <p:cNvSpPr>
            <a:spLocks noGrp="1"/>
          </p:cNvSpPr>
          <p:nvPr>
            <p:ph type="dt" sz="half" idx="10"/>
          </p:nvPr>
        </p:nvSpPr>
        <p:spPr/>
        <p:txBody>
          <a:bodyPr/>
          <a:lstStyle/>
          <a:p>
            <a:fld id="{32B7B50D-1189-A04C-A064-8D66602DAC23}" type="datetimeFigureOut">
              <a:rPr lang="en-US" smtClean="0"/>
              <a:t>11/10/25</a:t>
            </a:fld>
            <a:endParaRPr lang="en-US"/>
          </a:p>
        </p:txBody>
      </p:sp>
      <p:sp>
        <p:nvSpPr>
          <p:cNvPr id="5" name="Footer Placeholder 4">
            <a:extLst>
              <a:ext uri="{FF2B5EF4-FFF2-40B4-BE49-F238E27FC236}">
                <a16:creationId xmlns:a16="http://schemas.microsoft.com/office/drawing/2014/main" id="{47CEA3CF-38CD-8B00-1642-5481EFD5B7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83E9B-8103-B8E8-2329-AB801D9513AF}"/>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21339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50D847-CBEB-7C60-4F79-2EF28BD268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6E6717-BA0B-5C3C-F73F-D4DD6F0D20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E1A8E-A61F-C460-8DF1-7F28818B6A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B7B50D-1189-A04C-A064-8D66602DAC23}" type="datetimeFigureOut">
              <a:rPr lang="en-US" smtClean="0"/>
              <a:t>11/10/25</a:t>
            </a:fld>
            <a:endParaRPr lang="en-US"/>
          </a:p>
        </p:txBody>
      </p:sp>
      <p:sp>
        <p:nvSpPr>
          <p:cNvPr id="5" name="Footer Placeholder 4">
            <a:extLst>
              <a:ext uri="{FF2B5EF4-FFF2-40B4-BE49-F238E27FC236}">
                <a16:creationId xmlns:a16="http://schemas.microsoft.com/office/drawing/2014/main" id="{A15D0B72-231B-784E-E7A3-E52B66E9EE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6BF07C-1891-2823-975B-F12033BD2B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48A915-4B44-3C45-8157-44CA11514BFE}" type="slidenum">
              <a:rPr lang="en-US" smtClean="0"/>
              <a:t>‹#›</a:t>
            </a:fld>
            <a:endParaRPr lang="en-US"/>
          </a:p>
        </p:txBody>
      </p:sp>
    </p:spTree>
    <p:extLst>
      <p:ext uri="{BB962C8B-B14F-4D97-AF65-F5344CB8AC3E}">
        <p14:creationId xmlns:p14="http://schemas.microsoft.com/office/powerpoint/2010/main" val="4163856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40.xml.rels><?xml version="1.0" encoding="UTF-8" standalone="yes"?>
<Relationships xmlns="http://schemas.openxmlformats.org/package/2006/relationships"><Relationship Id="rId3" Type="http://schemas.openxmlformats.org/officeDocument/2006/relationships/hyperlink" Target="https://servood.hpc.ncsu.edu/" TargetMode="External"/><Relationship Id="rId7"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hyperlink" Target="https://servood.hpc.ncsu.edu/" TargetMode="External"/><Relationship Id="rId7"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jpeg"/><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67C0-23A6-8F2C-1689-D8BD4A6495AC}"/>
              </a:ext>
            </a:extLst>
          </p:cNvPr>
          <p:cNvSpPr>
            <a:spLocks noGrp="1"/>
          </p:cNvSpPr>
          <p:nvPr>
            <p:ph type="ctrTitle"/>
          </p:nvPr>
        </p:nvSpPr>
        <p:spPr>
          <a:xfrm>
            <a:off x="1756446" y="-317832"/>
            <a:ext cx="9144000" cy="2387600"/>
          </a:xfrm>
        </p:spPr>
        <p:txBody>
          <a:bodyPr>
            <a:normAutofit/>
          </a:bodyPr>
          <a:lstStyle/>
          <a:p>
            <a:r>
              <a:rPr lang="en-US" sz="5400" dirty="0">
                <a:latin typeface="Helvetica" pitchFamily="2" charset="0"/>
              </a:rPr>
              <a:t>BRC workshops: Hazel HPC</a:t>
            </a:r>
          </a:p>
        </p:txBody>
      </p:sp>
      <p:sp>
        <p:nvSpPr>
          <p:cNvPr id="3" name="Subtitle 2">
            <a:extLst>
              <a:ext uri="{FF2B5EF4-FFF2-40B4-BE49-F238E27FC236}">
                <a16:creationId xmlns:a16="http://schemas.microsoft.com/office/drawing/2014/main" id="{57475B53-3C78-14C7-0A86-007CDFBEE55B}"/>
              </a:ext>
            </a:extLst>
          </p:cNvPr>
          <p:cNvSpPr>
            <a:spLocks noGrp="1"/>
          </p:cNvSpPr>
          <p:nvPr>
            <p:ph type="subTitle" idx="1"/>
          </p:nvPr>
        </p:nvSpPr>
        <p:spPr>
          <a:xfrm>
            <a:off x="796304" y="5083907"/>
            <a:ext cx="4571707" cy="1655762"/>
          </a:xfrm>
        </p:spPr>
        <p:txBody>
          <a:bodyPr/>
          <a:lstStyle/>
          <a:p>
            <a:pPr algn="l"/>
            <a:r>
              <a:rPr lang="en-US" sz="1800" dirty="0">
                <a:latin typeface="Helvetica" pitchFamily="2" charset="0"/>
              </a:rPr>
              <a:t>María (Mery) Touceda-Suárez, PhD</a:t>
            </a:r>
          </a:p>
          <a:p>
            <a:pPr algn="l"/>
            <a:r>
              <a:rPr lang="en-US" sz="1800" dirty="0">
                <a:latin typeface="Helvetica" pitchFamily="2" charset="0"/>
              </a:rPr>
              <a:t>Bonnie Hurwitz, PhD</a:t>
            </a:r>
          </a:p>
          <a:p>
            <a:pPr algn="l"/>
            <a:r>
              <a:rPr lang="en-US" sz="1800" dirty="0">
                <a:latin typeface="Helvetica" pitchFamily="2" charset="0"/>
              </a:rPr>
              <a:t>October 29</a:t>
            </a:r>
            <a:r>
              <a:rPr lang="en-US" sz="1800" baseline="30000" dirty="0">
                <a:latin typeface="Helvetica" pitchFamily="2" charset="0"/>
              </a:rPr>
              <a:t>th</a:t>
            </a:r>
            <a:r>
              <a:rPr lang="en-US" sz="1800" dirty="0">
                <a:latin typeface="Helvetica" pitchFamily="2" charset="0"/>
              </a:rPr>
              <a:t> 2025</a:t>
            </a:r>
          </a:p>
          <a:p>
            <a:pPr algn="l"/>
            <a:endParaRPr lang="en-US" sz="1800" dirty="0">
              <a:latin typeface="Helvetica" pitchFamily="2" charset="0"/>
            </a:endParaRPr>
          </a:p>
          <a:p>
            <a:pPr algn="l"/>
            <a:endParaRPr lang="en-US" dirty="0">
              <a:latin typeface="Helvetica" pitchFamily="2" charset="0"/>
            </a:endParaRPr>
          </a:p>
        </p:txBody>
      </p:sp>
      <p:pic>
        <p:nvPicPr>
          <p:cNvPr id="5" name="Picture 4">
            <a:extLst>
              <a:ext uri="{FF2B5EF4-FFF2-40B4-BE49-F238E27FC236}">
                <a16:creationId xmlns:a16="http://schemas.microsoft.com/office/drawing/2014/main" id="{B8F7AC2D-444B-731B-DFF6-6109D5E95FE6}"/>
              </a:ext>
            </a:extLst>
          </p:cNvPr>
          <p:cNvPicPr>
            <a:picLocks noChangeAspect="1"/>
          </p:cNvPicPr>
          <p:nvPr/>
        </p:nvPicPr>
        <p:blipFill>
          <a:blip r:embed="rId2"/>
          <a:stretch>
            <a:fillRect/>
          </a:stretch>
        </p:blipFill>
        <p:spPr>
          <a:xfrm>
            <a:off x="796304" y="1083584"/>
            <a:ext cx="990499" cy="986184"/>
          </a:xfrm>
          <a:prstGeom prst="rect">
            <a:avLst/>
          </a:prstGeom>
        </p:spPr>
      </p:pic>
      <p:pic>
        <p:nvPicPr>
          <p:cNvPr id="1028" name="Picture 4" descr="MareNostrum | BSC-CNS">
            <a:extLst>
              <a:ext uri="{FF2B5EF4-FFF2-40B4-BE49-F238E27FC236}">
                <a16:creationId xmlns:a16="http://schemas.microsoft.com/office/drawing/2014/main" id="{EF184E16-8F51-53FC-F99E-1F365F6BB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0" y="2331378"/>
            <a:ext cx="5682192" cy="37822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184E01-97E4-E0D9-7385-12F68039586B}"/>
              </a:ext>
            </a:extLst>
          </p:cNvPr>
          <p:cNvSpPr txBox="1"/>
          <p:nvPr/>
        </p:nvSpPr>
        <p:spPr>
          <a:xfrm>
            <a:off x="8591678" y="6113669"/>
            <a:ext cx="2799164" cy="261610"/>
          </a:xfrm>
          <a:prstGeom prst="rect">
            <a:avLst/>
          </a:prstGeom>
          <a:noFill/>
        </p:spPr>
        <p:txBody>
          <a:bodyPr wrap="none" rtlCol="0">
            <a:spAutoFit/>
          </a:bodyPr>
          <a:lstStyle/>
          <a:p>
            <a:r>
              <a:rPr lang="en-US" sz="1100" dirty="0">
                <a:solidFill>
                  <a:schemeClr val="bg1">
                    <a:lumMod val="50000"/>
                  </a:schemeClr>
                </a:solidFill>
                <a:latin typeface="Helvetica Light" panose="020B0403020202020204" pitchFamily="34" charset="0"/>
              </a:rPr>
              <a:t>Mare Nostrum supercomputer, Barcelona</a:t>
            </a:r>
          </a:p>
        </p:txBody>
      </p:sp>
    </p:spTree>
    <p:extLst>
      <p:ext uri="{BB962C8B-B14F-4D97-AF65-F5344CB8AC3E}">
        <p14:creationId xmlns:p14="http://schemas.microsoft.com/office/powerpoint/2010/main" val="131575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7115B-56F2-431D-EC5E-9C5E8026E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CB7A4-535B-7C22-1141-79956B1BA947}"/>
              </a:ext>
            </a:extLst>
          </p:cNvPr>
          <p:cNvSpPr>
            <a:spLocks noGrp="1"/>
          </p:cNvSpPr>
          <p:nvPr>
            <p:ph type="title"/>
          </p:nvPr>
        </p:nvSpPr>
        <p:spPr/>
        <p:txBody>
          <a:bodyPr>
            <a:normAutofit/>
          </a:bodyPr>
          <a:lstStyle/>
          <a:p>
            <a:r>
              <a:rPr lang="en-US" sz="4000" dirty="0">
                <a:latin typeface="Helvetica" pitchFamily="2" charset="0"/>
              </a:rPr>
              <a:t>The bioinformatics data challenge</a:t>
            </a:r>
          </a:p>
        </p:txBody>
      </p:sp>
      <p:pic>
        <p:nvPicPr>
          <p:cNvPr id="2050" name="Picture 2" descr="6+ Thousand High Performance Computing Icon Royalty-Free Images, Stock  Photos &amp; Pictures | Shutterstock">
            <a:extLst>
              <a:ext uri="{FF2B5EF4-FFF2-40B4-BE49-F238E27FC236}">
                <a16:creationId xmlns:a16="http://schemas.microsoft.com/office/drawing/2014/main" id="{8321E816-0E81-944C-9C2E-8E55CE06DE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888"/>
          <a:stretch>
            <a:fillRect/>
          </a:stretch>
        </p:blipFill>
        <p:spPr bwMode="auto">
          <a:xfrm>
            <a:off x="3604273" y="4007742"/>
            <a:ext cx="1899431" cy="176146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descr="Laptop with solid fill">
            <a:extLst>
              <a:ext uri="{FF2B5EF4-FFF2-40B4-BE49-F238E27FC236}">
                <a16:creationId xmlns:a16="http://schemas.microsoft.com/office/drawing/2014/main" id="{1E9A05F3-4BAF-85D5-1F04-094067FBAF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88694" y="1962472"/>
            <a:ext cx="1325563" cy="1325563"/>
          </a:xfrm>
          <a:prstGeom prst="rect">
            <a:avLst/>
          </a:prstGeom>
        </p:spPr>
      </p:pic>
      <p:pic>
        <p:nvPicPr>
          <p:cNvPr id="2052" name="Picture 4" descr="Sequencing - Free computer icons">
            <a:extLst>
              <a:ext uri="{FF2B5EF4-FFF2-40B4-BE49-F238E27FC236}">
                <a16:creationId xmlns:a16="http://schemas.microsoft.com/office/drawing/2014/main" id="{7434EDCC-59AA-1009-6ECB-08CBAE4693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5991" y="2113500"/>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AC799773-25D0-B572-7622-B2D77B0BF7E3}"/>
              </a:ext>
            </a:extLst>
          </p:cNvPr>
          <p:cNvCxnSpPr>
            <a:cxnSpLocks/>
          </p:cNvCxnSpPr>
          <p:nvPr/>
        </p:nvCxnSpPr>
        <p:spPr>
          <a:xfrm>
            <a:off x="2398023" y="2625254"/>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A31D8C8-CD3C-51C9-3B8D-6DD508A5C30E}"/>
              </a:ext>
            </a:extLst>
          </p:cNvPr>
          <p:cNvSpPr txBox="1"/>
          <p:nvPr/>
        </p:nvSpPr>
        <p:spPr>
          <a:xfrm>
            <a:off x="8596221" y="1690688"/>
            <a:ext cx="2842805" cy="1569660"/>
          </a:xfrm>
          <a:prstGeom prst="rect">
            <a:avLst/>
          </a:prstGeom>
          <a:noFill/>
        </p:spPr>
        <p:txBody>
          <a:bodyPr wrap="square">
            <a:spAutoFit/>
          </a:bodyPr>
          <a:lstStyle/>
          <a:p>
            <a:r>
              <a:rPr lang="en-US" sz="1600" b="1" dirty="0">
                <a:solidFill>
                  <a:srgbClr val="FF0000"/>
                </a:solidFill>
                <a:latin typeface="Helvetica" pitchFamily="2" charset="0"/>
              </a:rPr>
              <a:t>Problem:</a:t>
            </a:r>
            <a:r>
              <a:rPr lang="en-US" sz="1600" dirty="0">
                <a:solidFill>
                  <a:srgbClr val="FF0000"/>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Computation takes too long</a:t>
            </a:r>
          </a:p>
          <a:p>
            <a:pPr marL="285750" indent="-285750" fontAlgn="base">
              <a:buFont typeface="Arial" panose="020B0604020202020204" pitchFamily="34" charset="0"/>
              <a:buChar char="•"/>
            </a:pPr>
            <a:r>
              <a:rPr lang="en-US" sz="1600" dirty="0">
                <a:latin typeface="Helvetica" pitchFamily="2" charset="0"/>
              </a:rPr>
              <a:t>Modern datasets are too big </a:t>
            </a:r>
          </a:p>
          <a:p>
            <a:pPr marL="285750" indent="-285750" fontAlgn="base">
              <a:buFont typeface="Arial" panose="020B0604020202020204" pitchFamily="34" charset="0"/>
              <a:buChar char="•"/>
            </a:pPr>
            <a:r>
              <a:rPr lang="en-US" sz="1600" dirty="0">
                <a:latin typeface="Helvetica" pitchFamily="2" charset="0"/>
              </a:rPr>
              <a:t>Too many calculations</a:t>
            </a:r>
          </a:p>
        </p:txBody>
      </p:sp>
      <p:cxnSp>
        <p:nvCxnSpPr>
          <p:cNvPr id="18" name="Straight Arrow Connector 17">
            <a:extLst>
              <a:ext uri="{FF2B5EF4-FFF2-40B4-BE49-F238E27FC236}">
                <a16:creationId xmlns:a16="http://schemas.microsoft.com/office/drawing/2014/main" id="{1AFFF3F8-814B-1ADA-8A9B-8304BC8EB2B3}"/>
              </a:ext>
            </a:extLst>
          </p:cNvPr>
          <p:cNvCxnSpPr>
            <a:cxnSpLocks/>
          </p:cNvCxnSpPr>
          <p:nvPr/>
        </p:nvCxnSpPr>
        <p:spPr>
          <a:xfrm>
            <a:off x="5672447" y="2639700"/>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4" descr="Sequencing - Free computer icons">
            <a:extLst>
              <a:ext uri="{FF2B5EF4-FFF2-40B4-BE49-F238E27FC236}">
                <a16:creationId xmlns:a16="http://schemas.microsoft.com/office/drawing/2014/main" id="{273EF8EA-52C8-2CCA-F347-3DC63103ED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5991" y="4565473"/>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54ECFA63-1278-21A0-2395-C747195095A0}"/>
              </a:ext>
            </a:extLst>
          </p:cNvPr>
          <p:cNvCxnSpPr>
            <a:cxnSpLocks/>
          </p:cNvCxnSpPr>
          <p:nvPr/>
        </p:nvCxnSpPr>
        <p:spPr>
          <a:xfrm>
            <a:off x="2398023"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285422D-3B0A-47F8-B15C-DE5388034B98}"/>
              </a:ext>
            </a:extLst>
          </p:cNvPr>
          <p:cNvCxnSpPr>
            <a:cxnSpLocks/>
          </p:cNvCxnSpPr>
          <p:nvPr/>
        </p:nvCxnSpPr>
        <p:spPr>
          <a:xfrm>
            <a:off x="5672447"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6+ Thousand Success Fail Icon Royalty-Free Images, Stock Photos &amp; Pictures  | Shutterstock">
            <a:extLst>
              <a:ext uri="{FF2B5EF4-FFF2-40B4-BE49-F238E27FC236}">
                <a16:creationId xmlns:a16="http://schemas.microsoft.com/office/drawing/2014/main" id="{36CC3D8C-101C-AA22-4B44-29624E99DC5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4956" b="17466"/>
          <a:stretch>
            <a:fillRect/>
          </a:stretch>
        </p:blipFill>
        <p:spPr bwMode="auto">
          <a:xfrm>
            <a:off x="6782252" y="4390999"/>
            <a:ext cx="1342845" cy="108417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6+ Thousand Success Fail Icon Royalty-Free Images, Stock Photos &amp; Pictures  | Shutterstock">
            <a:extLst>
              <a:ext uri="{FF2B5EF4-FFF2-40B4-BE49-F238E27FC236}">
                <a16:creationId xmlns:a16="http://schemas.microsoft.com/office/drawing/2014/main" id="{CD28C392-5F34-FC20-939D-C5858F52564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2320" b="13714"/>
          <a:stretch>
            <a:fillRect/>
          </a:stretch>
        </p:blipFill>
        <p:spPr bwMode="auto">
          <a:xfrm>
            <a:off x="7034348" y="2032437"/>
            <a:ext cx="1163185" cy="113346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CA786265-1BB3-89DF-E9C0-2059FD6C1528}"/>
              </a:ext>
            </a:extLst>
          </p:cNvPr>
          <p:cNvSpPr txBox="1"/>
          <p:nvPr/>
        </p:nvSpPr>
        <p:spPr>
          <a:xfrm>
            <a:off x="8596221" y="3917423"/>
            <a:ext cx="3160351" cy="1815882"/>
          </a:xfrm>
          <a:prstGeom prst="rect">
            <a:avLst/>
          </a:prstGeom>
          <a:noFill/>
        </p:spPr>
        <p:txBody>
          <a:bodyPr wrap="square">
            <a:spAutoFit/>
          </a:bodyPr>
          <a:lstStyle/>
          <a:p>
            <a:r>
              <a:rPr lang="en-US" sz="1600" b="1" dirty="0">
                <a:solidFill>
                  <a:schemeClr val="accent6"/>
                </a:solidFill>
                <a:latin typeface="Helvetica" pitchFamily="2" charset="0"/>
              </a:rPr>
              <a:t>Solution:</a:t>
            </a:r>
            <a:r>
              <a:rPr lang="en-US" sz="1600" dirty="0">
                <a:solidFill>
                  <a:schemeClr val="accent6"/>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Get a computer for exclusive use</a:t>
            </a:r>
          </a:p>
          <a:p>
            <a:pPr marL="285750" indent="-285750" fontAlgn="base">
              <a:buFont typeface="Arial" panose="020B0604020202020204" pitchFamily="34" charset="0"/>
              <a:buChar char="•"/>
            </a:pPr>
            <a:r>
              <a:rPr lang="en-US" sz="1600" dirty="0">
                <a:latin typeface="Helvetica" pitchFamily="2" charset="0"/>
              </a:rPr>
              <a:t>Divide tasks between many computers</a:t>
            </a:r>
          </a:p>
          <a:p>
            <a:pPr marL="285750" indent="-285750" fontAlgn="base">
              <a:buFont typeface="Arial" panose="020B0604020202020204" pitchFamily="34" charset="0"/>
              <a:buChar char="•"/>
            </a:pPr>
            <a:r>
              <a:rPr lang="en-US" sz="1600" dirty="0">
                <a:latin typeface="Helvetica" pitchFamily="2" charset="0"/>
              </a:rPr>
              <a:t>Use lots of computers simultaneously</a:t>
            </a:r>
          </a:p>
        </p:txBody>
      </p:sp>
      <p:sp>
        <p:nvSpPr>
          <p:cNvPr id="27" name="TextBox 26">
            <a:extLst>
              <a:ext uri="{FF2B5EF4-FFF2-40B4-BE49-F238E27FC236}">
                <a16:creationId xmlns:a16="http://schemas.microsoft.com/office/drawing/2014/main" id="{46571F5D-E344-BB2D-57F1-218741FAA9C2}"/>
              </a:ext>
            </a:extLst>
          </p:cNvPr>
          <p:cNvSpPr txBox="1"/>
          <p:nvPr/>
        </p:nvSpPr>
        <p:spPr>
          <a:xfrm>
            <a:off x="797166" y="3291125"/>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8" name="TextBox 27">
            <a:extLst>
              <a:ext uri="{FF2B5EF4-FFF2-40B4-BE49-F238E27FC236}">
                <a16:creationId xmlns:a16="http://schemas.microsoft.com/office/drawing/2014/main" id="{09E1652E-04D0-65AA-2CC5-708E7A856AF2}"/>
              </a:ext>
            </a:extLst>
          </p:cNvPr>
          <p:cNvSpPr txBox="1"/>
          <p:nvPr/>
        </p:nvSpPr>
        <p:spPr>
          <a:xfrm>
            <a:off x="797166" y="5659928"/>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9" name="TextBox 28">
            <a:extLst>
              <a:ext uri="{FF2B5EF4-FFF2-40B4-BE49-F238E27FC236}">
                <a16:creationId xmlns:a16="http://schemas.microsoft.com/office/drawing/2014/main" id="{F97DF58E-2314-ED4E-8E0F-9240637FBB70}"/>
              </a:ext>
            </a:extLst>
          </p:cNvPr>
          <p:cNvSpPr txBox="1"/>
          <p:nvPr/>
        </p:nvSpPr>
        <p:spPr>
          <a:xfrm>
            <a:off x="3708135" y="3291125"/>
            <a:ext cx="168668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Personal computer</a:t>
            </a:r>
          </a:p>
        </p:txBody>
      </p:sp>
      <p:sp>
        <p:nvSpPr>
          <p:cNvPr id="30" name="TextBox 29">
            <a:extLst>
              <a:ext uri="{FF2B5EF4-FFF2-40B4-BE49-F238E27FC236}">
                <a16:creationId xmlns:a16="http://schemas.microsoft.com/office/drawing/2014/main" id="{B34146DC-DCE8-7F8A-4FCC-98B253B1295B}"/>
              </a:ext>
            </a:extLst>
          </p:cNvPr>
          <p:cNvSpPr txBox="1"/>
          <p:nvPr/>
        </p:nvSpPr>
        <p:spPr>
          <a:xfrm>
            <a:off x="3257465" y="5659928"/>
            <a:ext cx="2731838"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High performance cluster (HPC)</a:t>
            </a:r>
          </a:p>
        </p:txBody>
      </p:sp>
    </p:spTree>
    <p:extLst>
      <p:ext uri="{BB962C8B-B14F-4D97-AF65-F5344CB8AC3E}">
        <p14:creationId xmlns:p14="http://schemas.microsoft.com/office/powerpoint/2010/main" val="846848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88E0-0485-9661-4A27-6423D1D98D68}"/>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0AC10CA1-46F0-A2BF-0272-C7AE93EEBB36}"/>
              </a:ext>
            </a:extLst>
          </p:cNvPr>
          <p:cNvGraphicFramePr>
            <a:graphicFrameLocks noGrp="1"/>
          </p:cNvGraphicFramePr>
          <p:nvPr>
            <p:extLst>
              <p:ext uri="{D42A27DB-BD31-4B8C-83A1-F6EECF244321}">
                <p14:modId xmlns:p14="http://schemas.microsoft.com/office/powerpoint/2010/main" val="1899409187"/>
              </p:ext>
            </p:extLst>
          </p:nvPr>
        </p:nvGraphicFramePr>
        <p:xfrm>
          <a:off x="957446" y="1495032"/>
          <a:ext cx="10277107" cy="4277459"/>
        </p:xfrm>
        <a:graphic>
          <a:graphicData uri="http://schemas.openxmlformats.org/drawingml/2006/table">
            <a:tbl>
              <a:tblPr firstRow="1" bandRow="1">
                <a:tableStyleId>{5940675A-B579-460E-94D1-54222C63F5DA}</a:tableStyleId>
              </a:tblPr>
              <a:tblGrid>
                <a:gridCol w="1389581">
                  <a:extLst>
                    <a:ext uri="{9D8B030D-6E8A-4147-A177-3AD203B41FA5}">
                      <a16:colId xmlns:a16="http://schemas.microsoft.com/office/drawing/2014/main" val="3588077064"/>
                    </a:ext>
                  </a:extLst>
                </a:gridCol>
                <a:gridCol w="1349052">
                  <a:extLst>
                    <a:ext uri="{9D8B030D-6E8A-4147-A177-3AD203B41FA5}">
                      <a16:colId xmlns:a16="http://schemas.microsoft.com/office/drawing/2014/main" val="2921729674"/>
                    </a:ext>
                  </a:extLst>
                </a:gridCol>
                <a:gridCol w="1297495">
                  <a:extLst>
                    <a:ext uri="{9D8B030D-6E8A-4147-A177-3AD203B41FA5}">
                      <a16:colId xmlns:a16="http://schemas.microsoft.com/office/drawing/2014/main" val="3051897964"/>
                    </a:ext>
                  </a:extLst>
                </a:gridCol>
                <a:gridCol w="1261650">
                  <a:extLst>
                    <a:ext uri="{9D8B030D-6E8A-4147-A177-3AD203B41FA5}">
                      <a16:colId xmlns:a16="http://schemas.microsoft.com/office/drawing/2014/main" val="2411906837"/>
                    </a:ext>
                  </a:extLst>
                </a:gridCol>
                <a:gridCol w="1210093">
                  <a:extLst>
                    <a:ext uri="{9D8B030D-6E8A-4147-A177-3AD203B41FA5}">
                      <a16:colId xmlns:a16="http://schemas.microsoft.com/office/drawing/2014/main" val="2317395656"/>
                    </a:ext>
                  </a:extLst>
                </a:gridCol>
                <a:gridCol w="1273782">
                  <a:extLst>
                    <a:ext uri="{9D8B030D-6E8A-4147-A177-3AD203B41FA5}">
                      <a16:colId xmlns:a16="http://schemas.microsoft.com/office/drawing/2014/main" val="1121361333"/>
                    </a:ext>
                  </a:extLst>
                </a:gridCol>
                <a:gridCol w="1270244">
                  <a:extLst>
                    <a:ext uri="{9D8B030D-6E8A-4147-A177-3AD203B41FA5}">
                      <a16:colId xmlns:a16="http://schemas.microsoft.com/office/drawing/2014/main" val="3820744059"/>
                    </a:ext>
                  </a:extLst>
                </a:gridCol>
                <a:gridCol w="1225210">
                  <a:extLst>
                    <a:ext uri="{9D8B030D-6E8A-4147-A177-3AD203B41FA5}">
                      <a16:colId xmlns:a16="http://schemas.microsoft.com/office/drawing/2014/main" val="1638370077"/>
                    </a:ext>
                  </a:extLst>
                </a:gridCol>
              </a:tblGrid>
              <a:tr h="932543">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3.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4.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5.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6-8.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80003">
                        <a:alpha val="40000"/>
                      </a:srgbClr>
                    </a:solidFill>
                  </a:tcPr>
                </a:tc>
                <a:tc>
                  <a:txBody>
                    <a:bodyPr/>
                    <a:lstStyle/>
                    <a:p>
                      <a:pPr algn="ctr"/>
                      <a:r>
                        <a:rPr lang="en-US" sz="1200" b="1" dirty="0">
                          <a:latin typeface="Helvetica" pitchFamily="2" charset="0"/>
                        </a:rPr>
                        <a:t>9-12. Data management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1200" b="1" dirty="0">
                          <a:latin typeface="Helvetica" pitchFamily="2" charset="0"/>
                        </a:rPr>
                        <a:t>13. Bonus! – Globus transfers</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030A0">
                        <a:alpha val="41961"/>
                      </a:srgbClr>
                    </a:solidFill>
                  </a:tcPr>
                </a:tc>
                <a:extLst>
                  <a:ext uri="{0D108BD9-81ED-4DB2-BD59-A6C34878D82A}">
                    <a16:rowId xmlns:a16="http://schemas.microsoft.com/office/drawing/2014/main" val="405070096"/>
                  </a:ext>
                </a:extLst>
              </a:tr>
              <a:tr h="373116">
                <a:tc>
                  <a:txBody>
                    <a:bodyPr/>
                    <a:lstStyle/>
                    <a:p>
                      <a:r>
                        <a:rPr lang="en-US" sz="1100" dirty="0">
                          <a:latin typeface="Helvetica" pitchFamily="2" charset="0"/>
                        </a:rPr>
                        <a:t>10/29/2025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100" dirty="0">
                          <a:latin typeface="Helvetica" pitchFamily="2" charset="0"/>
                        </a:rPr>
                        <a:t>11/12/2025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11/19/2025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12/03/2025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80003">
                        <a:alpha val="21961"/>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030A0">
                        <a:alpha val="21961"/>
                      </a:srgbClr>
                    </a:solidFill>
                  </a:tcPr>
                </a:tc>
                <a:extLst>
                  <a:ext uri="{0D108BD9-81ED-4DB2-BD59-A6C34878D82A}">
                    <a16:rowId xmlns:a16="http://schemas.microsoft.com/office/drawing/2014/main" val="357620817"/>
                  </a:ext>
                </a:extLst>
              </a:tr>
              <a:tr h="2303978">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p>
                      <a:pPr marL="171450" indent="-171450">
                        <a:buFont typeface="Arial" panose="020B0604020202020204" pitchFamily="34" charset="0"/>
                        <a:buChar char="•"/>
                      </a:pPr>
                      <a:endParaRPr lang="en-US" sz="1050"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050" dirty="0">
                          <a:latin typeface="Helvetica" pitchFamily="2" charset="0"/>
                        </a:rPr>
                        <a:t>Learn how to load software using: </a:t>
                      </a:r>
                    </a:p>
                    <a:p>
                      <a:pPr marL="171450" indent="-171450">
                        <a:buFont typeface="Arial" panose="020B0604020202020204" pitchFamily="34" charset="0"/>
                        <a:buChar char="•"/>
                      </a:pPr>
                      <a:r>
                        <a:rPr lang="en-US" sz="1050" dirty="0">
                          <a:latin typeface="Helvetica" pitchFamily="2" charset="0"/>
                        </a:rPr>
                        <a:t>Modules</a:t>
                      </a:r>
                    </a:p>
                    <a:p>
                      <a:pPr marL="171450" indent="-171450">
                        <a:buFont typeface="Arial" panose="020B0604020202020204" pitchFamily="34" charset="0"/>
                        <a:buChar char="•"/>
                      </a:pPr>
                      <a:r>
                        <a:rPr lang="en-US" sz="1050" dirty="0">
                          <a:latin typeface="Helvetica" pitchFamily="2" charset="0"/>
                        </a:rPr>
                        <a:t>Containers</a:t>
                      </a:r>
                    </a:p>
                    <a:p>
                      <a:pPr marL="171450" indent="-171450">
                        <a:buFont typeface="Arial" panose="020B0604020202020204" pitchFamily="34" charset="0"/>
                        <a:buChar char="•"/>
                      </a:pPr>
                      <a:r>
                        <a:rPr lang="en-US" sz="1050" dirty="0">
                          <a:latin typeface="Helvetica" pitchFamily="2" charset="0"/>
                        </a:rPr>
                        <a:t>Conda environments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80003">
                        <a:alpha val="21961"/>
                      </a:srgbClr>
                    </a:solidFill>
                  </a:tcPr>
                </a:tc>
                <a:tc>
                  <a:txBody>
                    <a:bodyPr/>
                    <a:lstStyle/>
                    <a:p>
                      <a:r>
                        <a:rPr lang="en-US" sz="1050" dirty="0">
                          <a:latin typeface="Helvetica" pitchFamily="2" charset="0"/>
                        </a:rPr>
                        <a:t>Manage data across the Hazel storage system. 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Learn about the advantages of using Globus transfers</a:t>
                      </a:r>
                    </a:p>
                    <a:p>
                      <a:pPr marL="171450" indent="-171450">
                        <a:buFont typeface="Arial" panose="020B0604020202020204" pitchFamily="34" charset="0"/>
                        <a:buChar char="•"/>
                      </a:pPr>
                      <a:r>
                        <a:rPr lang="en-US" sz="1050" dirty="0">
                          <a:latin typeface="Helvetica" pitchFamily="2" charset="0"/>
                        </a:rPr>
                        <a:t>Understand endpoints</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a transfer between local and HPC</a:t>
                      </a:r>
                    </a:p>
                    <a:p>
                      <a:pPr marL="171450" indent="-171450">
                        <a:buFont typeface="Arial" panose="020B0604020202020204" pitchFamily="34" charset="0"/>
                        <a:buChar char="•"/>
                      </a:pPr>
                      <a:r>
                        <a:rPr lang="en-US" sz="1050" dirty="0">
                          <a:latin typeface="Helvetica" pitchFamily="2" charset="0"/>
                        </a:rPr>
                        <a:t>Perform a transfer to/from Google drive</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30A0">
                        <a:alpha val="21961"/>
                      </a:srgbClr>
                    </a:solidFill>
                  </a:tcPr>
                </a:tc>
                <a:extLst>
                  <a:ext uri="{0D108BD9-81ED-4DB2-BD59-A6C34878D82A}">
                    <a16:rowId xmlns:a16="http://schemas.microsoft.com/office/drawing/2014/main" val="1849758829"/>
                  </a:ext>
                </a:extLst>
              </a:tr>
            </a:tbl>
          </a:graphicData>
        </a:graphic>
      </p:graphicFrame>
      <p:pic>
        <p:nvPicPr>
          <p:cNvPr id="2050" name="Picture 2" descr="Suggestion - Free communications icons">
            <a:extLst>
              <a:ext uri="{FF2B5EF4-FFF2-40B4-BE49-F238E27FC236}">
                <a16:creationId xmlns:a16="http://schemas.microsoft.com/office/drawing/2014/main" id="{4869A645-FBB5-6194-4F27-32AA14337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0218" y="5880966"/>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41AA808-AA8D-6BC4-7B7B-71E1F82DA238}"/>
              </a:ext>
            </a:extLst>
          </p:cNvPr>
          <p:cNvSpPr txBox="1"/>
          <p:nvPr/>
        </p:nvSpPr>
        <p:spPr>
          <a:xfrm>
            <a:off x="4717803" y="6185098"/>
            <a:ext cx="3695865" cy="307777"/>
          </a:xfrm>
          <a:prstGeom prst="rect">
            <a:avLst/>
          </a:prstGeom>
          <a:noFill/>
        </p:spPr>
        <p:txBody>
          <a:bodyPr wrap="square" rtlCol="0">
            <a:spAutoFit/>
          </a:bodyPr>
          <a:lstStyle/>
          <a:p>
            <a:pPr algn="ctr"/>
            <a:r>
              <a:rPr lang="en-US" sz="1400" dirty="0">
                <a:latin typeface="Helvetica" pitchFamily="2" charset="0"/>
              </a:rPr>
              <a:t>Please let us know if you have suggestions!</a:t>
            </a:r>
          </a:p>
        </p:txBody>
      </p:sp>
    </p:spTree>
    <p:extLst>
      <p:ext uri="{BB962C8B-B14F-4D97-AF65-F5344CB8AC3E}">
        <p14:creationId xmlns:p14="http://schemas.microsoft.com/office/powerpoint/2010/main" val="20383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9598-BD4D-70E9-70C2-7215FDC0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D083-096E-849D-8015-B191ED5D6A34}"/>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5020596A-D3B5-18D2-1D37-3B88E5CD7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C98279-5765-9BFA-2B15-04A8FEDAA130}"/>
              </a:ext>
            </a:extLst>
          </p:cNvPr>
          <p:cNvSpPr txBox="1"/>
          <p:nvPr/>
        </p:nvSpPr>
        <p:spPr>
          <a:xfrm>
            <a:off x="1794669" y="2206232"/>
            <a:ext cx="6591506" cy="1754326"/>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0DEEB3E2-D200-94F1-EB2C-1F94DD52C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438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B88E-CF58-5216-E3DA-A70DE3B97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2DEB1-B666-14B3-CA8F-FBEED22D4D7F}"/>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7A16492F-058B-6A9A-6F90-B4D8DE161BAB}"/>
              </a:ext>
            </a:extLst>
          </p:cNvPr>
          <p:cNvGraphicFramePr>
            <a:graphicFrameLocks noGrp="1"/>
          </p:cNvGraphicFramePr>
          <p:nvPr>
            <p:extLst>
              <p:ext uri="{D42A27DB-BD31-4B8C-83A1-F6EECF244321}">
                <p14:modId xmlns:p14="http://schemas.microsoft.com/office/powerpoint/2010/main" val="283767127"/>
              </p:ext>
            </p:extLst>
          </p:nvPr>
        </p:nvGraphicFramePr>
        <p:xfrm>
          <a:off x="1034142" y="1893162"/>
          <a:ext cx="10123715" cy="3797399"/>
        </p:xfrm>
        <a:graphic>
          <a:graphicData uri="http://schemas.openxmlformats.org/drawingml/2006/table">
            <a:tbl>
              <a:tblPr firstRow="1" bandRow="1">
                <a:tableStyleId>{5940675A-B579-460E-94D1-54222C63F5DA}</a:tableStyleId>
              </a:tblPr>
              <a:tblGrid>
                <a:gridCol w="1567543">
                  <a:extLst>
                    <a:ext uri="{9D8B030D-6E8A-4147-A177-3AD203B41FA5}">
                      <a16:colId xmlns:a16="http://schemas.microsoft.com/office/drawing/2014/main" val="3588077064"/>
                    </a:ext>
                  </a:extLst>
                </a:gridCol>
                <a:gridCol w="1521823">
                  <a:extLst>
                    <a:ext uri="{9D8B030D-6E8A-4147-A177-3AD203B41FA5}">
                      <a16:colId xmlns:a16="http://schemas.microsoft.com/office/drawing/2014/main" val="2921729674"/>
                    </a:ext>
                  </a:extLst>
                </a:gridCol>
                <a:gridCol w="1417320">
                  <a:extLst>
                    <a:ext uri="{9D8B030D-6E8A-4147-A177-3AD203B41FA5}">
                      <a16:colId xmlns:a16="http://schemas.microsoft.com/office/drawing/2014/main" val="2465255924"/>
                    </a:ext>
                  </a:extLst>
                </a:gridCol>
                <a:gridCol w="1365069">
                  <a:extLst>
                    <a:ext uri="{9D8B030D-6E8A-4147-A177-3AD203B41FA5}">
                      <a16:colId xmlns:a16="http://schemas.microsoft.com/office/drawing/2014/main" val="2411906837"/>
                    </a:ext>
                  </a:extLst>
                </a:gridCol>
                <a:gridCol w="1436914">
                  <a:extLst>
                    <a:ext uri="{9D8B030D-6E8A-4147-A177-3AD203B41FA5}">
                      <a16:colId xmlns:a16="http://schemas.microsoft.com/office/drawing/2014/main" val="1121361333"/>
                    </a:ext>
                  </a:extLst>
                </a:gridCol>
                <a:gridCol w="1432923">
                  <a:extLst>
                    <a:ext uri="{9D8B030D-6E8A-4147-A177-3AD203B41FA5}">
                      <a16:colId xmlns:a16="http://schemas.microsoft.com/office/drawing/2014/main" val="3820744059"/>
                    </a:ext>
                  </a:extLst>
                </a:gridCol>
                <a:gridCol w="1382123">
                  <a:extLst>
                    <a:ext uri="{9D8B030D-6E8A-4147-A177-3AD203B41FA5}">
                      <a16:colId xmlns:a16="http://schemas.microsoft.com/office/drawing/2014/main" val="1638370077"/>
                    </a:ext>
                  </a:extLst>
                </a:gridCol>
              </a:tblGrid>
              <a:tr h="932543">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solidFill>
                            <a:schemeClr val="bg1">
                              <a:lumMod val="65000"/>
                            </a:schemeClr>
                          </a:solidFill>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65000"/>
                            </a:schemeClr>
                          </a:solidFill>
                          <a:latin typeface="Helvetica" pitchFamily="2" charset="0"/>
                        </a:rPr>
                        <a:t>3.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65000"/>
                            </a:schemeClr>
                          </a:solidFill>
                          <a:latin typeface="Helvetica" pitchFamily="2" charset="0"/>
                        </a:rPr>
                        <a:t>4.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65000"/>
                            </a:schemeClr>
                          </a:solidFill>
                          <a:latin typeface="Helvetica" pitchFamily="2" charset="0"/>
                        </a:rPr>
                        <a:t>5-7.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65000"/>
                            </a:schemeClr>
                          </a:solidFill>
                          <a:latin typeface="Helvetica" pitchFamily="2" charset="0"/>
                        </a:rPr>
                        <a:t>8-11. Data management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65000"/>
                            </a:schemeClr>
                          </a:solidFill>
                          <a:latin typeface="Helvetica" pitchFamily="2" charset="0"/>
                        </a:rPr>
                        <a:t>12. Bonus! – Globus transfers</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070096"/>
                  </a:ext>
                </a:extLst>
              </a:tr>
              <a:tr h="373116">
                <a:tc>
                  <a:txBody>
                    <a:bodyPr/>
                    <a:lstStyle/>
                    <a:p>
                      <a:r>
                        <a:rPr lang="en-US" sz="1100" dirty="0">
                          <a:latin typeface="Helvetica" pitchFamily="2" charset="0"/>
                        </a:rPr>
                        <a:t>10/29/2025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100" dirty="0">
                          <a:solidFill>
                            <a:schemeClr val="bg1">
                              <a:lumMod val="65000"/>
                            </a:schemeClr>
                          </a:solidFill>
                          <a:latin typeface="Helvetica" pitchFamily="2" charset="0"/>
                        </a:rPr>
                        <a:t>11/12/2025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65000"/>
                            </a:schemeClr>
                          </a:solidFill>
                          <a:latin typeface="Helvetica" pitchFamily="2" charset="0"/>
                        </a:rPr>
                        <a:t>11/19/2025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65000"/>
                            </a:schemeClr>
                          </a:solidFill>
                          <a:latin typeface="Helvetica" pitchFamily="2" charset="0"/>
                        </a:rPr>
                        <a:t>TBD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65000"/>
                            </a:schemeClr>
                          </a:solidFill>
                          <a:latin typeface="Helvetica" pitchFamily="2" charset="0"/>
                        </a:rPr>
                        <a:t>TBD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65000"/>
                            </a:schemeClr>
                          </a:solidFill>
                          <a:latin typeface="Helvetica" pitchFamily="2" charset="0"/>
                        </a:rPr>
                        <a:t>TBD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65000"/>
                            </a:schemeClr>
                          </a:solidFill>
                          <a:latin typeface="Helvetica" pitchFamily="2" charset="0"/>
                        </a:rPr>
                        <a:t>TBD</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7620817"/>
                  </a:ext>
                </a:extLst>
              </a:tr>
              <a:tr h="2303978">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solidFill>
                            <a:schemeClr val="bg1">
                              <a:lumMod val="65000"/>
                            </a:schemeClr>
                          </a:solidFill>
                          <a:latin typeface="Helvetica" pitchFamily="2" charset="0"/>
                        </a:rPr>
                        <a:t>Understand LSF job submission </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Running an interactive job</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Create a first job script and submit it</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solidFill>
                            <a:schemeClr val="bg1">
                              <a:lumMod val="65000"/>
                            </a:schemeClr>
                          </a:solidFill>
                          <a:latin typeface="Helvetica" pitchFamily="2" charset="0"/>
                        </a:rPr>
                        <a:t>Learn how to estimate job requirements</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chemeClr val="bg1">
                              <a:lumMod val="65000"/>
                            </a:schemeClr>
                          </a:solidFill>
                          <a:latin typeface="Helvetica" pitchFamily="2" charset="0"/>
                        </a:rPr>
                        <a:t>Perform basic scaling analysis</a:t>
                      </a:r>
                    </a:p>
                    <a:p>
                      <a:endParaRPr lang="en-US" sz="1050" dirty="0">
                        <a:solidFill>
                          <a:schemeClr val="bg1">
                            <a:lumMod val="65000"/>
                          </a:schemeClr>
                        </a:solidFill>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solidFill>
                            <a:schemeClr val="bg1">
                              <a:lumMod val="65000"/>
                            </a:schemeClr>
                          </a:solidFill>
                          <a:latin typeface="Helvetica" pitchFamily="2" charset="0"/>
                        </a:rPr>
                        <a:t>Understand the use cases for job arrays</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Learn about the computation behind job arrays</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Create the scripts needed to submit a job array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050" dirty="0">
                          <a:solidFill>
                            <a:schemeClr val="bg1">
                              <a:lumMod val="65000"/>
                            </a:schemeClr>
                          </a:solidFill>
                          <a:latin typeface="Helvetica" pitchFamily="2" charset="0"/>
                        </a:rPr>
                        <a:t>Learn how to load software using: </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Modules</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Containers</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Conda environments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050" dirty="0">
                          <a:solidFill>
                            <a:schemeClr val="bg1">
                              <a:lumMod val="65000"/>
                            </a:schemeClr>
                          </a:solidFill>
                          <a:latin typeface="Helvetica" pitchFamily="2" charset="0"/>
                        </a:rPr>
                        <a:t>Manage data across the Hazel storage system. Know when and how to use: </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Research Storage (RS1)</a:t>
                      </a:r>
                    </a:p>
                    <a:p>
                      <a:pPr marL="171450" indent="-171450">
                        <a:buFont typeface="Arial" panose="020B0604020202020204" pitchFamily="34" charset="0"/>
                        <a:buChar char="•"/>
                      </a:pPr>
                      <a:r>
                        <a:rPr lang="en-US" sz="1050" dirty="0" err="1">
                          <a:solidFill>
                            <a:schemeClr val="bg1">
                              <a:lumMod val="65000"/>
                            </a:schemeClr>
                          </a:solidFill>
                          <a:latin typeface="Helvetica" pitchFamily="2" charset="0"/>
                        </a:rPr>
                        <a:t>Usrapps</a:t>
                      </a:r>
                      <a:endParaRPr lang="en-US" sz="1050" dirty="0">
                        <a:solidFill>
                          <a:schemeClr val="bg1">
                            <a:lumMod val="65000"/>
                          </a:schemeClr>
                        </a:solidFill>
                        <a:latin typeface="Helvetica" pitchFamily="2" charset="0"/>
                      </a:endParaRP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Scratch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solidFill>
                            <a:schemeClr val="bg1">
                              <a:lumMod val="65000"/>
                            </a:schemeClr>
                          </a:solidFill>
                          <a:latin typeface="Helvetica" pitchFamily="2" charset="0"/>
                        </a:rPr>
                        <a:t>Learn about the advantages of using Globus transfers</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Understand endpoints</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Create a local and Google drive endpoint</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Perform a transfer between local and HPC</a:t>
                      </a:r>
                    </a:p>
                    <a:p>
                      <a:pPr marL="171450" indent="-171450">
                        <a:buFont typeface="Arial" panose="020B0604020202020204" pitchFamily="34" charset="0"/>
                        <a:buChar char="•"/>
                      </a:pPr>
                      <a:r>
                        <a:rPr lang="en-US" sz="1050" dirty="0">
                          <a:solidFill>
                            <a:schemeClr val="bg1">
                              <a:lumMod val="65000"/>
                            </a:schemeClr>
                          </a:solidFill>
                          <a:latin typeface="Helvetica" pitchFamily="2" charset="0"/>
                        </a:rPr>
                        <a:t>Perform a transfer to/from Google drive</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732180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218B2-E135-26F1-97D0-87DC45D10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CB91C-E5B1-61D6-1379-EC11B99949F9}"/>
              </a:ext>
            </a:extLst>
          </p:cNvPr>
          <p:cNvSpPr>
            <a:spLocks noGrp="1"/>
          </p:cNvSpPr>
          <p:nvPr>
            <p:ph type="title"/>
          </p:nvPr>
        </p:nvSpPr>
        <p:spPr/>
        <p:txBody>
          <a:bodyPr>
            <a:normAutofit/>
          </a:bodyPr>
          <a:lstStyle/>
          <a:p>
            <a:r>
              <a:rPr lang="en-US" sz="4000" dirty="0">
                <a:latin typeface="Helvetica" pitchFamily="2" charset="0"/>
              </a:rPr>
              <a:t>Workshop logistics</a:t>
            </a:r>
          </a:p>
        </p:txBody>
      </p:sp>
      <p:pic>
        <p:nvPicPr>
          <p:cNvPr id="3" name="Picture 6" descr="coding Symbol mark in filled style 47628836 Vector Art at Vecteezy">
            <a:extLst>
              <a:ext uri="{FF2B5EF4-FFF2-40B4-BE49-F238E27FC236}">
                <a16:creationId xmlns:a16="http://schemas.microsoft.com/office/drawing/2014/main" id="{19CA38BF-6D4D-305D-CA49-7AAEFA69C0A2}"/>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57656" y="2825379"/>
            <a:ext cx="699383" cy="699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93A7186-A969-4CE3-8915-88EBF41466B8}"/>
              </a:ext>
            </a:extLst>
          </p:cNvPr>
          <p:cNvSpPr txBox="1"/>
          <p:nvPr/>
        </p:nvSpPr>
        <p:spPr>
          <a:xfrm>
            <a:off x="1912487" y="2990404"/>
            <a:ext cx="4696670" cy="369332"/>
          </a:xfrm>
          <a:prstGeom prst="rect">
            <a:avLst/>
          </a:prstGeom>
          <a:noFill/>
        </p:spPr>
        <p:txBody>
          <a:bodyPr wrap="none" rtlCol="0">
            <a:spAutoFit/>
          </a:bodyPr>
          <a:lstStyle/>
          <a:p>
            <a:r>
              <a:rPr lang="en-US" dirty="0">
                <a:latin typeface="Helvetica" pitchFamily="2" charset="0"/>
              </a:rPr>
              <a:t>=   </a:t>
            </a:r>
            <a:r>
              <a:rPr lang="en-US" b="1" dirty="0">
                <a:latin typeface="Helvetica" pitchFamily="2" charset="0"/>
              </a:rPr>
              <a:t>Hands On Activity </a:t>
            </a:r>
            <a:r>
              <a:rPr lang="en-US" dirty="0">
                <a:latin typeface="Helvetica" pitchFamily="2" charset="0"/>
              </a:rPr>
              <a:t>(please follow along)</a:t>
            </a:r>
          </a:p>
        </p:txBody>
      </p:sp>
      <p:sp>
        <p:nvSpPr>
          <p:cNvPr id="6" name="TextBox 5">
            <a:extLst>
              <a:ext uri="{FF2B5EF4-FFF2-40B4-BE49-F238E27FC236}">
                <a16:creationId xmlns:a16="http://schemas.microsoft.com/office/drawing/2014/main" id="{409EEDC1-05C9-D5EF-8B52-119DC4CED4E0}"/>
              </a:ext>
            </a:extLst>
          </p:cNvPr>
          <p:cNvSpPr txBox="1"/>
          <p:nvPr/>
        </p:nvSpPr>
        <p:spPr>
          <a:xfrm>
            <a:off x="875270" y="3783957"/>
            <a:ext cx="4758180" cy="2272545"/>
          </a:xfrm>
          <a:prstGeom prst="rect">
            <a:avLst/>
          </a:prstGeom>
          <a:noFill/>
        </p:spPr>
        <p:txBody>
          <a:bodyPr wrap="square" rtlCol="0">
            <a:spAutoFit/>
          </a:bodyPr>
          <a:lstStyle/>
          <a:p>
            <a:pPr>
              <a:lnSpc>
                <a:spcPct val="150000"/>
              </a:lnSpc>
            </a:pPr>
            <a:r>
              <a:rPr lang="en-US" sz="1600" b="1" dirty="0">
                <a:latin typeface="Helvetica" pitchFamily="2" charset="0"/>
              </a:rPr>
              <a:t>Essential Prerequisites (Must-Haves)</a:t>
            </a:r>
          </a:p>
          <a:p>
            <a:pPr marL="285750" indent="-285750">
              <a:lnSpc>
                <a:spcPct val="150000"/>
              </a:lnSpc>
              <a:buFont typeface="Arial" panose="020B0604020202020204" pitchFamily="34" charset="0"/>
              <a:buChar char="•"/>
            </a:pPr>
            <a:r>
              <a:rPr lang="en-US" sz="1600" dirty="0" err="1">
                <a:latin typeface="Helvetica" pitchFamily="2" charset="0"/>
              </a:rPr>
              <a:t>UnityID</a:t>
            </a:r>
            <a:r>
              <a:rPr lang="en-US" sz="1600" dirty="0">
                <a:latin typeface="Helvetica" pitchFamily="2" charset="0"/>
              </a:rPr>
              <a:t> Credentials (Your Hazel Login)</a:t>
            </a:r>
          </a:p>
          <a:p>
            <a:pPr marL="285750" indent="-285750">
              <a:lnSpc>
                <a:spcPct val="150000"/>
              </a:lnSpc>
              <a:buFont typeface="Arial" panose="020B0604020202020204" pitchFamily="34" charset="0"/>
              <a:buChar char="•"/>
            </a:pPr>
            <a:r>
              <a:rPr lang="en-US" sz="1600" dirty="0">
                <a:latin typeface="Helvetica" pitchFamily="2" charset="0"/>
              </a:rPr>
              <a:t>Access to a Hazel-HPC Group (Ask your PI or Dr. Hurwitz)</a:t>
            </a:r>
          </a:p>
          <a:p>
            <a:pPr marL="285750" indent="-285750">
              <a:lnSpc>
                <a:spcPct val="150000"/>
              </a:lnSpc>
              <a:buFont typeface="Arial" panose="020B0604020202020204" pitchFamily="34" charset="0"/>
              <a:buChar char="•"/>
            </a:pPr>
            <a:r>
              <a:rPr lang="en-US" sz="1600" dirty="0">
                <a:latin typeface="Helvetica" pitchFamily="2" charset="0"/>
              </a:rPr>
              <a:t>A GitHub Account (Needed for cloning materials and pipelines)</a:t>
            </a:r>
          </a:p>
        </p:txBody>
      </p:sp>
      <p:sp>
        <p:nvSpPr>
          <p:cNvPr id="4" name="TextBox 3">
            <a:extLst>
              <a:ext uri="{FF2B5EF4-FFF2-40B4-BE49-F238E27FC236}">
                <a16:creationId xmlns:a16="http://schemas.microsoft.com/office/drawing/2014/main" id="{896C092A-532A-4E65-7A2F-11C3D9DBE157}"/>
              </a:ext>
            </a:extLst>
          </p:cNvPr>
          <p:cNvSpPr txBox="1"/>
          <p:nvPr/>
        </p:nvSpPr>
        <p:spPr>
          <a:xfrm>
            <a:off x="1029867" y="1556521"/>
            <a:ext cx="6800260" cy="369332"/>
          </a:xfrm>
          <a:prstGeom prst="rect">
            <a:avLst/>
          </a:prstGeom>
          <a:noFill/>
        </p:spPr>
        <p:txBody>
          <a:bodyPr wrap="none" rtlCol="0">
            <a:spAutoFit/>
          </a:bodyPr>
          <a:lstStyle/>
          <a:p>
            <a:r>
              <a:rPr lang="en-US" b="1" dirty="0">
                <a:latin typeface="Helvetica" pitchFamily="2" charset="0"/>
              </a:rPr>
              <a:t>⚠️ </a:t>
            </a:r>
            <a:r>
              <a:rPr lang="en-US" dirty="0">
                <a:latin typeface="Helvetica" pitchFamily="2" charset="0"/>
              </a:rPr>
              <a:t>These slides are a resource, don’t try to read all the text today!</a:t>
            </a:r>
          </a:p>
        </p:txBody>
      </p:sp>
      <p:pic>
        <p:nvPicPr>
          <p:cNvPr id="1026" name="Picture 2" descr="Online work Generic Detailed Outline icon | Freepik">
            <a:extLst>
              <a:ext uri="{FF2B5EF4-FFF2-40B4-BE49-F238E27FC236}">
                <a16:creationId xmlns:a16="http://schemas.microsoft.com/office/drawing/2014/main" id="{B5E20723-3BFD-6C4C-611A-D662B5F66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656" y="2083875"/>
            <a:ext cx="425460" cy="42546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A51A9E8-E9C2-3A81-5022-837FD92D72D6}"/>
              </a:ext>
            </a:extLst>
          </p:cNvPr>
          <p:cNvSpPr/>
          <p:nvPr/>
        </p:nvSpPr>
        <p:spPr>
          <a:xfrm>
            <a:off x="717705" y="3742096"/>
            <a:ext cx="5170476" cy="2795269"/>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05524F7-7190-7722-0BE2-775F11E6D852}"/>
              </a:ext>
            </a:extLst>
          </p:cNvPr>
          <p:cNvSpPr txBox="1"/>
          <p:nvPr/>
        </p:nvSpPr>
        <p:spPr>
          <a:xfrm>
            <a:off x="2349802" y="2207599"/>
            <a:ext cx="2165978" cy="369332"/>
          </a:xfrm>
          <a:prstGeom prst="rect">
            <a:avLst/>
          </a:prstGeom>
          <a:noFill/>
        </p:spPr>
        <p:txBody>
          <a:bodyPr wrap="none" rtlCol="0">
            <a:spAutoFit/>
          </a:bodyPr>
          <a:lstStyle/>
          <a:p>
            <a:r>
              <a:rPr lang="en-US" dirty="0">
                <a:latin typeface="Helvetica" pitchFamily="2" charset="0"/>
              </a:rPr>
              <a:t>1h work + 1h social</a:t>
            </a:r>
          </a:p>
        </p:txBody>
      </p:sp>
      <p:pic>
        <p:nvPicPr>
          <p:cNvPr id="1028" name="Picture 4" descr="Drinking - Free people icons">
            <a:extLst>
              <a:ext uri="{FF2B5EF4-FFF2-40B4-BE49-F238E27FC236}">
                <a16:creationId xmlns:a16="http://schemas.microsoft.com/office/drawing/2014/main" id="{1767A7D1-2AF2-592F-0CFA-BDE7964660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9326" y="2140209"/>
            <a:ext cx="369332" cy="36933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6291B33-709B-1C11-57F6-8734CABD62EC}"/>
              </a:ext>
            </a:extLst>
          </p:cNvPr>
          <p:cNvSpPr txBox="1"/>
          <p:nvPr/>
        </p:nvSpPr>
        <p:spPr>
          <a:xfrm>
            <a:off x="1483116" y="2108034"/>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947407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51B61-C36C-4C00-5C15-8273C9508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553F6-CFD3-EAC9-615A-2573101C1480}"/>
              </a:ext>
            </a:extLst>
          </p:cNvPr>
          <p:cNvSpPr>
            <a:spLocks noGrp="1"/>
          </p:cNvSpPr>
          <p:nvPr>
            <p:ph type="title"/>
          </p:nvPr>
        </p:nvSpPr>
        <p:spPr/>
        <p:txBody>
          <a:bodyPr>
            <a:normAutofit/>
          </a:bodyPr>
          <a:lstStyle/>
          <a:p>
            <a:r>
              <a:rPr lang="en-US" sz="4000" dirty="0">
                <a:latin typeface="Helvetica" pitchFamily="2" charset="0"/>
              </a:rPr>
              <a:t>Workshop logistics</a:t>
            </a:r>
          </a:p>
        </p:txBody>
      </p:sp>
      <p:pic>
        <p:nvPicPr>
          <p:cNvPr id="3" name="Picture 6" descr="coding Symbol mark in filled style 47628836 Vector Art at Vecteezy">
            <a:extLst>
              <a:ext uri="{FF2B5EF4-FFF2-40B4-BE49-F238E27FC236}">
                <a16:creationId xmlns:a16="http://schemas.microsoft.com/office/drawing/2014/main" id="{2743B522-4833-BF48-4C15-DDCB5726428D}"/>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57656" y="2825379"/>
            <a:ext cx="699383" cy="699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5B84724-8939-73B7-0078-F592D1A968A0}"/>
              </a:ext>
            </a:extLst>
          </p:cNvPr>
          <p:cNvSpPr txBox="1"/>
          <p:nvPr/>
        </p:nvSpPr>
        <p:spPr>
          <a:xfrm>
            <a:off x="1912487" y="2990404"/>
            <a:ext cx="4696670" cy="369332"/>
          </a:xfrm>
          <a:prstGeom prst="rect">
            <a:avLst/>
          </a:prstGeom>
          <a:noFill/>
        </p:spPr>
        <p:txBody>
          <a:bodyPr wrap="none" rtlCol="0">
            <a:spAutoFit/>
          </a:bodyPr>
          <a:lstStyle/>
          <a:p>
            <a:r>
              <a:rPr lang="en-US" dirty="0">
                <a:latin typeface="Helvetica" pitchFamily="2" charset="0"/>
              </a:rPr>
              <a:t>=   </a:t>
            </a:r>
            <a:r>
              <a:rPr lang="en-US" b="1" dirty="0">
                <a:latin typeface="Helvetica" pitchFamily="2" charset="0"/>
              </a:rPr>
              <a:t>Hands On Activity </a:t>
            </a:r>
            <a:r>
              <a:rPr lang="en-US" dirty="0">
                <a:latin typeface="Helvetica" pitchFamily="2" charset="0"/>
              </a:rPr>
              <a:t>(please follow along)</a:t>
            </a:r>
          </a:p>
        </p:txBody>
      </p:sp>
      <p:sp>
        <p:nvSpPr>
          <p:cNvPr id="6" name="TextBox 5">
            <a:extLst>
              <a:ext uri="{FF2B5EF4-FFF2-40B4-BE49-F238E27FC236}">
                <a16:creationId xmlns:a16="http://schemas.microsoft.com/office/drawing/2014/main" id="{9C1A588F-DAA1-07F9-508D-64F083AB5E34}"/>
              </a:ext>
            </a:extLst>
          </p:cNvPr>
          <p:cNvSpPr txBox="1"/>
          <p:nvPr/>
        </p:nvSpPr>
        <p:spPr>
          <a:xfrm>
            <a:off x="875270" y="3783957"/>
            <a:ext cx="4758180" cy="2272545"/>
          </a:xfrm>
          <a:prstGeom prst="rect">
            <a:avLst/>
          </a:prstGeom>
          <a:noFill/>
        </p:spPr>
        <p:txBody>
          <a:bodyPr wrap="square" rtlCol="0">
            <a:spAutoFit/>
          </a:bodyPr>
          <a:lstStyle/>
          <a:p>
            <a:pPr>
              <a:lnSpc>
                <a:spcPct val="150000"/>
              </a:lnSpc>
            </a:pPr>
            <a:r>
              <a:rPr lang="en-US" sz="1600" b="1" dirty="0">
                <a:latin typeface="Helvetica" pitchFamily="2" charset="0"/>
              </a:rPr>
              <a:t>Essential Prerequisites (Must-Haves)</a:t>
            </a:r>
          </a:p>
          <a:p>
            <a:pPr marL="285750" indent="-285750">
              <a:lnSpc>
                <a:spcPct val="150000"/>
              </a:lnSpc>
              <a:buFont typeface="Arial" panose="020B0604020202020204" pitchFamily="34" charset="0"/>
              <a:buChar char="•"/>
            </a:pPr>
            <a:r>
              <a:rPr lang="en-US" sz="1600" dirty="0" err="1">
                <a:latin typeface="Helvetica" pitchFamily="2" charset="0"/>
              </a:rPr>
              <a:t>UnityID</a:t>
            </a:r>
            <a:r>
              <a:rPr lang="en-US" sz="1600" dirty="0">
                <a:latin typeface="Helvetica" pitchFamily="2" charset="0"/>
              </a:rPr>
              <a:t> Credentials (Your Hazel Login)</a:t>
            </a:r>
          </a:p>
          <a:p>
            <a:pPr marL="285750" indent="-285750">
              <a:lnSpc>
                <a:spcPct val="150000"/>
              </a:lnSpc>
              <a:buFont typeface="Arial" panose="020B0604020202020204" pitchFamily="34" charset="0"/>
              <a:buChar char="•"/>
            </a:pPr>
            <a:r>
              <a:rPr lang="en-US" sz="1600" dirty="0">
                <a:latin typeface="Helvetica" pitchFamily="2" charset="0"/>
              </a:rPr>
              <a:t>Access to a Hazel-HPC Group (Ask your PI or Dr. Hurwitz)</a:t>
            </a:r>
          </a:p>
          <a:p>
            <a:pPr marL="285750" indent="-285750">
              <a:lnSpc>
                <a:spcPct val="150000"/>
              </a:lnSpc>
              <a:buFont typeface="Arial" panose="020B0604020202020204" pitchFamily="34" charset="0"/>
              <a:buChar char="•"/>
            </a:pPr>
            <a:r>
              <a:rPr lang="en-US" sz="1600" dirty="0">
                <a:latin typeface="Helvetica" pitchFamily="2" charset="0"/>
              </a:rPr>
              <a:t>A GitHub Account (Needed for cloning materials and pipelines)</a:t>
            </a:r>
          </a:p>
        </p:txBody>
      </p:sp>
      <p:sp>
        <p:nvSpPr>
          <p:cNvPr id="7" name="TextBox 6">
            <a:extLst>
              <a:ext uri="{FF2B5EF4-FFF2-40B4-BE49-F238E27FC236}">
                <a16:creationId xmlns:a16="http://schemas.microsoft.com/office/drawing/2014/main" id="{5418856D-764C-2A9E-2143-1A40C59B7BA3}"/>
              </a:ext>
            </a:extLst>
          </p:cNvPr>
          <p:cNvSpPr txBox="1"/>
          <p:nvPr/>
        </p:nvSpPr>
        <p:spPr>
          <a:xfrm>
            <a:off x="6372794" y="3783957"/>
            <a:ext cx="4967686" cy="2272545"/>
          </a:xfrm>
          <a:prstGeom prst="rect">
            <a:avLst/>
          </a:prstGeom>
          <a:noFill/>
        </p:spPr>
        <p:txBody>
          <a:bodyPr wrap="square" rtlCol="0">
            <a:spAutoFit/>
          </a:bodyPr>
          <a:lstStyle/>
          <a:p>
            <a:pPr>
              <a:lnSpc>
                <a:spcPct val="150000"/>
              </a:lnSpc>
            </a:pPr>
            <a:r>
              <a:rPr lang="en-US" sz="1600" b="1" dirty="0">
                <a:latin typeface="Helvetica" pitchFamily="2" charset="0"/>
              </a:rPr>
              <a:t>Today's Roadmap 🗺️</a:t>
            </a:r>
          </a:p>
          <a:p>
            <a:pPr marL="285750" indent="-285750">
              <a:lnSpc>
                <a:spcPct val="150000"/>
              </a:lnSpc>
              <a:buFont typeface="Arial" panose="020B0604020202020204" pitchFamily="34" charset="0"/>
              <a:buChar char="•"/>
            </a:pPr>
            <a:r>
              <a:rPr lang="en-US" sz="1600" dirty="0">
                <a:latin typeface="Helvetica" pitchFamily="2" charset="0"/>
              </a:rPr>
              <a:t>HPC Terminology (CPU vs. GPU, Node vs. Core)</a:t>
            </a:r>
          </a:p>
          <a:p>
            <a:pPr marL="285750" indent="-285750">
              <a:lnSpc>
                <a:spcPct val="150000"/>
              </a:lnSpc>
              <a:buFont typeface="Arial" panose="020B0604020202020204" pitchFamily="34" charset="0"/>
              <a:buChar char="•"/>
            </a:pPr>
            <a:r>
              <a:rPr lang="en-US" sz="1600" dirty="0">
                <a:latin typeface="Helvetica" pitchFamily="2" charset="0"/>
              </a:rPr>
              <a:t>Understanding the Hazel File Systems (Home, Scratch, RS1)</a:t>
            </a:r>
          </a:p>
          <a:p>
            <a:pPr marL="285750" indent="-285750">
              <a:lnSpc>
                <a:spcPct val="150000"/>
              </a:lnSpc>
              <a:buFont typeface="Arial" panose="020B0604020202020204" pitchFamily="34" charset="0"/>
              <a:buChar char="•"/>
            </a:pPr>
            <a:r>
              <a:rPr lang="en-US" sz="1600" dirty="0">
                <a:latin typeface="Helvetica" pitchFamily="2" charset="0"/>
              </a:rPr>
              <a:t>Access and File Transfer (SSH, OnDemand)</a:t>
            </a:r>
          </a:p>
          <a:p>
            <a:pPr marL="285750" indent="-285750">
              <a:lnSpc>
                <a:spcPct val="150000"/>
              </a:lnSpc>
              <a:buFont typeface="Arial" panose="020B0604020202020204" pitchFamily="34" charset="0"/>
              <a:buChar char="•"/>
            </a:pPr>
            <a:r>
              <a:rPr lang="en-US" sz="1600" dirty="0">
                <a:latin typeface="Helvetica" pitchFamily="2" charset="0"/>
              </a:rPr>
              <a:t>Bonus! Basics of Unix</a:t>
            </a:r>
          </a:p>
        </p:txBody>
      </p:sp>
      <p:sp>
        <p:nvSpPr>
          <p:cNvPr id="4" name="TextBox 3">
            <a:extLst>
              <a:ext uri="{FF2B5EF4-FFF2-40B4-BE49-F238E27FC236}">
                <a16:creationId xmlns:a16="http://schemas.microsoft.com/office/drawing/2014/main" id="{D755A216-8514-5B6F-E6FC-CBE57FD2B8C5}"/>
              </a:ext>
            </a:extLst>
          </p:cNvPr>
          <p:cNvSpPr txBox="1"/>
          <p:nvPr/>
        </p:nvSpPr>
        <p:spPr>
          <a:xfrm>
            <a:off x="1029867" y="1556521"/>
            <a:ext cx="6800260" cy="369332"/>
          </a:xfrm>
          <a:prstGeom prst="rect">
            <a:avLst/>
          </a:prstGeom>
          <a:noFill/>
        </p:spPr>
        <p:txBody>
          <a:bodyPr wrap="none" rtlCol="0">
            <a:spAutoFit/>
          </a:bodyPr>
          <a:lstStyle/>
          <a:p>
            <a:r>
              <a:rPr lang="en-US" b="1" dirty="0">
                <a:latin typeface="Helvetica" pitchFamily="2" charset="0"/>
              </a:rPr>
              <a:t>⚠️ </a:t>
            </a:r>
            <a:r>
              <a:rPr lang="en-US" dirty="0">
                <a:latin typeface="Helvetica" pitchFamily="2" charset="0"/>
              </a:rPr>
              <a:t>These slides are a resource, don’t try to read all the text today!</a:t>
            </a:r>
          </a:p>
        </p:txBody>
      </p:sp>
      <p:pic>
        <p:nvPicPr>
          <p:cNvPr id="1026" name="Picture 2" descr="Online work Generic Detailed Outline icon | Freepik">
            <a:extLst>
              <a:ext uri="{FF2B5EF4-FFF2-40B4-BE49-F238E27FC236}">
                <a16:creationId xmlns:a16="http://schemas.microsoft.com/office/drawing/2014/main" id="{745D3581-0C53-177E-5516-B560531172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656" y="2083875"/>
            <a:ext cx="425460" cy="42546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56ED46E-B549-180E-3C1A-A74A79697200}"/>
              </a:ext>
            </a:extLst>
          </p:cNvPr>
          <p:cNvSpPr/>
          <p:nvPr/>
        </p:nvSpPr>
        <p:spPr>
          <a:xfrm>
            <a:off x="6271399" y="3742097"/>
            <a:ext cx="5170476" cy="2795269"/>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B0F828-A6F7-5E94-495C-8D36451EAA37}"/>
              </a:ext>
            </a:extLst>
          </p:cNvPr>
          <p:cNvSpPr/>
          <p:nvPr/>
        </p:nvSpPr>
        <p:spPr>
          <a:xfrm>
            <a:off x="717705" y="3742096"/>
            <a:ext cx="5170476" cy="2795269"/>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6112C9-D78B-B948-A5E2-CF4008062971}"/>
              </a:ext>
            </a:extLst>
          </p:cNvPr>
          <p:cNvSpPr txBox="1"/>
          <p:nvPr/>
        </p:nvSpPr>
        <p:spPr>
          <a:xfrm>
            <a:off x="2349802" y="2207599"/>
            <a:ext cx="2165978" cy="369332"/>
          </a:xfrm>
          <a:prstGeom prst="rect">
            <a:avLst/>
          </a:prstGeom>
          <a:noFill/>
        </p:spPr>
        <p:txBody>
          <a:bodyPr wrap="none" rtlCol="0">
            <a:spAutoFit/>
          </a:bodyPr>
          <a:lstStyle/>
          <a:p>
            <a:r>
              <a:rPr lang="en-US" dirty="0">
                <a:latin typeface="Helvetica" pitchFamily="2" charset="0"/>
              </a:rPr>
              <a:t>1h work + 1h social</a:t>
            </a:r>
          </a:p>
        </p:txBody>
      </p:sp>
      <p:pic>
        <p:nvPicPr>
          <p:cNvPr id="1028" name="Picture 4" descr="Drinking - Free people icons">
            <a:extLst>
              <a:ext uri="{FF2B5EF4-FFF2-40B4-BE49-F238E27FC236}">
                <a16:creationId xmlns:a16="http://schemas.microsoft.com/office/drawing/2014/main" id="{EAFBA163-F97B-14E7-E6C5-A9A49D1ADA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9326" y="2140209"/>
            <a:ext cx="369332" cy="36933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B111145-B310-ED3D-156F-27726377A878}"/>
              </a:ext>
            </a:extLst>
          </p:cNvPr>
          <p:cNvSpPr txBox="1"/>
          <p:nvPr/>
        </p:nvSpPr>
        <p:spPr>
          <a:xfrm>
            <a:off x="1483116" y="2108034"/>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643312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201274"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00. HPC fundamentals</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F1ED029-BF96-DB0C-CA25-0CBEF7F83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81B9-A535-46D6-8D1F-FB28C8E97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08573-F8FD-0FA6-7F73-ECD08151652F}"/>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9379BE18-A732-C3EA-0967-B4349149A278}"/>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5122" name="Picture 2" descr="Graphical user interface&#10;&#10;Description automatically generated">
            <a:extLst>
              <a:ext uri="{FF2B5EF4-FFF2-40B4-BE49-F238E27FC236}">
                <a16:creationId xmlns:a16="http://schemas.microsoft.com/office/drawing/2014/main" id="{4071D3FF-8388-B734-EB7A-FC772230E9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32" t="26476" r="2535" b="26762"/>
          <a:stretch>
            <a:fillRect/>
          </a:stretch>
        </p:blipFill>
        <p:spPr bwMode="auto">
          <a:xfrm>
            <a:off x="1881052" y="2809018"/>
            <a:ext cx="8255725" cy="3000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89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60F9-6E56-DEA6-E2D2-EBB155253C50}"/>
            </a:ext>
          </a:extLst>
        </p:cNvPr>
        <p:cNvGrpSpPr/>
        <p:nvPr/>
      </p:nvGrpSpPr>
      <p:grpSpPr>
        <a:xfrm>
          <a:off x="0" y="0"/>
          <a:ext cx="0" cy="0"/>
          <a:chOff x="0" y="0"/>
          <a:chExt cx="0" cy="0"/>
        </a:xfrm>
      </p:grpSpPr>
      <p:pic>
        <p:nvPicPr>
          <p:cNvPr id="7170" name="Picture 2" descr="Graphical user interface&#10;&#10;Description automatically generated">
            <a:extLst>
              <a:ext uri="{FF2B5EF4-FFF2-40B4-BE49-F238E27FC236}">
                <a16:creationId xmlns:a16="http://schemas.microsoft.com/office/drawing/2014/main" id="{508F6F86-8EC7-6D62-1437-2C43705369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9" t="28571" r="2100" b="27678"/>
          <a:stretch>
            <a:fillRect/>
          </a:stretch>
        </p:blipFill>
        <p:spPr bwMode="auto">
          <a:xfrm>
            <a:off x="1815737" y="2869512"/>
            <a:ext cx="8495211" cy="287942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1E1C2B-5CA1-ACED-5C17-3CEC9222FC13}"/>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0A520AA3-9322-61B8-4551-E5F4D8040672}"/>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spTree>
    <p:extLst>
      <p:ext uri="{BB962C8B-B14F-4D97-AF65-F5344CB8AC3E}">
        <p14:creationId xmlns:p14="http://schemas.microsoft.com/office/powerpoint/2010/main" val="1093437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872EB-397D-9D9E-5D4A-406DCF452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FCBF7-C404-517C-D712-1D1371DEEB38}"/>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1CE433F4-4BBE-906F-0A9D-7514686F17BD}"/>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9218" name="Picture 2">
            <a:extLst>
              <a:ext uri="{FF2B5EF4-FFF2-40B4-BE49-F238E27FC236}">
                <a16:creationId xmlns:a16="http://schemas.microsoft.com/office/drawing/2014/main" id="{8BFC1275-6A55-D69B-3BFA-365F79B42A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328" y="2409377"/>
            <a:ext cx="6674439" cy="4083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545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812F-FD91-EF7F-A8B9-F15559D63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0241E-7BD0-D5F3-80A4-1E63961F5888}"/>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EB60A4D9-2D50-1C28-1090-8EDF32EC9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36C110A-578E-CE85-9E54-83175489E54D}"/>
              </a:ext>
            </a:extLst>
          </p:cNvPr>
          <p:cNvSpPr txBox="1"/>
          <p:nvPr/>
        </p:nvSpPr>
        <p:spPr>
          <a:xfrm>
            <a:off x="642900" y="1690688"/>
            <a:ext cx="6097088" cy="2215991"/>
          </a:xfrm>
          <a:prstGeom prst="rect">
            <a:avLst/>
          </a:prstGeom>
          <a:noFill/>
        </p:spPr>
        <p:txBody>
          <a:bodyPr wrap="square">
            <a:spAutoFit/>
          </a:bodyPr>
          <a:lstStyle/>
          <a:p>
            <a:pPr marL="285750" indent="-285750">
              <a:buFont typeface="Arial" panose="020B0604020202020204" pitchFamily="34" charset="0"/>
              <a:buChar char="•"/>
            </a:pPr>
            <a:r>
              <a:rPr lang="en-US" b="1" dirty="0">
                <a:latin typeface="Helvetica" pitchFamily="2" charset="0"/>
              </a:rPr>
              <a:t>CPU  </a:t>
            </a:r>
            <a:r>
              <a:rPr lang="en-US" dirty="0">
                <a:latin typeface="Helvetica" pitchFamily="2" charset="0"/>
              </a:rPr>
              <a:t>(Central processing unit) </a:t>
            </a:r>
            <a:r>
              <a:rPr lang="en-US" b="1" dirty="0">
                <a:latin typeface="Helvetica" pitchFamily="2" charset="0"/>
              </a:rPr>
              <a:t>= Taskmaster:</a:t>
            </a:r>
            <a:r>
              <a:rPr lang="en-US" dirty="0">
                <a:latin typeface="Helvetica" pitchFamily="2" charset="0"/>
              </a:rPr>
              <a:t> General purpose, sequential work. 8-64 cores.</a:t>
            </a:r>
          </a:p>
          <a:p>
            <a:r>
              <a:rPr lang="en-US" sz="1400" i="1" dirty="0">
                <a:latin typeface="Helvetica Light Oblique" panose="020B0403020202020204" pitchFamily="34" charset="0"/>
              </a:rPr>
              <a:t>Think of a CPU as a small team of highly skilled experts. Each core can tackle complex, diverse tasks independently and make sophisticated decisions.</a:t>
            </a:r>
            <a:endParaRPr lang="en-US" dirty="0">
              <a:latin typeface="Helvetica" pitchFamily="2" charset="0"/>
            </a:endParaRPr>
          </a:p>
          <a:p>
            <a:pPr marL="742950" lvl="1" indent="-285750">
              <a:buFont typeface="Arial" panose="020B0604020202020204" pitchFamily="34" charset="0"/>
              <a:buChar char="•"/>
            </a:pPr>
            <a:r>
              <a:rPr lang="en-US" sz="1400" dirty="0">
                <a:latin typeface="Helvetica" pitchFamily="2" charset="0"/>
              </a:rPr>
              <a:t>Sequence alignment (BWA, Bowtie) </a:t>
            </a:r>
          </a:p>
          <a:p>
            <a:pPr marL="742950" lvl="1" indent="-285750">
              <a:buFont typeface="Arial" panose="020B0604020202020204" pitchFamily="34" charset="0"/>
              <a:buChar char="•"/>
            </a:pPr>
            <a:r>
              <a:rPr lang="en-US" sz="1400" dirty="0">
                <a:latin typeface="Helvetica" pitchFamily="2" charset="0"/>
              </a:rPr>
              <a:t>Variant calling (GATK), </a:t>
            </a:r>
          </a:p>
          <a:p>
            <a:pPr marL="742950" lvl="1" indent="-285750">
              <a:buFont typeface="Arial" panose="020B0604020202020204" pitchFamily="34" charset="0"/>
              <a:buChar char="•"/>
            </a:pPr>
            <a:r>
              <a:rPr lang="en-US" sz="1400" dirty="0">
                <a:latin typeface="Helvetica" pitchFamily="2" charset="0"/>
              </a:rPr>
              <a:t>Gene expression analysis (DESeq2)</a:t>
            </a:r>
          </a:p>
          <a:p>
            <a:endParaRPr lang="en-US" dirty="0">
              <a:latin typeface="Helvetica" pitchFamily="2" charset="0"/>
            </a:endParaRPr>
          </a:p>
        </p:txBody>
      </p:sp>
    </p:spTree>
    <p:extLst>
      <p:ext uri="{BB962C8B-B14F-4D97-AF65-F5344CB8AC3E}">
        <p14:creationId xmlns:p14="http://schemas.microsoft.com/office/powerpoint/2010/main" val="192625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302D-752C-DC45-2306-781B3D4F8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1ECD0-5722-9778-284D-B12200C6BF9B}"/>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F8F7E9E6-AA9A-B767-D1F1-DEBD9A654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B948E3-ED56-AB76-B756-7935446AF413}"/>
              </a:ext>
            </a:extLst>
          </p:cNvPr>
          <p:cNvSpPr txBox="1"/>
          <p:nvPr/>
        </p:nvSpPr>
        <p:spPr>
          <a:xfrm>
            <a:off x="642900" y="1690688"/>
            <a:ext cx="6097088" cy="4124206"/>
          </a:xfrm>
          <a:prstGeom prst="rect">
            <a:avLst/>
          </a:prstGeom>
          <a:noFill/>
        </p:spPr>
        <p:txBody>
          <a:bodyPr wrap="square">
            <a:spAutoFit/>
          </a:bodyPr>
          <a:lstStyle/>
          <a:p>
            <a:pPr marL="285750" indent="-285750">
              <a:buFont typeface="Arial" panose="020B0604020202020204" pitchFamily="34" charset="0"/>
              <a:buChar char="•"/>
            </a:pPr>
            <a:r>
              <a:rPr lang="en-US" b="1" dirty="0">
                <a:solidFill>
                  <a:schemeClr val="bg1">
                    <a:lumMod val="50000"/>
                  </a:schemeClr>
                </a:solidFill>
                <a:latin typeface="Helvetica" pitchFamily="2" charset="0"/>
              </a:rPr>
              <a:t>CPU  </a:t>
            </a:r>
            <a:r>
              <a:rPr lang="en-US" dirty="0">
                <a:solidFill>
                  <a:schemeClr val="bg1">
                    <a:lumMod val="50000"/>
                  </a:schemeClr>
                </a:solidFill>
                <a:latin typeface="Helvetica" pitchFamily="2" charset="0"/>
              </a:rPr>
              <a:t>(Central processing unit) </a:t>
            </a:r>
            <a:r>
              <a:rPr lang="en-US" b="1" dirty="0">
                <a:solidFill>
                  <a:schemeClr val="bg1">
                    <a:lumMod val="50000"/>
                  </a:schemeClr>
                </a:solidFill>
                <a:latin typeface="Helvetica" pitchFamily="2" charset="0"/>
              </a:rPr>
              <a:t>= Taskmaster:</a:t>
            </a:r>
            <a:r>
              <a:rPr lang="en-US" dirty="0">
                <a:solidFill>
                  <a:schemeClr val="bg1">
                    <a:lumMod val="50000"/>
                  </a:schemeClr>
                </a:solidFill>
                <a:latin typeface="Helvetica" pitchFamily="2" charset="0"/>
              </a:rPr>
              <a:t> General purpose, sequential work. 8-64 cores.</a:t>
            </a:r>
          </a:p>
          <a:p>
            <a:r>
              <a:rPr lang="en-US" sz="1400" i="1" dirty="0">
                <a:solidFill>
                  <a:schemeClr val="bg1">
                    <a:lumMod val="50000"/>
                  </a:schemeClr>
                </a:solidFill>
                <a:latin typeface="Helvetica Light Oblique" panose="020B0403020202020204" pitchFamily="34" charset="0"/>
              </a:rPr>
              <a:t>Think of a CPU as a small team of highly skilled experts. Each core can tackle complex, diverse tasks independently and make sophisticated decisions.</a:t>
            </a:r>
            <a:endParaRPr lang="en-US" dirty="0">
              <a:solidFill>
                <a:schemeClr val="bg1">
                  <a:lumMod val="50000"/>
                </a:schemeClr>
              </a:solidFill>
              <a:latin typeface="Helvetica" pitchFamily="2" charset="0"/>
            </a:endParaRP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Sequence alignment (BWA, Bowtie)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Variant calling (GATK),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Gene expression analysis (DESeq2)</a:t>
            </a:r>
          </a:p>
          <a:p>
            <a:endParaRPr lang="en-US" dirty="0">
              <a:latin typeface="Helvetica" pitchFamily="2" charset="0"/>
            </a:endParaRPr>
          </a:p>
          <a:p>
            <a:pPr marL="285750" indent="-285750">
              <a:buFont typeface="Arial" panose="020B0604020202020204" pitchFamily="34" charset="0"/>
              <a:buChar char="•"/>
            </a:pPr>
            <a:r>
              <a:rPr lang="en-US" b="1" dirty="0">
                <a:latin typeface="Helvetica" pitchFamily="2" charset="0"/>
              </a:rPr>
              <a:t>GPU </a:t>
            </a:r>
            <a:r>
              <a:rPr lang="en-US" dirty="0">
                <a:latin typeface="Helvetica" pitchFamily="2" charset="0"/>
              </a:rPr>
              <a:t>(Graphic processing unit) </a:t>
            </a:r>
            <a:r>
              <a:rPr lang="en-US" b="1" dirty="0">
                <a:latin typeface="Helvetica" pitchFamily="2" charset="0"/>
              </a:rPr>
              <a:t>= Turbo-Boost:</a:t>
            </a:r>
            <a:r>
              <a:rPr lang="en-US" dirty="0">
                <a:latin typeface="Helvetica" pitchFamily="2" charset="0"/>
              </a:rPr>
              <a:t> Specialized, massive parallel work (Deep Learning, Protein Prediction). Thousands of cores.</a:t>
            </a:r>
          </a:p>
          <a:p>
            <a:r>
              <a:rPr lang="en-US" sz="1400" i="1" dirty="0">
                <a:latin typeface="Helvetica Light Oblique" panose="020B0403020202020204" pitchFamily="34" charset="0"/>
              </a:rPr>
              <a:t>A GPU is  like having thousands of workers who can all do the same simple task simultaneously.</a:t>
            </a:r>
          </a:p>
          <a:p>
            <a:pPr marL="742950" lvl="1" indent="-285750">
              <a:buFont typeface="Arial" panose="020B0604020202020204" pitchFamily="34" charset="0"/>
              <a:buChar char="•"/>
            </a:pPr>
            <a:r>
              <a:rPr lang="en-US" sz="1400" dirty="0">
                <a:latin typeface="Helvetica" pitchFamily="2" charset="0"/>
              </a:rPr>
              <a:t>Deep learning (AlphaFold, protein structure prediction)</a:t>
            </a:r>
          </a:p>
          <a:p>
            <a:pPr marL="742950" lvl="1" indent="-285750">
              <a:buFont typeface="Arial" panose="020B0604020202020204" pitchFamily="34" charset="0"/>
              <a:buChar char="•"/>
            </a:pPr>
            <a:r>
              <a:rPr lang="en-US" sz="1400" dirty="0">
                <a:latin typeface="Helvetica" pitchFamily="2" charset="0"/>
              </a:rPr>
              <a:t>Molecular dynamics simulations</a:t>
            </a:r>
          </a:p>
          <a:p>
            <a:pPr marL="742950" lvl="1" indent="-285750">
              <a:buFont typeface="Arial" panose="020B0604020202020204" pitchFamily="34" charset="0"/>
              <a:buChar char="•"/>
            </a:pPr>
            <a:r>
              <a:rPr lang="en-US" sz="1400" dirty="0">
                <a:latin typeface="Helvetica" pitchFamily="2" charset="0"/>
              </a:rPr>
              <a:t>Some genome assembly algorithms</a:t>
            </a:r>
            <a:endParaRPr lang="en-US" sz="1400" i="1" dirty="0">
              <a:latin typeface="Helvetica" pitchFamily="2" charset="0"/>
            </a:endParaRPr>
          </a:p>
        </p:txBody>
      </p:sp>
    </p:spTree>
    <p:extLst>
      <p:ext uri="{BB962C8B-B14F-4D97-AF65-F5344CB8AC3E}">
        <p14:creationId xmlns:p14="http://schemas.microsoft.com/office/powerpoint/2010/main" val="1027911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B7653-2B50-AEB2-747D-1C847DEF0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6A812-3C65-51A5-469E-4F5AA25BE7F8}"/>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7359E43-7C1E-361E-2264-53712D534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248C0F-3164-DA58-071F-C6F698A4D10C}"/>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685680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BAD-DC17-E664-89B0-29E816D01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4C19D-DD0D-D938-F48E-78AE17E5C28F}"/>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0B9F0F9D-BB10-ED14-4F70-045461165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575BAF5-DDD2-2F5F-AA14-55CDFD17116D}"/>
              </a:ext>
            </a:extLst>
          </p:cNvPr>
          <p:cNvSpPr txBox="1"/>
          <p:nvPr/>
        </p:nvSpPr>
        <p:spPr>
          <a:xfrm>
            <a:off x="632598" y="2118241"/>
            <a:ext cx="6159136" cy="273921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Helvetica" pitchFamily="2" charset="0"/>
              </a:rPr>
              <a:t>Node: </a:t>
            </a:r>
          </a:p>
          <a:p>
            <a:r>
              <a:rPr lang="en-US" sz="1400" dirty="0">
                <a:latin typeface="Helvetica" pitchFamily="2" charset="0"/>
              </a:rPr>
              <a:t>A node is </a:t>
            </a:r>
            <a:r>
              <a:rPr lang="en-US" sz="1400" b="1" dirty="0">
                <a:latin typeface="Helvetica" pitchFamily="2" charset="0"/>
              </a:rPr>
              <a:t>an entire computer </a:t>
            </a:r>
            <a:r>
              <a:rPr lang="en-US" sz="1400" dirty="0">
                <a:latin typeface="Helvetica" pitchFamily="2" charset="0"/>
              </a:rPr>
              <a:t>within the HPC cluster. </a:t>
            </a:r>
            <a:r>
              <a:rPr lang="en-US" sz="1400" i="1" dirty="0">
                <a:latin typeface="Helvetica" pitchFamily="2" charset="0"/>
              </a:rPr>
              <a:t>Think of a node as a complete office workspace with everything needed to function independently. </a:t>
            </a:r>
            <a:r>
              <a:rPr lang="en-US" sz="1400" dirty="0">
                <a:latin typeface="Helvetica" pitchFamily="2" charset="0"/>
              </a:rPr>
              <a:t>Each node contains:</a:t>
            </a:r>
          </a:p>
          <a:p>
            <a:pPr marL="742950" lvl="1" indent="-285750">
              <a:buFont typeface="Arial" panose="020B0604020202020204" pitchFamily="34" charset="0"/>
              <a:buChar char="•"/>
            </a:pPr>
            <a:r>
              <a:rPr lang="en-US" sz="1400" dirty="0">
                <a:latin typeface="Helvetica" pitchFamily="2" charset="0"/>
              </a:rPr>
              <a:t>One or more CPUs and/or GPUs (each with multiple cores)</a:t>
            </a:r>
          </a:p>
          <a:p>
            <a:pPr marL="742950" lvl="1" indent="-285750">
              <a:buFont typeface="Arial" panose="020B0604020202020204" pitchFamily="34" charset="0"/>
              <a:buChar char="•"/>
            </a:pPr>
            <a:r>
              <a:rPr lang="en-US" sz="1400" dirty="0">
                <a:latin typeface="Helvetica" pitchFamily="2" charset="0"/>
              </a:rPr>
              <a:t>Memory (RAM)</a:t>
            </a:r>
          </a:p>
          <a:p>
            <a:pPr marL="742950" lvl="1" indent="-285750">
              <a:buFont typeface="Arial" panose="020B0604020202020204" pitchFamily="34" charset="0"/>
              <a:buChar char="•"/>
            </a:pPr>
            <a:r>
              <a:rPr lang="en-US" sz="1400" dirty="0">
                <a:latin typeface="Helvetica" pitchFamily="2" charset="0"/>
              </a:rPr>
              <a:t>Storage connection</a:t>
            </a:r>
          </a:p>
          <a:p>
            <a:pPr marL="742950" lvl="1" indent="-285750">
              <a:buFont typeface="Arial" panose="020B0604020202020204" pitchFamily="34" charset="0"/>
              <a:buChar char="•"/>
            </a:pPr>
            <a:r>
              <a:rPr lang="en-US" sz="1400" dirty="0">
                <a:latin typeface="Helvetica" pitchFamily="2" charset="0"/>
              </a:rPr>
              <a:t>Network connection to other nodes </a:t>
            </a:r>
          </a:p>
          <a:p>
            <a:pPr marL="742950" lvl="1" indent="-285750">
              <a:buFont typeface="Arial" panose="020B0604020202020204" pitchFamily="34" charset="0"/>
              <a:buChar char="•"/>
            </a:pPr>
            <a:r>
              <a:rPr lang="en-US" sz="1400" dirty="0">
                <a:latin typeface="Helvetica" pitchFamily="2" charset="0"/>
              </a:rPr>
              <a:t>Note: in Hazel compute nodes do not have internet connection!</a:t>
            </a: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endParaRPr lang="en-US" sz="1400" dirty="0">
              <a:latin typeface="Helvetica" pitchFamily="2" charset="0"/>
            </a:endParaRPr>
          </a:p>
        </p:txBody>
      </p:sp>
      <p:sp>
        <p:nvSpPr>
          <p:cNvPr id="5" name="TextBox 4">
            <a:extLst>
              <a:ext uri="{FF2B5EF4-FFF2-40B4-BE49-F238E27FC236}">
                <a16:creationId xmlns:a16="http://schemas.microsoft.com/office/drawing/2014/main" id="{795EDF3B-86D3-BF09-3D4E-24A5FD628F57}"/>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pic>
        <p:nvPicPr>
          <p:cNvPr id="17" name="Picture 2">
            <a:extLst>
              <a:ext uri="{FF2B5EF4-FFF2-40B4-BE49-F238E27FC236}">
                <a16:creationId xmlns:a16="http://schemas.microsoft.com/office/drawing/2014/main" id="{25BE3D07-2DD4-B95C-D9FA-4A737D7E96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04" b="34535"/>
          <a:stretch>
            <a:fillRect/>
          </a:stretch>
        </p:blipFill>
        <p:spPr bwMode="auto">
          <a:xfrm>
            <a:off x="10444347" y="5282178"/>
            <a:ext cx="1668483" cy="135838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B9DCF0F5-E2DE-7BEB-1CAC-600BF2CD5853}"/>
              </a:ext>
            </a:extLst>
          </p:cNvPr>
          <p:cNvCxnSpPr>
            <a:cxnSpLocks/>
          </p:cNvCxnSpPr>
          <p:nvPr/>
        </p:nvCxnSpPr>
        <p:spPr>
          <a:xfrm flipH="1" flipV="1">
            <a:off x="11780322" y="3877293"/>
            <a:ext cx="89065" cy="16387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740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964B5-46AE-53A5-D2B1-8D5AAF0DA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DC1A8-643B-55FF-7774-9B6C51CCBFED}"/>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2F0CC91-2C95-9FD9-1234-5AF2C07F7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1D844C2-5CA9-8A6D-9E75-0027219067A2}"/>
              </a:ext>
            </a:extLst>
          </p:cNvPr>
          <p:cNvSpPr txBox="1"/>
          <p:nvPr/>
        </p:nvSpPr>
        <p:spPr>
          <a:xfrm>
            <a:off x="632598" y="2118241"/>
            <a:ext cx="6159136" cy="4739759"/>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lumMod val="65000"/>
                  </a:schemeClr>
                </a:solidFill>
                <a:latin typeface="Helvetica" pitchFamily="2" charset="0"/>
              </a:rPr>
              <a:t>Node: </a:t>
            </a:r>
          </a:p>
          <a:p>
            <a:r>
              <a:rPr lang="en-US" sz="1400" dirty="0">
                <a:solidFill>
                  <a:schemeClr val="bg1">
                    <a:lumMod val="65000"/>
                  </a:schemeClr>
                </a:solidFill>
                <a:latin typeface="Helvetica" pitchFamily="2" charset="0"/>
              </a:rPr>
              <a:t>A node is </a:t>
            </a:r>
            <a:r>
              <a:rPr lang="en-US" sz="1400" b="1" dirty="0">
                <a:solidFill>
                  <a:schemeClr val="bg1">
                    <a:lumMod val="65000"/>
                  </a:schemeClr>
                </a:solidFill>
                <a:latin typeface="Helvetica" pitchFamily="2" charset="0"/>
              </a:rPr>
              <a:t>an entire computer </a:t>
            </a:r>
            <a:r>
              <a:rPr lang="en-US" sz="1400" dirty="0">
                <a:solidFill>
                  <a:schemeClr val="bg1">
                    <a:lumMod val="65000"/>
                  </a:schemeClr>
                </a:solidFill>
                <a:latin typeface="Helvetica" pitchFamily="2" charset="0"/>
              </a:rPr>
              <a:t>within the HPC cluster. </a:t>
            </a:r>
            <a:r>
              <a:rPr lang="en-US" sz="1400" i="1" dirty="0">
                <a:solidFill>
                  <a:schemeClr val="bg1">
                    <a:lumMod val="65000"/>
                  </a:schemeClr>
                </a:solidFill>
                <a:latin typeface="Helvetica" pitchFamily="2" charset="0"/>
              </a:rPr>
              <a:t>Think of a node as a complete office workspace with everything needed to function independently. </a:t>
            </a:r>
            <a:r>
              <a:rPr lang="en-US" sz="1400" dirty="0">
                <a:solidFill>
                  <a:schemeClr val="bg1">
                    <a:lumMod val="65000"/>
                  </a:schemeClr>
                </a:solidFill>
                <a:latin typeface="Helvetica" pitchFamily="2" charset="0"/>
              </a:rPr>
              <a:t>Each node contains: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One or more CPUs and/or GPUs (each with multiple cores)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Memory (RAM)</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Storage connection</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Network connection to other nodes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Note: in Hazel compute nodes do not have internet connection!</a:t>
            </a:r>
            <a:endParaRPr lang="en-US" sz="1400" b="1" dirty="0">
              <a:solidFill>
                <a:schemeClr val="bg1">
                  <a:lumMod val="65000"/>
                </a:schemeClr>
              </a:solidFill>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r>
              <a:rPr lang="en-US" b="1" dirty="0">
                <a:latin typeface="Helvetica" pitchFamily="2" charset="0"/>
              </a:rPr>
              <a:t>Core: </a:t>
            </a:r>
          </a:p>
          <a:p>
            <a:r>
              <a:rPr lang="en-US" sz="1400" dirty="0">
                <a:latin typeface="Helvetica" pitchFamily="2" charset="0"/>
              </a:rPr>
              <a:t>A core is a</a:t>
            </a:r>
            <a:r>
              <a:rPr lang="en-US" sz="1400" b="1" dirty="0">
                <a:latin typeface="Helvetica" pitchFamily="2" charset="0"/>
              </a:rPr>
              <a:t> single processing unit </a:t>
            </a:r>
            <a:r>
              <a:rPr lang="en-US" sz="1400" dirty="0">
                <a:latin typeface="Helvetica" pitchFamily="2" charset="0"/>
              </a:rPr>
              <a:t>within a CPU. It's the fundamental unit that executes instructions. </a:t>
            </a:r>
            <a:r>
              <a:rPr lang="en-US" sz="1400" i="1" dirty="0">
                <a:latin typeface="Helvetica" pitchFamily="2" charset="0"/>
              </a:rPr>
              <a:t>Think of a core as one individual worker who can complete tasks.</a:t>
            </a:r>
          </a:p>
          <a:p>
            <a:pPr marL="742950" lvl="1" indent="-285750">
              <a:buFont typeface="Arial" panose="020B0604020202020204" pitchFamily="34" charset="0"/>
              <a:buChar char="•"/>
            </a:pPr>
            <a:r>
              <a:rPr lang="en-US" sz="1400" dirty="0">
                <a:latin typeface="Helvetica" pitchFamily="2" charset="0"/>
              </a:rPr>
              <a:t>Modern CPUs contain multiple cores (typically 8-64 cores per CPU)</a:t>
            </a:r>
          </a:p>
          <a:p>
            <a:pPr marL="742950" lvl="1" indent="-285750">
              <a:buFont typeface="Arial" panose="020B0604020202020204" pitchFamily="34" charset="0"/>
              <a:buChar char="•"/>
            </a:pPr>
            <a:r>
              <a:rPr lang="en-US" sz="1400" dirty="0">
                <a:latin typeface="Helvetica" pitchFamily="2" charset="0"/>
              </a:rPr>
              <a:t>Each core can run its own thread of execution independently</a:t>
            </a:r>
          </a:p>
          <a:p>
            <a:pPr marL="742950" lvl="1" indent="-285750">
              <a:buFont typeface="Arial" panose="020B0604020202020204" pitchFamily="34" charset="0"/>
              <a:buChar char="•"/>
            </a:pPr>
            <a:r>
              <a:rPr lang="en-US" sz="1400" dirty="0">
                <a:latin typeface="Helvetica" pitchFamily="2" charset="0"/>
              </a:rPr>
              <a:t>More cores = more tasks can run simultaneously</a:t>
            </a:r>
          </a:p>
          <a:p>
            <a:pPr marL="742950" lvl="1" indent="-285750">
              <a:buFont typeface="Arial" panose="020B0604020202020204" pitchFamily="34" charset="0"/>
              <a:buChar char="•"/>
            </a:pPr>
            <a:r>
              <a:rPr lang="en-US" sz="1400" dirty="0">
                <a:latin typeface="Helvetica" pitchFamily="2" charset="0"/>
              </a:rPr>
              <a:t>Example: A 32-core CPU can theoretically run 32 different calculations at the same time</a:t>
            </a:r>
          </a:p>
          <a:p>
            <a:endParaRPr lang="en-US" sz="1400" dirty="0">
              <a:latin typeface="Helvetica" pitchFamily="2" charset="0"/>
            </a:endParaRPr>
          </a:p>
        </p:txBody>
      </p:sp>
      <p:sp>
        <p:nvSpPr>
          <p:cNvPr id="5" name="TextBox 4">
            <a:extLst>
              <a:ext uri="{FF2B5EF4-FFF2-40B4-BE49-F238E27FC236}">
                <a16:creationId xmlns:a16="http://schemas.microsoft.com/office/drawing/2014/main" id="{26C0FA63-C607-4532-2BCA-4219E61B56F6}"/>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773095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A12A-EAC2-BEA2-A23B-E9DF2CE5F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AA2C3-ABB2-9B43-F1F6-839CB7037F46}"/>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7684A8EE-85A0-8F7A-E326-39B51E108337}"/>
              </a:ext>
            </a:extLst>
          </p:cNvPr>
          <p:cNvSpPr txBox="1"/>
          <p:nvPr/>
        </p:nvSpPr>
        <p:spPr>
          <a:xfrm>
            <a:off x="397466" y="1690688"/>
            <a:ext cx="6159136" cy="1877437"/>
          </a:xfrm>
          <a:prstGeom prst="rect">
            <a:avLst/>
          </a:prstGeom>
          <a:noFill/>
        </p:spPr>
        <p:txBody>
          <a:bodyPr wrap="square" rtlCol="0">
            <a:spAutoFit/>
          </a:bodyPr>
          <a:lstStyle/>
          <a:p>
            <a:r>
              <a:rPr lang="en-US" sz="1600" b="1" dirty="0">
                <a:latin typeface="Helvetica" pitchFamily="2" charset="0"/>
              </a:rPr>
              <a:t>Single-node jobs</a:t>
            </a:r>
            <a:r>
              <a:rPr lang="en-US" sz="1600" dirty="0">
                <a:latin typeface="Helvetica" pitchFamily="2" charset="0"/>
              </a:rPr>
              <a:t>: Your program uses multiple cores on ONE node </a:t>
            </a:r>
          </a:p>
          <a:p>
            <a:pPr marL="742950" lvl="1" indent="-285750">
              <a:buFont typeface="Arial" panose="020B0604020202020204" pitchFamily="34" charset="0"/>
              <a:buChar char="•"/>
            </a:pPr>
            <a:r>
              <a:rPr lang="en-US" sz="1400" dirty="0">
                <a:latin typeface="Helvetica" pitchFamily="2" charset="0"/>
              </a:rPr>
              <a:t>Faster communication between cores (they share memory)</a:t>
            </a:r>
          </a:p>
          <a:p>
            <a:pPr marL="742950" lvl="1" indent="-285750">
              <a:buFont typeface="Arial" panose="020B0604020202020204" pitchFamily="34" charset="0"/>
              <a:buChar char="•"/>
            </a:pPr>
            <a:r>
              <a:rPr lang="en-US" sz="1400" dirty="0">
                <a:latin typeface="Helvetica" pitchFamily="2" charset="0"/>
              </a:rPr>
              <a:t>Limited by one node's resources (if a node has 32 cores and 128GB RAM, that's your max)</a:t>
            </a:r>
          </a:p>
          <a:p>
            <a:pPr lvl="1"/>
            <a:r>
              <a:rPr lang="en-US" sz="1400" i="1" dirty="0">
                <a:latin typeface="Helvetica" pitchFamily="2" charset="0"/>
              </a:rPr>
              <a:t>Example: Most alignment tools (BWA, STAR) run on a single node</a:t>
            </a:r>
          </a:p>
          <a:p>
            <a:pPr lvl="1"/>
            <a:endParaRPr lang="en-US" sz="1400" i="1" dirty="0">
              <a:latin typeface="Helvetica" pitchFamily="2" charset="0"/>
            </a:endParaRPr>
          </a:p>
          <a:p>
            <a:endParaRPr lang="en-US" sz="1400" dirty="0">
              <a:latin typeface="Helvetica" pitchFamily="2" charset="0"/>
            </a:endParaRPr>
          </a:p>
        </p:txBody>
      </p:sp>
      <p:pic>
        <p:nvPicPr>
          <p:cNvPr id="7" name="Picture 2">
            <a:extLst>
              <a:ext uri="{FF2B5EF4-FFF2-40B4-BE49-F238E27FC236}">
                <a16:creationId xmlns:a16="http://schemas.microsoft.com/office/drawing/2014/main" id="{E627B80D-214D-15DF-9567-61B30B0993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104D6AC0-160F-1AF8-852E-3F15928EF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55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C2A9E-5935-7D8C-A638-D55C94E91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DD537-C84E-5AFD-5F8A-9CF234BC0F35}"/>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4F856ABA-D7F4-48EE-B65C-3C5B3957FBBF}"/>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pic>
        <p:nvPicPr>
          <p:cNvPr id="13314" name="Picture 2" descr="MPI for Multi-node and Parallel Jobs — Sheffield HPC Documentation">
            <a:extLst>
              <a:ext uri="{FF2B5EF4-FFF2-40B4-BE49-F238E27FC236}">
                <a16:creationId xmlns:a16="http://schemas.microsoft.com/office/drawing/2014/main" id="{9A6EB347-2470-DA30-367E-B2D2D4B77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23C56612-3051-0631-7D9A-D7962AA46A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15AC4FE9-71B6-B45B-1865-712A68DA84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782F16E-EC1B-E5AA-6B47-060C20327F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2B3507B4-558B-F434-2006-BB75F9EB38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944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A058B-0E5C-5AE7-C7DB-9194E5316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B30D-8516-CE98-0A62-78DCCAB2935D}"/>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15FCFC9C-B047-2C4F-A850-0B910793FF7A}"/>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sp>
        <p:nvSpPr>
          <p:cNvPr id="8" name="TextBox 7">
            <a:extLst>
              <a:ext uri="{FF2B5EF4-FFF2-40B4-BE49-F238E27FC236}">
                <a16:creationId xmlns:a16="http://schemas.microsoft.com/office/drawing/2014/main" id="{19715517-0F65-007E-BB70-AC12086D6A61}"/>
              </a:ext>
            </a:extLst>
          </p:cNvPr>
          <p:cNvSpPr txBox="1"/>
          <p:nvPr/>
        </p:nvSpPr>
        <p:spPr>
          <a:xfrm>
            <a:off x="397466" y="5476161"/>
            <a:ext cx="6459582" cy="1077218"/>
          </a:xfrm>
          <a:prstGeom prst="rect">
            <a:avLst/>
          </a:prstGeom>
          <a:solidFill>
            <a:schemeClr val="accent6">
              <a:lumMod val="20000"/>
              <a:lumOff val="80000"/>
            </a:schemeClr>
          </a:solidFill>
        </p:spPr>
        <p:txBody>
          <a:bodyPr wrap="square">
            <a:spAutoFit/>
          </a:bodyPr>
          <a:lstStyle/>
          <a:p>
            <a:r>
              <a:rPr lang="en-US" sz="1600" dirty="0">
                <a:latin typeface="Helvetica" pitchFamily="2" charset="0"/>
              </a:rPr>
              <a:t>Not all bioinformatics software can use multiple nodes! </a:t>
            </a:r>
            <a:r>
              <a:rPr lang="en-US" sz="1600" b="1" dirty="0">
                <a:latin typeface="Helvetica" pitchFamily="2" charset="0"/>
              </a:rPr>
              <a:t>Most tools are designed to use multiple cores on a single node</a:t>
            </a:r>
            <a:r>
              <a:rPr lang="en-US" sz="1600" dirty="0">
                <a:latin typeface="Helvetica" pitchFamily="2" charset="0"/>
              </a:rPr>
              <a:t>. Always check your software's documentation before requesting multi-node resources.</a:t>
            </a:r>
          </a:p>
        </p:txBody>
      </p:sp>
      <p:pic>
        <p:nvPicPr>
          <p:cNvPr id="13314" name="Picture 2" descr="MPI for Multi-node and Parallel Jobs — Sheffield HPC Documentation">
            <a:extLst>
              <a:ext uri="{FF2B5EF4-FFF2-40B4-BE49-F238E27FC236}">
                <a16:creationId xmlns:a16="http://schemas.microsoft.com/office/drawing/2014/main" id="{2BB4CEE0-7FE1-72A8-7A39-E96C363B8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84863020-BDF1-1676-B401-82B7585025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F616E44D-CD95-6810-1713-C2772003E1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9D0769C-BB9B-4302-8260-A5F76E9418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4E709820-833B-C1C3-4617-116F0663E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779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B61DD-055F-56DF-FC5D-605571E5E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652C0-085C-6A1C-E223-BA5E8B943558}"/>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9BB185E2-CF0F-E9D3-8CE5-602CD6C1702F}"/>
              </a:ext>
            </a:extLst>
          </p:cNvPr>
          <p:cNvSpPr txBox="1"/>
          <p:nvPr/>
        </p:nvSpPr>
        <p:spPr>
          <a:xfrm>
            <a:off x="397466" y="1690688"/>
            <a:ext cx="6159136" cy="2492990"/>
          </a:xfrm>
          <a:prstGeom prst="rect">
            <a:avLst/>
          </a:prstGeom>
          <a:noFill/>
        </p:spPr>
        <p:txBody>
          <a:bodyPr wrap="square" rtlCol="0">
            <a:spAutoFit/>
          </a:bodyPr>
          <a:lstStyle/>
          <a:p>
            <a:r>
              <a:rPr lang="en-US" sz="1600" b="1" dirty="0">
                <a:latin typeface="Helvetica" pitchFamily="2" charset="0"/>
              </a:rPr>
              <a:t>Memory (RAM - Random Access Memory)</a:t>
            </a:r>
          </a:p>
          <a:p>
            <a:pPr marL="285750" indent="-285750">
              <a:buFont typeface="Arial" panose="020B0604020202020204" pitchFamily="34" charset="0"/>
              <a:buChar char="•"/>
            </a:pPr>
            <a:r>
              <a:rPr lang="en-US" sz="1400" b="1" dirty="0">
                <a:latin typeface="Helvetica" pitchFamily="2" charset="0"/>
              </a:rPr>
              <a:t>Small</a:t>
            </a:r>
            <a:r>
              <a:rPr lang="en-US" sz="1400" dirty="0">
                <a:latin typeface="Helvetica" pitchFamily="2" charset="0"/>
              </a:rPr>
              <a:t> - Typically 16-512 GB per node on HPC systems</a:t>
            </a:r>
          </a:p>
          <a:p>
            <a:pPr marL="285750" indent="-285750">
              <a:buFont typeface="Arial" panose="020B0604020202020204" pitchFamily="34" charset="0"/>
              <a:buChar char="•"/>
            </a:pPr>
            <a:r>
              <a:rPr lang="en-US" sz="1400" b="1" dirty="0">
                <a:latin typeface="Helvetica" pitchFamily="2" charset="0"/>
              </a:rPr>
              <a:t>Fast</a:t>
            </a:r>
            <a:r>
              <a:rPr lang="en-US" sz="1400" dirty="0">
                <a:latin typeface="Helvetica" pitchFamily="2" charset="0"/>
              </a:rPr>
              <a:t> - Nanosecond access times; data transfer at 100+ GB/second</a:t>
            </a:r>
          </a:p>
          <a:p>
            <a:pPr marL="285750" indent="-285750">
              <a:buFont typeface="Arial" panose="020B0604020202020204" pitchFamily="34" charset="0"/>
              <a:buChar char="•"/>
            </a:pPr>
            <a:r>
              <a:rPr lang="en-US" sz="1400" b="1" dirty="0">
                <a:latin typeface="Helvetica" pitchFamily="2" charset="0"/>
              </a:rPr>
              <a:t>Expensive</a:t>
            </a:r>
            <a:r>
              <a:rPr lang="en-US" sz="1400" dirty="0">
                <a:latin typeface="Helvetica" pitchFamily="2" charset="0"/>
              </a:rPr>
              <a:t> - Costs significantly more per GB than storage</a:t>
            </a:r>
          </a:p>
          <a:p>
            <a:pPr marL="285750" indent="-285750">
              <a:buFont typeface="Arial" panose="020B0604020202020204" pitchFamily="34" charset="0"/>
              <a:buChar char="•"/>
            </a:pPr>
            <a:r>
              <a:rPr lang="en-US" sz="1400" b="1" dirty="0">
                <a:latin typeface="Helvetica" pitchFamily="2" charset="0"/>
              </a:rPr>
              <a:t>Volatile</a:t>
            </a:r>
            <a:r>
              <a:rPr lang="en-US" sz="1400" dirty="0">
                <a:latin typeface="Helvetica" pitchFamily="2" charset="0"/>
              </a:rPr>
              <a:t> - All data is lost when the computer powers off or your job ends</a:t>
            </a:r>
          </a:p>
          <a:p>
            <a:r>
              <a:rPr lang="en-US" sz="1400" b="1" dirty="0">
                <a:latin typeface="Helvetica" pitchFamily="2" charset="0"/>
              </a:rPr>
              <a:t>Purpose:</a:t>
            </a:r>
            <a:r>
              <a:rPr lang="en-US" sz="1400" dirty="0">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p:txBody>
      </p:sp>
      <p:pic>
        <p:nvPicPr>
          <p:cNvPr id="15362" name="Picture 2" descr="Understanding RAM versus hard-drive space via an analogy - CNET">
            <a:extLst>
              <a:ext uri="{FF2B5EF4-FFF2-40B4-BE49-F238E27FC236}">
                <a16:creationId xmlns:a16="http://schemas.microsoft.com/office/drawing/2014/main" id="{91C596E3-AE90-E60A-2DA3-8DC37B6AB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C64C22-3F41-2AC2-36DF-3FDCBE7AD289}"/>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Tree>
    <p:extLst>
      <p:ext uri="{BB962C8B-B14F-4D97-AF65-F5344CB8AC3E}">
        <p14:creationId xmlns:p14="http://schemas.microsoft.com/office/powerpoint/2010/main" val="323488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42336-29DC-2203-B216-8F95146D3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5D6D4-E1A5-0B85-6274-30E0FA0D4C1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2FD4A457-5220-9906-3025-2B1AF83621B7}"/>
              </a:ext>
            </a:extLst>
          </p:cNvPr>
          <p:cNvSpPr txBox="1"/>
          <p:nvPr/>
        </p:nvSpPr>
        <p:spPr>
          <a:xfrm>
            <a:off x="397466" y="1690688"/>
            <a:ext cx="6159136" cy="4462760"/>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Memory (RAM - Random Access Memory)</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Small</a:t>
            </a:r>
            <a:r>
              <a:rPr lang="en-US" sz="1400" dirty="0">
                <a:solidFill>
                  <a:schemeClr val="bg1">
                    <a:lumMod val="50000"/>
                  </a:schemeClr>
                </a:solidFill>
                <a:latin typeface="Helvetica" pitchFamily="2" charset="0"/>
              </a:rPr>
              <a:t> - Typically 16-512 GB per node on HPC systems</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Fast</a:t>
            </a:r>
            <a:r>
              <a:rPr lang="en-US" sz="1400" dirty="0">
                <a:solidFill>
                  <a:schemeClr val="bg1">
                    <a:lumMod val="50000"/>
                  </a:schemeClr>
                </a:solidFill>
                <a:latin typeface="Helvetica" pitchFamily="2" charset="0"/>
              </a:rPr>
              <a:t> - Nanosecond access times; data transfer at 100+ GB/second</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Expensive</a:t>
            </a:r>
            <a:r>
              <a:rPr lang="en-US" sz="1400" dirty="0">
                <a:solidFill>
                  <a:schemeClr val="bg1">
                    <a:lumMod val="50000"/>
                  </a:schemeClr>
                </a:solidFill>
                <a:latin typeface="Helvetica" pitchFamily="2" charset="0"/>
              </a:rPr>
              <a:t> - Costs significantly more per GB than storage</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Volatile</a:t>
            </a:r>
            <a:r>
              <a:rPr lang="en-US" sz="1400" dirty="0">
                <a:solidFill>
                  <a:schemeClr val="bg1">
                    <a:lumMod val="50000"/>
                  </a:schemeClr>
                </a:solidFill>
                <a:latin typeface="Helvetica" pitchFamily="2" charset="0"/>
              </a:rPr>
              <a:t> - All data is lost when the computer powers off or your job ends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a:p>
            <a:r>
              <a:rPr lang="en-US" sz="1600" b="1" dirty="0">
                <a:latin typeface="Helvetica" pitchFamily="2" charset="0"/>
              </a:rPr>
              <a:t>Storage (Disk - Hard Drives or SSDs)</a:t>
            </a:r>
          </a:p>
          <a:p>
            <a:pPr marL="285750" indent="-285750">
              <a:buFont typeface="Arial" panose="020B0604020202020204" pitchFamily="34" charset="0"/>
              <a:buChar char="•"/>
            </a:pPr>
            <a:r>
              <a:rPr lang="en-US" sz="1400" b="1" dirty="0">
                <a:latin typeface="Helvetica" pitchFamily="2" charset="0"/>
              </a:rPr>
              <a:t>Large</a:t>
            </a:r>
            <a:r>
              <a:rPr lang="en-US" sz="1400" dirty="0">
                <a:latin typeface="Helvetica" pitchFamily="2" charset="0"/>
              </a:rPr>
              <a:t> - Terabytes to petabytes on HPC systems</a:t>
            </a:r>
          </a:p>
          <a:p>
            <a:pPr marL="285750" indent="-285750">
              <a:buFont typeface="Arial" panose="020B0604020202020204" pitchFamily="34" charset="0"/>
              <a:buChar char="•"/>
            </a:pPr>
            <a:r>
              <a:rPr lang="en-US" sz="1400" b="1" dirty="0">
                <a:latin typeface="Helvetica" pitchFamily="2" charset="0"/>
              </a:rPr>
              <a:t>Slower</a:t>
            </a:r>
            <a:r>
              <a:rPr lang="en-US" sz="1400" dirty="0">
                <a:latin typeface="Helvetica" pitchFamily="2" charset="0"/>
              </a:rPr>
              <a:t> - Millisecond access times; data transfer at 1-10 GB/second</a:t>
            </a:r>
          </a:p>
          <a:p>
            <a:pPr marL="285750" indent="-285750">
              <a:buFont typeface="Arial" panose="020B0604020202020204" pitchFamily="34" charset="0"/>
              <a:buChar char="•"/>
            </a:pPr>
            <a:r>
              <a:rPr lang="en-US" sz="1400" b="1" dirty="0">
                <a:latin typeface="Helvetica" pitchFamily="2" charset="0"/>
              </a:rPr>
              <a:t>Cheaper</a:t>
            </a:r>
            <a:r>
              <a:rPr lang="en-US" sz="1400" dirty="0">
                <a:latin typeface="Helvetica" pitchFamily="2" charset="0"/>
              </a:rPr>
              <a:t> - Costs much less per GB than memory</a:t>
            </a:r>
          </a:p>
          <a:p>
            <a:pPr marL="285750" indent="-285750">
              <a:buFont typeface="Arial" panose="020B0604020202020204" pitchFamily="34" charset="0"/>
              <a:buChar char="•"/>
            </a:pPr>
            <a:r>
              <a:rPr lang="en-US" sz="1400" b="1" dirty="0">
                <a:latin typeface="Helvetica" pitchFamily="2" charset="0"/>
              </a:rPr>
              <a:t>Non-volatile</a:t>
            </a:r>
            <a:r>
              <a:rPr lang="en-US" sz="1400" dirty="0">
                <a:latin typeface="Helvetica" pitchFamily="2" charset="0"/>
              </a:rPr>
              <a:t> - Data persists even when powered off</a:t>
            </a:r>
          </a:p>
          <a:p>
            <a:r>
              <a:rPr lang="en-US" sz="1400" b="1" dirty="0">
                <a:latin typeface="Helvetica" pitchFamily="2" charset="0"/>
              </a:rPr>
              <a:t>Purpose:</a:t>
            </a:r>
            <a:r>
              <a:rPr lang="en-US" sz="1400" dirty="0">
                <a:latin typeface="Helvetica" pitchFamily="2" charset="0"/>
              </a:rPr>
              <a:t> Storage is your filing cabinet. It holds all your data long-term: raw sequencing files, reference genomes, analysis results, scripts, and software. You can't work directly from storage—data must be copied into memory first.</a:t>
            </a:r>
          </a:p>
        </p:txBody>
      </p:sp>
      <p:pic>
        <p:nvPicPr>
          <p:cNvPr id="15362" name="Picture 2" descr="Understanding RAM versus hard-drive space via an analogy - CNET">
            <a:extLst>
              <a:ext uri="{FF2B5EF4-FFF2-40B4-BE49-F238E27FC236}">
                <a16:creationId xmlns:a16="http://schemas.microsoft.com/office/drawing/2014/main" id="{3A1689CB-2E12-E400-5AED-13A704A56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2F83B6-526C-3213-3350-A77B16534B2B}"/>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
        <p:nvSpPr>
          <p:cNvPr id="6" name="TextBox 5">
            <a:extLst>
              <a:ext uri="{FF2B5EF4-FFF2-40B4-BE49-F238E27FC236}">
                <a16:creationId xmlns:a16="http://schemas.microsoft.com/office/drawing/2014/main" id="{84C7B99F-B130-EB6B-D55C-1DC3D1EBA7B7}"/>
              </a:ext>
            </a:extLst>
          </p:cNvPr>
          <p:cNvSpPr txBox="1"/>
          <p:nvPr/>
        </p:nvSpPr>
        <p:spPr>
          <a:xfrm>
            <a:off x="8353698" y="5368101"/>
            <a:ext cx="3530134" cy="1384995"/>
          </a:xfrm>
          <a:prstGeom prst="rect">
            <a:avLst/>
          </a:prstGeom>
          <a:noFill/>
          <a:ln w="12700">
            <a:solidFill>
              <a:srgbClr val="D80003"/>
            </a:solidFill>
          </a:ln>
        </p:spPr>
        <p:txBody>
          <a:bodyPr wrap="none" rtlCol="0">
            <a:spAutoFit/>
          </a:bodyPr>
          <a:lstStyle/>
          <a:p>
            <a:r>
              <a:rPr lang="en-US" sz="1200" dirty="0">
                <a:latin typeface="Helvetica" pitchFamily="2" charset="0"/>
              </a:rPr>
              <a:t>What lives in </a:t>
            </a:r>
            <a:r>
              <a:rPr lang="en-US" sz="1200" b="1" dirty="0">
                <a:latin typeface="Helvetica" pitchFamily="2" charset="0"/>
              </a:rPr>
              <a:t>storage:</a:t>
            </a:r>
            <a:endParaRPr lang="en-US" sz="1200" dirty="0">
              <a:latin typeface="Helvetica" pitchFamily="2" charset="0"/>
            </a:endParaRPr>
          </a:p>
          <a:p>
            <a:r>
              <a:rPr lang="en-US" sz="1200" dirty="0">
                <a:latin typeface="Helvetica" pitchFamily="2" charset="0"/>
              </a:rPr>
              <a:t>Raw data files (FASTQ, FASTA)</a:t>
            </a:r>
          </a:p>
          <a:p>
            <a:r>
              <a:rPr lang="en-US" sz="1200" dirty="0">
                <a:latin typeface="Helvetica" pitchFamily="2" charset="0"/>
              </a:rPr>
              <a:t>Reference genomes and annotations</a:t>
            </a:r>
          </a:p>
          <a:p>
            <a:r>
              <a:rPr lang="en-US" sz="1200" dirty="0">
                <a:latin typeface="Helvetica" pitchFamily="2" charset="0"/>
              </a:rPr>
              <a:t>Final analysis results (BAM, VCF, counts tables)</a:t>
            </a:r>
          </a:p>
          <a:p>
            <a:r>
              <a:rPr lang="en-US" sz="1200" dirty="0">
                <a:latin typeface="Helvetica" pitchFamily="2" charset="0"/>
              </a:rPr>
              <a:t>Your scripts and programs</a:t>
            </a:r>
          </a:p>
          <a:p>
            <a:r>
              <a:rPr lang="en-US" sz="1200" dirty="0">
                <a:latin typeface="Helvetica" pitchFamily="2" charset="0"/>
              </a:rPr>
              <a:t>Everything you want to keep after the job finishes</a:t>
            </a:r>
          </a:p>
          <a:p>
            <a:endParaRPr lang="en-US" sz="1200" dirty="0"/>
          </a:p>
        </p:txBody>
      </p:sp>
    </p:spTree>
    <p:extLst>
      <p:ext uri="{BB962C8B-B14F-4D97-AF65-F5344CB8AC3E}">
        <p14:creationId xmlns:p14="http://schemas.microsoft.com/office/powerpoint/2010/main" val="284557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6086A-311D-AD24-102B-C45D2FF19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88802-F68A-9CB1-C37A-DDAF7DB04B98}"/>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A0A834E0-5DCC-5191-AD16-CF9DEE1D1FE4}"/>
              </a:ext>
            </a:extLst>
          </p:cNvPr>
          <p:cNvSpPr txBox="1"/>
          <p:nvPr/>
        </p:nvSpPr>
        <p:spPr>
          <a:xfrm>
            <a:off x="423592" y="1429431"/>
            <a:ext cx="6159136" cy="1908215"/>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Mistake 1: Confusing memory and storage requirements</a:t>
            </a:r>
            <a:endParaRPr lang="en-US" sz="1600" dirty="0"/>
          </a:p>
          <a:p>
            <a:r>
              <a:rPr lang="en-US" sz="1400" i="1" dirty="0"/>
              <a:t>"My FASTQ file is 50GB, so I need 50GB of memory"</a:t>
            </a:r>
            <a:endParaRPr lang="en-US" sz="1400" dirty="0"/>
          </a:p>
          <a:p>
            <a:r>
              <a:rPr lang="en-US" sz="1400" b="1" dirty="0"/>
              <a:t>Reality:</a:t>
            </a:r>
            <a:r>
              <a:rPr lang="en-US" sz="1400" dirty="0"/>
              <a:t> Your program might only need 8GB of memory because it processes the file in chunks</a:t>
            </a:r>
          </a:p>
          <a:p>
            <a:r>
              <a:rPr lang="en-US" sz="1400" b="1" dirty="0"/>
              <a:t>Solution:</a:t>
            </a:r>
            <a:r>
              <a:rPr lang="en-US" sz="1400" dirty="0"/>
              <a:t> Check your software documentation for memory requirements</a:t>
            </a:r>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AC681DC2-E0DA-DC0C-896A-A28C1EFDC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0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A9FC-BA7D-7EA6-0A7B-20BF82F4B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874F5-EA04-66B5-CD27-53CDAA7E2D20}"/>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6B1E9AB5-2BF5-83A7-1A22-AA5FF8AEA7CF}"/>
              </a:ext>
            </a:extLst>
          </p:cNvPr>
          <p:cNvSpPr txBox="1"/>
          <p:nvPr/>
        </p:nvSpPr>
        <p:spPr>
          <a:xfrm>
            <a:off x="423592" y="1429431"/>
            <a:ext cx="6159136" cy="3262432"/>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p>
          <a:p>
            <a:r>
              <a:rPr lang="en-US" sz="1600" b="1" dirty="0"/>
              <a:t>❌ Mistake 2: Not requesting enough memory</a:t>
            </a:r>
            <a:endParaRPr lang="en-US" sz="1600" dirty="0"/>
          </a:p>
          <a:p>
            <a:r>
              <a:rPr lang="en-US" sz="1400" dirty="0"/>
              <a:t>Your job will crash with "Out of Memory" or "Killed" errors</a:t>
            </a:r>
          </a:p>
          <a:p>
            <a:r>
              <a:rPr lang="en-US" sz="1400" dirty="0"/>
              <a:t>The program was terminated by the system for exceeding memory limits</a:t>
            </a:r>
          </a:p>
          <a:p>
            <a:r>
              <a:rPr lang="en-US" sz="1400" b="1" dirty="0"/>
              <a:t>Solution:</a:t>
            </a:r>
            <a:r>
              <a:rPr lang="en-US" sz="1400" dirty="0"/>
              <a:t> Always check memory usage from test runs and add 20% buffer</a:t>
            </a:r>
          </a:p>
          <a:p>
            <a:endParaRPr lang="en-US" sz="1400" dirty="0"/>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D6CE8738-1565-503A-7CA1-90D969635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717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DDDC-6B2B-C327-74B9-B3978A56F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3D90B-4C67-FC0A-9F88-F7C341ACC77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351DF808-FE45-59BF-5CDD-FD9866A6DA9A}"/>
              </a:ext>
            </a:extLst>
          </p:cNvPr>
          <p:cNvSpPr txBox="1"/>
          <p:nvPr/>
        </p:nvSpPr>
        <p:spPr>
          <a:xfrm>
            <a:off x="423592" y="1429431"/>
            <a:ext cx="6159136" cy="4124206"/>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solidFill>
                <a:schemeClr val="bg1">
                  <a:lumMod val="50000"/>
                </a:schemeClr>
              </a:solidFill>
            </a:endParaRPr>
          </a:p>
          <a:p>
            <a:r>
              <a:rPr lang="en-US" sz="1600" b="1" dirty="0">
                <a:solidFill>
                  <a:schemeClr val="bg1">
                    <a:lumMod val="50000"/>
                  </a:schemeClr>
                </a:solidFill>
              </a:rPr>
              <a:t>❌ Mistake 2: Not requesting enough memory</a:t>
            </a:r>
            <a:endParaRPr lang="en-US" sz="1600" dirty="0">
              <a:solidFill>
                <a:schemeClr val="bg1">
                  <a:lumMod val="50000"/>
                </a:schemeClr>
              </a:solidFill>
            </a:endParaRPr>
          </a:p>
          <a:p>
            <a:r>
              <a:rPr lang="en-US" sz="1400" dirty="0">
                <a:solidFill>
                  <a:schemeClr val="bg1">
                    <a:lumMod val="50000"/>
                  </a:schemeClr>
                </a:solidFill>
              </a:rPr>
              <a:t>Your job will crash with "Out of Memory" or "Killed" errors</a:t>
            </a:r>
          </a:p>
          <a:p>
            <a:r>
              <a:rPr lang="en-US" sz="1400" dirty="0">
                <a:solidFill>
                  <a:schemeClr val="bg1">
                    <a:lumMod val="50000"/>
                  </a:schemeClr>
                </a:solidFill>
              </a:rPr>
              <a:t>The program was terminated by the system for exceeding memory limits</a:t>
            </a:r>
          </a:p>
          <a:p>
            <a:r>
              <a:rPr lang="en-US" sz="1400" b="1" dirty="0">
                <a:solidFill>
                  <a:schemeClr val="bg1">
                    <a:lumMod val="50000"/>
                  </a:schemeClr>
                </a:solidFill>
              </a:rPr>
              <a:t>Solution:</a:t>
            </a:r>
            <a:r>
              <a:rPr lang="en-US" sz="1400" dirty="0">
                <a:solidFill>
                  <a:schemeClr val="bg1">
                    <a:lumMod val="50000"/>
                  </a:schemeClr>
                </a:solidFill>
              </a:rPr>
              <a:t> Always check memory usage from test runs and add 20% buffer</a:t>
            </a:r>
          </a:p>
          <a:p>
            <a:endParaRPr lang="en-US" sz="1400" dirty="0"/>
          </a:p>
          <a:p>
            <a:r>
              <a:rPr lang="en-US" sz="1600" b="1" dirty="0"/>
              <a:t>❌ Mistake 3: Requesting too much memory</a:t>
            </a:r>
            <a:endParaRPr lang="en-US" sz="1600" dirty="0"/>
          </a:p>
          <a:p>
            <a:r>
              <a:rPr lang="en-US" sz="1400" dirty="0"/>
              <a:t>Your job waits longer in the queue (high-memory nodes are scarce)</a:t>
            </a:r>
          </a:p>
          <a:p>
            <a:r>
              <a:rPr lang="en-US" sz="1400" dirty="0"/>
              <a:t>You waste resources that others could use</a:t>
            </a:r>
          </a:p>
          <a:p>
            <a:r>
              <a:rPr lang="en-US" sz="1400" b="1" dirty="0"/>
              <a:t>Solution:</a:t>
            </a:r>
            <a:r>
              <a:rPr lang="en-US" sz="1400" dirty="0"/>
              <a:t> Monitor your actual memory usage and adjust requests accordingly</a:t>
            </a:r>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1AC1E68E-6989-FFE9-A6AD-520AEB2FB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068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4386F-DF76-031E-A454-5B688A731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DBF17-D5C2-F8D1-6A78-DC27074B9A2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CC7091F6-2F01-6562-F822-C1A6F8D673F1}"/>
              </a:ext>
            </a:extLst>
          </p:cNvPr>
          <p:cNvSpPr txBox="1"/>
          <p:nvPr/>
        </p:nvSpPr>
        <p:spPr>
          <a:xfrm>
            <a:off x="423592" y="1429431"/>
            <a:ext cx="6159136" cy="5016758"/>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solidFill>
                <a:schemeClr val="bg1">
                  <a:lumMod val="50000"/>
                </a:schemeClr>
              </a:solidFill>
            </a:endParaRPr>
          </a:p>
          <a:p>
            <a:r>
              <a:rPr lang="en-US" sz="1600" b="1" dirty="0">
                <a:solidFill>
                  <a:schemeClr val="bg1">
                    <a:lumMod val="50000"/>
                  </a:schemeClr>
                </a:solidFill>
              </a:rPr>
              <a:t>❌ Mistake 2: Not requesting enough memory</a:t>
            </a:r>
            <a:endParaRPr lang="en-US" sz="1600" dirty="0">
              <a:solidFill>
                <a:schemeClr val="bg1">
                  <a:lumMod val="50000"/>
                </a:schemeClr>
              </a:solidFill>
            </a:endParaRPr>
          </a:p>
          <a:p>
            <a:r>
              <a:rPr lang="en-US" sz="1400" dirty="0">
                <a:solidFill>
                  <a:schemeClr val="bg1">
                    <a:lumMod val="50000"/>
                  </a:schemeClr>
                </a:solidFill>
              </a:rPr>
              <a:t>Your job will crash with "Out of Memory" or "Killed" errors</a:t>
            </a:r>
          </a:p>
          <a:p>
            <a:r>
              <a:rPr lang="en-US" sz="1400" dirty="0">
                <a:solidFill>
                  <a:schemeClr val="bg1">
                    <a:lumMod val="50000"/>
                  </a:schemeClr>
                </a:solidFill>
              </a:rPr>
              <a:t>The program was terminated by the system for exceeding memory limits</a:t>
            </a:r>
          </a:p>
          <a:p>
            <a:r>
              <a:rPr lang="en-US" sz="1400" b="1" dirty="0">
                <a:solidFill>
                  <a:schemeClr val="bg1">
                    <a:lumMod val="50000"/>
                  </a:schemeClr>
                </a:solidFill>
              </a:rPr>
              <a:t>Solution:</a:t>
            </a:r>
            <a:r>
              <a:rPr lang="en-US" sz="1400" dirty="0">
                <a:solidFill>
                  <a:schemeClr val="bg1">
                    <a:lumMod val="50000"/>
                  </a:schemeClr>
                </a:solidFill>
              </a:rPr>
              <a:t> Always check memory usage from test runs and add 20% buffer</a:t>
            </a:r>
          </a:p>
          <a:p>
            <a:endParaRPr lang="en-US" sz="1400" dirty="0">
              <a:solidFill>
                <a:schemeClr val="bg1">
                  <a:lumMod val="50000"/>
                </a:schemeClr>
              </a:solidFill>
            </a:endParaRPr>
          </a:p>
          <a:p>
            <a:r>
              <a:rPr lang="en-US" sz="1600" b="1" dirty="0">
                <a:solidFill>
                  <a:schemeClr val="bg1">
                    <a:lumMod val="50000"/>
                  </a:schemeClr>
                </a:solidFill>
              </a:rPr>
              <a:t>❌ Mistake 3: Requesting too much memory</a:t>
            </a:r>
            <a:endParaRPr lang="en-US" sz="1600" dirty="0">
              <a:solidFill>
                <a:schemeClr val="bg1">
                  <a:lumMod val="50000"/>
                </a:schemeClr>
              </a:solidFill>
            </a:endParaRPr>
          </a:p>
          <a:p>
            <a:r>
              <a:rPr lang="en-US" sz="1400" dirty="0">
                <a:solidFill>
                  <a:schemeClr val="bg1">
                    <a:lumMod val="50000"/>
                  </a:schemeClr>
                </a:solidFill>
              </a:rPr>
              <a:t>Your job waits longer in the queue (high-memory nodes are scarce)</a:t>
            </a:r>
          </a:p>
          <a:p>
            <a:r>
              <a:rPr lang="en-US" sz="1400" dirty="0">
                <a:solidFill>
                  <a:schemeClr val="bg1">
                    <a:lumMod val="50000"/>
                  </a:schemeClr>
                </a:solidFill>
              </a:rPr>
              <a:t>You waste resources that others could use</a:t>
            </a:r>
          </a:p>
          <a:p>
            <a:r>
              <a:rPr lang="en-US" sz="1400" b="1" dirty="0">
                <a:solidFill>
                  <a:schemeClr val="bg1">
                    <a:lumMod val="50000"/>
                  </a:schemeClr>
                </a:solidFill>
              </a:rPr>
              <a:t>Solution:</a:t>
            </a:r>
            <a:r>
              <a:rPr lang="en-US" sz="1400" dirty="0">
                <a:solidFill>
                  <a:schemeClr val="bg1">
                    <a:lumMod val="50000"/>
                  </a:schemeClr>
                </a:solidFill>
              </a:rPr>
              <a:t> Monitor your actual memory usage and adjust requests accordingly</a:t>
            </a:r>
          </a:p>
          <a:p>
            <a:endParaRPr lang="en-US" sz="1400" dirty="0"/>
          </a:p>
          <a:p>
            <a:r>
              <a:rPr lang="en-US" sz="1600" b="1" dirty="0"/>
              <a:t>❌ Mistake 4: Trying to work with data larger than available memory</a:t>
            </a:r>
            <a:endParaRPr lang="en-US" sz="1600" dirty="0"/>
          </a:p>
          <a:p>
            <a:r>
              <a:rPr lang="en-US" sz="1400" dirty="0"/>
              <a:t>Some tools require the entire dataset in memory</a:t>
            </a:r>
          </a:p>
          <a:p>
            <a:r>
              <a:rPr lang="en-US" sz="1400" b="1" dirty="0"/>
              <a:t>Solution:</a:t>
            </a:r>
            <a:r>
              <a:rPr lang="en-US" sz="1400" dirty="0"/>
              <a:t> Use tools designed for large data (</a:t>
            </a:r>
            <a:r>
              <a:rPr lang="en-US" sz="1400" dirty="0" err="1"/>
              <a:t>samtools</a:t>
            </a:r>
            <a:r>
              <a:rPr lang="en-US" sz="1400" dirty="0"/>
              <a:t> for BAM files, streaming processors) or split your data</a:t>
            </a:r>
          </a:p>
        </p:txBody>
      </p:sp>
      <p:pic>
        <p:nvPicPr>
          <p:cNvPr id="17410" name="Picture 2" descr="7 Worst Desks Ever! ideas to save today | messy desk, getting organized,  work space and more">
            <a:extLst>
              <a:ext uri="{FF2B5EF4-FFF2-40B4-BE49-F238E27FC236}">
                <a16:creationId xmlns:a16="http://schemas.microsoft.com/office/drawing/2014/main" id="{7054CC2A-1B05-17F1-55D8-C2EFAD7CA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344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35C9-609F-45B6-8E76-4750D17AFA4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1DF8AA2-93D1-399E-821B-F2E1D88DA475}"/>
              </a:ext>
            </a:extLst>
          </p:cNvPr>
          <p:cNvSpPr txBox="1">
            <a:spLocks/>
          </p:cNvSpPr>
          <p:nvPr/>
        </p:nvSpPr>
        <p:spPr>
          <a:xfrm>
            <a:off x="1201274"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00. Hazel structure</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B3B721D2-7FE8-CA45-22E9-E8F27BC4B2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27" t="7004" r="11439" b="14000"/>
          <a:stretch>
            <a:fillRect/>
          </a:stretch>
        </p:blipFill>
        <p:spPr bwMode="auto">
          <a:xfrm>
            <a:off x="7628709" y="2027251"/>
            <a:ext cx="1469571" cy="158384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09817EF9-B30E-B7AB-4F9E-9C0EF2D8D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3588" y="1724996"/>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Hazel nut icon symbol on white background | Premium Vector">
            <a:extLst>
              <a:ext uri="{FF2B5EF4-FFF2-40B4-BE49-F238E27FC236}">
                <a16:creationId xmlns:a16="http://schemas.microsoft.com/office/drawing/2014/main" id="{551A5228-191A-D395-34C2-00707D727D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2285" y="2260809"/>
            <a:ext cx="709491" cy="70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706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9438B-A4D3-15EA-C128-7EC108BE8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1DB1A-8C8D-F75A-3A2D-9AAD745EDB26}"/>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2B662220-EB47-C887-9CA3-3FE03F497E1D}"/>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1FA1E56C-4218-8E2D-6A19-2EEAC75308EF}"/>
              </a:ext>
            </a:extLst>
          </p:cNvPr>
          <p:cNvSpPr txBox="1"/>
          <p:nvPr/>
        </p:nvSpPr>
        <p:spPr>
          <a:xfrm>
            <a:off x="357725" y="1312817"/>
            <a:ext cx="6433457" cy="1908215"/>
          </a:xfrm>
          <a:prstGeom prst="rect">
            <a:avLst/>
          </a:prstGeom>
          <a:noFill/>
        </p:spPr>
        <p:txBody>
          <a:bodyPr wrap="square" rtlCol="0">
            <a:spAutoFit/>
          </a:bodyPr>
          <a:lstStyle/>
          <a:p>
            <a:r>
              <a:rPr lang="en-US" sz="1600" b="1" dirty="0">
                <a:latin typeface="Helvetica" pitchFamily="2" charset="0"/>
              </a:rPr>
              <a:t>1. Login Nodes</a:t>
            </a:r>
            <a:r>
              <a:rPr lang="en-US" sz="1600" dirty="0">
                <a:latin typeface="Helvetica" pitchFamily="2" charset="0"/>
              </a:rPr>
              <a:t> - Your Gateway to HPC</a:t>
            </a:r>
          </a:p>
          <a:p>
            <a:r>
              <a:rPr lang="en-US" sz="1400" b="1" dirty="0">
                <a:latin typeface="Helvetica" pitchFamily="2" charset="0"/>
              </a:rPr>
              <a:t>Purpose:</a:t>
            </a:r>
            <a:r>
              <a:rPr lang="en-US" sz="1400" dirty="0">
                <a:latin typeface="Helvetica" pitchFamily="2" charset="0"/>
              </a:rPr>
              <a:t> Entry point to Hazel; where you prepare your work, write scripts, organize files, and submit jobs</a:t>
            </a:r>
          </a:p>
          <a:p>
            <a:r>
              <a:rPr lang="en-US" sz="1400" b="1" dirty="0">
                <a:latin typeface="Helvetica" pitchFamily="2" charset="0"/>
              </a:rPr>
              <a:t>What you CAN do:</a:t>
            </a:r>
            <a:r>
              <a:rPr lang="en-US" sz="1400" dirty="0">
                <a:latin typeface="Helvetica" pitchFamily="2" charset="0"/>
              </a:rPr>
              <a:t> Edit files, organize directories, install software, submit jobs to the scheduler, check job status</a:t>
            </a:r>
          </a:p>
          <a:p>
            <a:r>
              <a:rPr lang="en-US" sz="1400" b="1" dirty="0">
                <a:latin typeface="Helvetica" pitchFamily="2" charset="0"/>
              </a:rPr>
              <a:t>What you CANNOT do:</a:t>
            </a:r>
            <a:r>
              <a:rPr lang="en-US" sz="1400" dirty="0">
                <a:latin typeface="Helvetica" pitchFamily="2" charset="0"/>
              </a:rPr>
              <a:t> Run computationally intensive analyses</a:t>
            </a:r>
          </a:p>
          <a:p>
            <a:endParaRPr lang="en-US" sz="16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23BD1041-F5F7-9AC3-7DE9-6322C309279C}"/>
              </a:ext>
            </a:extLst>
          </p:cNvPr>
          <p:cNvSpPr/>
          <p:nvPr/>
        </p:nvSpPr>
        <p:spPr>
          <a:xfrm>
            <a:off x="8629359" y="2389876"/>
            <a:ext cx="796835" cy="760673"/>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352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C439-6578-4F50-5E86-F1F6FA128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F5151-ED81-04FA-C078-BB702FF015B0}"/>
              </a:ext>
            </a:extLst>
          </p:cNvPr>
          <p:cNvSpPr>
            <a:spLocks noGrp="1"/>
          </p:cNvSpPr>
          <p:nvPr>
            <p:ph type="title"/>
          </p:nvPr>
        </p:nvSpPr>
        <p:spPr/>
        <p:txBody>
          <a:bodyPr>
            <a:normAutofit/>
          </a:bodyPr>
          <a:lstStyle/>
          <a:p>
            <a:r>
              <a:rPr lang="en-US" sz="4000" dirty="0">
                <a:latin typeface="Helvetica" pitchFamily="2" charset="0"/>
              </a:rPr>
              <a:t>Hazel HPC structure</a:t>
            </a:r>
          </a:p>
        </p:txBody>
      </p:sp>
      <p:sp>
        <p:nvSpPr>
          <p:cNvPr id="3" name="TextBox 2">
            <a:extLst>
              <a:ext uri="{FF2B5EF4-FFF2-40B4-BE49-F238E27FC236}">
                <a16:creationId xmlns:a16="http://schemas.microsoft.com/office/drawing/2014/main" id="{1ABF76D4-2015-B4F1-7603-B8AEC2B2F006}"/>
              </a:ext>
            </a:extLst>
          </p:cNvPr>
          <p:cNvSpPr txBox="1"/>
          <p:nvPr/>
        </p:nvSpPr>
        <p:spPr>
          <a:xfrm>
            <a:off x="1976301" y="1690688"/>
            <a:ext cx="8239397" cy="1477328"/>
          </a:xfrm>
          <a:prstGeom prst="rect">
            <a:avLst/>
          </a:prstGeom>
          <a:noFill/>
        </p:spPr>
        <p:txBody>
          <a:bodyPr wrap="square">
            <a:spAutoFit/>
          </a:bodyPr>
          <a:lstStyle/>
          <a:p>
            <a:r>
              <a:rPr lang="en-US" sz="1800" b="1" dirty="0">
                <a:latin typeface="Helvetica" pitchFamily="2" charset="0"/>
              </a:rPr>
              <a:t>⚠️ CRITICAL RULE: Do not run jobs on login nodes!</a:t>
            </a:r>
            <a:endParaRPr lang="en-US" sz="1800" dirty="0">
              <a:latin typeface="Helvetica" pitchFamily="2" charset="0"/>
            </a:endParaRPr>
          </a:p>
          <a:p>
            <a:r>
              <a:rPr lang="en-US" sz="1800" dirty="0">
                <a:latin typeface="Helvetica" pitchFamily="2" charset="0"/>
              </a:rPr>
              <a:t>Login nodes are shared by everyone logging into Hazel. Running analyses here slows down the system for all users and may get your account suspended. Think of login nodes as the lobby of a building—you check in here, but you don't set up your lab equipment in the lobby.</a:t>
            </a:r>
          </a:p>
        </p:txBody>
      </p:sp>
      <p:pic>
        <p:nvPicPr>
          <p:cNvPr id="20482" name="Picture 2" descr="Graphical user interface, application&#10;&#10;Description automatically generated">
            <a:extLst>
              <a:ext uri="{FF2B5EF4-FFF2-40B4-BE49-F238E27FC236}">
                <a16:creationId xmlns:a16="http://schemas.microsoft.com/office/drawing/2014/main" id="{937A45D4-014E-9526-58E9-E3BBF2B9DA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621" t="56125"/>
          <a:stretch>
            <a:fillRect/>
          </a:stretch>
        </p:blipFill>
        <p:spPr bwMode="auto">
          <a:xfrm>
            <a:off x="3768633" y="3357155"/>
            <a:ext cx="4403702" cy="3008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01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8B008-F9A7-1C69-2EC8-8E4866766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CAD2E-E4CA-A4B6-5584-D2B9BE086C1D}"/>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3EB9DB19-7E16-294F-29B3-05C3A71CDF9B}"/>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1035637C-B885-E65C-6BF7-7818BC6208C6}"/>
              </a:ext>
            </a:extLst>
          </p:cNvPr>
          <p:cNvSpPr txBox="1"/>
          <p:nvPr/>
        </p:nvSpPr>
        <p:spPr>
          <a:xfrm>
            <a:off x="357725" y="1312817"/>
            <a:ext cx="6433457" cy="3046988"/>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latin typeface="Helvetica" pitchFamily="2" charset="0"/>
            </a:endParaRPr>
          </a:p>
          <a:p>
            <a:r>
              <a:rPr lang="en-US" sz="1600" b="1" dirty="0">
                <a:latin typeface="Helvetica" pitchFamily="2" charset="0"/>
              </a:rPr>
              <a:t>2. Compute Nodes</a:t>
            </a:r>
            <a:r>
              <a:rPr lang="en-US" sz="1600" dirty="0">
                <a:latin typeface="Helvetica" pitchFamily="2" charset="0"/>
              </a:rPr>
              <a:t> - Where the Real Work Happens</a:t>
            </a:r>
          </a:p>
          <a:p>
            <a:r>
              <a:rPr lang="en-US" sz="1400" b="1" dirty="0">
                <a:latin typeface="Helvetica" pitchFamily="2" charset="0"/>
              </a:rPr>
              <a:t>Purpose:</a:t>
            </a:r>
            <a:r>
              <a:rPr lang="en-US" sz="1400" dirty="0">
                <a:latin typeface="Helvetica" pitchFamily="2" charset="0"/>
              </a:rPr>
              <a:t> Execute your analyses (alignments, assemblies, variant calling, etc.)</a:t>
            </a:r>
          </a:p>
          <a:p>
            <a:r>
              <a:rPr lang="en-US" sz="1400" b="1" dirty="0">
                <a:latin typeface="Helvetica" pitchFamily="2" charset="0"/>
              </a:rPr>
              <a:t>Access:</a:t>
            </a:r>
            <a:r>
              <a:rPr lang="en-US" sz="1400" dirty="0">
                <a:latin typeface="Helvetica" pitchFamily="2" charset="0"/>
              </a:rPr>
              <a:t> You never directly log into compute nodes; the scheduler assigns them to your jobs (interactive jobs can be started)</a:t>
            </a:r>
          </a:p>
          <a:p>
            <a:endParaRPr lang="en-US" sz="16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FD71A91B-7CF9-3E51-5F5A-FE8C81CC9F3D}"/>
              </a:ext>
            </a:extLst>
          </p:cNvPr>
          <p:cNvSpPr/>
          <p:nvPr/>
        </p:nvSpPr>
        <p:spPr>
          <a:xfrm>
            <a:off x="10176324" y="1884237"/>
            <a:ext cx="1115890" cy="1090695"/>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1585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AA96-D752-F630-96E6-C57A789B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966BB-3761-3A8E-BFB9-CBDFCA738677}"/>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57983CD6-B687-76F6-7020-98B4CEE26B8A}"/>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24B75985-685C-3219-C9C9-AC2430BFEC2D}"/>
              </a:ext>
            </a:extLst>
          </p:cNvPr>
          <p:cNvSpPr txBox="1"/>
          <p:nvPr/>
        </p:nvSpPr>
        <p:spPr>
          <a:xfrm>
            <a:off x="357725" y="1312817"/>
            <a:ext cx="6433457" cy="5232202"/>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2. Compute Nodes</a:t>
            </a:r>
            <a:r>
              <a:rPr lang="en-US" sz="1600" dirty="0">
                <a:solidFill>
                  <a:schemeClr val="bg1">
                    <a:lumMod val="50000"/>
                  </a:schemeClr>
                </a:solidFill>
                <a:latin typeface="Helvetica" pitchFamily="2" charset="0"/>
              </a:rPr>
              <a:t> - Where the Real Work Happens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Execute your analyses (alignments, assemblies, variant calling, etc.)</a:t>
            </a:r>
          </a:p>
          <a:p>
            <a:r>
              <a:rPr lang="en-US" sz="1400" b="1" dirty="0">
                <a:solidFill>
                  <a:schemeClr val="bg1">
                    <a:lumMod val="50000"/>
                  </a:schemeClr>
                </a:solidFill>
                <a:latin typeface="Helvetica" pitchFamily="2" charset="0"/>
              </a:rPr>
              <a:t>Access:</a:t>
            </a:r>
            <a:r>
              <a:rPr lang="en-US" sz="1400" dirty="0">
                <a:solidFill>
                  <a:schemeClr val="bg1">
                    <a:lumMod val="50000"/>
                  </a:schemeClr>
                </a:solidFill>
                <a:latin typeface="Helvetica" pitchFamily="2" charset="0"/>
              </a:rPr>
              <a:t> You never directly log into compute nodes; the scheduler assigns them to your jobs (interactive jobs can be started)</a:t>
            </a:r>
          </a:p>
          <a:p>
            <a:endParaRPr lang="en-US" sz="1600" dirty="0">
              <a:latin typeface="Helvetica" pitchFamily="2" charset="0"/>
            </a:endParaRPr>
          </a:p>
          <a:p>
            <a:r>
              <a:rPr lang="en-US" sz="1600" b="1" dirty="0">
                <a:latin typeface="Helvetica" pitchFamily="2" charset="0"/>
              </a:rPr>
              <a:t>3. Scheduler (LSF)</a:t>
            </a:r>
            <a:r>
              <a:rPr lang="en-US" sz="1600" dirty="0">
                <a:latin typeface="Helvetica" pitchFamily="2" charset="0"/>
              </a:rPr>
              <a:t> - The Traffic Controller</a:t>
            </a:r>
          </a:p>
          <a:p>
            <a:r>
              <a:rPr lang="en-US" sz="1400" dirty="0">
                <a:latin typeface="Helvetica" pitchFamily="2" charset="0"/>
              </a:rPr>
              <a:t>Software that manages all job submissions and resource allocation</a:t>
            </a:r>
          </a:p>
          <a:p>
            <a:r>
              <a:rPr lang="en-US" sz="1400" b="1" dirty="0">
                <a:latin typeface="Helvetica" pitchFamily="2" charset="0"/>
              </a:rPr>
              <a:t>Purpose:</a:t>
            </a:r>
            <a:r>
              <a:rPr lang="en-US" sz="1400" dirty="0">
                <a:latin typeface="Helvetica" pitchFamily="2" charset="0"/>
              </a:rPr>
              <a:t> Ensures fair resource distribution among all users; prevents conflicts</a:t>
            </a:r>
          </a:p>
          <a:p>
            <a:r>
              <a:rPr lang="en-US" sz="1400" b="1" dirty="0">
                <a:latin typeface="Helvetica" pitchFamily="2" charset="0"/>
              </a:rPr>
              <a:t>How it works:</a:t>
            </a:r>
            <a:r>
              <a:rPr lang="en-US" sz="1400" dirty="0">
                <a:latin typeface="Helvetica" pitchFamily="2" charset="0"/>
              </a:rPr>
              <a:t> </a:t>
            </a:r>
          </a:p>
          <a:p>
            <a:pPr marL="742950" lvl="1" indent="-285750">
              <a:buFont typeface="Arial" panose="020B0604020202020204" pitchFamily="34" charset="0"/>
              <a:buChar char="•"/>
            </a:pPr>
            <a:r>
              <a:rPr lang="en-US" sz="1400" dirty="0">
                <a:latin typeface="Helvetica" pitchFamily="2" charset="0"/>
              </a:rPr>
              <a:t>You submit a job with resource requirements (cores, memory, time)</a:t>
            </a:r>
          </a:p>
          <a:p>
            <a:pPr marL="742950" lvl="1" indent="-285750">
              <a:buFont typeface="Arial" panose="020B0604020202020204" pitchFamily="34" charset="0"/>
              <a:buChar char="•"/>
            </a:pPr>
            <a:r>
              <a:rPr lang="en-US" sz="1400" dirty="0">
                <a:latin typeface="Helvetica" pitchFamily="2" charset="0"/>
              </a:rPr>
              <a:t>LSF queues your job</a:t>
            </a:r>
          </a:p>
          <a:p>
            <a:pPr marL="742950" lvl="1" indent="-285750">
              <a:buFont typeface="Arial" panose="020B0604020202020204" pitchFamily="34" charset="0"/>
              <a:buChar char="•"/>
            </a:pPr>
            <a:r>
              <a:rPr lang="en-US" sz="1400" dirty="0">
                <a:latin typeface="Helvetica" pitchFamily="2" charset="0"/>
              </a:rPr>
              <a:t>When resources become available, LSF assigns your job to appropriate compute nodes</a:t>
            </a:r>
          </a:p>
          <a:p>
            <a:pPr marL="742950" lvl="1" indent="-285750">
              <a:buFont typeface="Arial" panose="020B0604020202020204" pitchFamily="34" charset="0"/>
              <a:buChar char="•"/>
            </a:pPr>
            <a:r>
              <a:rPr lang="en-US" sz="1400" dirty="0">
                <a:latin typeface="Helvetica" pitchFamily="2" charset="0"/>
              </a:rPr>
              <a:t>Your job runs on those nodes until completion</a:t>
            </a:r>
          </a:p>
          <a:p>
            <a:pPr lvl="1"/>
            <a:endParaRPr lang="en-US" sz="14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85394122-923E-88E3-A051-C7E67293CAE1}"/>
              </a:ext>
            </a:extLst>
          </p:cNvPr>
          <p:cNvSpPr/>
          <p:nvPr/>
        </p:nvSpPr>
        <p:spPr>
          <a:xfrm>
            <a:off x="9493027" y="2371087"/>
            <a:ext cx="653056" cy="58505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3266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5C431-B482-EA60-9519-05B352D2F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F503C-8238-9084-9CFC-DE06D663FC63}"/>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86AAC808-4784-C566-FECB-0637CB909F88}"/>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2D8DB5E1-F7A8-EF53-1EBF-34E0A9C9B865}"/>
              </a:ext>
            </a:extLst>
          </p:cNvPr>
          <p:cNvSpPr txBox="1"/>
          <p:nvPr/>
        </p:nvSpPr>
        <p:spPr>
          <a:xfrm>
            <a:off x="357725" y="1312817"/>
            <a:ext cx="6433457" cy="5693866"/>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2. Compute Nodes</a:t>
            </a:r>
            <a:r>
              <a:rPr lang="en-US" sz="1600" dirty="0">
                <a:solidFill>
                  <a:schemeClr val="bg1">
                    <a:lumMod val="50000"/>
                  </a:schemeClr>
                </a:solidFill>
                <a:latin typeface="Helvetica" pitchFamily="2" charset="0"/>
              </a:rPr>
              <a:t> - Where the Real Work Happens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Execute your analyses (alignments, assemblies, variant calling, etc.)</a:t>
            </a:r>
          </a:p>
          <a:p>
            <a:r>
              <a:rPr lang="en-US" sz="1400" b="1" dirty="0">
                <a:solidFill>
                  <a:schemeClr val="bg1">
                    <a:lumMod val="50000"/>
                  </a:schemeClr>
                </a:solidFill>
                <a:latin typeface="Helvetica" pitchFamily="2" charset="0"/>
              </a:rPr>
              <a:t>Access:</a:t>
            </a:r>
            <a:r>
              <a:rPr lang="en-US" sz="1400" dirty="0">
                <a:solidFill>
                  <a:schemeClr val="bg1">
                    <a:lumMod val="50000"/>
                  </a:schemeClr>
                </a:solidFill>
                <a:latin typeface="Helvetica" pitchFamily="2" charset="0"/>
              </a:rPr>
              <a:t> You never directly log into compute nodes; the scheduler assigns them to your jobs (interactive jobs can be started)</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3. Scheduler (LSF)</a:t>
            </a:r>
            <a:r>
              <a:rPr lang="en-US" sz="1600" dirty="0">
                <a:solidFill>
                  <a:schemeClr val="bg1">
                    <a:lumMod val="50000"/>
                  </a:schemeClr>
                </a:solidFill>
                <a:latin typeface="Helvetica" pitchFamily="2" charset="0"/>
              </a:rPr>
              <a:t> - The Traffic Controller</a:t>
            </a:r>
          </a:p>
          <a:p>
            <a:r>
              <a:rPr lang="en-US" sz="1400" dirty="0">
                <a:solidFill>
                  <a:schemeClr val="bg1">
                    <a:lumMod val="50000"/>
                  </a:schemeClr>
                </a:solidFill>
                <a:latin typeface="Helvetica" pitchFamily="2" charset="0"/>
              </a:rPr>
              <a:t>Software that manages all job submissions and resource allocation</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Ensures fair resource distribution among all users; prevents conflicts</a:t>
            </a:r>
          </a:p>
          <a:p>
            <a:r>
              <a:rPr lang="en-US" sz="1400" b="1" dirty="0">
                <a:solidFill>
                  <a:schemeClr val="bg1">
                    <a:lumMod val="50000"/>
                  </a:schemeClr>
                </a:solidFill>
                <a:latin typeface="Helvetica" pitchFamily="2" charset="0"/>
              </a:rPr>
              <a:t>How it works:</a:t>
            </a:r>
            <a:r>
              <a:rPr lang="en-US" sz="1400" dirty="0">
                <a:solidFill>
                  <a:schemeClr val="bg1">
                    <a:lumMod val="50000"/>
                  </a:schemeClr>
                </a:solidFill>
                <a:latin typeface="Helvetica" pitchFamily="2" charset="0"/>
              </a:rPr>
              <a:t>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You submit a job with resource requirements (cores, memory, time)</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LSF queues your job</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When resources become available, LSF assigns your job to appropriate compute nodes</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Your job runs on those nodes until completion</a:t>
            </a:r>
          </a:p>
          <a:p>
            <a:pPr lvl="1"/>
            <a:endParaRPr lang="en-US" sz="1400" dirty="0">
              <a:latin typeface="Helvetica" pitchFamily="2" charset="0"/>
            </a:endParaRPr>
          </a:p>
          <a:p>
            <a:r>
              <a:rPr lang="en-US" sz="1600" b="1" dirty="0">
                <a:latin typeface="Helvetica" pitchFamily="2" charset="0"/>
              </a:rPr>
              <a:t>4. Storage (Filesystems)</a:t>
            </a:r>
            <a:r>
              <a:rPr lang="en-US" sz="1600" dirty="0">
                <a:latin typeface="Helvetica" pitchFamily="2" charset="0"/>
              </a:rPr>
              <a:t> - Where Everything Lives</a:t>
            </a:r>
          </a:p>
          <a:p>
            <a:endParaRPr lang="en-US" sz="1600" dirty="0">
              <a:latin typeface="Helvetica" pitchFamily="2" charset="0"/>
            </a:endParaRPr>
          </a:p>
        </p:txBody>
      </p:sp>
      <p:sp>
        <p:nvSpPr>
          <p:cNvPr id="3" name="Oval 2">
            <a:extLst>
              <a:ext uri="{FF2B5EF4-FFF2-40B4-BE49-F238E27FC236}">
                <a16:creationId xmlns:a16="http://schemas.microsoft.com/office/drawing/2014/main" id="{F2DB1856-050A-96BA-D25C-0F74BE43DDEF}"/>
              </a:ext>
            </a:extLst>
          </p:cNvPr>
          <p:cNvSpPr/>
          <p:nvPr/>
        </p:nvSpPr>
        <p:spPr>
          <a:xfrm>
            <a:off x="8886143" y="2890917"/>
            <a:ext cx="3170158" cy="1530771"/>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8542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E945-2B20-1F2B-6D96-7D7ECF814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91DE7-5804-43E5-C000-0715F59E697A}"/>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BD8AEF68-DF10-A822-53D6-C16263716C27}"/>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44A21048-9EAD-BB71-CEF7-6E293C3621E1}"/>
              </a:ext>
            </a:extLst>
          </p:cNvPr>
          <p:cNvSpPr txBox="1"/>
          <p:nvPr/>
        </p:nvSpPr>
        <p:spPr>
          <a:xfrm>
            <a:off x="631915" y="1406434"/>
            <a:ext cx="6097088" cy="4678204"/>
          </a:xfrm>
          <a:prstGeom prst="rect">
            <a:avLst/>
          </a:prstGeom>
          <a:noFill/>
        </p:spPr>
        <p:txBody>
          <a:bodyPr wrap="square">
            <a:spAutoFit/>
          </a:bodyPr>
          <a:lstStyle/>
          <a:p>
            <a:pPr>
              <a:buNone/>
            </a:pPr>
            <a:r>
              <a:rPr lang="en-US" b="1" dirty="0">
                <a:latin typeface="Helvetica" pitchFamily="2" charset="0"/>
                <a:cs typeface="Arial" panose="020B0604020202020204" pitchFamily="34" charset="0"/>
              </a:rPr>
              <a:t>Home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/home/[</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UnityID</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Size:</a:t>
            </a:r>
            <a:r>
              <a:rPr lang="en-US" sz="1400" dirty="0">
                <a:latin typeface="Helvetica" pitchFamily="2" charset="0"/>
                <a:cs typeface="Arial" panose="020B0604020202020204" pitchFamily="34" charset="0"/>
              </a:rPr>
              <a:t> 1 GB per user</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Speed:</a:t>
            </a:r>
            <a:r>
              <a:rPr lang="en-US" sz="1400" dirty="0">
                <a:latin typeface="Helvetica" pitchFamily="2" charset="0"/>
                <a:cs typeface="Arial" panose="020B0604020202020204" pitchFamily="34" charset="0"/>
              </a:rPr>
              <a:t> Moderate</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Persistence:</a:t>
            </a:r>
            <a:r>
              <a:rPr lang="en-US" sz="1400" dirty="0">
                <a:latin typeface="Helvetica" pitchFamily="2" charset="0"/>
                <a:cs typeface="Arial" panose="020B0604020202020204" pitchFamily="34" charset="0"/>
              </a:rPr>
              <a:t> Permanent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Backup:</a:t>
            </a:r>
            <a:r>
              <a:rPr lang="en-US" sz="1400" dirty="0">
                <a:latin typeface="Helvetica" pitchFamily="2" charset="0"/>
                <a:cs typeface="Arial" panose="020B0604020202020204" pitchFamily="34" charset="0"/>
              </a:rPr>
              <a:t> Yes</a:t>
            </a:r>
          </a:p>
          <a:p>
            <a:pPr>
              <a:buFont typeface="Arial" panose="020B0604020202020204" pitchFamily="34" charset="0"/>
              <a:buChar char="•"/>
            </a:pPr>
            <a:endParaRPr lang="en-US" sz="16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What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t>
            </a:r>
            <a:r>
              <a:rPr lang="en-US" sz="1400" dirty="0" err="1">
                <a:latin typeface="Helvetica" pitchFamily="2" charset="0"/>
                <a:cs typeface="Arial" panose="020B0604020202020204" pitchFamily="34" charset="0"/>
              </a:rPr>
              <a:t>bashrc</a:t>
            </a:r>
            <a:r>
              <a:rPr lang="en-US" sz="1400" dirty="0">
                <a:latin typeface="Helvetica" pitchFamily="2" charset="0"/>
                <a:cs typeface="Arial" panose="020B0604020202020204" pitchFamily="34" charset="0"/>
              </a:rPr>
              <a:t> and other configuration files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Small utility scripts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SSH keys </a:t>
            </a:r>
            <a:r>
              <a:rPr lang="en-US" sz="1400" dirty="0">
                <a:solidFill>
                  <a:srgbClr val="FF0000"/>
                </a:solidFill>
                <a:latin typeface="Helvetica" pitchFamily="2" charset="0"/>
                <a:cs typeface="Arial" panose="020B0604020202020204" pitchFamily="34" charset="0"/>
              </a:rPr>
              <a:t>(not available for Hazel!)</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Personal settings</a:t>
            </a:r>
          </a:p>
          <a:p>
            <a:r>
              <a:rPr lang="en-US" sz="1400" b="1" dirty="0">
                <a:latin typeface="Helvetica" pitchFamily="2" charset="0"/>
                <a:cs typeface="Arial" panose="020B0604020202020204" pitchFamily="34" charset="0"/>
              </a:rPr>
              <a:t>What NOT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Raw sequencing data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Analysis results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Conda environments (will exceed quota quickly)</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Any data files</a:t>
            </a:r>
          </a:p>
          <a:p>
            <a:pPr marL="285750" indent="-285750">
              <a:buFont typeface="Arial" panose="020B0604020202020204" pitchFamily="34" charset="0"/>
              <a:buChar char="•"/>
            </a:pPr>
            <a:endParaRPr lang="en-US" sz="14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Why it's small:</a:t>
            </a:r>
            <a:r>
              <a:rPr lang="en-US" sz="1400" dirty="0">
                <a:latin typeface="Helvetica" pitchFamily="2" charset="0"/>
                <a:cs typeface="Arial" panose="020B0604020202020204" pitchFamily="34" charset="0"/>
              </a:rPr>
              <a:t> Home directories are backed up and designed only for personal configuration, not data storage.</a:t>
            </a:r>
          </a:p>
          <a:p>
            <a:pPr>
              <a:buFont typeface="Arial" panose="020B0604020202020204" pitchFamily="34" charset="0"/>
              <a:buChar char="•"/>
            </a:pPr>
            <a:endParaRPr lang="en-US" dirty="0">
              <a:latin typeface="Helvetica" pitchFamily="2" charset="0"/>
              <a:cs typeface="Arial" panose="020B0604020202020204" pitchFamily="34" charset="0"/>
            </a:endParaRPr>
          </a:p>
        </p:txBody>
      </p:sp>
      <p:sp>
        <p:nvSpPr>
          <p:cNvPr id="4" name="Oval 3">
            <a:extLst>
              <a:ext uri="{FF2B5EF4-FFF2-40B4-BE49-F238E27FC236}">
                <a16:creationId xmlns:a16="http://schemas.microsoft.com/office/drawing/2014/main" id="{B61BA87A-A58C-58EB-26DC-E4966C5A3C0F}"/>
              </a:ext>
            </a:extLst>
          </p:cNvPr>
          <p:cNvSpPr/>
          <p:nvPr/>
        </p:nvSpPr>
        <p:spPr>
          <a:xfrm>
            <a:off x="10032274" y="2984863"/>
            <a:ext cx="796835" cy="760673"/>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7369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03C2-4A92-E738-5690-FB464C6E4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95156-C867-D675-EDBE-C45CD75DD2DC}"/>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A56FC8C-3009-B5C9-BEAC-86C3DFEC2DDD}"/>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6B28F258-CDB6-5601-476A-3EC12AA260FF}"/>
              </a:ext>
            </a:extLst>
          </p:cNvPr>
          <p:cNvSpPr txBox="1"/>
          <p:nvPr/>
        </p:nvSpPr>
        <p:spPr>
          <a:xfrm>
            <a:off x="631915" y="1406434"/>
            <a:ext cx="6097088" cy="4893647"/>
          </a:xfrm>
          <a:prstGeom prst="rect">
            <a:avLst/>
          </a:prstGeom>
          <a:noFill/>
        </p:spPr>
        <p:txBody>
          <a:bodyPr wrap="square">
            <a:spAutoFit/>
          </a:bodyPr>
          <a:lstStyle/>
          <a:p>
            <a:r>
              <a:rPr lang="en-US" b="1" dirty="0">
                <a:latin typeface="Helvetica" pitchFamily="2" charset="0"/>
              </a:rPr>
              <a:t>Scratch Space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/share/$GROUP/$USER</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20 TB per research group</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VERY FAST (optimized for parallel I/O)</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30-day automatic deletion</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No</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Intermediate files during analysis (unsorted BAMs, temporary assembly files)</a:t>
            </a:r>
          </a:p>
          <a:p>
            <a:pPr marL="285750" indent="-285750">
              <a:buFont typeface="Arial" panose="020B0604020202020204" pitchFamily="34" charset="0"/>
              <a:buChar char="•"/>
            </a:pPr>
            <a:r>
              <a:rPr lang="en-US" sz="1400" dirty="0">
                <a:latin typeface="Helvetica" pitchFamily="2" charset="0"/>
              </a:rPr>
              <a:t>Job-specific temporary data</a:t>
            </a:r>
          </a:p>
          <a:p>
            <a:pPr marL="285750" indent="-285750">
              <a:buFont typeface="Arial" panose="020B0604020202020204" pitchFamily="34" charset="0"/>
              <a:buChar char="•"/>
            </a:pPr>
            <a:r>
              <a:rPr lang="en-US" sz="1400" dirty="0">
                <a:latin typeface="Helvetica" pitchFamily="2" charset="0"/>
              </a:rPr>
              <a:t>Conda package cache (.</a:t>
            </a:r>
            <a:r>
              <a:rPr lang="en-US" sz="1400" dirty="0" err="1">
                <a:latin typeface="Helvetica" pitchFamily="2" charset="0"/>
              </a:rPr>
              <a:t>conda</a:t>
            </a:r>
            <a:r>
              <a:rPr lang="en-US" sz="1400" dirty="0">
                <a:latin typeface="Helvetica" pitchFamily="2" charset="0"/>
              </a:rPr>
              <a:t>/pkgs)</a:t>
            </a:r>
          </a:p>
          <a:p>
            <a:pPr marL="285750" indent="-285750">
              <a:buFont typeface="Arial" panose="020B0604020202020204" pitchFamily="34" charset="0"/>
              <a:buChar char="•"/>
            </a:pPr>
            <a:r>
              <a:rPr lang="en-US" sz="1400" dirty="0">
                <a:latin typeface="Helvetica" pitchFamily="2" charset="0"/>
              </a:rPr>
              <a:t>Any large files that are only needed briefly</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data (will be deleted after 30 days!)</a:t>
            </a:r>
          </a:p>
          <a:p>
            <a:pPr marL="285750" indent="-285750">
              <a:buFont typeface="Arial" panose="020B0604020202020204" pitchFamily="34" charset="0"/>
              <a:buChar char="•"/>
            </a:pPr>
            <a:r>
              <a:rPr lang="en-US" sz="1400" dirty="0">
                <a:latin typeface="Helvetica" pitchFamily="2" charset="0"/>
              </a:rPr>
              <a:t>Final results (will be deleted!)</a:t>
            </a:r>
          </a:p>
          <a:p>
            <a:pPr marL="285750" indent="-285750">
              <a:buFont typeface="Arial" panose="020B0604020202020204" pitchFamily="34" charset="0"/>
              <a:buChar char="•"/>
            </a:pPr>
            <a:r>
              <a:rPr lang="en-US" sz="1400" dirty="0">
                <a:latin typeface="Helvetica" pitchFamily="2" charset="0"/>
              </a:rPr>
              <a:t>Anything you want to keep</a:t>
            </a:r>
          </a:p>
          <a:p>
            <a:endParaRPr lang="en-US" sz="1400" dirty="0">
              <a:latin typeface="Helvetica" pitchFamily="2" charset="0"/>
            </a:endParaRPr>
          </a:p>
          <a:p>
            <a:r>
              <a:rPr lang="en-US" sz="1400" b="1" dirty="0">
                <a:latin typeface="Helvetica" pitchFamily="2" charset="0"/>
              </a:rPr>
              <a:t>Why use scratch:</a:t>
            </a:r>
            <a:endParaRPr lang="en-US" sz="1400" dirty="0">
              <a:latin typeface="Helvetica" pitchFamily="2" charset="0"/>
            </a:endParaRPr>
          </a:p>
          <a:p>
            <a:r>
              <a:rPr lang="en-US" sz="1400" dirty="0">
                <a:latin typeface="Helvetica" pitchFamily="2" charset="0"/>
              </a:rPr>
              <a:t>Fastest filesystem on Hazel</a:t>
            </a:r>
          </a:p>
          <a:p>
            <a:r>
              <a:rPr lang="en-US" sz="1400" dirty="0">
                <a:latin typeface="Helvetica" pitchFamily="2" charset="0"/>
              </a:rPr>
              <a:t>Perfect for large intermediate files that would slow down other filesystems</a:t>
            </a:r>
          </a:p>
          <a:p>
            <a:r>
              <a:rPr lang="en-US" sz="1400" dirty="0">
                <a:latin typeface="Helvetica" pitchFamily="2" charset="0"/>
              </a:rPr>
              <a:t>Your job runs faster when reading/writing many large files</a:t>
            </a:r>
          </a:p>
        </p:txBody>
      </p:sp>
      <p:sp>
        <p:nvSpPr>
          <p:cNvPr id="4" name="Oval 3">
            <a:extLst>
              <a:ext uri="{FF2B5EF4-FFF2-40B4-BE49-F238E27FC236}">
                <a16:creationId xmlns:a16="http://schemas.microsoft.com/office/drawing/2014/main" id="{30DEDC0A-E109-8341-1337-013EFD9C0ED9}"/>
              </a:ext>
            </a:extLst>
          </p:cNvPr>
          <p:cNvSpPr/>
          <p:nvPr/>
        </p:nvSpPr>
        <p:spPr>
          <a:xfrm>
            <a:off x="10841082" y="3128554"/>
            <a:ext cx="1025435" cy="89480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61B977-1D15-08AE-2E21-16BAADB5E69C}"/>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feature:</a:t>
            </a:r>
            <a:r>
              <a:rPr lang="en-US" sz="1400" dirty="0">
                <a:latin typeface="Helvetica" pitchFamily="2" charset="0"/>
              </a:rPr>
              <a:t> Files untouched for 30 days are AUTOMATICALLY DELETED. The system does this cleanup without warning.</a:t>
            </a:r>
          </a:p>
        </p:txBody>
      </p:sp>
    </p:spTree>
    <p:extLst>
      <p:ext uri="{BB962C8B-B14F-4D97-AF65-F5344CB8AC3E}">
        <p14:creationId xmlns:p14="http://schemas.microsoft.com/office/powerpoint/2010/main" val="3963319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197D-2CAD-2A56-3265-311375BE7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C33E5-E879-6A3B-3922-C0266F7C219E}"/>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3CE6D684-8820-4B6B-1553-41FD88AEABD2}"/>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7A7F6715-B3E4-F537-F31D-4BC473A24CA9}"/>
              </a:ext>
            </a:extLst>
          </p:cNvPr>
          <p:cNvSpPr txBox="1"/>
          <p:nvPr/>
        </p:nvSpPr>
        <p:spPr>
          <a:xfrm>
            <a:off x="631915" y="1412307"/>
            <a:ext cx="6097088" cy="3600986"/>
          </a:xfrm>
          <a:prstGeom prst="rect">
            <a:avLst/>
          </a:prstGeom>
          <a:noFill/>
        </p:spPr>
        <p:txBody>
          <a:bodyPr wrap="square">
            <a:spAutoFit/>
          </a:bodyPr>
          <a:lstStyle/>
          <a:p>
            <a:r>
              <a:rPr lang="en-US" b="1" dirty="0">
                <a:latin typeface="Helvetica" pitchFamily="2" charset="0"/>
              </a:rPr>
              <a:t>Applications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/local/</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usrapps</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/$GROUP</a:t>
            </a:r>
            <a:endParaRPr lang="en-US" b="1" dirty="0">
              <a:solidFill>
                <a:schemeClr val="accent2"/>
              </a:solidFill>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 Tb</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Limited</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Conda environments</a:t>
            </a:r>
          </a:p>
          <a:p>
            <a:pPr marL="285750" indent="-285750">
              <a:buFont typeface="Arial" panose="020B0604020202020204" pitchFamily="34" charset="0"/>
              <a:buChar char="•"/>
            </a:pPr>
            <a:r>
              <a:rPr lang="en-US" sz="1400" dirty="0">
                <a:latin typeface="Helvetica" pitchFamily="2" charset="0"/>
              </a:rPr>
              <a:t>Singularity/</a:t>
            </a:r>
            <a:r>
              <a:rPr lang="en-US" sz="1400" dirty="0" err="1">
                <a:latin typeface="Helvetica" pitchFamily="2" charset="0"/>
              </a:rPr>
              <a:t>Apptainer</a:t>
            </a:r>
            <a:r>
              <a:rPr lang="en-US" sz="1400" dirty="0">
                <a:latin typeface="Helvetica" pitchFamily="2" charset="0"/>
              </a:rPr>
              <a:t> containers</a:t>
            </a:r>
          </a:p>
          <a:p>
            <a:pPr marL="285750" indent="-285750">
              <a:buFont typeface="Arial" panose="020B0604020202020204" pitchFamily="34" charset="0"/>
              <a:buChar char="•"/>
            </a:pPr>
            <a:r>
              <a:rPr lang="en-US" sz="1400" dirty="0">
                <a:latin typeface="Helvetica" pitchFamily="2" charset="0"/>
              </a:rPr>
              <a:t>Compiled software and binaries</a:t>
            </a:r>
          </a:p>
          <a:p>
            <a:pPr marL="285750" indent="-285750">
              <a:buFont typeface="Arial" panose="020B0604020202020204" pitchFamily="34" charset="0"/>
              <a:buChar char="•"/>
            </a:pPr>
            <a:r>
              <a:rPr lang="en-US" sz="1400" dirty="0">
                <a:latin typeface="Helvetica" pitchFamily="2" charset="0"/>
              </a:rPr>
              <a:t>Shared tools used by your research group</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Data files</a:t>
            </a:r>
          </a:p>
          <a:p>
            <a:pPr marL="285750" indent="-285750">
              <a:buFont typeface="Arial" panose="020B0604020202020204" pitchFamily="34" charset="0"/>
              <a:buChar char="•"/>
            </a:pPr>
            <a:r>
              <a:rPr lang="en-US" sz="1400" dirty="0">
                <a:latin typeface="Helvetica" pitchFamily="2" charset="0"/>
              </a:rPr>
              <a:t>Analysis scripts (use RS1 instead)</a:t>
            </a:r>
          </a:p>
          <a:p>
            <a:pPr marL="285750" indent="-285750">
              <a:buFont typeface="Arial" panose="020B0604020202020204" pitchFamily="34" charset="0"/>
              <a:buChar char="•"/>
            </a:pPr>
            <a:r>
              <a:rPr lang="en-US" sz="1400" dirty="0">
                <a:latin typeface="Helvetica" pitchFamily="2" charset="0"/>
              </a:rPr>
              <a:t>Job outputs</a:t>
            </a:r>
          </a:p>
        </p:txBody>
      </p:sp>
      <p:sp>
        <p:nvSpPr>
          <p:cNvPr id="4" name="Oval 3">
            <a:extLst>
              <a:ext uri="{FF2B5EF4-FFF2-40B4-BE49-F238E27FC236}">
                <a16:creationId xmlns:a16="http://schemas.microsoft.com/office/drawing/2014/main" id="{3DF1FA85-D55C-3D05-F0A8-5DF2F36B5461}"/>
              </a:ext>
            </a:extLst>
          </p:cNvPr>
          <p:cNvSpPr/>
          <p:nvPr/>
        </p:nvSpPr>
        <p:spPr>
          <a:xfrm>
            <a:off x="8825527" y="3148148"/>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CF562E-788E-E30F-481C-CA33D79AC647}"/>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limitation:</a:t>
            </a:r>
            <a:r>
              <a:rPr lang="en-US" sz="1400" dirty="0">
                <a:latin typeface="Helvetica" pitchFamily="2" charset="0"/>
              </a:rPr>
              <a:t> You can only WRITE to this directory from the LOGIN NODE. Compute nodes can READ from it but cannot write.</a:t>
            </a:r>
          </a:p>
        </p:txBody>
      </p:sp>
    </p:spTree>
    <p:extLst>
      <p:ext uri="{BB962C8B-B14F-4D97-AF65-F5344CB8AC3E}">
        <p14:creationId xmlns:p14="http://schemas.microsoft.com/office/powerpoint/2010/main" val="3001670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FD12-0680-68D6-9899-C0CD8C498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C94DE-0880-90E9-D1C9-729C57CDF643}"/>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2A96519-5FE8-BC85-5327-B066BB0F5B48}"/>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067A7D1C-761A-EEEC-FE27-4634C3E019D9}"/>
              </a:ext>
            </a:extLst>
          </p:cNvPr>
          <p:cNvSpPr txBox="1"/>
          <p:nvPr/>
        </p:nvSpPr>
        <p:spPr>
          <a:xfrm>
            <a:off x="690698" y="1366140"/>
            <a:ext cx="6017145" cy="5324535"/>
          </a:xfrm>
          <a:prstGeom prst="rect">
            <a:avLst/>
          </a:prstGeom>
          <a:noFill/>
        </p:spPr>
        <p:txBody>
          <a:bodyPr wrap="square">
            <a:spAutoFit/>
          </a:bodyPr>
          <a:lstStyle/>
          <a:p>
            <a:r>
              <a:rPr lang="en-US" b="1" dirty="0">
                <a:latin typeface="Helvetica" pitchFamily="2" charset="0"/>
              </a:rPr>
              <a:t>Research Storage (RS1)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/rs1/researchers/[letter]/[name] or /</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rsstu</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/users/[letter]/[</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projectname</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30 TB per PI/project</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 (slower than scratch for many small files)</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Yes</a:t>
            </a:r>
          </a:p>
          <a:p>
            <a:pPr marL="285750" indent="-285750">
              <a:buFont typeface="Arial" panose="020B0604020202020204" pitchFamily="34" charset="0"/>
              <a:buChar char="•"/>
            </a:pPr>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sequencing data (FASTQ files)</a:t>
            </a:r>
          </a:p>
          <a:p>
            <a:pPr marL="285750" indent="-285750">
              <a:buFont typeface="Arial" panose="020B0604020202020204" pitchFamily="34" charset="0"/>
              <a:buChar char="•"/>
            </a:pPr>
            <a:r>
              <a:rPr lang="en-US" sz="1400" dirty="0">
                <a:latin typeface="Helvetica" pitchFamily="2" charset="0"/>
              </a:rPr>
              <a:t>Final analysis results (BAM, VCF, count matrices)</a:t>
            </a:r>
          </a:p>
          <a:p>
            <a:pPr marL="285750" indent="-285750">
              <a:buFont typeface="Arial" panose="020B0604020202020204" pitchFamily="34" charset="0"/>
              <a:buChar char="•"/>
            </a:pPr>
            <a:r>
              <a:rPr lang="en-US" sz="1400" dirty="0">
                <a:latin typeface="Helvetica" pitchFamily="2" charset="0"/>
              </a:rPr>
              <a:t>Analysis scripts and pipelines</a:t>
            </a:r>
          </a:p>
          <a:p>
            <a:pPr marL="285750" indent="-285750">
              <a:buFont typeface="Arial" panose="020B0604020202020204" pitchFamily="34" charset="0"/>
              <a:buChar char="•"/>
            </a:pPr>
            <a:r>
              <a:rPr lang="en-US" sz="1400" dirty="0">
                <a:latin typeface="Helvetica" pitchFamily="2" charset="0"/>
              </a:rPr>
              <a:t>GitHub repositories</a:t>
            </a:r>
          </a:p>
          <a:p>
            <a:pPr marL="285750" indent="-285750">
              <a:buFont typeface="Arial" panose="020B0604020202020204" pitchFamily="34" charset="0"/>
              <a:buChar char="•"/>
            </a:pPr>
            <a:r>
              <a:rPr lang="en-US" sz="1400" dirty="0">
                <a:latin typeface="Helvetica" pitchFamily="2" charset="0"/>
              </a:rPr>
              <a:t>Anything you need to keep long-term</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Large intermediate files (use scratch)</a:t>
            </a:r>
          </a:p>
          <a:p>
            <a:pPr marL="285750" indent="-285750">
              <a:buFont typeface="Arial" panose="020B0604020202020204" pitchFamily="34" charset="0"/>
              <a:buChar char="•"/>
            </a:pPr>
            <a:r>
              <a:rPr lang="en-US" sz="1400" dirty="0">
                <a:latin typeface="Helvetica" pitchFamily="2" charset="0"/>
              </a:rPr>
              <a:t>Temporary files</a:t>
            </a:r>
          </a:p>
          <a:p>
            <a:pPr marL="285750" indent="-285750">
              <a:buFont typeface="Arial" panose="020B0604020202020204" pitchFamily="34" charset="0"/>
              <a:buChar char="•"/>
            </a:pPr>
            <a:r>
              <a:rPr lang="en-US" sz="1400" dirty="0">
                <a:latin typeface="Helvetica" pitchFamily="2" charset="0"/>
              </a:rPr>
              <a:t>Software installations (use </a:t>
            </a:r>
            <a:r>
              <a:rPr lang="en-US" sz="1400" dirty="0" err="1">
                <a:latin typeface="Helvetica" pitchFamily="2" charset="0"/>
              </a:rPr>
              <a:t>usrapps</a:t>
            </a:r>
            <a:r>
              <a:rPr lang="en-US" sz="1400" dirty="0">
                <a:latin typeface="Helvetica" pitchFamily="2" charset="0"/>
              </a:rPr>
              <a:t>)</a:t>
            </a:r>
          </a:p>
          <a:p>
            <a:endParaRPr lang="en-US" sz="1400" dirty="0">
              <a:latin typeface="Helvetica" pitchFamily="2" charset="0"/>
            </a:endParaRPr>
          </a:p>
          <a:p>
            <a:r>
              <a:rPr lang="en-US" sz="1400" b="1" dirty="0">
                <a:latin typeface="Helvetica" pitchFamily="2" charset="0"/>
              </a:rPr>
              <a:t>Performance note:</a:t>
            </a:r>
            <a:r>
              <a:rPr lang="en-US" sz="1400" dirty="0">
                <a:latin typeface="Helvetica" pitchFamily="2" charset="0"/>
              </a:rPr>
              <a:t> RS1 is slower than scratch when working with many small files in parallel. For analyses that create thousands of temporary files, work in scratch first, then move final results to RS1.</a:t>
            </a:r>
          </a:p>
          <a:p>
            <a:endParaRPr lang="en-US" sz="1400" dirty="0">
              <a:latin typeface="Helvetica" pitchFamily="2" charset="0"/>
            </a:endParaRPr>
          </a:p>
        </p:txBody>
      </p:sp>
      <p:sp>
        <p:nvSpPr>
          <p:cNvPr id="4" name="Oval 3">
            <a:extLst>
              <a:ext uri="{FF2B5EF4-FFF2-40B4-BE49-F238E27FC236}">
                <a16:creationId xmlns:a16="http://schemas.microsoft.com/office/drawing/2014/main" id="{048BB2B0-7976-D12C-187C-D8355F7CFD48}"/>
              </a:ext>
            </a:extLst>
          </p:cNvPr>
          <p:cNvSpPr/>
          <p:nvPr/>
        </p:nvSpPr>
        <p:spPr>
          <a:xfrm>
            <a:off x="10353881" y="3579222"/>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14B0AB0-775E-5CEC-C44C-FE8B30BD4017}"/>
              </a:ext>
            </a:extLst>
          </p:cNvPr>
          <p:cNvSpPr txBox="1"/>
          <p:nvPr/>
        </p:nvSpPr>
        <p:spPr>
          <a:xfrm>
            <a:off x="6879771" y="5445916"/>
            <a:ext cx="4792849" cy="1107996"/>
          </a:xfrm>
          <a:prstGeom prst="rect">
            <a:avLst/>
          </a:prstGeom>
          <a:noFill/>
          <a:ln w="19050">
            <a:solidFill>
              <a:srgbClr val="D80003"/>
            </a:solidFill>
          </a:ln>
        </p:spPr>
        <p:txBody>
          <a:bodyPr wrap="square">
            <a:spAutoFit/>
          </a:bodyPr>
          <a:lstStyle/>
          <a:p>
            <a:r>
              <a:rPr lang="en-US" sz="1100" b="1" dirty="0">
                <a:latin typeface="Helvetica" pitchFamily="2" charset="0"/>
              </a:rPr>
              <a:t>Allocation details:</a:t>
            </a:r>
            <a:endParaRPr lang="en-US" sz="1100" dirty="0">
              <a:latin typeface="Helvetica" pitchFamily="2" charset="0"/>
            </a:endParaRPr>
          </a:p>
          <a:p>
            <a:r>
              <a:rPr lang="en-US" sz="1100" dirty="0">
                <a:latin typeface="Helvetica" pitchFamily="2" charset="0"/>
              </a:rPr>
              <a:t>Every PI automatically gets one 30 TB project space</a:t>
            </a:r>
          </a:p>
          <a:p>
            <a:r>
              <a:rPr lang="en-US" sz="1100" dirty="0">
                <a:latin typeface="Helvetica" pitchFamily="2" charset="0"/>
              </a:rPr>
              <a:t>Additional projects can be requested with grant funding</a:t>
            </a:r>
          </a:p>
          <a:p>
            <a:r>
              <a:rPr lang="en-US" sz="1100" dirty="0">
                <a:latin typeface="Helvetica" pitchFamily="2" charset="0"/>
              </a:rPr>
              <a:t>If grant expires, additional project space is removed (after data migration period)</a:t>
            </a:r>
          </a:p>
          <a:p>
            <a:r>
              <a:rPr lang="en-US" sz="1100" dirty="0">
                <a:latin typeface="Helvetica" pitchFamily="2" charset="0"/>
              </a:rPr>
              <a:t>Can request quota increases on primary project if needed</a:t>
            </a:r>
          </a:p>
        </p:txBody>
      </p:sp>
    </p:spTree>
    <p:extLst>
      <p:ext uri="{BB962C8B-B14F-4D97-AF65-F5344CB8AC3E}">
        <p14:creationId xmlns:p14="http://schemas.microsoft.com/office/powerpoint/2010/main" val="3453448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7FA8A-CEBC-CEC0-7524-059A7AB80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69409-8A6A-1700-941A-1F72CF86D51F}"/>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DAA608AD-15A1-7FD4-80F3-8EC91B53990B}"/>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4" name="Oval 3">
            <a:extLst>
              <a:ext uri="{FF2B5EF4-FFF2-40B4-BE49-F238E27FC236}">
                <a16:creationId xmlns:a16="http://schemas.microsoft.com/office/drawing/2014/main" id="{A90BFA4D-D687-99FA-9EFE-BE8D63163F5E}"/>
              </a:ext>
            </a:extLst>
          </p:cNvPr>
          <p:cNvSpPr/>
          <p:nvPr/>
        </p:nvSpPr>
        <p:spPr>
          <a:xfrm>
            <a:off x="10437223" y="3579222"/>
            <a:ext cx="738052"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05DC5959-29DE-1EED-6AD9-BDE909803A1B}"/>
              </a:ext>
            </a:extLst>
          </p:cNvPr>
          <p:cNvGraphicFramePr>
            <a:graphicFrameLocks noGrp="1"/>
          </p:cNvGraphicFramePr>
          <p:nvPr>
            <p:extLst>
              <p:ext uri="{D42A27DB-BD31-4B8C-83A1-F6EECF244321}">
                <p14:modId xmlns:p14="http://schemas.microsoft.com/office/powerpoint/2010/main" val="3604978546"/>
              </p:ext>
            </p:extLst>
          </p:nvPr>
        </p:nvGraphicFramePr>
        <p:xfrm>
          <a:off x="557478" y="2336074"/>
          <a:ext cx="5582195" cy="2590800"/>
        </p:xfrm>
        <a:graphic>
          <a:graphicData uri="http://schemas.openxmlformats.org/drawingml/2006/table">
            <a:tbl>
              <a:tblPr>
                <a:tableStyleId>{D7AC3CCA-C797-4891-BE02-D94E43425B78}</a:tableStyleId>
              </a:tblPr>
              <a:tblGrid>
                <a:gridCol w="1369293">
                  <a:extLst>
                    <a:ext uri="{9D8B030D-6E8A-4147-A177-3AD203B41FA5}">
                      <a16:colId xmlns:a16="http://schemas.microsoft.com/office/drawing/2014/main" val="3584143395"/>
                    </a:ext>
                  </a:extLst>
                </a:gridCol>
                <a:gridCol w="863585">
                  <a:extLst>
                    <a:ext uri="{9D8B030D-6E8A-4147-A177-3AD203B41FA5}">
                      <a16:colId xmlns:a16="http://schemas.microsoft.com/office/drawing/2014/main" val="3930158542"/>
                    </a:ext>
                  </a:extLst>
                </a:gridCol>
                <a:gridCol w="1116439">
                  <a:extLst>
                    <a:ext uri="{9D8B030D-6E8A-4147-A177-3AD203B41FA5}">
                      <a16:colId xmlns:a16="http://schemas.microsoft.com/office/drawing/2014/main" val="1182053037"/>
                    </a:ext>
                  </a:extLst>
                </a:gridCol>
                <a:gridCol w="1116439">
                  <a:extLst>
                    <a:ext uri="{9D8B030D-6E8A-4147-A177-3AD203B41FA5}">
                      <a16:colId xmlns:a16="http://schemas.microsoft.com/office/drawing/2014/main" val="691130429"/>
                    </a:ext>
                  </a:extLst>
                </a:gridCol>
                <a:gridCol w="1116439">
                  <a:extLst>
                    <a:ext uri="{9D8B030D-6E8A-4147-A177-3AD203B41FA5}">
                      <a16:colId xmlns:a16="http://schemas.microsoft.com/office/drawing/2014/main" val="2945315753"/>
                    </a:ext>
                  </a:extLst>
                </a:gridCol>
              </a:tblGrid>
              <a:tr h="0">
                <a:tc>
                  <a:txBody>
                    <a:bodyPr/>
                    <a:lstStyle/>
                    <a:p>
                      <a:pPr>
                        <a:buNone/>
                      </a:pPr>
                      <a:r>
                        <a:rPr lang="en-US" sz="1100" b="1" dirty="0"/>
                        <a:t>File Type</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Home</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Scratch</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err="1"/>
                        <a:t>Usrapps</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RS1</a:t>
                      </a:r>
                      <a:endParaRPr lang="en-US" sz="1100" b="1" dirty="0">
                        <a:latin typeface="Helvetica" pitchFamily="2" charset="0"/>
                      </a:endParaRPr>
                    </a:p>
                  </a:txBody>
                  <a:tcPr anchor="ctr">
                    <a:solidFill>
                      <a:schemeClr val="bg1">
                        <a:lumMod val="75000"/>
                      </a:schemeClr>
                    </a:solidFill>
                  </a:tcPr>
                </a:tc>
                <a:extLst>
                  <a:ext uri="{0D108BD9-81ED-4DB2-BD59-A6C34878D82A}">
                    <a16:rowId xmlns:a16="http://schemas.microsoft.com/office/drawing/2014/main" val="16453893"/>
                  </a:ext>
                </a:extLst>
              </a:tr>
              <a:tr h="0">
                <a:tc>
                  <a:txBody>
                    <a:bodyPr/>
                    <a:lstStyle/>
                    <a:p>
                      <a:pPr>
                        <a:buNone/>
                      </a:pPr>
                      <a:r>
                        <a:rPr lang="en-US" sz="1100" dirty="0"/>
                        <a:t>.</a:t>
                      </a:r>
                      <a:r>
                        <a:rPr lang="en-US" sz="1100" dirty="0" err="1"/>
                        <a:t>bashrc</a:t>
                      </a:r>
                      <a:r>
                        <a:rPr lang="en-US" sz="1100" dirty="0"/>
                        <a:t>, SSH keys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2498754007"/>
                  </a:ext>
                </a:extLst>
              </a:tr>
              <a:tr h="0">
                <a:tc>
                  <a:txBody>
                    <a:bodyPr/>
                    <a:lstStyle/>
                    <a:p>
                      <a:pPr>
                        <a:buNone/>
                      </a:pPr>
                      <a:r>
                        <a:rPr lang="en-US" sz="1100" dirty="0"/>
                        <a:t>Raw FASTQ files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 (too big)</a:t>
                      </a:r>
                      <a:endParaRPr lang="en-US" sz="1100">
                        <a:latin typeface="Helvetica" pitchFamily="2" charset="0"/>
                      </a:endParaRPr>
                    </a:p>
                  </a:txBody>
                  <a:tcPr anchor="ctr"/>
                </a:tc>
                <a:tc>
                  <a:txBody>
                    <a:bodyPr/>
                    <a:lstStyle/>
                    <a:p>
                      <a:pPr>
                        <a:buNone/>
                      </a:pPr>
                      <a:r>
                        <a:rPr lang="en-US" sz="1100"/>
                        <a:t>❌ (temporary)</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725222671"/>
                  </a:ext>
                </a:extLst>
              </a:tr>
              <a:tr h="0">
                <a:tc>
                  <a:txBody>
                    <a:bodyPr/>
                    <a:lstStyle/>
                    <a:p>
                      <a:pPr>
                        <a:buNone/>
                      </a:pPr>
                      <a:r>
                        <a:rPr lang="en-US" sz="1100" dirty="0"/>
                        <a:t>Analysis scripts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dirty="0"/>
                        <a:t>✅ (if small)</a:t>
                      </a:r>
                      <a:endParaRPr lang="en-US" sz="1100" dirty="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591205060"/>
                  </a:ext>
                </a:extLst>
              </a:tr>
              <a:tr h="0">
                <a:tc>
                  <a:txBody>
                    <a:bodyPr/>
                    <a:lstStyle/>
                    <a:p>
                      <a:pPr>
                        <a:buNone/>
                      </a:pPr>
                      <a:r>
                        <a:rPr lang="en-US" sz="1100" dirty="0"/>
                        <a:t>Conda environments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521178366"/>
                  </a:ext>
                </a:extLst>
              </a:tr>
              <a:tr h="0">
                <a:tc>
                  <a:txBody>
                    <a:bodyPr/>
                    <a:lstStyle/>
                    <a:p>
                      <a:pPr>
                        <a:buNone/>
                      </a:pPr>
                      <a:r>
                        <a:rPr lang="en-US" sz="1100" dirty="0"/>
                        <a:t>Containers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400125258"/>
                  </a:ext>
                </a:extLst>
              </a:tr>
              <a:tr h="0">
                <a:tc>
                  <a:txBody>
                    <a:bodyPr/>
                    <a:lstStyle/>
                    <a:p>
                      <a:pPr>
                        <a:buNone/>
                      </a:pPr>
                      <a:r>
                        <a:rPr lang="en-US" sz="1100" dirty="0"/>
                        <a:t>Intermediate BAMs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3508092908"/>
                  </a:ext>
                </a:extLst>
              </a:tr>
              <a:tr h="0">
                <a:tc>
                  <a:txBody>
                    <a:bodyPr/>
                    <a:lstStyle/>
                    <a:p>
                      <a:pPr>
                        <a:buNone/>
                      </a:pPr>
                      <a:r>
                        <a:rPr lang="en-US" sz="1100" dirty="0"/>
                        <a:t>Final results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187726750"/>
                  </a:ext>
                </a:extLst>
              </a:tr>
              <a:tr h="0">
                <a:tc>
                  <a:txBody>
                    <a:bodyPr/>
                    <a:lstStyle/>
                    <a:p>
                      <a:pPr>
                        <a:buNone/>
                      </a:pPr>
                      <a:r>
                        <a:rPr lang="en-US" sz="1100" dirty="0"/>
                        <a:t>Reference genomes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773008818"/>
                  </a:ext>
                </a:extLst>
              </a:tr>
              <a:tr h="0">
                <a:tc>
                  <a:txBody>
                    <a:bodyPr/>
                    <a:lstStyle/>
                    <a:p>
                      <a:pPr>
                        <a:buNone/>
                      </a:pPr>
                      <a:r>
                        <a:rPr lang="en-US" sz="1100" dirty="0"/>
                        <a:t>Temp alignment files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dirty="0"/>
                        <a:t>✅</a:t>
                      </a:r>
                      <a:endParaRPr lang="en-US" sz="1100" dirty="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dirty="0"/>
                        <a:t>❌</a:t>
                      </a:r>
                      <a:endParaRPr lang="en-US" sz="1100" dirty="0">
                        <a:latin typeface="Helvetica" pitchFamily="2" charset="0"/>
                      </a:endParaRPr>
                    </a:p>
                  </a:txBody>
                  <a:tcPr anchor="ctr"/>
                </a:tc>
                <a:extLst>
                  <a:ext uri="{0D108BD9-81ED-4DB2-BD59-A6C34878D82A}">
                    <a16:rowId xmlns:a16="http://schemas.microsoft.com/office/drawing/2014/main" val="2178476895"/>
                  </a:ext>
                </a:extLst>
              </a:tr>
            </a:tbl>
          </a:graphicData>
        </a:graphic>
      </p:graphicFrame>
      <p:sp>
        <p:nvSpPr>
          <p:cNvPr id="9" name="Oval 8">
            <a:extLst>
              <a:ext uri="{FF2B5EF4-FFF2-40B4-BE49-F238E27FC236}">
                <a16:creationId xmlns:a16="http://schemas.microsoft.com/office/drawing/2014/main" id="{6B2EBD2A-1A40-3F8C-6F44-635A16F5A809}"/>
              </a:ext>
            </a:extLst>
          </p:cNvPr>
          <p:cNvSpPr/>
          <p:nvPr/>
        </p:nvSpPr>
        <p:spPr>
          <a:xfrm>
            <a:off x="10068197" y="3050177"/>
            <a:ext cx="738052"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7DC3BDB-13AE-6120-5AD9-9A9649DF9A2C}"/>
              </a:ext>
            </a:extLst>
          </p:cNvPr>
          <p:cNvSpPr/>
          <p:nvPr/>
        </p:nvSpPr>
        <p:spPr>
          <a:xfrm>
            <a:off x="10940143" y="3200399"/>
            <a:ext cx="824462" cy="862150"/>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F0EBD8C-6C78-E16D-606E-27786850CB9A}"/>
              </a:ext>
            </a:extLst>
          </p:cNvPr>
          <p:cNvSpPr/>
          <p:nvPr/>
        </p:nvSpPr>
        <p:spPr>
          <a:xfrm>
            <a:off x="8872128" y="3247207"/>
            <a:ext cx="674371" cy="664030"/>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5519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17466-0E6B-8FE8-4874-C6A2ED727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874EB-EEA3-A9F7-5D26-ED03431FB5C9}"/>
              </a:ext>
            </a:extLst>
          </p:cNvPr>
          <p:cNvSpPr>
            <a:spLocks noGrp="1"/>
          </p:cNvSpPr>
          <p:nvPr>
            <p:ph type="title"/>
          </p:nvPr>
        </p:nvSpPr>
        <p:spPr/>
        <p:txBody>
          <a:bodyPr>
            <a:normAutofit/>
          </a:bodyPr>
          <a:lstStyle/>
          <a:p>
            <a:r>
              <a:rPr lang="en-US" sz="4000" dirty="0">
                <a:latin typeface="Helvetica" pitchFamily="2" charset="0"/>
              </a:rPr>
              <a:t>Hazel HPC Storage</a:t>
            </a:r>
          </a:p>
        </p:txBody>
      </p:sp>
      <p:sp>
        <p:nvSpPr>
          <p:cNvPr id="3" name="TextBox 2">
            <a:extLst>
              <a:ext uri="{FF2B5EF4-FFF2-40B4-BE49-F238E27FC236}">
                <a16:creationId xmlns:a16="http://schemas.microsoft.com/office/drawing/2014/main" id="{E9134EDF-F676-A622-84C4-FB4E5FA69747}"/>
              </a:ext>
            </a:extLst>
          </p:cNvPr>
          <p:cNvSpPr txBox="1"/>
          <p:nvPr/>
        </p:nvSpPr>
        <p:spPr>
          <a:xfrm>
            <a:off x="711858" y="1557388"/>
            <a:ext cx="6017145" cy="4801314"/>
          </a:xfrm>
          <a:prstGeom prst="rect">
            <a:avLst/>
          </a:prstGeom>
          <a:noFill/>
        </p:spPr>
        <p:txBody>
          <a:bodyPr wrap="square">
            <a:spAutoFit/>
          </a:bodyPr>
          <a:lstStyle/>
          <a:p>
            <a:r>
              <a:rPr lang="en-US" sz="1400" b="1" dirty="0">
                <a:latin typeface="Helvetica" pitchFamily="2" charset="0"/>
              </a:rPr>
              <a:t>Common Mistakes and How to Avoid Them</a:t>
            </a:r>
          </a:p>
          <a:p>
            <a:r>
              <a:rPr lang="en-US" sz="1400" b="1" dirty="0">
                <a:latin typeface="Helvetica" pitchFamily="2" charset="0"/>
              </a:rPr>
              <a:t>❌ </a:t>
            </a:r>
            <a:r>
              <a:rPr lang="en-US" sz="1200" b="1" dirty="0">
                <a:latin typeface="Helvetica" pitchFamily="2" charset="0"/>
              </a:rPr>
              <a:t>Mistake 1: Running analyses on login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Slows system for everyone; may get account suspended</a:t>
            </a:r>
          </a:p>
          <a:p>
            <a:r>
              <a:rPr lang="en-US" sz="1200" b="1" dirty="0">
                <a:latin typeface="Helvetica" pitchFamily="2" charset="0"/>
              </a:rPr>
              <a:t>Solution:</a:t>
            </a:r>
            <a:r>
              <a:rPr lang="en-US" sz="1200" dirty="0">
                <a:latin typeface="Helvetica" pitchFamily="2" charset="0"/>
              </a:rPr>
              <a:t> Always use </a:t>
            </a:r>
            <a:r>
              <a:rPr lang="en-US" sz="1200" dirty="0" err="1">
                <a:latin typeface="Helvetica" pitchFamily="2" charset="0"/>
              </a:rPr>
              <a:t>bsub</a:t>
            </a:r>
            <a:r>
              <a:rPr lang="en-US" sz="1200" dirty="0">
                <a:latin typeface="Helvetica" pitchFamily="2" charset="0"/>
              </a:rPr>
              <a:t> to submit jobs to compute nodes</a:t>
            </a:r>
          </a:p>
          <a:p>
            <a:endParaRPr lang="en-US" sz="1200" dirty="0">
              <a:latin typeface="Helvetica" pitchFamily="2" charset="0"/>
            </a:endParaRPr>
          </a:p>
          <a:p>
            <a:r>
              <a:rPr lang="en-US" sz="1200" b="1" dirty="0">
                <a:latin typeface="Helvetica" pitchFamily="2" charset="0"/>
              </a:rPr>
              <a:t>❌ Mistake 2: Storing important data in scratch</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Data deleted after 30 days automatically</a:t>
            </a:r>
          </a:p>
          <a:p>
            <a:r>
              <a:rPr lang="en-US" sz="1200" b="1" dirty="0">
                <a:latin typeface="Helvetica" pitchFamily="2" charset="0"/>
              </a:rPr>
              <a:t>Solution:</a:t>
            </a:r>
            <a:r>
              <a:rPr lang="en-US" sz="1200" dirty="0">
                <a:latin typeface="Helvetica" pitchFamily="2" charset="0"/>
              </a:rPr>
              <a:t> Use scratch only for temporary files; move results to RS1 immediately</a:t>
            </a:r>
          </a:p>
          <a:p>
            <a:endParaRPr lang="en-US" sz="1200" dirty="0">
              <a:latin typeface="Helvetica" pitchFamily="2" charset="0"/>
            </a:endParaRPr>
          </a:p>
          <a:p>
            <a:r>
              <a:rPr lang="en-US" sz="1200" b="1" dirty="0">
                <a:latin typeface="Helvetica" pitchFamily="2" charset="0"/>
              </a:rPr>
              <a:t>❌ Mistake 3: Installing software from compute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Silently fails when trying to write to </a:t>
            </a:r>
            <a:r>
              <a:rPr lang="en-US" sz="1200" dirty="0" err="1">
                <a:latin typeface="Helvetica" pitchFamily="2" charset="0"/>
              </a:rPr>
              <a:t>usrapps</a:t>
            </a:r>
            <a:endParaRPr lang="en-US" sz="1200" dirty="0">
              <a:latin typeface="Helvetica" pitchFamily="2" charset="0"/>
            </a:endParaRPr>
          </a:p>
          <a:p>
            <a:r>
              <a:rPr lang="en-US" sz="1200" b="1" dirty="0">
                <a:latin typeface="Helvetica" pitchFamily="2" charset="0"/>
              </a:rPr>
              <a:t>Solution:</a:t>
            </a:r>
            <a:r>
              <a:rPr lang="en-US" sz="1200" dirty="0">
                <a:latin typeface="Helvetica" pitchFamily="2" charset="0"/>
              </a:rPr>
              <a:t> Always install from login node; jobs only activate/use software</a:t>
            </a:r>
          </a:p>
          <a:p>
            <a:endParaRPr lang="en-US" sz="1200" dirty="0">
              <a:latin typeface="Helvetica" pitchFamily="2" charset="0"/>
            </a:endParaRPr>
          </a:p>
          <a:p>
            <a:r>
              <a:rPr lang="en-US" sz="1200" b="1" dirty="0">
                <a:latin typeface="Helvetica" pitchFamily="2" charset="0"/>
              </a:rPr>
              <a:t>❌ Mistake 4: Exceeding home directory quota</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Can't log in or write any files</a:t>
            </a:r>
          </a:p>
          <a:p>
            <a:r>
              <a:rPr lang="en-US" sz="1200" b="1" dirty="0">
                <a:latin typeface="Helvetica" pitchFamily="2" charset="0"/>
              </a:rPr>
              <a:t>Solution:</a:t>
            </a:r>
            <a:r>
              <a:rPr lang="en-US" sz="1200" dirty="0">
                <a:latin typeface="Helvetica" pitchFamily="2" charset="0"/>
              </a:rPr>
              <a:t> Store only configuration files in home; keep everything else in RS1</a:t>
            </a:r>
          </a:p>
          <a:p>
            <a:endParaRPr lang="en-US" sz="1200" dirty="0">
              <a:latin typeface="Helvetica" pitchFamily="2" charset="0"/>
            </a:endParaRPr>
          </a:p>
          <a:p>
            <a:r>
              <a:rPr lang="en-US" sz="1200" b="1" dirty="0">
                <a:latin typeface="Helvetica" pitchFamily="2" charset="0"/>
              </a:rPr>
              <a:t>❌ Mistake 5: Not using scratch for large intermediate files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Slows down RS1 for everyone; analysis runs slower</a:t>
            </a:r>
          </a:p>
          <a:p>
            <a:r>
              <a:rPr lang="en-US" sz="1200" b="1" dirty="0">
                <a:latin typeface="Helvetica" pitchFamily="2" charset="0"/>
              </a:rPr>
              <a:t>Solution:</a:t>
            </a:r>
            <a:r>
              <a:rPr lang="en-US" sz="1200" dirty="0">
                <a:latin typeface="Helvetica" pitchFamily="2" charset="0"/>
              </a:rPr>
              <a:t> Work in scratch, copy only final results to RS1</a:t>
            </a:r>
          </a:p>
          <a:p>
            <a:endParaRPr lang="en-US" sz="1200" dirty="0">
              <a:latin typeface="Helvetica" pitchFamily="2" charset="0"/>
            </a:endParaRPr>
          </a:p>
          <a:p>
            <a:r>
              <a:rPr lang="en-US" sz="1200" b="1" dirty="0">
                <a:latin typeface="Helvetica" pitchFamily="2" charset="0"/>
              </a:rPr>
              <a:t>❌ Mistake 6: Not cleaning up scratch</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Your group quota fills up; others can't use scratch</a:t>
            </a:r>
          </a:p>
          <a:p>
            <a:r>
              <a:rPr lang="en-US" sz="1200" b="1" dirty="0">
                <a:latin typeface="Helvetica" pitchFamily="2" charset="0"/>
              </a:rPr>
              <a:t>Solution:</a:t>
            </a:r>
            <a:r>
              <a:rPr lang="en-US" sz="1200" dirty="0">
                <a:latin typeface="Helvetica" pitchFamily="2" charset="0"/>
              </a:rPr>
              <a:t> Add cleanup commands to end of job scripts</a:t>
            </a:r>
          </a:p>
          <a:p>
            <a:endParaRPr lang="en-US" sz="1400" dirty="0">
              <a:latin typeface="Helvetica" pitchFamily="2" charset="0"/>
            </a:endParaRPr>
          </a:p>
        </p:txBody>
      </p:sp>
      <p:pic>
        <p:nvPicPr>
          <p:cNvPr id="25602" name="Picture 2" descr="Disorganized Warehouses tend to have inventory discrepancies all the time.">
            <a:extLst>
              <a:ext uri="{FF2B5EF4-FFF2-40B4-BE49-F238E27FC236}">
                <a16:creationId xmlns:a16="http://schemas.microsoft.com/office/drawing/2014/main" id="{5D368512-28CD-294A-6D7A-DB78FD89DA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003" y="1648424"/>
            <a:ext cx="4751139" cy="356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410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5DDD-FE65-CD59-C5ED-85BD626E2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E4B3A-486E-B400-AB2C-B4CDCAAB03C9}"/>
              </a:ext>
            </a:extLst>
          </p:cNvPr>
          <p:cNvSpPr>
            <a:spLocks noGrp="1"/>
          </p:cNvSpPr>
          <p:nvPr>
            <p:ph type="title"/>
          </p:nvPr>
        </p:nvSpPr>
        <p:spPr/>
        <p:txBody>
          <a:bodyPr>
            <a:normAutofit/>
          </a:bodyPr>
          <a:lstStyle/>
          <a:p>
            <a:r>
              <a:rPr lang="en-US" sz="4000" dirty="0">
                <a:latin typeface="Helvetica" pitchFamily="2" charset="0"/>
              </a:rPr>
              <a:t>Hazel HPC Storage</a:t>
            </a:r>
          </a:p>
        </p:txBody>
      </p:sp>
      <p:sp>
        <p:nvSpPr>
          <p:cNvPr id="3" name="TextBox 2">
            <a:extLst>
              <a:ext uri="{FF2B5EF4-FFF2-40B4-BE49-F238E27FC236}">
                <a16:creationId xmlns:a16="http://schemas.microsoft.com/office/drawing/2014/main" id="{459663D4-5B35-B3C9-FBBC-BEF1ECEDC48E}"/>
              </a:ext>
            </a:extLst>
          </p:cNvPr>
          <p:cNvSpPr txBox="1"/>
          <p:nvPr/>
        </p:nvSpPr>
        <p:spPr>
          <a:xfrm>
            <a:off x="711858" y="1557388"/>
            <a:ext cx="6017145" cy="4801314"/>
          </a:xfrm>
          <a:prstGeom prst="rect">
            <a:avLst/>
          </a:prstGeom>
          <a:noFill/>
        </p:spPr>
        <p:txBody>
          <a:bodyPr wrap="square">
            <a:spAutoFit/>
          </a:bodyPr>
          <a:lstStyle/>
          <a:p>
            <a:r>
              <a:rPr lang="en-US" sz="1400" b="1" dirty="0">
                <a:solidFill>
                  <a:schemeClr val="bg1">
                    <a:lumMod val="75000"/>
                  </a:schemeClr>
                </a:solidFill>
                <a:latin typeface="Helvetica" pitchFamily="2" charset="0"/>
              </a:rPr>
              <a:t>Common Mistakes and How to Avoid Them</a:t>
            </a:r>
          </a:p>
          <a:p>
            <a:r>
              <a:rPr lang="en-US" sz="1400" b="1" dirty="0">
                <a:solidFill>
                  <a:schemeClr val="bg1">
                    <a:lumMod val="75000"/>
                  </a:schemeClr>
                </a:solidFill>
                <a:latin typeface="Helvetica" pitchFamily="2" charset="0"/>
              </a:rPr>
              <a:t>❌ </a:t>
            </a:r>
            <a:r>
              <a:rPr lang="en-US" sz="1200" b="1" dirty="0">
                <a:solidFill>
                  <a:schemeClr val="bg1">
                    <a:lumMod val="75000"/>
                  </a:schemeClr>
                </a:solidFill>
                <a:latin typeface="Helvetica" pitchFamily="2" charset="0"/>
              </a:rPr>
              <a:t>Mistake 1: Running analyses on login nodes</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Slows system for everyone; may get account suspended</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Always use </a:t>
            </a:r>
            <a:r>
              <a:rPr lang="en-US" sz="1200" dirty="0" err="1">
                <a:solidFill>
                  <a:schemeClr val="bg1">
                    <a:lumMod val="75000"/>
                  </a:schemeClr>
                </a:solidFill>
                <a:latin typeface="Helvetica" pitchFamily="2" charset="0"/>
              </a:rPr>
              <a:t>bsub</a:t>
            </a:r>
            <a:r>
              <a:rPr lang="en-US" sz="1200" dirty="0">
                <a:solidFill>
                  <a:schemeClr val="bg1">
                    <a:lumMod val="75000"/>
                  </a:schemeClr>
                </a:solidFill>
                <a:latin typeface="Helvetica" pitchFamily="2" charset="0"/>
              </a:rPr>
              <a:t> to submit jobs to compute nodes</a:t>
            </a:r>
          </a:p>
          <a:p>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 Mistake 2: Storing important data in scratch</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Data deleted after 30 days automatically</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Use scratch only for temporary files; move results to RS1 immediately</a:t>
            </a:r>
          </a:p>
          <a:p>
            <a:endParaRPr lang="en-US" sz="1200" dirty="0">
              <a:latin typeface="Helvetica" pitchFamily="2" charset="0"/>
            </a:endParaRPr>
          </a:p>
          <a:p>
            <a:r>
              <a:rPr lang="en-US" sz="1200" b="1" dirty="0">
                <a:latin typeface="Helvetica" pitchFamily="2" charset="0"/>
              </a:rPr>
              <a:t>❌ Mistake 3: Installing software from compute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Silently fails when trying to write to </a:t>
            </a:r>
            <a:r>
              <a:rPr lang="en-US" sz="1200" dirty="0" err="1">
                <a:latin typeface="Helvetica" pitchFamily="2" charset="0"/>
              </a:rPr>
              <a:t>usrapps</a:t>
            </a:r>
            <a:endParaRPr lang="en-US" sz="1200" dirty="0">
              <a:latin typeface="Helvetica" pitchFamily="2" charset="0"/>
            </a:endParaRPr>
          </a:p>
          <a:p>
            <a:r>
              <a:rPr lang="en-US" sz="1200" b="1" dirty="0">
                <a:latin typeface="Helvetica" pitchFamily="2" charset="0"/>
              </a:rPr>
              <a:t>Solution:</a:t>
            </a:r>
            <a:r>
              <a:rPr lang="en-US" sz="1200" dirty="0">
                <a:latin typeface="Helvetica" pitchFamily="2" charset="0"/>
              </a:rPr>
              <a:t> Always install from login node; jobs only activate/use software</a:t>
            </a:r>
          </a:p>
          <a:p>
            <a:endParaRPr lang="en-US" sz="1200" dirty="0">
              <a:latin typeface="Helvetica" pitchFamily="2" charset="0"/>
            </a:endParaRPr>
          </a:p>
          <a:p>
            <a:r>
              <a:rPr lang="en-US" sz="1200" b="1" dirty="0">
                <a:latin typeface="Helvetica" pitchFamily="2" charset="0"/>
              </a:rPr>
              <a:t>❌ Mistake 4: Exceeding home directory quota</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Can't log in or write any files</a:t>
            </a:r>
          </a:p>
          <a:p>
            <a:r>
              <a:rPr lang="en-US" sz="1200" b="1" dirty="0">
                <a:latin typeface="Helvetica" pitchFamily="2" charset="0"/>
              </a:rPr>
              <a:t>Solution:</a:t>
            </a:r>
            <a:r>
              <a:rPr lang="en-US" sz="1200" dirty="0">
                <a:latin typeface="Helvetica" pitchFamily="2" charset="0"/>
              </a:rPr>
              <a:t> Store only configuration files in home; keep everything else in RS1</a:t>
            </a:r>
          </a:p>
          <a:p>
            <a:endParaRPr lang="en-US" sz="1200" dirty="0">
              <a:latin typeface="Helvetica" pitchFamily="2" charset="0"/>
            </a:endParaRPr>
          </a:p>
          <a:p>
            <a:r>
              <a:rPr lang="en-US" sz="1200" b="1" dirty="0">
                <a:solidFill>
                  <a:schemeClr val="bg1">
                    <a:lumMod val="75000"/>
                  </a:schemeClr>
                </a:solidFill>
                <a:latin typeface="Helvetica" pitchFamily="2" charset="0"/>
              </a:rPr>
              <a:t>❌ Mistake 5: Not using scratch for large intermediate files</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Slows down RS1 for everyone; analysis runs slower</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Work in scratch, copy only final results to RS1</a:t>
            </a:r>
          </a:p>
          <a:p>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 Mistake 6: Not cleaning up scratch</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Your group quota fills up; others can't use scratch</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Add cleanup commands to end of job scripts</a:t>
            </a:r>
          </a:p>
          <a:p>
            <a:endParaRPr lang="en-US" sz="1400" dirty="0">
              <a:latin typeface="Helvetica" pitchFamily="2" charset="0"/>
            </a:endParaRPr>
          </a:p>
        </p:txBody>
      </p:sp>
      <p:pic>
        <p:nvPicPr>
          <p:cNvPr id="25602" name="Picture 2" descr="Disorganized Warehouses tend to have inventory discrepancies all the time.">
            <a:extLst>
              <a:ext uri="{FF2B5EF4-FFF2-40B4-BE49-F238E27FC236}">
                <a16:creationId xmlns:a16="http://schemas.microsoft.com/office/drawing/2014/main" id="{D61B78A1-65D6-B912-0626-ED4751B29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003" y="1648424"/>
            <a:ext cx="4751139" cy="356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571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E2D4-5904-1832-237C-1F3D585500D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EC10FB1-46E6-C321-2E28-9F07999E3110}"/>
              </a:ext>
            </a:extLst>
          </p:cNvPr>
          <p:cNvSpPr txBox="1">
            <a:spLocks/>
          </p:cNvSpPr>
          <p:nvPr/>
        </p:nvSpPr>
        <p:spPr>
          <a:xfrm>
            <a:off x="1201274"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01. Getting started on Hazel</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A97FE54A-9D64-F2AB-CF59-D1EE367B79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27" t="7004" r="11439" b="14000"/>
          <a:stretch>
            <a:fillRect/>
          </a:stretch>
        </p:blipFill>
        <p:spPr bwMode="auto">
          <a:xfrm>
            <a:off x="8634549" y="3973617"/>
            <a:ext cx="1469571" cy="158384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080C6855-53E8-1763-E262-4E741945D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9428" y="3671362"/>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Hazel nut icon symbol on white background | Premium Vector">
            <a:extLst>
              <a:ext uri="{FF2B5EF4-FFF2-40B4-BE49-F238E27FC236}">
                <a16:creationId xmlns:a16="http://schemas.microsoft.com/office/drawing/2014/main" id="{F248D8FB-1F8B-ED68-FFAB-C8D9781F0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8125" y="4207175"/>
            <a:ext cx="709491" cy="70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705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6A9B-D926-2BCE-0F62-E0B9A0C6F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0F0B4-3134-937F-012B-6444346F6963}"/>
              </a:ext>
            </a:extLst>
          </p:cNvPr>
          <p:cNvSpPr>
            <a:spLocks noGrp="1"/>
          </p:cNvSpPr>
          <p:nvPr>
            <p:ph type="title"/>
          </p:nvPr>
        </p:nvSpPr>
        <p:spPr/>
        <p:txBody>
          <a:bodyPr>
            <a:normAutofit/>
          </a:bodyPr>
          <a:lstStyle/>
          <a:p>
            <a:r>
              <a:rPr lang="en-US" sz="4000" dirty="0">
                <a:latin typeface="Helvetica" pitchFamily="2" charset="0"/>
              </a:rPr>
              <a:t>Step 1. Login in</a:t>
            </a:r>
          </a:p>
        </p:txBody>
      </p:sp>
      <p:sp>
        <p:nvSpPr>
          <p:cNvPr id="7" name="TextBox 6">
            <a:extLst>
              <a:ext uri="{FF2B5EF4-FFF2-40B4-BE49-F238E27FC236}">
                <a16:creationId xmlns:a16="http://schemas.microsoft.com/office/drawing/2014/main" id="{E12008CB-0793-685F-915D-AC9C75551B18}"/>
              </a:ext>
            </a:extLst>
          </p:cNvPr>
          <p:cNvSpPr txBox="1"/>
          <p:nvPr/>
        </p:nvSpPr>
        <p:spPr>
          <a:xfrm>
            <a:off x="838200" y="4630285"/>
            <a:ext cx="2810385" cy="861774"/>
          </a:xfrm>
          <a:prstGeom prst="rect">
            <a:avLst/>
          </a:prstGeom>
          <a:solidFill>
            <a:schemeClr val="accent4">
              <a:lumMod val="20000"/>
              <a:lumOff val="80000"/>
            </a:schemeClr>
          </a:solidFill>
        </p:spPr>
        <p:txBody>
          <a:bodyPr wrap="non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Web browser</a:t>
            </a:r>
            <a:r>
              <a:rPr kumimoji="0" lang="en-US" altLang="en-US" b="0" i="0" u="none" strike="noStrike" cap="none" normalizeH="0" baseline="0" dirty="0">
                <a:ln>
                  <a:noFill/>
                </a:ln>
                <a:solidFill>
                  <a:srgbClr val="212529"/>
                </a:solidFill>
                <a:effectLst/>
                <a:latin typeface="Helvetica" pitchFamily="2" charset="0"/>
              </a:rPr>
              <a:t> </a:t>
            </a:r>
          </a:p>
          <a:p>
            <a:pPr lvl="0" algn="ctr" eaLnBrk="0" fontAlgn="base" hangingPunct="0">
              <a:spcBef>
                <a:spcPct val="0"/>
              </a:spcBef>
              <a:spcAft>
                <a:spcPct val="0"/>
              </a:spcAft>
            </a:pPr>
            <a:r>
              <a:rPr kumimoji="0" lang="en-US" altLang="en-US" sz="1600" b="0" i="0" u="none" strike="noStrike" cap="none" normalizeH="0" baseline="0" dirty="0">
                <a:ln>
                  <a:noFill/>
                </a:ln>
                <a:solidFill>
                  <a:srgbClr val="212529"/>
                </a:solidFill>
                <a:effectLst/>
                <a:latin typeface="Helvetica" pitchFamily="2" charset="0"/>
              </a:rPr>
              <a:t>(OnDemand)</a:t>
            </a:r>
          </a:p>
          <a:p>
            <a:pPr lvl="0" algn="ctr" eaLnBrk="0" fontAlgn="base" hangingPunct="0">
              <a:spcBef>
                <a:spcPct val="0"/>
              </a:spcBef>
              <a:spcAft>
                <a:spcPct val="0"/>
              </a:spcAft>
            </a:pPr>
            <a:r>
              <a:rPr kumimoji="0" lang="en-US" altLang="en-US" sz="1600" b="0" i="0" u="sng" strike="noStrike" cap="none" normalizeH="0" baseline="0" dirty="0">
                <a:ln>
                  <a:noFill/>
                </a:ln>
                <a:solidFill>
                  <a:srgbClr val="0D6EFD"/>
                </a:solidFill>
                <a:effectLst/>
                <a:latin typeface="Helvetica" pitchFamily="2" charset="0"/>
                <a:hlinkClick r:id="rId3"/>
              </a:rPr>
              <a:t>https://servood.hpc.ncsu.edu</a:t>
            </a:r>
            <a:endParaRPr kumimoji="0" lang="en-US" altLang="en-US" sz="1600" b="0" i="0" u="none" strike="noStrike" cap="none" normalizeH="0" baseline="0" dirty="0">
              <a:ln>
                <a:noFill/>
              </a:ln>
              <a:solidFill>
                <a:srgbClr val="212529"/>
              </a:solidFill>
              <a:effectLst/>
              <a:latin typeface="Helvetica" pitchFamily="2" charset="0"/>
            </a:endParaRPr>
          </a:p>
        </p:txBody>
      </p:sp>
      <p:pic>
        <p:nvPicPr>
          <p:cNvPr id="28678" name="Picture 6" descr="Minimalist computer terminal line icon | Premium Vector">
            <a:extLst>
              <a:ext uri="{FF2B5EF4-FFF2-40B4-BE49-F238E27FC236}">
                <a16:creationId xmlns:a16="http://schemas.microsoft.com/office/drawing/2014/main" id="{F962CCDB-DEA3-22C6-A10D-E989F00141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9969" y="1893579"/>
            <a:ext cx="1804296" cy="1804296"/>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Browser Icon Vector Art, Icons, and Graphics for Free Download">
            <a:extLst>
              <a:ext uri="{FF2B5EF4-FFF2-40B4-BE49-F238E27FC236}">
                <a16:creationId xmlns:a16="http://schemas.microsoft.com/office/drawing/2014/main" id="{58770289-5B55-33E0-CBD6-02EF943A3F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320" y="2080550"/>
            <a:ext cx="1660144" cy="1357594"/>
          </a:xfrm>
          <a:prstGeom prst="rect">
            <a:avLst/>
          </a:prstGeom>
          <a:noFill/>
          <a:extLst>
            <a:ext uri="{909E8E84-426E-40DD-AFC4-6F175D3DCCD1}">
              <a14:hiddenFill xmlns:a14="http://schemas.microsoft.com/office/drawing/2010/main">
                <a:solidFill>
                  <a:srgbClr val="FFFFFF"/>
                </a:solidFill>
              </a14:hiddenFill>
            </a:ext>
          </a:extLst>
        </p:spPr>
      </p:pic>
      <p:pic>
        <p:nvPicPr>
          <p:cNvPr id="28682" name="Picture 10" descr="10 Features of VS Code Every Developer Should Know">
            <a:extLst>
              <a:ext uri="{FF2B5EF4-FFF2-40B4-BE49-F238E27FC236}">
                <a16:creationId xmlns:a16="http://schemas.microsoft.com/office/drawing/2014/main" id="{EBCC067C-737D-48B4-E5A4-3F9EEAE21CA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353" r="8627"/>
          <a:stretch>
            <a:fillRect/>
          </a:stretch>
        </p:blipFill>
        <p:spPr bwMode="auto">
          <a:xfrm>
            <a:off x="8866745" y="1821817"/>
            <a:ext cx="2104169" cy="194782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12FDAE6-C713-F37B-6E72-62F6CB5DD94A}"/>
              </a:ext>
            </a:extLst>
          </p:cNvPr>
          <p:cNvSpPr txBox="1"/>
          <p:nvPr/>
        </p:nvSpPr>
        <p:spPr>
          <a:xfrm>
            <a:off x="4183086" y="4014732"/>
            <a:ext cx="4215783" cy="1846659"/>
          </a:xfrm>
          <a:prstGeom prst="rect">
            <a:avLst/>
          </a:prstGeom>
          <a:solidFill>
            <a:schemeClr val="accent6">
              <a:lumMod val="20000"/>
              <a:lumOff val="80000"/>
            </a:schemeClr>
          </a:solidFill>
        </p:spPr>
        <p:txBody>
          <a:bodyPr wrap="squar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Terminal</a:t>
            </a:r>
            <a:endParaRPr kumimoji="0" lang="en-US" altLang="en-US" b="0" i="0" u="none" strike="noStrike" cap="none" normalizeH="0" baseline="0" dirty="0">
              <a:ln>
                <a:noFill/>
              </a:ln>
              <a:solidFill>
                <a:srgbClr val="212529"/>
              </a:solidFill>
              <a:effectLst/>
              <a:latin typeface="Helvetica" pitchFamily="2" charset="0"/>
            </a:endParaRPr>
          </a:p>
          <a:p>
            <a:pPr marL="228600" lvl="0" indent="-228600" eaLnBrk="0" fontAlgn="base" hangingPunct="0">
              <a:spcBef>
                <a:spcPct val="0"/>
              </a:spcBef>
              <a:spcAft>
                <a:spcPct val="0"/>
              </a:spcAft>
              <a:buFont typeface="+mj-lt"/>
              <a:buAutoNum type="arabicPeriod"/>
            </a:pPr>
            <a:r>
              <a:rPr lang="en-US" altLang="en-US" sz="1600" dirty="0">
                <a:solidFill>
                  <a:srgbClr val="212529"/>
                </a:solidFill>
                <a:latin typeface="Helvetica" pitchFamily="2" charset="0"/>
              </a:rPr>
              <a:t>Open </a:t>
            </a:r>
            <a:r>
              <a:rPr kumimoji="0" lang="en-US" altLang="en-US" sz="1600" b="0" i="0" u="none" strike="noStrike" cap="none" normalizeH="0" baseline="0" dirty="0">
                <a:ln>
                  <a:noFill/>
                </a:ln>
                <a:solidFill>
                  <a:srgbClr val="212529"/>
                </a:solidFill>
                <a:effectLst/>
                <a:latin typeface="Helvetica" pitchFamily="2" charset="0"/>
              </a:rPr>
              <a:t>a terminal window </a:t>
            </a:r>
          </a:p>
          <a:p>
            <a:pPr marL="228600" lvl="0" indent="-228600" eaLnBrk="0" fontAlgn="base" hangingPunct="0">
              <a:spcBef>
                <a:spcPct val="0"/>
              </a:spcBef>
              <a:spcAft>
                <a:spcPct val="0"/>
              </a:spcAft>
              <a:buFont typeface="+mj-lt"/>
              <a:buAutoNum type="arabicPeriod"/>
            </a:pPr>
            <a:r>
              <a:rPr lang="en-US" altLang="en-US" sz="1600" dirty="0">
                <a:latin typeface="Helvetica" pitchFamily="2" charset="0"/>
              </a:rPr>
              <a:t>Type: </a:t>
            </a:r>
            <a:r>
              <a:rPr kumimoji="0" lang="en-US" altLang="en-US" sz="1600" b="0" i="0" u="none" strike="noStrike" cap="none" normalizeH="0" baseline="0" dirty="0">
                <a:ln>
                  <a:noFill/>
                </a:ln>
                <a:solidFill>
                  <a:srgbClr val="4758AB"/>
                </a:solidFill>
                <a:effectLst/>
                <a:latin typeface="Helvetica" pitchFamily="2" charset="0"/>
              </a:rPr>
              <a:t>ssh</a:t>
            </a:r>
            <a:r>
              <a:rPr kumimoji="0" lang="en-US" altLang="en-US" sz="1600" b="0" i="0" u="none" strike="noStrike" cap="none" normalizeH="0" baseline="0" dirty="0">
                <a:ln>
                  <a:noFill/>
                </a:ln>
                <a:solidFill>
                  <a:srgbClr val="003B4F"/>
                </a:solidFill>
                <a:effectLst/>
                <a:latin typeface="Helvetica" pitchFamily="2" charset="0"/>
              </a:rPr>
              <a:t> </a:t>
            </a:r>
            <a:r>
              <a:rPr kumimoji="0" lang="en-US" altLang="en-US" sz="1600" b="0" i="0" u="none" strike="noStrike" cap="none" normalizeH="0" baseline="0" dirty="0">
                <a:ln>
                  <a:noFill/>
                </a:ln>
                <a:solidFill>
                  <a:srgbClr val="AD0000"/>
                </a:solidFill>
                <a:effectLst/>
                <a:latin typeface="Helvetica" pitchFamily="2" charset="0"/>
              </a:rPr>
              <a:t>[</a:t>
            </a:r>
            <a:r>
              <a:rPr kumimoji="0" lang="en-US" altLang="en-US" sz="1600" b="0" i="0" u="none" strike="noStrike" cap="none" normalizeH="0" baseline="0" dirty="0" err="1">
                <a:ln>
                  <a:noFill/>
                </a:ln>
                <a:solidFill>
                  <a:srgbClr val="20794D"/>
                </a:solidFill>
                <a:effectLst/>
                <a:latin typeface="Helvetica" pitchFamily="2" charset="0"/>
              </a:rPr>
              <a:t>UnityID</a:t>
            </a:r>
            <a:r>
              <a:rPr kumimoji="0" lang="en-US" altLang="en-US" sz="1600" b="0" i="0" u="none" strike="noStrike" cap="none" normalizeH="0" baseline="0" dirty="0">
                <a:ln>
                  <a:noFill/>
                </a:ln>
                <a:solidFill>
                  <a:srgbClr val="AD0000"/>
                </a:solidFill>
                <a:effectLst/>
                <a:latin typeface="Helvetica" pitchFamily="2" charset="0"/>
              </a:rPr>
              <a:t>]</a:t>
            </a:r>
            <a:r>
              <a:rPr kumimoji="0" lang="en-US" altLang="en-US" sz="1600" b="0" i="0" u="none" strike="noStrike" cap="none" normalizeH="0" baseline="0" dirty="0">
                <a:ln>
                  <a:noFill/>
                </a:ln>
                <a:solidFill>
                  <a:srgbClr val="003B4F"/>
                </a:solidFill>
                <a:effectLst/>
                <a:latin typeface="Helvetica" pitchFamily="2" charset="0"/>
              </a:rPr>
              <a:t>@</a:t>
            </a:r>
            <a:r>
              <a:rPr kumimoji="0" lang="en-US" altLang="en-US" sz="1600" b="0" i="0" u="none" strike="noStrike" cap="none" normalizeH="0" baseline="0" dirty="0" err="1">
                <a:ln>
                  <a:noFill/>
                </a:ln>
                <a:solidFill>
                  <a:srgbClr val="003B4F"/>
                </a:solidFill>
                <a:effectLst/>
                <a:latin typeface="Helvetica" pitchFamily="2" charset="0"/>
              </a:rPr>
              <a:t>login.hpc.ncsu.edu</a:t>
            </a:r>
            <a:endParaRPr lang="en-US" altLang="en-US" sz="1600" dirty="0">
              <a:latin typeface="Helvetica" pitchFamily="2" charset="0"/>
            </a:endParaRPr>
          </a:p>
          <a:p>
            <a:pPr marL="228600" lvl="0" indent="-228600" eaLnBrk="0" fontAlgn="base" hangingPunct="0">
              <a:spcBef>
                <a:spcPct val="0"/>
              </a:spcBef>
              <a:spcAft>
                <a:spcPct val="0"/>
              </a:spcAft>
              <a:buFont typeface="+mj-lt"/>
              <a:buAutoNum type="arabicPeriod"/>
            </a:pPr>
            <a:r>
              <a:rPr lang="en-US" sz="1600" dirty="0">
                <a:latin typeface="Helvetica" pitchFamily="2" charset="0"/>
              </a:rPr>
              <a:t>Enter your password and go through DUO push</a:t>
            </a:r>
          </a:p>
          <a:p>
            <a:pPr marL="228600" lvl="0" indent="-228600" eaLnBrk="0" fontAlgn="base" hangingPunct="0">
              <a:spcBef>
                <a:spcPct val="0"/>
              </a:spcBef>
              <a:spcAft>
                <a:spcPct val="0"/>
              </a:spcAft>
              <a:buFont typeface="+mj-lt"/>
              <a:buAutoNum type="arabicPeriod"/>
            </a:pPr>
            <a:r>
              <a:rPr lang="en-US" sz="1600" dirty="0">
                <a:latin typeface="Helvetica" pitchFamily="2" charset="0"/>
              </a:rPr>
              <a:t>You will be in the login node in your home directory</a:t>
            </a:r>
          </a:p>
        </p:txBody>
      </p:sp>
      <p:sp>
        <p:nvSpPr>
          <p:cNvPr id="13" name="TextBox 12">
            <a:extLst>
              <a:ext uri="{FF2B5EF4-FFF2-40B4-BE49-F238E27FC236}">
                <a16:creationId xmlns:a16="http://schemas.microsoft.com/office/drawing/2014/main" id="{CDD3BB61-CC10-67F9-2CFA-3855C73065A7}"/>
              </a:ext>
            </a:extLst>
          </p:cNvPr>
          <p:cNvSpPr txBox="1"/>
          <p:nvPr/>
        </p:nvSpPr>
        <p:spPr>
          <a:xfrm>
            <a:off x="9434561" y="4753395"/>
            <a:ext cx="1069524" cy="369332"/>
          </a:xfrm>
          <a:prstGeom prst="rect">
            <a:avLst/>
          </a:prstGeom>
          <a:solidFill>
            <a:schemeClr val="accent5">
              <a:lumMod val="20000"/>
              <a:lumOff val="80000"/>
            </a:schemeClr>
          </a:solidFill>
        </p:spPr>
        <p:txBody>
          <a:bodyPr wrap="none" rtlCol="0">
            <a:spAutoFit/>
          </a:bodyPr>
          <a:lstStyle/>
          <a:p>
            <a:pPr lvl="0" eaLnBrk="0" fontAlgn="base" hangingPunct="0">
              <a:spcBef>
                <a:spcPct val="0"/>
              </a:spcBef>
              <a:spcAft>
                <a:spcPct val="0"/>
              </a:spcAft>
            </a:pPr>
            <a:r>
              <a:rPr kumimoji="0" lang="en-US" altLang="en-US" b="1" i="0" u="none" strike="noStrike" cap="none" normalizeH="0" baseline="0" dirty="0" err="1">
                <a:ln>
                  <a:noFill/>
                </a:ln>
                <a:solidFill>
                  <a:srgbClr val="212529"/>
                </a:solidFill>
                <a:effectLst/>
                <a:latin typeface="Helvetica" pitchFamily="2" charset="0"/>
              </a:rPr>
              <a:t>VSCode</a:t>
            </a:r>
            <a:endParaRPr lang="en-US" altLang="en-US" dirty="0">
              <a:solidFill>
                <a:srgbClr val="212529"/>
              </a:solidFill>
              <a:latin typeface="Helvetica" pitchFamily="2" charset="0"/>
            </a:endParaRPr>
          </a:p>
        </p:txBody>
      </p:sp>
      <p:pic>
        <p:nvPicPr>
          <p:cNvPr id="14" name="Picture 6" descr="coding Symbol mark in filled style 47628836 Vector Art at Vecteezy">
            <a:extLst>
              <a:ext uri="{FF2B5EF4-FFF2-40B4-BE49-F238E27FC236}">
                <a16:creationId xmlns:a16="http://schemas.microsoft.com/office/drawing/2014/main" id="{6BED170F-C36A-29BD-9011-2A0152AEBA08}"/>
              </a:ext>
            </a:extLst>
          </p:cNvPr>
          <p:cNvPicPr>
            <a:picLocks noChangeAspect="1" noChangeArrowheads="1"/>
          </p:cNvPicPr>
          <p:nvPr/>
        </p:nvPicPr>
        <p:blipFill>
          <a:blip r:embed="rId7">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207496" y="178154"/>
            <a:ext cx="699383" cy="69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718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2BD25-EBB9-7F09-9783-046FFEFF1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0C800-6CEC-D983-0182-DF87344F6770}"/>
              </a:ext>
            </a:extLst>
          </p:cNvPr>
          <p:cNvSpPr>
            <a:spLocks noGrp="1"/>
          </p:cNvSpPr>
          <p:nvPr>
            <p:ph type="title"/>
          </p:nvPr>
        </p:nvSpPr>
        <p:spPr/>
        <p:txBody>
          <a:bodyPr>
            <a:normAutofit/>
          </a:bodyPr>
          <a:lstStyle/>
          <a:p>
            <a:r>
              <a:rPr lang="en-US" sz="4000" dirty="0">
                <a:latin typeface="Helvetica" pitchFamily="2" charset="0"/>
              </a:rPr>
              <a:t>Step 2. Transferring files</a:t>
            </a:r>
          </a:p>
        </p:txBody>
      </p:sp>
      <p:sp>
        <p:nvSpPr>
          <p:cNvPr id="7" name="TextBox 6">
            <a:extLst>
              <a:ext uri="{FF2B5EF4-FFF2-40B4-BE49-F238E27FC236}">
                <a16:creationId xmlns:a16="http://schemas.microsoft.com/office/drawing/2014/main" id="{F27C919B-7CC6-8C01-9EF4-FBBF091A65E0}"/>
              </a:ext>
            </a:extLst>
          </p:cNvPr>
          <p:cNvSpPr txBox="1"/>
          <p:nvPr/>
        </p:nvSpPr>
        <p:spPr>
          <a:xfrm>
            <a:off x="838200" y="4427394"/>
            <a:ext cx="2810385" cy="861774"/>
          </a:xfrm>
          <a:prstGeom prst="rect">
            <a:avLst/>
          </a:prstGeom>
          <a:solidFill>
            <a:schemeClr val="accent4">
              <a:lumMod val="20000"/>
              <a:lumOff val="80000"/>
            </a:schemeClr>
          </a:solidFill>
        </p:spPr>
        <p:txBody>
          <a:bodyPr wrap="non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Web browser</a:t>
            </a:r>
            <a:r>
              <a:rPr kumimoji="0" lang="en-US" altLang="en-US" b="0" i="0" u="none" strike="noStrike" cap="none" normalizeH="0" baseline="0" dirty="0">
                <a:ln>
                  <a:noFill/>
                </a:ln>
                <a:solidFill>
                  <a:srgbClr val="212529"/>
                </a:solidFill>
                <a:effectLst/>
                <a:latin typeface="Helvetica" pitchFamily="2" charset="0"/>
              </a:rPr>
              <a:t> </a:t>
            </a:r>
          </a:p>
          <a:p>
            <a:pPr lvl="0" algn="ctr" eaLnBrk="0" fontAlgn="base" hangingPunct="0">
              <a:spcBef>
                <a:spcPct val="0"/>
              </a:spcBef>
              <a:spcAft>
                <a:spcPct val="0"/>
              </a:spcAft>
            </a:pPr>
            <a:r>
              <a:rPr kumimoji="0" lang="en-US" altLang="en-US" sz="1600" b="0" i="0" u="none" strike="noStrike" cap="none" normalizeH="0" baseline="0" dirty="0">
                <a:ln>
                  <a:noFill/>
                </a:ln>
                <a:solidFill>
                  <a:srgbClr val="212529"/>
                </a:solidFill>
                <a:effectLst/>
                <a:latin typeface="Helvetica" pitchFamily="2" charset="0"/>
              </a:rPr>
              <a:t>(OnDemand)</a:t>
            </a:r>
          </a:p>
          <a:p>
            <a:pPr lvl="0" algn="ctr" eaLnBrk="0" fontAlgn="base" hangingPunct="0">
              <a:spcBef>
                <a:spcPct val="0"/>
              </a:spcBef>
              <a:spcAft>
                <a:spcPct val="0"/>
              </a:spcAft>
            </a:pPr>
            <a:r>
              <a:rPr kumimoji="0" lang="en-US" altLang="en-US" sz="1600" b="0" i="0" u="sng" strike="noStrike" cap="none" normalizeH="0" baseline="0" dirty="0">
                <a:ln>
                  <a:noFill/>
                </a:ln>
                <a:solidFill>
                  <a:srgbClr val="0D6EFD"/>
                </a:solidFill>
                <a:effectLst/>
                <a:latin typeface="Helvetica" pitchFamily="2" charset="0"/>
                <a:hlinkClick r:id="rId3"/>
              </a:rPr>
              <a:t>https://servood.hpc.ncsu.edu</a:t>
            </a:r>
            <a:endParaRPr kumimoji="0" lang="en-US" altLang="en-US" sz="1600" b="0" i="0" u="none" strike="noStrike" cap="none" normalizeH="0" baseline="0" dirty="0">
              <a:ln>
                <a:noFill/>
              </a:ln>
              <a:solidFill>
                <a:srgbClr val="212529"/>
              </a:solidFill>
              <a:effectLst/>
              <a:latin typeface="Helvetica" pitchFamily="2" charset="0"/>
            </a:endParaRPr>
          </a:p>
        </p:txBody>
      </p:sp>
      <p:pic>
        <p:nvPicPr>
          <p:cNvPr id="28678" name="Picture 6" descr="Minimalist computer terminal line icon | Premium Vector">
            <a:extLst>
              <a:ext uri="{FF2B5EF4-FFF2-40B4-BE49-F238E27FC236}">
                <a16:creationId xmlns:a16="http://schemas.microsoft.com/office/drawing/2014/main" id="{F48C39AB-94B5-BF47-30A0-A9AD4DAA9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7127" y="1690688"/>
            <a:ext cx="1804296" cy="1804296"/>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Browser Icon Vector Art, Icons, and Graphics for Free Download">
            <a:extLst>
              <a:ext uri="{FF2B5EF4-FFF2-40B4-BE49-F238E27FC236}">
                <a16:creationId xmlns:a16="http://schemas.microsoft.com/office/drawing/2014/main" id="{FE5212FA-338E-ECC9-6CAA-216BEB8CEB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320" y="1877659"/>
            <a:ext cx="1660144" cy="13575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BC07266-4B38-01B4-E659-FF73522229E8}"/>
              </a:ext>
            </a:extLst>
          </p:cNvPr>
          <p:cNvSpPr txBox="1"/>
          <p:nvPr/>
        </p:nvSpPr>
        <p:spPr>
          <a:xfrm>
            <a:off x="3999110" y="3811841"/>
            <a:ext cx="4860330" cy="369332"/>
          </a:xfrm>
          <a:prstGeom prst="rect">
            <a:avLst/>
          </a:prstGeom>
          <a:solidFill>
            <a:schemeClr val="accent6">
              <a:lumMod val="20000"/>
              <a:lumOff val="80000"/>
            </a:schemeClr>
          </a:solidFill>
        </p:spPr>
        <p:txBody>
          <a:bodyPr wrap="squar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Terminal</a:t>
            </a:r>
          </a:p>
        </p:txBody>
      </p:sp>
      <p:sp>
        <p:nvSpPr>
          <p:cNvPr id="13" name="TextBox 12">
            <a:extLst>
              <a:ext uri="{FF2B5EF4-FFF2-40B4-BE49-F238E27FC236}">
                <a16:creationId xmlns:a16="http://schemas.microsoft.com/office/drawing/2014/main" id="{764BDBAD-F1F1-1ADF-24E9-D2B54B6741EE}"/>
              </a:ext>
            </a:extLst>
          </p:cNvPr>
          <p:cNvSpPr txBox="1"/>
          <p:nvPr/>
        </p:nvSpPr>
        <p:spPr>
          <a:xfrm>
            <a:off x="9434561" y="4550504"/>
            <a:ext cx="979755" cy="369332"/>
          </a:xfrm>
          <a:prstGeom prst="rect">
            <a:avLst/>
          </a:prstGeom>
          <a:solidFill>
            <a:schemeClr val="accent5">
              <a:lumMod val="20000"/>
              <a:lumOff val="80000"/>
            </a:schemeClr>
          </a:solidFill>
        </p:spPr>
        <p:txBody>
          <a:bodyPr wrap="none" rtlCol="0">
            <a:spAutoFit/>
          </a:bodyPr>
          <a:lstStyle/>
          <a:p>
            <a:pPr lvl="0"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Globus</a:t>
            </a:r>
            <a:endParaRPr lang="en-US" altLang="en-US" dirty="0">
              <a:solidFill>
                <a:srgbClr val="212529"/>
              </a:solidFill>
              <a:latin typeface="Helvetica" pitchFamily="2" charset="0"/>
            </a:endParaRPr>
          </a:p>
        </p:txBody>
      </p:sp>
      <p:pic>
        <p:nvPicPr>
          <p:cNvPr id="30724" name="Picture 4" descr="HOWTO: Use Globus (Overview) | Ohio Supercomputer Center">
            <a:extLst>
              <a:ext uri="{FF2B5EF4-FFF2-40B4-BE49-F238E27FC236}">
                <a16:creationId xmlns:a16="http://schemas.microsoft.com/office/drawing/2014/main" id="{DD9B9AA6-AF64-CC8B-23F2-F7ADAEE020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74384" y="1690688"/>
            <a:ext cx="1804296" cy="16283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5A8FE33-1650-B762-1D37-18249392A639}"/>
              </a:ext>
            </a:extLst>
          </p:cNvPr>
          <p:cNvSpPr txBox="1"/>
          <p:nvPr/>
        </p:nvSpPr>
        <p:spPr>
          <a:xfrm>
            <a:off x="3999110" y="4181173"/>
            <a:ext cx="4860330" cy="2415661"/>
          </a:xfrm>
          <a:prstGeom prst="rect">
            <a:avLst/>
          </a:prstGeom>
          <a:noFill/>
          <a:ln w="19050">
            <a:solidFill>
              <a:schemeClr val="bg1">
                <a:lumMod val="50000"/>
              </a:schemeClr>
            </a:solidFill>
          </a:ln>
        </p:spPr>
        <p:txBody>
          <a:bodyPr wrap="square">
            <a:spAutoFit/>
          </a:bodyPr>
          <a:lstStyle/>
          <a:p>
            <a:pPr>
              <a:lnSpc>
                <a:spcPts val="1350"/>
              </a:lnSpc>
            </a:pPr>
            <a:r>
              <a:rPr lang="en-US" sz="1100" b="0" dirty="0">
                <a:solidFill>
                  <a:srgbClr val="6A9955"/>
                </a:solidFill>
                <a:effectLst/>
                <a:latin typeface="Menlo" panose="020B0609030804020204" pitchFamily="49" charset="0"/>
              </a:rPr>
              <a:t># SCP for 1 file in 1 direction</a:t>
            </a:r>
          </a:p>
          <a:p>
            <a:pPr>
              <a:lnSpc>
                <a:spcPts val="1350"/>
              </a:lnSpc>
              <a:buNone/>
            </a:pPr>
            <a:r>
              <a:rPr lang="en-US" sz="1100" b="0" dirty="0">
                <a:solidFill>
                  <a:srgbClr val="6A9955"/>
                </a:solidFill>
                <a:effectLst/>
                <a:latin typeface="Menlo" panose="020B0609030804020204" pitchFamily="49" charset="0"/>
              </a:rPr>
              <a:t># Local to HPC</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err="1">
                <a:effectLst/>
                <a:latin typeface="Menlo" panose="020B0609030804020204" pitchFamily="49" charset="0"/>
              </a:rPr>
              <a:t>scp</a:t>
            </a:r>
            <a:r>
              <a:rPr lang="en-US" sz="1100" b="0" dirty="0">
                <a:effectLst/>
                <a:latin typeface="Menlo" panose="020B0609030804020204" pitchFamily="49" charset="0"/>
              </a:rPr>
              <a:t> filename [</a:t>
            </a:r>
            <a:r>
              <a:rPr lang="en-US" sz="1100" b="0" dirty="0" err="1">
                <a:effectLst/>
                <a:latin typeface="Menlo" panose="020B0609030804020204" pitchFamily="49" charset="0"/>
              </a:rPr>
              <a:t>UnityID</a:t>
            </a:r>
            <a:r>
              <a:rPr lang="en-US" sz="1100" b="0" dirty="0">
                <a:effectLst/>
                <a:latin typeface="Menlo" panose="020B0609030804020204" pitchFamily="49" charset="0"/>
              </a:rPr>
              <a:t>]@</a:t>
            </a:r>
            <a:r>
              <a:rPr lang="en-US" sz="1100" b="0" dirty="0" err="1">
                <a:effectLst/>
                <a:latin typeface="Menlo" panose="020B0609030804020204" pitchFamily="49" charset="0"/>
              </a:rPr>
              <a:t>login.hpc.ncsu.edu</a:t>
            </a:r>
            <a:r>
              <a:rPr lang="en-US" sz="1100" b="0" dirty="0">
                <a:effectLst/>
                <a:latin typeface="Menlo" panose="020B0609030804020204" pitchFamily="49" charset="0"/>
              </a:rPr>
              <a:t>:/rs1/researchers/[letter]/[name] local/path/to/stuff</a:t>
            </a:r>
            <a:br>
              <a:rPr lang="en-US" sz="1100" b="0" dirty="0">
                <a:solidFill>
                  <a:srgbClr val="CCCCCC"/>
                </a:solidFill>
                <a:effectLst/>
                <a:latin typeface="Menlo" panose="020B0609030804020204" pitchFamily="49" charset="0"/>
              </a:rPr>
            </a:b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HPC to local</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err="1">
                <a:effectLst/>
                <a:latin typeface="Menlo" panose="020B0609030804020204" pitchFamily="49" charset="0"/>
              </a:rPr>
              <a:t>scp</a:t>
            </a:r>
            <a:r>
              <a:rPr lang="en-US" sz="1100" b="0" dirty="0">
                <a:effectLst/>
                <a:latin typeface="Menlo" panose="020B0609030804020204" pitchFamily="49" charset="0"/>
              </a:rPr>
              <a:t> [</a:t>
            </a:r>
            <a:r>
              <a:rPr lang="en-US" sz="1100" b="0" dirty="0" err="1">
                <a:effectLst/>
                <a:latin typeface="Menlo" panose="020B0609030804020204" pitchFamily="49" charset="0"/>
              </a:rPr>
              <a:t>UnityID</a:t>
            </a:r>
            <a:r>
              <a:rPr lang="en-US" sz="1100" b="0" dirty="0">
                <a:effectLst/>
                <a:latin typeface="Menlo" panose="020B0609030804020204" pitchFamily="49" charset="0"/>
              </a:rPr>
              <a:t>]@</a:t>
            </a:r>
            <a:r>
              <a:rPr lang="en-US" sz="1100" b="0" dirty="0" err="1">
                <a:effectLst/>
                <a:latin typeface="Menlo" panose="020B0609030804020204" pitchFamily="49" charset="0"/>
              </a:rPr>
              <a:t>login.hpc.ncsu.edu</a:t>
            </a:r>
            <a:r>
              <a:rPr lang="en-US" sz="1100" b="0" dirty="0">
                <a:effectLst/>
                <a:latin typeface="Menlo" panose="020B0609030804020204" pitchFamily="49" charset="0"/>
              </a:rPr>
              <a:t>:/rs1/researchers/[letter]/[name] local/path/to/stuff</a:t>
            </a:r>
          </a:p>
          <a:p>
            <a:pPr>
              <a:lnSpc>
                <a:spcPts val="1350"/>
              </a:lnSpc>
              <a:buNone/>
            </a:pPr>
            <a:endParaRPr lang="en-US" sz="1100" dirty="0">
              <a:latin typeface="Menlo" panose="020B0609030804020204" pitchFamily="49" charset="0"/>
            </a:endParaRPr>
          </a:p>
          <a:p>
            <a:pPr>
              <a:lnSpc>
                <a:spcPts val="1350"/>
              </a:lnSpc>
            </a:pPr>
            <a:r>
              <a:rPr lang="en-US" sz="1100" b="0" dirty="0">
                <a:solidFill>
                  <a:srgbClr val="6A9955"/>
                </a:solidFill>
                <a:effectLst/>
                <a:latin typeface="Menlo" panose="020B0609030804020204" pitchFamily="49" charset="0"/>
              </a:rPr>
              <a:t># SFTP for multiple files both directions</a:t>
            </a:r>
            <a:endParaRPr lang="en-US" sz="1100" dirty="0">
              <a:latin typeface="Menlo" panose="020B0609030804020204" pitchFamily="49" charset="0"/>
            </a:endParaRPr>
          </a:p>
          <a:p>
            <a:pPr>
              <a:lnSpc>
                <a:spcPts val="1350"/>
              </a:lnSpc>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a:solidFill>
                  <a:srgbClr val="CE9178"/>
                </a:solidFill>
                <a:effectLst/>
                <a:latin typeface="Menlo" panose="020B0609030804020204" pitchFamily="49" charset="0"/>
              </a:rPr>
              <a:t>sftp</a:t>
            </a:r>
            <a:r>
              <a:rPr lang="en-US" sz="1100" b="0" dirty="0">
                <a:solidFill>
                  <a:srgbClr val="D4D4D4"/>
                </a:solidFill>
                <a:effectLst/>
                <a:latin typeface="Menlo" panose="020B0609030804020204" pitchFamily="49" charset="0"/>
              </a:rPr>
              <a:t> [</a:t>
            </a:r>
            <a:r>
              <a:rPr lang="en-US" sz="1100" b="0" dirty="0" err="1">
                <a:solidFill>
                  <a:srgbClr val="D4D4D4"/>
                </a:solidFill>
                <a:effectLst/>
                <a:latin typeface="Menlo" panose="020B0609030804020204" pitchFamily="49" charset="0"/>
              </a:rPr>
              <a:t>UnityID</a:t>
            </a:r>
            <a:r>
              <a:rPr lang="en-US" sz="1100" b="0" dirty="0">
                <a:solidFill>
                  <a:srgbClr val="D4D4D4"/>
                </a:solidFill>
                <a:effectLst/>
                <a:latin typeface="Menlo" panose="020B0609030804020204" pitchFamily="49" charset="0"/>
              </a:rPr>
              <a:t>]@</a:t>
            </a:r>
            <a:r>
              <a:rPr lang="en-US" sz="1100" b="0" dirty="0" err="1">
                <a:solidFill>
                  <a:srgbClr val="D4D4D4"/>
                </a:solidFill>
                <a:effectLst/>
                <a:latin typeface="Menlo" panose="020B0609030804020204" pitchFamily="49" charset="0"/>
              </a:rPr>
              <a:t>login.hpc.ncsu.edu</a:t>
            </a:r>
            <a:endParaRPr lang="en-US" sz="1100" b="0" dirty="0">
              <a:solidFill>
                <a:srgbClr val="CCCCCC"/>
              </a:solidFill>
              <a:effectLst/>
              <a:latin typeface="Menlo" panose="020B0609030804020204" pitchFamily="49" charset="0"/>
            </a:endParaRPr>
          </a:p>
        </p:txBody>
      </p:sp>
      <p:pic>
        <p:nvPicPr>
          <p:cNvPr id="30726" name="Picture 6" descr="coding Symbol mark in filled style 47628836 Vector Art at Vecteezy">
            <a:extLst>
              <a:ext uri="{FF2B5EF4-FFF2-40B4-BE49-F238E27FC236}">
                <a16:creationId xmlns:a16="http://schemas.microsoft.com/office/drawing/2014/main" id="{CA4FD2B3-4222-D379-2757-E92F80DD236E}"/>
              </a:ext>
            </a:extLst>
          </p:cNvPr>
          <p:cNvPicPr>
            <a:picLocks noChangeAspect="1" noChangeArrowheads="1"/>
          </p:cNvPicPr>
          <p:nvPr/>
        </p:nvPicPr>
        <p:blipFill>
          <a:blip r:embed="rId7">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207496" y="178154"/>
            <a:ext cx="699383" cy="69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016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1E800-355D-7037-5308-F12B90E39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886E6-165F-C341-0286-12F3B3F77C48}"/>
              </a:ext>
            </a:extLst>
          </p:cNvPr>
          <p:cNvSpPr>
            <a:spLocks noGrp="1"/>
          </p:cNvSpPr>
          <p:nvPr>
            <p:ph type="title"/>
          </p:nvPr>
        </p:nvSpPr>
        <p:spPr/>
        <p:txBody>
          <a:bodyPr>
            <a:normAutofit/>
          </a:bodyPr>
          <a:lstStyle/>
          <a:p>
            <a:r>
              <a:rPr lang="en-US" sz="4000" dirty="0">
                <a:latin typeface="Helvetica" pitchFamily="2" charset="0"/>
              </a:rPr>
              <a:t>First week checklist</a:t>
            </a:r>
          </a:p>
        </p:txBody>
      </p:sp>
      <p:sp>
        <p:nvSpPr>
          <p:cNvPr id="7" name="TextBox 6">
            <a:extLst>
              <a:ext uri="{FF2B5EF4-FFF2-40B4-BE49-F238E27FC236}">
                <a16:creationId xmlns:a16="http://schemas.microsoft.com/office/drawing/2014/main" id="{A055576C-995C-4F7E-3A8A-BEB6DF155577}"/>
              </a:ext>
            </a:extLst>
          </p:cNvPr>
          <p:cNvSpPr txBox="1"/>
          <p:nvPr/>
        </p:nvSpPr>
        <p:spPr>
          <a:xfrm>
            <a:off x="2950464" y="4268344"/>
            <a:ext cx="6094476" cy="1944956"/>
          </a:xfrm>
          <a:prstGeom prst="rect">
            <a:avLst/>
          </a:prstGeom>
          <a:noFill/>
        </p:spPr>
        <p:txBody>
          <a:bodyPr wrap="square">
            <a:spAutoFit/>
          </a:bodyPr>
          <a:lstStyle/>
          <a:p>
            <a:pPr marL="285750" indent="-285750">
              <a:lnSpc>
                <a:spcPct val="150000"/>
              </a:lnSpc>
              <a:buFont typeface="Wingdings" pitchFamily="2" charset="2"/>
              <a:buChar char="q"/>
            </a:pPr>
            <a:r>
              <a:rPr lang="en-US" sz="1600" dirty="0">
                <a:latin typeface="Helvetica" pitchFamily="2" charset="0"/>
              </a:rPr>
              <a:t>Get </a:t>
            </a:r>
            <a:r>
              <a:rPr lang="en-US" sz="1600" dirty="0" err="1">
                <a:latin typeface="Helvetica" pitchFamily="2" charset="0"/>
              </a:rPr>
              <a:t>UnityID</a:t>
            </a:r>
            <a:r>
              <a:rPr lang="en-US" sz="1600" dirty="0">
                <a:latin typeface="Helvetica" pitchFamily="2" charset="0"/>
              </a:rPr>
              <a:t>/VPN, Join Group Allocation</a:t>
            </a:r>
          </a:p>
          <a:p>
            <a:pPr marL="285750" indent="-285750">
              <a:lnSpc>
                <a:spcPct val="150000"/>
              </a:lnSpc>
              <a:buFont typeface="Wingdings" pitchFamily="2" charset="2"/>
              <a:buChar char="q"/>
            </a:pPr>
            <a:r>
              <a:rPr lang="en-US" sz="1600" dirty="0">
                <a:latin typeface="Helvetica" pitchFamily="2" charset="0"/>
              </a:rPr>
              <a:t>SSH in</a:t>
            </a:r>
          </a:p>
          <a:p>
            <a:pPr marL="285750" indent="-285750">
              <a:lnSpc>
                <a:spcPct val="150000"/>
              </a:lnSpc>
              <a:buFont typeface="Wingdings" pitchFamily="2" charset="2"/>
              <a:buChar char="q"/>
            </a:pPr>
            <a:r>
              <a:rPr lang="en-US" sz="1600" dirty="0">
                <a:latin typeface="Helvetica" pitchFamily="2" charset="0"/>
              </a:rPr>
              <a:t>Explore Home, Scratch, and RS1 paths</a:t>
            </a:r>
          </a:p>
          <a:p>
            <a:pPr marL="285750" indent="-285750">
              <a:lnSpc>
                <a:spcPct val="150000"/>
              </a:lnSpc>
              <a:buFont typeface="Wingdings" pitchFamily="2" charset="2"/>
              <a:buChar char="q"/>
            </a:pPr>
            <a:r>
              <a:rPr lang="en-US" sz="1600" dirty="0">
                <a:latin typeface="Helvetica" pitchFamily="2" charset="0"/>
              </a:rPr>
              <a:t>Transfer a file using </a:t>
            </a:r>
            <a:r>
              <a:rPr lang="en-US" sz="1600" dirty="0" err="1">
                <a:latin typeface="Helvetica" pitchFamily="2" charset="0"/>
              </a:rPr>
              <a:t>scp</a:t>
            </a:r>
            <a:endParaRPr lang="en-US" sz="1600" dirty="0">
              <a:latin typeface="Helvetica" pitchFamily="2" charset="0"/>
            </a:endParaRPr>
          </a:p>
          <a:p>
            <a:pPr marL="285750" indent="-285750">
              <a:lnSpc>
                <a:spcPct val="150000"/>
              </a:lnSpc>
              <a:buFont typeface="Wingdings" pitchFamily="2" charset="2"/>
              <a:buChar char="q"/>
            </a:pPr>
            <a:r>
              <a:rPr lang="en-US" sz="1600" dirty="0">
                <a:latin typeface="Helvetica" pitchFamily="2" charset="0"/>
              </a:rPr>
              <a:t>Do Bonus! Basics of Unix activity (optional)</a:t>
            </a:r>
          </a:p>
        </p:txBody>
      </p:sp>
      <p:pic>
        <p:nvPicPr>
          <p:cNvPr id="8" name="Picture 6" descr="coding Symbol mark in filled style 47628836 Vector Art at Vecteezy">
            <a:extLst>
              <a:ext uri="{FF2B5EF4-FFF2-40B4-BE49-F238E27FC236}">
                <a16:creationId xmlns:a16="http://schemas.microsoft.com/office/drawing/2014/main" id="{C567998B-BFE9-6C7B-4971-7FA98B02518A}"/>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295400" y="4522946"/>
            <a:ext cx="1264920" cy="126492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BB31AD7-9DC8-56CD-B134-6830D78DB6BE}"/>
              </a:ext>
            </a:extLst>
          </p:cNvPr>
          <p:cNvSpPr txBox="1"/>
          <p:nvPr/>
        </p:nvSpPr>
        <p:spPr>
          <a:xfrm>
            <a:off x="2950464" y="1690688"/>
            <a:ext cx="6094476" cy="2129622"/>
          </a:xfrm>
          <a:prstGeom prst="rect">
            <a:avLst/>
          </a:prstGeom>
          <a:noFill/>
        </p:spPr>
        <p:txBody>
          <a:bodyPr wrap="square">
            <a:spAutoFit/>
          </a:bodyPr>
          <a:lstStyle/>
          <a:p>
            <a:pPr marL="285750" indent="-285750">
              <a:lnSpc>
                <a:spcPct val="150000"/>
              </a:lnSpc>
              <a:buFont typeface="Wingdings" pitchFamily="2" charset="2"/>
              <a:buChar char="ü"/>
            </a:pPr>
            <a:r>
              <a:rPr lang="en-US" sz="1800" dirty="0">
                <a:latin typeface="Helvetica" pitchFamily="2" charset="0"/>
              </a:rPr>
              <a:t>Understand Core HPC Concepts (CPU/GPU, Node/Core)</a:t>
            </a:r>
          </a:p>
          <a:p>
            <a:pPr marL="285750" indent="-285750">
              <a:lnSpc>
                <a:spcPct val="150000"/>
              </a:lnSpc>
              <a:buFont typeface="Wingdings" pitchFamily="2" charset="2"/>
              <a:buChar char="ü"/>
            </a:pPr>
            <a:r>
              <a:rPr lang="en-US" sz="1800" dirty="0">
                <a:latin typeface="Helvetica" pitchFamily="2" charset="0"/>
              </a:rPr>
              <a:t>Navigate the Hazel HPC Environment</a:t>
            </a:r>
          </a:p>
          <a:p>
            <a:pPr marL="285750" indent="-285750">
              <a:lnSpc>
                <a:spcPct val="150000"/>
              </a:lnSpc>
              <a:buFont typeface="Wingdings" pitchFamily="2" charset="2"/>
              <a:buChar char="ü"/>
            </a:pPr>
            <a:r>
              <a:rPr lang="en-US" sz="1800" dirty="0">
                <a:latin typeface="Helvetica" pitchFamily="2" charset="0"/>
              </a:rPr>
              <a:t>Get started with obtaining an HPC account</a:t>
            </a:r>
          </a:p>
          <a:p>
            <a:pPr marL="285750" indent="-285750">
              <a:lnSpc>
                <a:spcPct val="150000"/>
              </a:lnSpc>
              <a:buFont typeface="Wingdings" pitchFamily="2" charset="2"/>
              <a:buChar char="ü"/>
            </a:pPr>
            <a:r>
              <a:rPr lang="en-US" sz="1800" dirty="0">
                <a:latin typeface="Helvetica" pitchFamily="2" charset="0"/>
              </a:rPr>
              <a:t>Learning ways to transfer files</a:t>
            </a:r>
          </a:p>
        </p:txBody>
      </p:sp>
      <p:pic>
        <p:nvPicPr>
          <p:cNvPr id="33796" name="Picture 4" descr="184,600+ Goals Icon Stock Illustrations, Royalty-Free Vector ...">
            <a:extLst>
              <a:ext uri="{FF2B5EF4-FFF2-40B4-BE49-F238E27FC236}">
                <a16:creationId xmlns:a16="http://schemas.microsoft.com/office/drawing/2014/main" id="{5E1EC66C-213F-3D8F-0CC9-47CDFFFE3416}"/>
              </a:ext>
            </a:extLst>
          </p:cNvPr>
          <p:cNvPicPr>
            <a:picLocks noChangeAspect="1" noChangeArrowheads="1"/>
          </p:cNvPicPr>
          <p:nvPr/>
        </p:nvPicPr>
        <p:blipFill rotWithShape="1">
          <a:blip r:embed="rId3">
            <a:duotone>
              <a:prstClr val="black"/>
              <a:schemeClr val="accent6">
                <a:tint val="45000"/>
                <a:satMod val="400000"/>
              </a:schemeClr>
            </a:duotone>
            <a:extLst>
              <a:ext uri="{28A0092B-C50C-407E-A947-70E740481C1C}">
                <a14:useLocalDpi xmlns:a14="http://schemas.microsoft.com/office/drawing/2010/main" val="0"/>
              </a:ext>
            </a:extLst>
          </a:blip>
          <a:srcRect l="17568" t="19066" r="15910" b="19600"/>
          <a:stretch>
            <a:fillRect/>
          </a:stretch>
        </p:blipFill>
        <p:spPr bwMode="auto">
          <a:xfrm>
            <a:off x="1326970" y="2103437"/>
            <a:ext cx="1233350"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268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594D-E571-9D02-40D7-3EDDDF48594D}"/>
            </a:ext>
          </a:extLst>
        </p:cNvPr>
        <p:cNvGrpSpPr/>
        <p:nvPr/>
      </p:nvGrpSpPr>
      <p:grpSpPr>
        <a:xfrm>
          <a:off x="0" y="0"/>
          <a:ext cx="0" cy="0"/>
          <a:chOff x="0" y="0"/>
          <a:chExt cx="0" cy="0"/>
        </a:xfrm>
      </p:grpSpPr>
      <p:pic>
        <p:nvPicPr>
          <p:cNvPr id="1026" name="Picture 2" descr="end button color icon vector illustration 35559824 Vector Art at Vecteezy">
            <a:extLst>
              <a:ext uri="{FF2B5EF4-FFF2-40B4-BE49-F238E27FC236}">
                <a16:creationId xmlns:a16="http://schemas.microsoft.com/office/drawing/2014/main" id="{51A2ABF0-03DC-CCCE-3399-C976A4392C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4839" y="2648692"/>
            <a:ext cx="1560616" cy="15606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58B3E0A-ED3B-D0D2-3C1B-D80FECD53D8D}"/>
              </a:ext>
            </a:extLst>
          </p:cNvPr>
          <p:cNvSpPr txBox="1"/>
          <p:nvPr/>
        </p:nvSpPr>
        <p:spPr>
          <a:xfrm>
            <a:off x="5195455" y="3241964"/>
            <a:ext cx="2701381" cy="523220"/>
          </a:xfrm>
          <a:prstGeom prst="rect">
            <a:avLst/>
          </a:prstGeom>
          <a:noFill/>
        </p:spPr>
        <p:txBody>
          <a:bodyPr wrap="none" rtlCol="0">
            <a:spAutoFit/>
          </a:bodyPr>
          <a:lstStyle/>
          <a:p>
            <a:r>
              <a:rPr lang="en-US" sz="2800" dirty="0">
                <a:latin typeface="Helvetica" pitchFamily="2" charset="0"/>
              </a:rPr>
              <a:t>of the first week</a:t>
            </a:r>
          </a:p>
        </p:txBody>
      </p:sp>
    </p:spTree>
    <p:extLst>
      <p:ext uri="{BB962C8B-B14F-4D97-AF65-F5344CB8AC3E}">
        <p14:creationId xmlns:p14="http://schemas.microsoft.com/office/powerpoint/2010/main" val="1117088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10360-8ADE-06B5-D86E-D03F18939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D9039-4DFD-7AB0-EDDF-4BA5F97AD77B}"/>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B670F70C-3516-1D45-FEBD-0DB1961EE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EF8D2E-D4A4-F876-10A0-64702D5E4E2A}"/>
              </a:ext>
            </a:extLst>
          </p:cNvPr>
          <p:cNvSpPr txBox="1"/>
          <p:nvPr/>
        </p:nvSpPr>
        <p:spPr>
          <a:xfrm>
            <a:off x="1794669" y="2206232"/>
            <a:ext cx="6591506" cy="1754326"/>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23852152-B5ED-1B11-C191-200B1EDA9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874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F37D7-8E9C-56DD-36C9-86A0FD3AF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6D856-AEC2-FA52-F016-4FAC8FF66B2D}"/>
              </a:ext>
            </a:extLst>
          </p:cNvPr>
          <p:cNvSpPr>
            <a:spLocks noGrp="1"/>
          </p:cNvSpPr>
          <p:nvPr>
            <p:ph type="title"/>
          </p:nvPr>
        </p:nvSpPr>
        <p:spPr/>
        <p:txBody>
          <a:bodyPr>
            <a:normAutofit/>
          </a:bodyPr>
          <a:lstStyle/>
          <a:p>
            <a:r>
              <a:rPr lang="en-US" sz="4000" dirty="0">
                <a:solidFill>
                  <a:schemeClr val="accent1">
                    <a:lumMod val="60000"/>
                    <a:lumOff val="40000"/>
                  </a:schemeClr>
                </a:solidFill>
                <a:latin typeface="Helvetica" pitchFamily="2" charset="0"/>
              </a:rPr>
              <a:t>Bonus! </a:t>
            </a:r>
            <a:r>
              <a:rPr lang="en-US" sz="4000" dirty="0">
                <a:latin typeface="Helvetica" pitchFamily="2" charset="0"/>
              </a:rPr>
              <a:t>Basics of Unix</a:t>
            </a:r>
          </a:p>
        </p:txBody>
      </p:sp>
      <p:sp>
        <p:nvSpPr>
          <p:cNvPr id="11" name="TextBox 10">
            <a:extLst>
              <a:ext uri="{FF2B5EF4-FFF2-40B4-BE49-F238E27FC236}">
                <a16:creationId xmlns:a16="http://schemas.microsoft.com/office/drawing/2014/main" id="{F9670887-9B7E-606F-2839-37C7B4A216FB}"/>
              </a:ext>
            </a:extLst>
          </p:cNvPr>
          <p:cNvSpPr txBox="1"/>
          <p:nvPr/>
        </p:nvSpPr>
        <p:spPr>
          <a:xfrm>
            <a:off x="1044477" y="1552429"/>
            <a:ext cx="10609613" cy="883127"/>
          </a:xfrm>
          <a:prstGeom prst="rect">
            <a:avLst/>
          </a:prstGeom>
          <a:noFill/>
        </p:spPr>
        <p:txBody>
          <a:bodyPr wrap="square">
            <a:spAutoFit/>
          </a:bodyPr>
          <a:lstStyle/>
          <a:p>
            <a:pPr>
              <a:lnSpc>
                <a:spcPct val="150000"/>
              </a:lnSpc>
            </a:pPr>
            <a:r>
              <a:rPr lang="en-US" dirty="0">
                <a:latin typeface="Helvetica" pitchFamily="2" charset="0"/>
              </a:rPr>
              <a:t>Bash is a </a:t>
            </a:r>
            <a:r>
              <a:rPr lang="en-US" b="1" dirty="0">
                <a:latin typeface="Helvetica" pitchFamily="2" charset="0"/>
              </a:rPr>
              <a:t>command-line interface</a:t>
            </a:r>
            <a:r>
              <a:rPr lang="en-US" dirty="0">
                <a:latin typeface="Helvetica" pitchFamily="2" charset="0"/>
              </a:rPr>
              <a:t> that lets you communicate directly with your computer using text commands. </a:t>
            </a:r>
            <a:r>
              <a:rPr lang="en-US" i="1" dirty="0">
                <a:latin typeface="Helvetica" pitchFamily="2" charset="0"/>
              </a:rPr>
              <a:t>Think of it as having a conversation with your computer instead of clicking buttons!</a:t>
            </a:r>
            <a:endParaRPr lang="en-US" sz="1800" i="1" dirty="0">
              <a:latin typeface="Helvetica" pitchFamily="2" charset="0"/>
            </a:endParaRPr>
          </a:p>
        </p:txBody>
      </p:sp>
      <p:grpSp>
        <p:nvGrpSpPr>
          <p:cNvPr id="13" name="Group 12">
            <a:extLst>
              <a:ext uri="{FF2B5EF4-FFF2-40B4-BE49-F238E27FC236}">
                <a16:creationId xmlns:a16="http://schemas.microsoft.com/office/drawing/2014/main" id="{6B89104C-2593-988A-9F44-0C66FA96D333}"/>
              </a:ext>
            </a:extLst>
          </p:cNvPr>
          <p:cNvGrpSpPr/>
          <p:nvPr/>
        </p:nvGrpSpPr>
        <p:grpSpPr>
          <a:xfrm>
            <a:off x="838200" y="2761658"/>
            <a:ext cx="10661072" cy="2376611"/>
            <a:chOff x="838200" y="2992582"/>
            <a:chExt cx="10661072" cy="2376611"/>
          </a:xfrm>
        </p:grpSpPr>
        <p:sp>
          <p:nvSpPr>
            <p:cNvPr id="8" name="Rectangle 7">
              <a:extLst>
                <a:ext uri="{FF2B5EF4-FFF2-40B4-BE49-F238E27FC236}">
                  <a16:creationId xmlns:a16="http://schemas.microsoft.com/office/drawing/2014/main" id="{CBCD1D04-156E-9665-7382-1B25B9FAA18A}"/>
                </a:ext>
              </a:extLst>
            </p:cNvPr>
            <p:cNvSpPr/>
            <p:nvPr/>
          </p:nvSpPr>
          <p:spPr>
            <a:xfrm>
              <a:off x="838200" y="2992582"/>
              <a:ext cx="4992584" cy="1074717"/>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9A55A2E-8F36-1171-1C27-93E9EFDC8899}"/>
                </a:ext>
              </a:extLst>
            </p:cNvPr>
            <p:cNvSpPr/>
            <p:nvPr/>
          </p:nvSpPr>
          <p:spPr>
            <a:xfrm>
              <a:off x="6506688" y="2992582"/>
              <a:ext cx="4992584" cy="1074717"/>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0C74BB2-0D95-8EAF-512F-159CB515F504}"/>
                </a:ext>
              </a:extLst>
            </p:cNvPr>
            <p:cNvSpPr/>
            <p:nvPr/>
          </p:nvSpPr>
          <p:spPr>
            <a:xfrm>
              <a:off x="838200" y="4294476"/>
              <a:ext cx="4992584" cy="1074717"/>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958068E-7B7D-3F77-29E3-7E37E946C52E}"/>
                </a:ext>
              </a:extLst>
            </p:cNvPr>
            <p:cNvSpPr/>
            <p:nvPr/>
          </p:nvSpPr>
          <p:spPr>
            <a:xfrm>
              <a:off x="6506688" y="4260900"/>
              <a:ext cx="4992584" cy="1074717"/>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9DA9A9-707F-F287-4A47-36F682A0057B}"/>
                </a:ext>
              </a:extLst>
            </p:cNvPr>
            <p:cNvSpPr txBox="1"/>
            <p:nvPr/>
          </p:nvSpPr>
          <p:spPr>
            <a:xfrm>
              <a:off x="910631" y="3111609"/>
              <a:ext cx="4847722" cy="830997"/>
            </a:xfrm>
            <a:prstGeom prst="rect">
              <a:avLst/>
            </a:prstGeom>
            <a:noFill/>
          </p:spPr>
          <p:txBody>
            <a:bodyPr wrap="square">
              <a:spAutoFit/>
            </a:bodyPr>
            <a:lstStyle/>
            <a:p>
              <a:r>
                <a:rPr lang="en-US" sz="1600" b="1" dirty="0">
                  <a:latin typeface="Helvetica" pitchFamily="2" charset="0"/>
                </a:rPr>
                <a:t>⚡ Automate Repetitive Tasks</a:t>
              </a:r>
            </a:p>
            <a:p>
              <a:r>
                <a:rPr lang="en-US" sz="1600" dirty="0">
                  <a:latin typeface="Helvetica" pitchFamily="2" charset="0"/>
                </a:rPr>
                <a:t>Process hundreds of data files with a single command</a:t>
              </a:r>
            </a:p>
          </p:txBody>
        </p:sp>
        <p:sp>
          <p:nvSpPr>
            <p:cNvPr id="4" name="TextBox 3">
              <a:extLst>
                <a:ext uri="{FF2B5EF4-FFF2-40B4-BE49-F238E27FC236}">
                  <a16:creationId xmlns:a16="http://schemas.microsoft.com/office/drawing/2014/main" id="{7A42F559-EB28-4BF7-EE97-3A5A0FCAACD8}"/>
                </a:ext>
              </a:extLst>
            </p:cNvPr>
            <p:cNvSpPr txBox="1"/>
            <p:nvPr/>
          </p:nvSpPr>
          <p:spPr>
            <a:xfrm>
              <a:off x="6699666" y="3111609"/>
              <a:ext cx="4463081" cy="861774"/>
            </a:xfrm>
            <a:prstGeom prst="rect">
              <a:avLst/>
            </a:prstGeom>
            <a:noFill/>
          </p:spPr>
          <p:txBody>
            <a:bodyPr wrap="none" rtlCol="0">
              <a:spAutoFit/>
            </a:bodyPr>
            <a:lstStyle/>
            <a:p>
              <a:r>
                <a:rPr lang="en-US" sz="1600" b="1" dirty="0">
                  <a:latin typeface="Helvetica" pitchFamily="2" charset="0"/>
                </a:rPr>
                <a:t>🔍 Work with Large Datasets</a:t>
              </a:r>
            </a:p>
            <a:p>
              <a:r>
                <a:rPr lang="en-US" sz="1600" dirty="0">
                  <a:latin typeface="Helvetica" pitchFamily="2" charset="0"/>
                </a:rPr>
                <a:t>Handle files too big for Excel or other GUI tools</a:t>
              </a:r>
            </a:p>
            <a:p>
              <a:endParaRPr lang="en-US" sz="1600" dirty="0">
                <a:latin typeface="Helvetica" pitchFamily="2" charset="0"/>
              </a:endParaRPr>
            </a:p>
          </p:txBody>
        </p:sp>
        <p:sp>
          <p:nvSpPr>
            <p:cNvPr id="5" name="TextBox 4">
              <a:extLst>
                <a:ext uri="{FF2B5EF4-FFF2-40B4-BE49-F238E27FC236}">
                  <a16:creationId xmlns:a16="http://schemas.microsoft.com/office/drawing/2014/main" id="{250342BE-0356-E502-B6CC-747132BE1A44}"/>
                </a:ext>
              </a:extLst>
            </p:cNvPr>
            <p:cNvSpPr txBox="1"/>
            <p:nvPr/>
          </p:nvSpPr>
          <p:spPr>
            <a:xfrm>
              <a:off x="910631" y="4496871"/>
              <a:ext cx="4336444" cy="861774"/>
            </a:xfrm>
            <a:prstGeom prst="rect">
              <a:avLst/>
            </a:prstGeom>
            <a:noFill/>
          </p:spPr>
          <p:txBody>
            <a:bodyPr wrap="none" rtlCol="0">
              <a:spAutoFit/>
            </a:bodyPr>
            <a:lstStyle/>
            <a:p>
              <a:r>
                <a:rPr lang="en-US" sz="1600" b="1" dirty="0">
                  <a:latin typeface="Helvetica" pitchFamily="2" charset="0"/>
                </a:rPr>
                <a:t>🔄 Reproducible Research</a:t>
              </a:r>
            </a:p>
            <a:p>
              <a:r>
                <a:rPr lang="en-US" sz="1600" dirty="0">
                  <a:latin typeface="Helvetica" pitchFamily="2" charset="0"/>
                </a:rPr>
                <a:t>Document your exact analysis steps in scripts</a:t>
              </a:r>
            </a:p>
            <a:p>
              <a:endParaRPr lang="en-US" sz="1600" dirty="0">
                <a:latin typeface="Helvetica" pitchFamily="2" charset="0"/>
              </a:endParaRPr>
            </a:p>
          </p:txBody>
        </p:sp>
        <p:sp>
          <p:nvSpPr>
            <p:cNvPr id="6" name="TextBox 5">
              <a:extLst>
                <a:ext uri="{FF2B5EF4-FFF2-40B4-BE49-F238E27FC236}">
                  <a16:creationId xmlns:a16="http://schemas.microsoft.com/office/drawing/2014/main" id="{02DEED90-7AAE-987F-DCD8-530A5D477404}"/>
                </a:ext>
              </a:extLst>
            </p:cNvPr>
            <p:cNvSpPr txBox="1"/>
            <p:nvPr/>
          </p:nvSpPr>
          <p:spPr>
            <a:xfrm>
              <a:off x="6699666" y="4496871"/>
              <a:ext cx="4310795" cy="861774"/>
            </a:xfrm>
            <a:prstGeom prst="rect">
              <a:avLst/>
            </a:prstGeom>
            <a:noFill/>
          </p:spPr>
          <p:txBody>
            <a:bodyPr wrap="none" rtlCol="0">
              <a:spAutoFit/>
            </a:bodyPr>
            <a:lstStyle/>
            <a:p>
              <a:r>
                <a:rPr lang="en-US" sz="1600" b="1" dirty="0">
                  <a:latin typeface="Helvetica" pitchFamily="2" charset="0"/>
                </a:rPr>
                <a:t>🌐 Access Remote Servers</a:t>
              </a:r>
            </a:p>
            <a:p>
              <a:r>
                <a:rPr lang="en-US" sz="1600" dirty="0">
                  <a:latin typeface="Helvetica" pitchFamily="2" charset="0"/>
                </a:rPr>
                <a:t>Run analyses on powerful computing clusters</a:t>
              </a:r>
            </a:p>
            <a:p>
              <a:endParaRPr lang="en-US" sz="1600" dirty="0">
                <a:latin typeface="Helvetica" pitchFamily="2" charset="0"/>
              </a:endParaRPr>
            </a:p>
          </p:txBody>
        </p:sp>
      </p:grpSp>
      <p:sp>
        <p:nvSpPr>
          <p:cNvPr id="14" name="TextBox 13">
            <a:extLst>
              <a:ext uri="{FF2B5EF4-FFF2-40B4-BE49-F238E27FC236}">
                <a16:creationId xmlns:a16="http://schemas.microsoft.com/office/drawing/2014/main" id="{B43208FC-5A04-08A3-2383-0A879A09CBD0}"/>
              </a:ext>
            </a:extLst>
          </p:cNvPr>
          <p:cNvSpPr txBox="1"/>
          <p:nvPr/>
        </p:nvSpPr>
        <p:spPr>
          <a:xfrm>
            <a:off x="889659" y="5617685"/>
            <a:ext cx="10609613" cy="795218"/>
          </a:xfrm>
          <a:prstGeom prst="rect">
            <a:avLst/>
          </a:prstGeom>
          <a:solidFill>
            <a:schemeClr val="accent1">
              <a:lumMod val="20000"/>
              <a:lumOff val="80000"/>
            </a:schemeClr>
          </a:solidFill>
        </p:spPr>
        <p:txBody>
          <a:bodyPr wrap="square">
            <a:spAutoFit/>
          </a:bodyPr>
          <a:lstStyle/>
          <a:p>
            <a:pPr>
              <a:lnSpc>
                <a:spcPct val="150000"/>
              </a:lnSpc>
            </a:pPr>
            <a:r>
              <a:rPr lang="en-US" sz="1600" b="1" dirty="0">
                <a:latin typeface="Helvetica" pitchFamily="2" charset="0"/>
              </a:rPr>
              <a:t>Today's Goal:</a:t>
            </a:r>
            <a:r>
              <a:rPr lang="en-US" sz="1600" dirty="0">
                <a:latin typeface="Helvetica" pitchFamily="2" charset="0"/>
              </a:rPr>
              <a:t> Learn the essential Bash commands by creating a research project directory, creating a text file, and moving the text file into the directory.</a:t>
            </a:r>
          </a:p>
        </p:txBody>
      </p:sp>
    </p:spTree>
    <p:extLst>
      <p:ext uri="{BB962C8B-B14F-4D97-AF65-F5344CB8AC3E}">
        <p14:creationId xmlns:p14="http://schemas.microsoft.com/office/powerpoint/2010/main" val="238609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0648E-19F2-5F98-87A2-F9B633CA0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C2453-E2C3-E754-4EF9-5F3405A61712}"/>
              </a:ext>
            </a:extLst>
          </p:cNvPr>
          <p:cNvSpPr>
            <a:spLocks noGrp="1"/>
          </p:cNvSpPr>
          <p:nvPr>
            <p:ph type="title"/>
          </p:nvPr>
        </p:nvSpPr>
        <p:spPr/>
        <p:txBody>
          <a:bodyPr>
            <a:normAutofit/>
          </a:bodyPr>
          <a:lstStyle/>
          <a:p>
            <a:r>
              <a:rPr lang="en-US" sz="4000" dirty="0">
                <a:solidFill>
                  <a:schemeClr val="accent1">
                    <a:lumMod val="60000"/>
                    <a:lumOff val="40000"/>
                  </a:schemeClr>
                </a:solidFill>
                <a:latin typeface="Helvetica" pitchFamily="2" charset="0"/>
              </a:rPr>
              <a:t>Bonus! </a:t>
            </a:r>
            <a:r>
              <a:rPr lang="en-US" sz="4000" dirty="0">
                <a:latin typeface="Helvetica" pitchFamily="2" charset="0"/>
              </a:rPr>
              <a:t>Basics of Unix</a:t>
            </a:r>
          </a:p>
        </p:txBody>
      </p:sp>
      <p:pic>
        <p:nvPicPr>
          <p:cNvPr id="3" name="Picture 6" descr="coding Symbol mark in filled style 47628836 Vector Art at Vecteezy">
            <a:extLst>
              <a:ext uri="{FF2B5EF4-FFF2-40B4-BE49-F238E27FC236}">
                <a16:creationId xmlns:a16="http://schemas.microsoft.com/office/drawing/2014/main" id="{CE778536-A122-552F-BE09-04F3C8B0EF08}"/>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207496" y="178154"/>
            <a:ext cx="699383" cy="699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5176551-9798-8503-3A3F-F1234DFF9839}"/>
              </a:ext>
            </a:extLst>
          </p:cNvPr>
          <p:cNvSpPr txBox="1"/>
          <p:nvPr/>
        </p:nvSpPr>
        <p:spPr>
          <a:xfrm>
            <a:off x="914400" y="1904686"/>
            <a:ext cx="6095010" cy="306467"/>
          </a:xfrm>
          <a:prstGeom prst="roundRect">
            <a:avLst/>
          </a:prstGeom>
          <a:solidFill>
            <a:schemeClr val="tx1"/>
          </a:solidFill>
        </p:spPr>
        <p:txBody>
          <a:bodyPr wrap="square">
            <a:spAutoFit/>
          </a:bodyPr>
          <a:lstStyle/>
          <a:p>
            <a:r>
              <a:rPr lang="en-US" sz="1200" b="0" i="0" dirty="0">
                <a:solidFill>
                  <a:schemeClr val="accent6"/>
                </a:solidFill>
                <a:effectLst/>
                <a:latin typeface="Courier New" panose="02070309020205020404" pitchFamily="49" charset="0"/>
              </a:rPr>
              <a:t>$</a:t>
            </a:r>
            <a:r>
              <a:rPr lang="en-US" sz="1200" b="0" i="0" dirty="0">
                <a:solidFill>
                  <a:srgbClr val="F8F8F2"/>
                </a:solidFill>
                <a:effectLst/>
                <a:latin typeface="Courier New" panose="02070309020205020404" pitchFamily="49" charset="0"/>
              </a:rPr>
              <a:t> </a:t>
            </a:r>
            <a:r>
              <a:rPr lang="en-US" sz="1200" b="0" i="0" dirty="0" err="1">
                <a:solidFill>
                  <a:srgbClr val="F8F8F2"/>
                </a:solidFill>
                <a:effectLst/>
                <a:latin typeface="Courier New" panose="02070309020205020404" pitchFamily="49" charset="0"/>
              </a:rPr>
              <a:t>pwd</a:t>
            </a:r>
            <a:endParaRPr lang="en-US" sz="1200" dirty="0"/>
          </a:p>
        </p:txBody>
      </p:sp>
      <p:sp>
        <p:nvSpPr>
          <p:cNvPr id="9" name="TextBox 8">
            <a:extLst>
              <a:ext uri="{FF2B5EF4-FFF2-40B4-BE49-F238E27FC236}">
                <a16:creationId xmlns:a16="http://schemas.microsoft.com/office/drawing/2014/main" id="{33C17551-34D2-3883-9AEF-22B4952B4130}"/>
              </a:ext>
            </a:extLst>
          </p:cNvPr>
          <p:cNvSpPr txBox="1"/>
          <p:nvPr/>
        </p:nvSpPr>
        <p:spPr>
          <a:xfrm>
            <a:off x="914400" y="1521411"/>
            <a:ext cx="4224233" cy="338554"/>
          </a:xfrm>
          <a:prstGeom prst="rect">
            <a:avLst/>
          </a:prstGeom>
          <a:noFill/>
        </p:spPr>
        <p:txBody>
          <a:bodyPr wrap="none" rtlCol="0">
            <a:spAutoFit/>
          </a:bodyPr>
          <a:lstStyle/>
          <a:p>
            <a:r>
              <a:rPr lang="en-US" sz="1600" dirty="0">
                <a:latin typeface="Helvetica" pitchFamily="2" charset="0"/>
              </a:rPr>
              <a:t>1. Open a terminal and check where you are</a:t>
            </a:r>
          </a:p>
        </p:txBody>
      </p:sp>
      <p:sp>
        <p:nvSpPr>
          <p:cNvPr id="10" name="TextBox 9">
            <a:extLst>
              <a:ext uri="{FF2B5EF4-FFF2-40B4-BE49-F238E27FC236}">
                <a16:creationId xmlns:a16="http://schemas.microsoft.com/office/drawing/2014/main" id="{3EA432BC-F09E-8F8A-C23D-1FC3972122F1}"/>
              </a:ext>
            </a:extLst>
          </p:cNvPr>
          <p:cNvSpPr txBox="1"/>
          <p:nvPr/>
        </p:nvSpPr>
        <p:spPr>
          <a:xfrm>
            <a:off x="914400" y="2398386"/>
            <a:ext cx="6527749" cy="338554"/>
          </a:xfrm>
          <a:prstGeom prst="rect">
            <a:avLst/>
          </a:prstGeom>
          <a:noFill/>
        </p:spPr>
        <p:txBody>
          <a:bodyPr wrap="none" rtlCol="0">
            <a:spAutoFit/>
          </a:bodyPr>
          <a:lstStyle/>
          <a:p>
            <a:r>
              <a:rPr lang="en-US" sz="1600" dirty="0">
                <a:latin typeface="Helvetica" pitchFamily="2" charset="0"/>
              </a:rPr>
              <a:t>2. Navigate to wherever you would like to create your project directory</a:t>
            </a:r>
          </a:p>
        </p:txBody>
      </p:sp>
      <p:sp>
        <p:nvSpPr>
          <p:cNvPr id="12" name="TextBox 11">
            <a:extLst>
              <a:ext uri="{FF2B5EF4-FFF2-40B4-BE49-F238E27FC236}">
                <a16:creationId xmlns:a16="http://schemas.microsoft.com/office/drawing/2014/main" id="{ED5541F7-CAB4-2FB8-795F-7023E0735EFE}"/>
              </a:ext>
            </a:extLst>
          </p:cNvPr>
          <p:cNvSpPr txBox="1"/>
          <p:nvPr/>
        </p:nvSpPr>
        <p:spPr>
          <a:xfrm>
            <a:off x="914400" y="2781661"/>
            <a:ext cx="6095010" cy="306467"/>
          </a:xfrm>
          <a:prstGeom prst="roundRect">
            <a:avLst/>
          </a:prstGeom>
          <a:solidFill>
            <a:schemeClr val="tx1"/>
          </a:solidFill>
        </p:spPr>
        <p:txBody>
          <a:bodyPr wrap="square">
            <a:spAutoFit/>
          </a:bodyPr>
          <a:lstStyle/>
          <a:p>
            <a:r>
              <a:rPr lang="en-US" sz="1200" b="0" i="0" dirty="0">
                <a:solidFill>
                  <a:schemeClr val="accent6"/>
                </a:solidFill>
                <a:effectLst/>
                <a:latin typeface="Courier New" panose="02070309020205020404" pitchFamily="49" charset="0"/>
              </a:rPr>
              <a:t>$</a:t>
            </a:r>
            <a:r>
              <a:rPr lang="en-US" sz="1200" b="0" i="0" dirty="0">
                <a:solidFill>
                  <a:srgbClr val="F8F8F2"/>
                </a:solidFill>
                <a:effectLst/>
                <a:latin typeface="Courier New" panose="02070309020205020404" pitchFamily="49" charset="0"/>
              </a:rPr>
              <a:t> cd [path/where/you/want/to/go]</a:t>
            </a:r>
          </a:p>
        </p:txBody>
      </p:sp>
      <p:sp>
        <p:nvSpPr>
          <p:cNvPr id="13" name="TextBox 12">
            <a:extLst>
              <a:ext uri="{FF2B5EF4-FFF2-40B4-BE49-F238E27FC236}">
                <a16:creationId xmlns:a16="http://schemas.microsoft.com/office/drawing/2014/main" id="{64F6D0BB-C49B-DB26-483A-B774A773F9DF}"/>
              </a:ext>
            </a:extLst>
          </p:cNvPr>
          <p:cNvSpPr txBox="1"/>
          <p:nvPr/>
        </p:nvSpPr>
        <p:spPr>
          <a:xfrm>
            <a:off x="914400" y="3275361"/>
            <a:ext cx="2547492" cy="338554"/>
          </a:xfrm>
          <a:prstGeom prst="rect">
            <a:avLst/>
          </a:prstGeom>
          <a:noFill/>
        </p:spPr>
        <p:txBody>
          <a:bodyPr wrap="none" rtlCol="0">
            <a:spAutoFit/>
          </a:bodyPr>
          <a:lstStyle/>
          <a:p>
            <a:r>
              <a:rPr lang="en-US" sz="1600" dirty="0">
                <a:latin typeface="Helvetica" pitchFamily="2" charset="0"/>
              </a:rPr>
              <a:t>3. Create project directory</a:t>
            </a:r>
          </a:p>
        </p:txBody>
      </p:sp>
      <p:sp>
        <p:nvSpPr>
          <p:cNvPr id="14" name="TextBox 13">
            <a:extLst>
              <a:ext uri="{FF2B5EF4-FFF2-40B4-BE49-F238E27FC236}">
                <a16:creationId xmlns:a16="http://schemas.microsoft.com/office/drawing/2014/main" id="{9052DF06-1EC0-8935-7AE5-81DA694FAF14}"/>
              </a:ext>
            </a:extLst>
          </p:cNvPr>
          <p:cNvSpPr txBox="1"/>
          <p:nvPr/>
        </p:nvSpPr>
        <p:spPr>
          <a:xfrm>
            <a:off x="914400" y="3658636"/>
            <a:ext cx="6095010" cy="306467"/>
          </a:xfrm>
          <a:prstGeom prst="roundRect">
            <a:avLst/>
          </a:prstGeom>
          <a:solidFill>
            <a:schemeClr val="tx1"/>
          </a:solidFill>
        </p:spPr>
        <p:txBody>
          <a:bodyPr wrap="square">
            <a:spAutoFit/>
          </a:bodyPr>
          <a:lstStyle/>
          <a:p>
            <a:r>
              <a:rPr lang="en-US" sz="1200" b="0" i="0" dirty="0">
                <a:solidFill>
                  <a:schemeClr val="accent6"/>
                </a:solidFill>
                <a:effectLst/>
                <a:latin typeface="Courier New" panose="02070309020205020404" pitchFamily="49" charset="0"/>
              </a:rPr>
              <a:t>$</a:t>
            </a:r>
            <a:r>
              <a:rPr lang="en-US" sz="1200" b="0" i="0" dirty="0">
                <a:solidFill>
                  <a:srgbClr val="F8F8F2"/>
                </a:solidFill>
                <a:effectLst/>
                <a:latin typeface="Courier New" panose="02070309020205020404" pitchFamily="49" charset="0"/>
              </a:rPr>
              <a:t> </a:t>
            </a:r>
            <a:r>
              <a:rPr lang="en-US" sz="1200" b="0" i="0" dirty="0" err="1">
                <a:solidFill>
                  <a:srgbClr val="F8F8F2"/>
                </a:solidFill>
                <a:effectLst/>
                <a:latin typeface="Courier New" panose="02070309020205020404" pitchFamily="49" charset="0"/>
              </a:rPr>
              <a:t>mkdir</a:t>
            </a:r>
            <a:r>
              <a:rPr lang="en-US" sz="1200" b="0" i="0" dirty="0">
                <a:solidFill>
                  <a:srgbClr val="F8F8F2"/>
                </a:solidFill>
                <a:effectLst/>
                <a:latin typeface="Courier New" panose="02070309020205020404" pitchFamily="49" charset="0"/>
              </a:rPr>
              <a:t> [</a:t>
            </a:r>
            <a:r>
              <a:rPr lang="en-US" sz="1200" b="0" i="0" dirty="0" err="1">
                <a:solidFill>
                  <a:srgbClr val="F8F8F2"/>
                </a:solidFill>
                <a:effectLst/>
                <a:latin typeface="Courier New" panose="02070309020205020404" pitchFamily="49" charset="0"/>
              </a:rPr>
              <a:t>name_of_directory</a:t>
            </a:r>
            <a:r>
              <a:rPr lang="en-US" sz="1200" b="0" i="0" dirty="0">
                <a:solidFill>
                  <a:srgbClr val="F8F8F2"/>
                </a:solidFill>
                <a:effectLst/>
                <a:latin typeface="Courier New" panose="02070309020205020404" pitchFamily="49" charset="0"/>
              </a:rPr>
              <a:t>]</a:t>
            </a:r>
            <a:endParaRPr lang="en-US" sz="1200" dirty="0"/>
          </a:p>
        </p:txBody>
      </p:sp>
      <p:sp>
        <p:nvSpPr>
          <p:cNvPr id="15" name="TextBox 14">
            <a:extLst>
              <a:ext uri="{FF2B5EF4-FFF2-40B4-BE49-F238E27FC236}">
                <a16:creationId xmlns:a16="http://schemas.microsoft.com/office/drawing/2014/main" id="{0618390F-59A6-3467-1F26-1014B41208C6}"/>
              </a:ext>
            </a:extLst>
          </p:cNvPr>
          <p:cNvSpPr txBox="1"/>
          <p:nvPr/>
        </p:nvSpPr>
        <p:spPr>
          <a:xfrm>
            <a:off x="914400" y="4152336"/>
            <a:ext cx="1909497" cy="338554"/>
          </a:xfrm>
          <a:prstGeom prst="rect">
            <a:avLst/>
          </a:prstGeom>
          <a:noFill/>
        </p:spPr>
        <p:txBody>
          <a:bodyPr wrap="none" rtlCol="0">
            <a:spAutoFit/>
          </a:bodyPr>
          <a:lstStyle/>
          <a:p>
            <a:r>
              <a:rPr lang="en-US" sz="1600" dirty="0">
                <a:latin typeface="Helvetica" pitchFamily="2" charset="0"/>
              </a:rPr>
              <a:t>4. Create a text file</a:t>
            </a:r>
          </a:p>
        </p:txBody>
      </p:sp>
      <p:sp>
        <p:nvSpPr>
          <p:cNvPr id="16" name="TextBox 15">
            <a:extLst>
              <a:ext uri="{FF2B5EF4-FFF2-40B4-BE49-F238E27FC236}">
                <a16:creationId xmlns:a16="http://schemas.microsoft.com/office/drawing/2014/main" id="{CDC84DC0-1FC6-EE11-389F-018495843782}"/>
              </a:ext>
            </a:extLst>
          </p:cNvPr>
          <p:cNvSpPr txBox="1"/>
          <p:nvPr/>
        </p:nvSpPr>
        <p:spPr>
          <a:xfrm>
            <a:off x="914400" y="4535611"/>
            <a:ext cx="6095010" cy="306467"/>
          </a:xfrm>
          <a:prstGeom prst="roundRect">
            <a:avLst/>
          </a:prstGeom>
          <a:solidFill>
            <a:schemeClr val="tx1"/>
          </a:solidFill>
        </p:spPr>
        <p:txBody>
          <a:bodyPr wrap="square">
            <a:spAutoFit/>
          </a:bodyPr>
          <a:lstStyle/>
          <a:p>
            <a:r>
              <a:rPr lang="en-US" sz="1200" b="0" i="0" dirty="0">
                <a:solidFill>
                  <a:schemeClr val="accent6"/>
                </a:solidFill>
                <a:effectLst/>
                <a:latin typeface="Courier New" panose="02070309020205020404" pitchFamily="49" charset="0"/>
              </a:rPr>
              <a:t>$</a:t>
            </a:r>
            <a:r>
              <a:rPr lang="en-US" sz="1200" b="0" i="0" dirty="0">
                <a:solidFill>
                  <a:srgbClr val="F8F8F2"/>
                </a:solidFill>
                <a:effectLst/>
                <a:latin typeface="Courier New" panose="02070309020205020404" pitchFamily="49" charset="0"/>
              </a:rPr>
              <a:t> emacs [</a:t>
            </a:r>
            <a:r>
              <a:rPr lang="en-US" sz="1200" b="0" i="0" dirty="0" err="1">
                <a:solidFill>
                  <a:srgbClr val="F8F8F2"/>
                </a:solidFill>
                <a:effectLst/>
                <a:latin typeface="Courier New" panose="02070309020205020404" pitchFamily="49" charset="0"/>
              </a:rPr>
              <a:t>name_of_file</a:t>
            </a:r>
            <a:r>
              <a:rPr lang="en-US" sz="1200" b="0" i="0" dirty="0">
                <a:solidFill>
                  <a:srgbClr val="F8F8F2"/>
                </a:solidFill>
                <a:effectLst/>
                <a:latin typeface="Courier New" panose="02070309020205020404" pitchFamily="49" charset="0"/>
              </a:rPr>
              <a:t>]</a:t>
            </a:r>
            <a:endParaRPr lang="en-US" sz="1200" dirty="0"/>
          </a:p>
        </p:txBody>
      </p:sp>
      <p:sp>
        <p:nvSpPr>
          <p:cNvPr id="17" name="TextBox 16">
            <a:extLst>
              <a:ext uri="{FF2B5EF4-FFF2-40B4-BE49-F238E27FC236}">
                <a16:creationId xmlns:a16="http://schemas.microsoft.com/office/drawing/2014/main" id="{E2657F13-9DAC-B16D-545C-5D724109D639}"/>
              </a:ext>
            </a:extLst>
          </p:cNvPr>
          <p:cNvSpPr txBox="1"/>
          <p:nvPr/>
        </p:nvSpPr>
        <p:spPr>
          <a:xfrm>
            <a:off x="914400" y="5029311"/>
            <a:ext cx="1909497" cy="338554"/>
          </a:xfrm>
          <a:prstGeom prst="rect">
            <a:avLst/>
          </a:prstGeom>
          <a:noFill/>
        </p:spPr>
        <p:txBody>
          <a:bodyPr wrap="none" rtlCol="0">
            <a:spAutoFit/>
          </a:bodyPr>
          <a:lstStyle/>
          <a:p>
            <a:r>
              <a:rPr lang="en-US" sz="1600" dirty="0">
                <a:latin typeface="Helvetica" pitchFamily="2" charset="0"/>
              </a:rPr>
              <a:t>5. Create a text file</a:t>
            </a:r>
          </a:p>
        </p:txBody>
      </p:sp>
      <p:sp>
        <p:nvSpPr>
          <p:cNvPr id="18" name="TextBox 17">
            <a:extLst>
              <a:ext uri="{FF2B5EF4-FFF2-40B4-BE49-F238E27FC236}">
                <a16:creationId xmlns:a16="http://schemas.microsoft.com/office/drawing/2014/main" id="{C7D08C57-B6CD-1EFC-887D-4A07162EFBB2}"/>
              </a:ext>
            </a:extLst>
          </p:cNvPr>
          <p:cNvSpPr txBox="1"/>
          <p:nvPr/>
        </p:nvSpPr>
        <p:spPr>
          <a:xfrm>
            <a:off x="914400" y="5412586"/>
            <a:ext cx="6095010" cy="306467"/>
          </a:xfrm>
          <a:prstGeom prst="roundRect">
            <a:avLst/>
          </a:prstGeom>
          <a:solidFill>
            <a:schemeClr val="tx1"/>
          </a:solidFill>
        </p:spPr>
        <p:txBody>
          <a:bodyPr wrap="square">
            <a:spAutoFit/>
          </a:bodyPr>
          <a:lstStyle/>
          <a:p>
            <a:r>
              <a:rPr lang="en-US" sz="1200" b="0" i="0" dirty="0">
                <a:solidFill>
                  <a:schemeClr val="accent6"/>
                </a:solidFill>
                <a:effectLst/>
                <a:latin typeface="Courier New" panose="02070309020205020404" pitchFamily="49" charset="0"/>
              </a:rPr>
              <a:t>$</a:t>
            </a:r>
            <a:r>
              <a:rPr lang="en-US" sz="1200" b="0" i="0" dirty="0">
                <a:solidFill>
                  <a:srgbClr val="F8F8F2"/>
                </a:solidFill>
                <a:effectLst/>
                <a:latin typeface="Courier New" panose="02070309020205020404" pitchFamily="49" charset="0"/>
              </a:rPr>
              <a:t> mv [</a:t>
            </a:r>
            <a:r>
              <a:rPr lang="en-US" sz="1200" b="0" i="0" dirty="0" err="1">
                <a:solidFill>
                  <a:srgbClr val="F8F8F2"/>
                </a:solidFill>
                <a:effectLst/>
                <a:latin typeface="Courier New" panose="02070309020205020404" pitchFamily="49" charset="0"/>
              </a:rPr>
              <a:t>name_of_file</a:t>
            </a:r>
            <a:r>
              <a:rPr lang="en-US" sz="1200" dirty="0">
                <a:solidFill>
                  <a:srgbClr val="F8F8F2"/>
                </a:solidFill>
                <a:latin typeface="Courier New" panose="02070309020205020404" pitchFamily="49" charset="0"/>
              </a:rPr>
              <a:t>] [path/of/directory]</a:t>
            </a:r>
            <a:endParaRPr lang="en-US" sz="1200" dirty="0"/>
          </a:p>
        </p:txBody>
      </p:sp>
      <p:sp>
        <p:nvSpPr>
          <p:cNvPr id="19" name="TextBox 18">
            <a:extLst>
              <a:ext uri="{FF2B5EF4-FFF2-40B4-BE49-F238E27FC236}">
                <a16:creationId xmlns:a16="http://schemas.microsoft.com/office/drawing/2014/main" id="{092440B2-2931-CBBF-0A26-739EA32C23D0}"/>
              </a:ext>
            </a:extLst>
          </p:cNvPr>
          <p:cNvSpPr txBox="1"/>
          <p:nvPr/>
        </p:nvSpPr>
        <p:spPr>
          <a:xfrm>
            <a:off x="914400" y="5906286"/>
            <a:ext cx="3873176" cy="338554"/>
          </a:xfrm>
          <a:prstGeom prst="rect">
            <a:avLst/>
          </a:prstGeom>
          <a:noFill/>
        </p:spPr>
        <p:txBody>
          <a:bodyPr wrap="none" rtlCol="0">
            <a:spAutoFit/>
          </a:bodyPr>
          <a:lstStyle/>
          <a:p>
            <a:r>
              <a:rPr lang="en-US" sz="1600" dirty="0">
                <a:latin typeface="Helvetica" pitchFamily="2" charset="0"/>
              </a:rPr>
              <a:t>6. Move to directory and list the contents</a:t>
            </a:r>
          </a:p>
        </p:txBody>
      </p:sp>
      <p:sp>
        <p:nvSpPr>
          <p:cNvPr id="23" name="TextBox 22">
            <a:extLst>
              <a:ext uri="{FF2B5EF4-FFF2-40B4-BE49-F238E27FC236}">
                <a16:creationId xmlns:a16="http://schemas.microsoft.com/office/drawing/2014/main" id="{390A150A-0A3A-E4DF-07FB-9CE6F9E2456E}"/>
              </a:ext>
            </a:extLst>
          </p:cNvPr>
          <p:cNvSpPr txBox="1"/>
          <p:nvPr/>
        </p:nvSpPr>
        <p:spPr>
          <a:xfrm>
            <a:off x="7999058" y="2602371"/>
            <a:ext cx="3354742" cy="510778"/>
          </a:xfrm>
          <a:prstGeom prst="roundRect">
            <a:avLst/>
          </a:prstGeom>
          <a:solidFill>
            <a:schemeClr val="tx1"/>
          </a:solidFill>
        </p:spPr>
        <p:txBody>
          <a:bodyPr wrap="square">
            <a:spAutoFit/>
          </a:bodyPr>
          <a:lstStyle/>
          <a:p>
            <a:r>
              <a:rPr lang="en-US" sz="1200" dirty="0">
                <a:solidFill>
                  <a:schemeClr val="accent4">
                    <a:lumMod val="20000"/>
                    <a:lumOff val="80000"/>
                  </a:schemeClr>
                </a:solidFill>
                <a:latin typeface="Courier New" panose="02070309020205020404" pitchFamily="49" charset="0"/>
              </a:rPr>
              <a:t># to move backwards use:</a:t>
            </a:r>
          </a:p>
          <a:p>
            <a:r>
              <a:rPr lang="en-US" sz="1200" dirty="0">
                <a:solidFill>
                  <a:schemeClr val="accent6"/>
                </a:solidFill>
                <a:latin typeface="Courier New" panose="02070309020205020404" pitchFamily="49" charset="0"/>
              </a:rPr>
              <a:t>$</a:t>
            </a:r>
            <a:r>
              <a:rPr lang="en-US" sz="1200" dirty="0">
                <a:solidFill>
                  <a:srgbClr val="F8F8F2"/>
                </a:solidFill>
                <a:latin typeface="Courier New" panose="02070309020205020404" pitchFamily="49" charset="0"/>
              </a:rPr>
              <a:t> cd ..</a:t>
            </a:r>
            <a:endParaRPr lang="en-US" sz="1200" dirty="0"/>
          </a:p>
        </p:txBody>
      </p:sp>
      <p:sp>
        <p:nvSpPr>
          <p:cNvPr id="24" name="TextBox 23">
            <a:extLst>
              <a:ext uri="{FF2B5EF4-FFF2-40B4-BE49-F238E27FC236}">
                <a16:creationId xmlns:a16="http://schemas.microsoft.com/office/drawing/2014/main" id="{024CC175-29C5-9433-000E-D4A3C739AAFD}"/>
              </a:ext>
            </a:extLst>
          </p:cNvPr>
          <p:cNvSpPr txBox="1"/>
          <p:nvPr/>
        </p:nvSpPr>
        <p:spPr>
          <a:xfrm>
            <a:off x="914400" y="6289560"/>
            <a:ext cx="6095010" cy="306467"/>
          </a:xfrm>
          <a:prstGeom prst="roundRect">
            <a:avLst/>
          </a:prstGeom>
          <a:solidFill>
            <a:schemeClr val="tx1"/>
          </a:solidFill>
        </p:spPr>
        <p:txBody>
          <a:bodyPr wrap="square">
            <a:spAutoFit/>
          </a:bodyPr>
          <a:lstStyle/>
          <a:p>
            <a:r>
              <a:rPr lang="en-US" sz="1200" b="0" i="0" dirty="0">
                <a:solidFill>
                  <a:schemeClr val="accent6"/>
                </a:solidFill>
                <a:effectLst/>
                <a:latin typeface="Courier New" panose="02070309020205020404" pitchFamily="49" charset="0"/>
              </a:rPr>
              <a:t>$</a:t>
            </a:r>
            <a:r>
              <a:rPr lang="en-US" sz="1200" dirty="0">
                <a:solidFill>
                  <a:srgbClr val="F8F8F2"/>
                </a:solidFill>
                <a:latin typeface="Courier New" panose="02070309020205020404" pitchFamily="49" charset="0"/>
              </a:rPr>
              <a:t> cd [</a:t>
            </a:r>
            <a:r>
              <a:rPr lang="en-US" sz="1200" dirty="0" err="1">
                <a:solidFill>
                  <a:srgbClr val="F8F8F2"/>
                </a:solidFill>
                <a:latin typeface="Courier New" panose="02070309020205020404" pitchFamily="49" charset="0"/>
              </a:rPr>
              <a:t>name_of_directory</a:t>
            </a:r>
            <a:r>
              <a:rPr lang="en-US" sz="1200" dirty="0">
                <a:solidFill>
                  <a:srgbClr val="F8F8F2"/>
                </a:solidFill>
                <a:latin typeface="Courier New" panose="02070309020205020404" pitchFamily="49" charset="0"/>
              </a:rPr>
              <a:t>]| ls -l </a:t>
            </a:r>
            <a:endParaRPr lang="en-US" sz="1200" dirty="0"/>
          </a:p>
        </p:txBody>
      </p:sp>
      <p:sp>
        <p:nvSpPr>
          <p:cNvPr id="25" name="TextBox 24">
            <a:extLst>
              <a:ext uri="{FF2B5EF4-FFF2-40B4-BE49-F238E27FC236}">
                <a16:creationId xmlns:a16="http://schemas.microsoft.com/office/drawing/2014/main" id="{139CCB26-F988-A3D9-0D5B-E5999B4C4105}"/>
              </a:ext>
            </a:extLst>
          </p:cNvPr>
          <p:cNvSpPr txBox="1"/>
          <p:nvPr/>
        </p:nvSpPr>
        <p:spPr>
          <a:xfrm>
            <a:off x="7999058" y="4331300"/>
            <a:ext cx="3354742" cy="510778"/>
          </a:xfrm>
          <a:prstGeom prst="roundRect">
            <a:avLst/>
          </a:prstGeom>
          <a:solidFill>
            <a:schemeClr val="tx1"/>
          </a:solidFill>
        </p:spPr>
        <p:txBody>
          <a:bodyPr wrap="square">
            <a:spAutoFit/>
          </a:bodyPr>
          <a:lstStyle/>
          <a:p>
            <a:r>
              <a:rPr lang="en-US" sz="1200" dirty="0">
                <a:solidFill>
                  <a:schemeClr val="accent4">
                    <a:lumMod val="20000"/>
                    <a:lumOff val="80000"/>
                  </a:schemeClr>
                </a:solidFill>
                <a:latin typeface="Courier New" panose="02070309020205020404" pitchFamily="49" charset="0"/>
              </a:rPr>
              <a:t># other options for text editors are ”nano” or “vim”</a:t>
            </a:r>
            <a:endParaRPr lang="en-US" sz="1200" dirty="0"/>
          </a:p>
        </p:txBody>
      </p:sp>
      <p:sp>
        <p:nvSpPr>
          <p:cNvPr id="26" name="TextBox 25">
            <a:extLst>
              <a:ext uri="{FF2B5EF4-FFF2-40B4-BE49-F238E27FC236}">
                <a16:creationId xmlns:a16="http://schemas.microsoft.com/office/drawing/2014/main" id="{25506683-B58D-0CDA-4BEC-59264924E8C4}"/>
              </a:ext>
            </a:extLst>
          </p:cNvPr>
          <p:cNvSpPr txBox="1"/>
          <p:nvPr/>
        </p:nvSpPr>
        <p:spPr>
          <a:xfrm>
            <a:off x="7999058" y="3275034"/>
            <a:ext cx="3354742" cy="715089"/>
          </a:xfrm>
          <a:prstGeom prst="roundRect">
            <a:avLst/>
          </a:prstGeom>
          <a:solidFill>
            <a:schemeClr val="tx1"/>
          </a:solidFill>
        </p:spPr>
        <p:txBody>
          <a:bodyPr wrap="square">
            <a:spAutoFit/>
          </a:bodyPr>
          <a:lstStyle/>
          <a:p>
            <a:r>
              <a:rPr lang="en-US" sz="1200" dirty="0">
                <a:solidFill>
                  <a:schemeClr val="accent4">
                    <a:lumMod val="20000"/>
                    <a:lumOff val="80000"/>
                  </a:schemeClr>
                </a:solidFill>
                <a:latin typeface="Courier New" panose="02070309020205020404" pitchFamily="49" charset="0"/>
              </a:rPr>
              <a:t># the [] are used to denote a variable, or something you should fill in yourself</a:t>
            </a:r>
            <a:endParaRPr lang="en-US" sz="1200" dirty="0"/>
          </a:p>
        </p:txBody>
      </p:sp>
      <p:sp>
        <p:nvSpPr>
          <p:cNvPr id="28" name="TextBox 27">
            <a:extLst>
              <a:ext uri="{FF2B5EF4-FFF2-40B4-BE49-F238E27FC236}">
                <a16:creationId xmlns:a16="http://schemas.microsoft.com/office/drawing/2014/main" id="{14C17403-2CFE-9FB2-0114-C7474934080E}"/>
              </a:ext>
            </a:extLst>
          </p:cNvPr>
          <p:cNvSpPr txBox="1"/>
          <p:nvPr/>
        </p:nvSpPr>
        <p:spPr>
          <a:xfrm>
            <a:off x="7999057" y="6085249"/>
            <a:ext cx="3626885" cy="510778"/>
          </a:xfrm>
          <a:prstGeom prst="roundRect">
            <a:avLst/>
          </a:prstGeom>
          <a:solidFill>
            <a:schemeClr val="tx1"/>
          </a:solidFill>
        </p:spPr>
        <p:txBody>
          <a:bodyPr wrap="square">
            <a:spAutoFit/>
          </a:bodyPr>
          <a:lstStyle/>
          <a:p>
            <a:r>
              <a:rPr lang="en-US" sz="1200" dirty="0">
                <a:solidFill>
                  <a:schemeClr val="accent4">
                    <a:lumMod val="20000"/>
                    <a:lumOff val="80000"/>
                  </a:schemeClr>
                </a:solidFill>
                <a:latin typeface="Courier New" panose="02070309020205020404" pitchFamily="49" charset="0"/>
              </a:rPr>
              <a:t># move back and remove directory</a:t>
            </a:r>
          </a:p>
          <a:p>
            <a:r>
              <a:rPr lang="en-US" sz="1200" dirty="0">
                <a:solidFill>
                  <a:schemeClr val="accent6"/>
                </a:solidFill>
                <a:latin typeface="Courier New" panose="02070309020205020404" pitchFamily="49" charset="0"/>
              </a:rPr>
              <a:t>$</a:t>
            </a:r>
            <a:r>
              <a:rPr lang="en-US" sz="1200" dirty="0">
                <a:solidFill>
                  <a:srgbClr val="F8F8F2"/>
                </a:solidFill>
                <a:latin typeface="Courier New" panose="02070309020205020404" pitchFamily="49" charset="0"/>
              </a:rPr>
              <a:t> cd .. | rm –r [</a:t>
            </a:r>
            <a:r>
              <a:rPr lang="en-US" sz="1200" dirty="0" err="1">
                <a:solidFill>
                  <a:srgbClr val="F8F8F2"/>
                </a:solidFill>
                <a:latin typeface="Courier New" panose="02070309020205020404" pitchFamily="49" charset="0"/>
              </a:rPr>
              <a:t>name_of_directory</a:t>
            </a:r>
            <a:r>
              <a:rPr lang="en-US" sz="1200" dirty="0">
                <a:solidFill>
                  <a:srgbClr val="F8F8F2"/>
                </a:solidFill>
                <a:latin typeface="Courier New" panose="02070309020205020404" pitchFamily="49" charset="0"/>
              </a:rPr>
              <a:t>]</a:t>
            </a:r>
            <a:endParaRPr lang="en-US" sz="1200" dirty="0"/>
          </a:p>
        </p:txBody>
      </p:sp>
    </p:spTree>
    <p:extLst>
      <p:ext uri="{BB962C8B-B14F-4D97-AF65-F5344CB8AC3E}">
        <p14:creationId xmlns:p14="http://schemas.microsoft.com/office/powerpoint/2010/main" val="3313365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55E57-4FF5-3228-5D94-606499A2E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82FBE-5C84-B77A-693A-BC593B83CFCB}"/>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15026429-18CC-F240-D655-3848919B41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757A6B2-BCF5-6309-24E2-58C895D1E5AF}"/>
              </a:ext>
            </a:extLst>
          </p:cNvPr>
          <p:cNvSpPr txBox="1"/>
          <p:nvPr/>
        </p:nvSpPr>
        <p:spPr>
          <a:xfrm>
            <a:off x="1794669" y="2206232"/>
            <a:ext cx="6591506" cy="1754326"/>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18DC604F-E0DE-9774-B921-9FF519578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894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4E8FA5-0881-A510-6571-043A06D698A2}"/>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9180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51255-102E-0964-722F-024CB448D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02164-C39A-82B4-DC8E-60566E7068BC}"/>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17F32CC6-BB23-D366-A5A3-EBF766669956}"/>
              </a:ext>
            </a:extLst>
          </p:cNvPr>
          <p:cNvGraphicFramePr>
            <a:graphicFrameLocks noGrp="1"/>
          </p:cNvGraphicFramePr>
          <p:nvPr>
            <p:extLst>
              <p:ext uri="{D42A27DB-BD31-4B8C-83A1-F6EECF244321}">
                <p14:modId xmlns:p14="http://schemas.microsoft.com/office/powerpoint/2010/main" val="1255688504"/>
              </p:ext>
            </p:extLst>
          </p:nvPr>
        </p:nvGraphicFramePr>
        <p:xfrm>
          <a:off x="957446" y="1495032"/>
          <a:ext cx="10277107" cy="4277459"/>
        </p:xfrm>
        <a:graphic>
          <a:graphicData uri="http://schemas.openxmlformats.org/drawingml/2006/table">
            <a:tbl>
              <a:tblPr firstRow="1" bandRow="1">
                <a:tableStyleId>{5940675A-B579-460E-94D1-54222C63F5DA}</a:tableStyleId>
              </a:tblPr>
              <a:tblGrid>
                <a:gridCol w="1389581">
                  <a:extLst>
                    <a:ext uri="{9D8B030D-6E8A-4147-A177-3AD203B41FA5}">
                      <a16:colId xmlns:a16="http://schemas.microsoft.com/office/drawing/2014/main" val="3588077064"/>
                    </a:ext>
                  </a:extLst>
                </a:gridCol>
                <a:gridCol w="1349052">
                  <a:extLst>
                    <a:ext uri="{9D8B030D-6E8A-4147-A177-3AD203B41FA5}">
                      <a16:colId xmlns:a16="http://schemas.microsoft.com/office/drawing/2014/main" val="2921729674"/>
                    </a:ext>
                  </a:extLst>
                </a:gridCol>
                <a:gridCol w="1297495">
                  <a:extLst>
                    <a:ext uri="{9D8B030D-6E8A-4147-A177-3AD203B41FA5}">
                      <a16:colId xmlns:a16="http://schemas.microsoft.com/office/drawing/2014/main" val="3051897964"/>
                    </a:ext>
                  </a:extLst>
                </a:gridCol>
                <a:gridCol w="1261650">
                  <a:extLst>
                    <a:ext uri="{9D8B030D-6E8A-4147-A177-3AD203B41FA5}">
                      <a16:colId xmlns:a16="http://schemas.microsoft.com/office/drawing/2014/main" val="2411906837"/>
                    </a:ext>
                  </a:extLst>
                </a:gridCol>
                <a:gridCol w="1210093">
                  <a:extLst>
                    <a:ext uri="{9D8B030D-6E8A-4147-A177-3AD203B41FA5}">
                      <a16:colId xmlns:a16="http://schemas.microsoft.com/office/drawing/2014/main" val="2317395656"/>
                    </a:ext>
                  </a:extLst>
                </a:gridCol>
                <a:gridCol w="1273782">
                  <a:extLst>
                    <a:ext uri="{9D8B030D-6E8A-4147-A177-3AD203B41FA5}">
                      <a16:colId xmlns:a16="http://schemas.microsoft.com/office/drawing/2014/main" val="1121361333"/>
                    </a:ext>
                  </a:extLst>
                </a:gridCol>
                <a:gridCol w="1270244">
                  <a:extLst>
                    <a:ext uri="{9D8B030D-6E8A-4147-A177-3AD203B41FA5}">
                      <a16:colId xmlns:a16="http://schemas.microsoft.com/office/drawing/2014/main" val="3820744059"/>
                    </a:ext>
                  </a:extLst>
                </a:gridCol>
                <a:gridCol w="1225210">
                  <a:extLst>
                    <a:ext uri="{9D8B030D-6E8A-4147-A177-3AD203B41FA5}">
                      <a16:colId xmlns:a16="http://schemas.microsoft.com/office/drawing/2014/main" val="1638370077"/>
                    </a:ext>
                  </a:extLst>
                </a:gridCol>
              </a:tblGrid>
              <a:tr h="932543">
                <a:tc>
                  <a:txBody>
                    <a:bodyPr/>
                    <a:lstStyle/>
                    <a:p>
                      <a:pPr algn="ctr"/>
                      <a:r>
                        <a:rPr lang="en-US" sz="1200" b="1" dirty="0">
                          <a:solidFill>
                            <a:schemeClr val="bg1">
                              <a:lumMod val="50000"/>
                            </a:schemeClr>
                          </a:solidFill>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solidFill>
                            <a:schemeClr val="bg1">
                              <a:lumMod val="50000"/>
                            </a:schemeClr>
                          </a:solidFill>
                          <a:latin typeface="Helvetica" pitchFamily="2" charset="0"/>
                        </a:rPr>
                        <a:t>3.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50000"/>
                            </a:schemeClr>
                          </a:solidFill>
                          <a:latin typeface="Helvetica" pitchFamily="2" charset="0"/>
                        </a:rPr>
                        <a:t>4.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50000"/>
                            </a:schemeClr>
                          </a:solidFill>
                          <a:latin typeface="Helvetica" pitchFamily="2" charset="0"/>
                        </a:rPr>
                        <a:t>5.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50000"/>
                            </a:schemeClr>
                          </a:solidFill>
                          <a:latin typeface="Helvetica" pitchFamily="2" charset="0"/>
                        </a:rPr>
                        <a:t>6-8.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50000"/>
                            </a:schemeClr>
                          </a:solidFill>
                          <a:latin typeface="Helvetica" pitchFamily="2" charset="0"/>
                        </a:rPr>
                        <a:t>9-12. Data management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50000"/>
                            </a:schemeClr>
                          </a:solidFill>
                          <a:latin typeface="Helvetica" pitchFamily="2" charset="0"/>
                        </a:rPr>
                        <a:t>13. Bonus! – Globus transfers</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070096"/>
                  </a:ext>
                </a:extLst>
              </a:tr>
              <a:tr h="373116">
                <a:tc>
                  <a:txBody>
                    <a:bodyPr/>
                    <a:lstStyle/>
                    <a:p>
                      <a:r>
                        <a:rPr lang="en-US" sz="1100" dirty="0">
                          <a:solidFill>
                            <a:schemeClr val="bg1">
                              <a:lumMod val="50000"/>
                            </a:schemeClr>
                          </a:solidFill>
                          <a:latin typeface="Helvetica" pitchFamily="2" charset="0"/>
                        </a:rPr>
                        <a:t>10/29/2025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100" dirty="0">
                          <a:latin typeface="Helvetica" pitchFamily="2" charset="0"/>
                        </a:rPr>
                        <a:t>11/12/2025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50000"/>
                            </a:schemeClr>
                          </a:solidFill>
                          <a:latin typeface="Helvetica" pitchFamily="2" charset="0"/>
                        </a:rPr>
                        <a:t>11/19/2025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50000"/>
                            </a:schemeClr>
                          </a:solidFill>
                          <a:latin typeface="Helvetica" pitchFamily="2" charset="0"/>
                        </a:rPr>
                        <a:t>12/03/2025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50000"/>
                            </a:schemeClr>
                          </a:solidFill>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50000"/>
                            </a:schemeClr>
                          </a:solidFill>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50000"/>
                            </a:schemeClr>
                          </a:solidFill>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lumMod val="50000"/>
                            </a:schemeClr>
                          </a:solidFill>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7620817"/>
                  </a:ext>
                </a:extLst>
              </a:tr>
              <a:tr h="2303978">
                <a:tc>
                  <a:txBody>
                    <a:bodyPr/>
                    <a:lstStyle/>
                    <a:p>
                      <a:pPr marL="171450" indent="-171450">
                        <a:buFont typeface="Arial" panose="020B0604020202020204" pitchFamily="34" charset="0"/>
                        <a:buChar char="•"/>
                      </a:pPr>
                      <a:r>
                        <a:rPr lang="en-US" sz="1050" dirty="0">
                          <a:solidFill>
                            <a:schemeClr val="bg1">
                              <a:lumMod val="50000"/>
                            </a:schemeClr>
                          </a:solidFill>
                          <a:latin typeface="Helvetica" pitchFamily="2" charset="0"/>
                        </a:rPr>
                        <a:t>Understand Core HPC Concepts (CPU/GPU, Node/Core)</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Navigate the Hazel HPC Environment</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Get started with obtaining a HPC account</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chemeClr val="bg1">
                              <a:lumMod val="50000"/>
                            </a:schemeClr>
                          </a:solidFill>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solidFill>
                            <a:schemeClr val="bg1">
                              <a:lumMod val="50000"/>
                            </a:schemeClr>
                          </a:solidFill>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Learn about GNU parallel</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Run two examples on data downloading</a:t>
                      </a:r>
                    </a:p>
                    <a:p>
                      <a:pPr marL="171450" indent="-171450">
                        <a:buFont typeface="Arial" panose="020B0604020202020204" pitchFamily="34" charset="0"/>
                        <a:buChar char="•"/>
                      </a:pPr>
                      <a:endParaRPr lang="en-US" sz="1050" dirty="0">
                        <a:solidFill>
                          <a:schemeClr val="bg1">
                            <a:lumMod val="50000"/>
                          </a:schemeClr>
                        </a:solidFill>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solidFill>
                            <a:schemeClr val="bg1">
                              <a:lumMod val="50000"/>
                            </a:schemeClr>
                          </a:solidFill>
                          <a:latin typeface="Helvetica" pitchFamily="2" charset="0"/>
                        </a:rPr>
                        <a:t>Understand the use cases for job arrays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Learn about the computation behind job arrays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Create the scripts needed to submit a job array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solidFill>
                            <a:schemeClr val="bg1">
                              <a:lumMod val="50000"/>
                            </a:schemeClr>
                          </a:solidFill>
                          <a:latin typeface="Helvetica" pitchFamily="2" charset="0"/>
                        </a:rPr>
                        <a:t>Learn how to estimate job requirements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chemeClr val="bg1">
                              <a:lumMod val="50000"/>
                            </a:schemeClr>
                          </a:solidFill>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050" dirty="0">
                          <a:solidFill>
                            <a:schemeClr val="bg1">
                              <a:lumMod val="50000"/>
                            </a:schemeClr>
                          </a:solidFill>
                          <a:latin typeface="Helvetica" pitchFamily="2" charset="0"/>
                        </a:rPr>
                        <a:t>Learn how to load software using: </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Modules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Containers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Conda environments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050" dirty="0">
                          <a:solidFill>
                            <a:schemeClr val="bg1">
                              <a:lumMod val="50000"/>
                            </a:schemeClr>
                          </a:solidFill>
                          <a:latin typeface="Helvetica" pitchFamily="2" charset="0"/>
                        </a:rPr>
                        <a:t>Manage data across the Hazel storage system. Know when and how to use: </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Research Storage (RS1)</a:t>
                      </a:r>
                    </a:p>
                    <a:p>
                      <a:pPr marL="171450" indent="-171450">
                        <a:buFont typeface="Arial" panose="020B0604020202020204" pitchFamily="34" charset="0"/>
                        <a:buChar char="•"/>
                      </a:pPr>
                      <a:r>
                        <a:rPr lang="en-US" sz="1050" dirty="0" err="1">
                          <a:solidFill>
                            <a:schemeClr val="bg1">
                              <a:lumMod val="50000"/>
                            </a:schemeClr>
                          </a:solidFill>
                          <a:latin typeface="Helvetica" pitchFamily="2" charset="0"/>
                        </a:rPr>
                        <a:t>Usrapps</a:t>
                      </a:r>
                      <a:endParaRPr lang="en-US" sz="1050" dirty="0">
                        <a:solidFill>
                          <a:schemeClr val="bg1">
                            <a:lumMod val="50000"/>
                          </a:schemeClr>
                        </a:solidFill>
                        <a:latin typeface="Helvetica" pitchFamily="2" charset="0"/>
                      </a:endParaRP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Scratch</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How to mount your RS1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solidFill>
                            <a:schemeClr val="bg1">
                              <a:lumMod val="50000"/>
                            </a:schemeClr>
                          </a:solidFill>
                          <a:latin typeface="Helvetica" pitchFamily="2" charset="0"/>
                        </a:rPr>
                        <a:t>Learn about the advantages of using Globus transfers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Understand endpoints</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Create a local and Google drive endpoint</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Perform a transfer between local and HPC</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Perform a transfer to/from Google drive</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29242862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D6509-0F6F-9556-134C-3E92BD21F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98605-5CA5-BA60-D91C-EFABA614EDE8}"/>
              </a:ext>
            </a:extLst>
          </p:cNvPr>
          <p:cNvSpPr>
            <a:spLocks noGrp="1"/>
          </p:cNvSpPr>
          <p:nvPr>
            <p:ph type="title"/>
          </p:nvPr>
        </p:nvSpPr>
        <p:spPr/>
        <p:txBody>
          <a:bodyPr>
            <a:normAutofit/>
          </a:bodyPr>
          <a:lstStyle/>
          <a:p>
            <a:r>
              <a:rPr lang="en-US" sz="4000" dirty="0">
                <a:latin typeface="Helvetica" pitchFamily="2" charset="0"/>
              </a:rPr>
              <a:t>Your thoughts</a:t>
            </a:r>
          </a:p>
        </p:txBody>
      </p:sp>
      <p:pic>
        <p:nvPicPr>
          <p:cNvPr id="5" name="Graphic 4" descr="Group brainstorm with solid fill">
            <a:extLst>
              <a:ext uri="{FF2B5EF4-FFF2-40B4-BE49-F238E27FC236}">
                <a16:creationId xmlns:a16="http://schemas.microsoft.com/office/drawing/2014/main" id="{2C610ABD-2A88-6E72-38E4-C816D46B48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55298" y="449892"/>
            <a:ext cx="830893" cy="830893"/>
          </a:xfrm>
          <a:prstGeom prst="rect">
            <a:avLst/>
          </a:prstGeom>
        </p:spPr>
      </p:pic>
      <p:sp>
        <p:nvSpPr>
          <p:cNvPr id="6" name="TextBox 5">
            <a:extLst>
              <a:ext uri="{FF2B5EF4-FFF2-40B4-BE49-F238E27FC236}">
                <a16:creationId xmlns:a16="http://schemas.microsoft.com/office/drawing/2014/main" id="{65F875B7-8B4F-A198-3D0E-8F1B3CEC047B}"/>
              </a:ext>
            </a:extLst>
          </p:cNvPr>
          <p:cNvSpPr txBox="1"/>
          <p:nvPr/>
        </p:nvSpPr>
        <p:spPr>
          <a:xfrm>
            <a:off x="908250" y="1690688"/>
            <a:ext cx="5066666" cy="507831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Helvetica" pitchFamily="2" charset="0"/>
              </a:rPr>
              <a:t>Differences between accessing HPC through terminal vs. </a:t>
            </a:r>
            <a:r>
              <a:rPr lang="en-US" dirty="0" err="1">
                <a:latin typeface="Helvetica" pitchFamily="2" charset="0"/>
              </a:rPr>
              <a:t>VSCode</a:t>
            </a:r>
            <a:r>
              <a:rPr lang="en-US" dirty="0">
                <a:latin typeface="Helvetica" pitchFamily="2" charset="0"/>
              </a:rPr>
              <a:t> (li)</a:t>
            </a:r>
          </a:p>
          <a:p>
            <a:pPr marL="285750" indent="-285750">
              <a:lnSpc>
                <a:spcPct val="150000"/>
              </a:lnSpc>
              <a:buFont typeface="Arial" panose="020B0604020202020204" pitchFamily="34" charset="0"/>
              <a:buChar char="•"/>
            </a:pPr>
            <a:r>
              <a:rPr lang="en-US" dirty="0">
                <a:latin typeface="Helvetica" pitchFamily="2" charset="0"/>
              </a:rPr>
              <a:t>Why python did not use GPU despite being in GPU node</a:t>
            </a:r>
          </a:p>
          <a:p>
            <a:pPr marL="285750" indent="-285750">
              <a:lnSpc>
                <a:spcPct val="150000"/>
              </a:lnSpc>
              <a:buFont typeface="Arial" panose="020B0604020202020204" pitchFamily="34" charset="0"/>
              <a:buChar char="•"/>
            </a:pPr>
            <a:r>
              <a:rPr lang="en-US" dirty="0">
                <a:latin typeface="Helvetica" pitchFamily="2" charset="0"/>
              </a:rPr>
              <a:t>How to make sure your program is actually using GPU</a:t>
            </a:r>
          </a:p>
          <a:p>
            <a:pPr marL="285750" indent="-285750">
              <a:lnSpc>
                <a:spcPct val="150000"/>
              </a:lnSpc>
              <a:buFont typeface="Arial" panose="020B0604020202020204" pitchFamily="34" charset="0"/>
              <a:buChar char="•"/>
            </a:pPr>
            <a:r>
              <a:rPr lang="en-US" dirty="0">
                <a:latin typeface="Helvetica" pitchFamily="2" charset="0"/>
              </a:rPr>
              <a:t>Docker</a:t>
            </a:r>
          </a:p>
          <a:p>
            <a:pPr marL="285750" indent="-285750">
              <a:lnSpc>
                <a:spcPct val="150000"/>
              </a:lnSpc>
              <a:buFont typeface="Arial" panose="020B0604020202020204" pitchFamily="34" charset="0"/>
              <a:buChar char="•"/>
            </a:pPr>
            <a:r>
              <a:rPr lang="en-US" dirty="0" err="1">
                <a:latin typeface="Helvetica" pitchFamily="2" charset="0"/>
              </a:rPr>
              <a:t>Nextflow</a:t>
            </a:r>
            <a:r>
              <a:rPr lang="en-US" dirty="0">
                <a:latin typeface="Helvetica" pitchFamily="2" charset="0"/>
              </a:rPr>
              <a:t> </a:t>
            </a:r>
          </a:p>
          <a:p>
            <a:pPr marL="285750" indent="-285750">
              <a:lnSpc>
                <a:spcPct val="150000"/>
              </a:lnSpc>
              <a:buFont typeface="Arial" panose="020B0604020202020204" pitchFamily="34" charset="0"/>
              <a:buChar char="•"/>
            </a:pPr>
            <a:r>
              <a:rPr lang="en-US" dirty="0">
                <a:latin typeface="Helvetica" pitchFamily="2" charset="0"/>
              </a:rPr>
              <a:t>See </a:t>
            </a:r>
            <a:r>
              <a:rPr lang="en-US" dirty="0" err="1">
                <a:latin typeface="Helvetica" pitchFamily="2" charset="0"/>
              </a:rPr>
              <a:t>conda</a:t>
            </a:r>
            <a:r>
              <a:rPr lang="en-US" dirty="0">
                <a:latin typeface="Helvetica" pitchFamily="2" charset="0"/>
              </a:rPr>
              <a:t> environments earlier</a:t>
            </a:r>
          </a:p>
          <a:p>
            <a:pPr marL="285750" indent="-285750">
              <a:lnSpc>
                <a:spcPct val="150000"/>
              </a:lnSpc>
              <a:buFont typeface="Arial" panose="020B0604020202020204" pitchFamily="34" charset="0"/>
              <a:buChar char="•"/>
            </a:pPr>
            <a:r>
              <a:rPr lang="en-US" dirty="0">
                <a:latin typeface="Helvetica" pitchFamily="2" charset="0"/>
              </a:rPr>
              <a:t>Add a Q&amp;A section/method</a:t>
            </a:r>
          </a:p>
          <a:p>
            <a:pPr marL="285750" indent="-285750">
              <a:buFont typeface="Arial" panose="020B0604020202020204" pitchFamily="34" charset="0"/>
              <a:buChar char="•"/>
            </a:pPr>
            <a:endParaRPr lang="en-US" dirty="0">
              <a:latin typeface="Helvetica" pitchFamily="2" charset="0"/>
            </a:endParaRPr>
          </a:p>
          <a:p>
            <a:pPr marL="285750" indent="-285750">
              <a:buFont typeface="Arial" panose="020B0604020202020204" pitchFamily="34" charset="0"/>
              <a:buChar char="•"/>
            </a:pPr>
            <a:r>
              <a:rPr lang="en-US" dirty="0">
                <a:latin typeface="Helvetica" pitchFamily="2" charset="0"/>
              </a:rPr>
              <a:t>PI onboarding handout</a:t>
            </a:r>
          </a:p>
          <a:p>
            <a:pPr marL="285750" indent="-285750">
              <a:buFont typeface="Arial" panose="020B0604020202020204" pitchFamily="34" charset="0"/>
              <a:buChar char="•"/>
            </a:pPr>
            <a:endParaRPr lang="en-US" dirty="0">
              <a:latin typeface="Helvetica" pitchFamily="2" charset="0"/>
            </a:endParaRPr>
          </a:p>
        </p:txBody>
      </p:sp>
      <p:sp>
        <p:nvSpPr>
          <p:cNvPr id="7" name="TextBox 6">
            <a:extLst>
              <a:ext uri="{FF2B5EF4-FFF2-40B4-BE49-F238E27FC236}">
                <a16:creationId xmlns:a16="http://schemas.microsoft.com/office/drawing/2014/main" id="{1CB90818-3ADC-E4E9-FADC-5A0B2DA1F39E}"/>
              </a:ext>
            </a:extLst>
          </p:cNvPr>
          <p:cNvSpPr txBox="1"/>
          <p:nvPr/>
        </p:nvSpPr>
        <p:spPr>
          <a:xfrm>
            <a:off x="6131025" y="1690688"/>
            <a:ext cx="5066666" cy="48013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chemeClr val="bg1">
                    <a:lumMod val="75000"/>
                  </a:schemeClr>
                </a:solidFill>
                <a:latin typeface="Helvetica" pitchFamily="2" charset="0"/>
              </a:rPr>
              <a:t>Differences between accessing HPC through terminal vs. </a:t>
            </a:r>
            <a:r>
              <a:rPr lang="en-US" dirty="0" err="1">
                <a:solidFill>
                  <a:schemeClr val="bg1">
                    <a:lumMod val="75000"/>
                  </a:schemeClr>
                </a:solidFill>
                <a:latin typeface="Helvetica" pitchFamily="2" charset="0"/>
              </a:rPr>
              <a:t>VSCode</a:t>
            </a:r>
            <a:endParaRPr lang="en-US" dirty="0">
              <a:solidFill>
                <a:schemeClr val="bg1">
                  <a:lumMod val="75000"/>
                </a:schemeClr>
              </a:solidFill>
              <a:latin typeface="Helvetica" pitchFamily="2" charset="0"/>
            </a:endParaRPr>
          </a:p>
          <a:p>
            <a:pPr marL="285750" indent="-285750">
              <a:lnSpc>
                <a:spcPct val="150000"/>
              </a:lnSpc>
              <a:buFont typeface="Arial" panose="020B0604020202020204" pitchFamily="34" charset="0"/>
              <a:buChar char="•"/>
            </a:pPr>
            <a:r>
              <a:rPr lang="en-US" dirty="0">
                <a:solidFill>
                  <a:schemeClr val="bg1">
                    <a:lumMod val="75000"/>
                  </a:schemeClr>
                </a:solidFill>
                <a:latin typeface="Helvetica" pitchFamily="2" charset="0"/>
              </a:rPr>
              <a:t>Why python did not use GPU despite being in GPU node</a:t>
            </a:r>
          </a:p>
          <a:p>
            <a:pPr marL="285750" indent="-285750">
              <a:lnSpc>
                <a:spcPct val="150000"/>
              </a:lnSpc>
              <a:buFont typeface="Arial" panose="020B0604020202020204" pitchFamily="34" charset="0"/>
              <a:buChar char="•"/>
            </a:pPr>
            <a:r>
              <a:rPr lang="en-US" dirty="0">
                <a:solidFill>
                  <a:schemeClr val="bg1">
                    <a:lumMod val="75000"/>
                  </a:schemeClr>
                </a:solidFill>
                <a:latin typeface="Helvetica" pitchFamily="2" charset="0"/>
              </a:rPr>
              <a:t>How to make sure your program is actually using GPU</a:t>
            </a:r>
          </a:p>
          <a:p>
            <a:pPr marL="285750" indent="-285750">
              <a:lnSpc>
                <a:spcPct val="150000"/>
              </a:lnSpc>
              <a:buFont typeface="Arial" panose="020B0604020202020204" pitchFamily="34" charset="0"/>
              <a:buChar char="•"/>
            </a:pPr>
            <a:r>
              <a:rPr lang="en-US" dirty="0">
                <a:solidFill>
                  <a:schemeClr val="accent5"/>
                </a:solidFill>
                <a:latin typeface="Helvetica" pitchFamily="2" charset="0"/>
              </a:rPr>
              <a:t>This will be covered in the software section</a:t>
            </a:r>
          </a:p>
          <a:p>
            <a:pPr marL="285750" indent="-285750">
              <a:lnSpc>
                <a:spcPct val="150000"/>
              </a:lnSpc>
              <a:buFont typeface="Arial" panose="020B0604020202020204" pitchFamily="34" charset="0"/>
              <a:buChar char="•"/>
            </a:pPr>
            <a:r>
              <a:rPr lang="en-US" dirty="0">
                <a:solidFill>
                  <a:schemeClr val="accent5"/>
                </a:solidFill>
                <a:latin typeface="Helvetica" pitchFamily="2" charset="0"/>
              </a:rPr>
              <a:t>We are planning a specific training for this</a:t>
            </a:r>
          </a:p>
          <a:p>
            <a:pPr marL="285750" indent="-285750">
              <a:lnSpc>
                <a:spcPct val="150000"/>
              </a:lnSpc>
              <a:buFont typeface="Arial" panose="020B0604020202020204" pitchFamily="34" charset="0"/>
              <a:buChar char="•"/>
            </a:pPr>
            <a:r>
              <a:rPr lang="en-US" dirty="0">
                <a:solidFill>
                  <a:schemeClr val="bg1">
                    <a:lumMod val="75000"/>
                  </a:schemeClr>
                </a:solidFill>
                <a:latin typeface="Helvetica" pitchFamily="2" charset="0"/>
              </a:rPr>
              <a:t>nope</a:t>
            </a:r>
          </a:p>
          <a:p>
            <a:pPr marL="285750" indent="-285750">
              <a:lnSpc>
                <a:spcPct val="150000"/>
              </a:lnSpc>
              <a:buFont typeface="Arial" panose="020B0604020202020204" pitchFamily="34" charset="0"/>
              <a:buChar char="•"/>
            </a:pPr>
            <a:r>
              <a:rPr lang="en-US" dirty="0">
                <a:solidFill>
                  <a:schemeClr val="bg1">
                    <a:lumMod val="75000"/>
                  </a:schemeClr>
                </a:solidFill>
                <a:latin typeface="Helvetica" pitchFamily="2" charset="0"/>
              </a:rPr>
              <a:t>Add a Q&amp;A section/method</a:t>
            </a:r>
          </a:p>
          <a:p>
            <a:pPr marL="285750" indent="-285750">
              <a:buFont typeface="Arial" panose="020B0604020202020204" pitchFamily="34" charset="0"/>
              <a:buChar char="•"/>
            </a:pPr>
            <a:endParaRPr lang="en-US" dirty="0">
              <a:latin typeface="Helvetica" pitchFamily="2" charset="0"/>
            </a:endParaRPr>
          </a:p>
          <a:p>
            <a:pPr marL="285750" indent="-285750">
              <a:buFont typeface="Arial" panose="020B0604020202020204" pitchFamily="34" charset="0"/>
              <a:buChar char="•"/>
            </a:pPr>
            <a:endParaRPr lang="en-US" dirty="0">
              <a:latin typeface="Helvetica" pitchFamily="2" charset="0"/>
            </a:endParaRPr>
          </a:p>
        </p:txBody>
      </p:sp>
    </p:spTree>
    <p:extLst>
      <p:ext uri="{BB962C8B-B14F-4D97-AF65-F5344CB8AC3E}">
        <p14:creationId xmlns:p14="http://schemas.microsoft.com/office/powerpoint/2010/main" val="1414225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7057-3397-2AED-BA3B-7AE55A5BC2AF}"/>
              </a:ext>
            </a:extLst>
          </p:cNvPr>
          <p:cNvSpPr>
            <a:spLocks noGrp="1"/>
          </p:cNvSpPr>
          <p:nvPr>
            <p:ph type="title"/>
          </p:nvPr>
        </p:nvSpPr>
        <p:spPr/>
        <p:txBody>
          <a:bodyPr>
            <a:normAutofit/>
          </a:bodyPr>
          <a:lstStyle/>
          <a:p>
            <a:r>
              <a:rPr lang="en-US" dirty="0">
                <a:latin typeface="Helvetica" pitchFamily="2" charset="0"/>
              </a:rPr>
              <a:t>Why python did not use GPU despite being in GPU node</a:t>
            </a:r>
            <a:endParaRPr lang="en-US" dirty="0"/>
          </a:p>
        </p:txBody>
      </p:sp>
      <p:sp>
        <p:nvSpPr>
          <p:cNvPr id="3" name="Content Placeholder 2">
            <a:extLst>
              <a:ext uri="{FF2B5EF4-FFF2-40B4-BE49-F238E27FC236}">
                <a16:creationId xmlns:a16="http://schemas.microsoft.com/office/drawing/2014/main" id="{5D30940C-9A95-00C2-7626-81ADEFFCC3B3}"/>
              </a:ext>
            </a:extLst>
          </p:cNvPr>
          <p:cNvSpPr>
            <a:spLocks noGrp="1"/>
          </p:cNvSpPr>
          <p:nvPr>
            <p:ph idx="1"/>
          </p:nvPr>
        </p:nvSpPr>
        <p:spPr/>
        <p:txBody>
          <a:bodyPr>
            <a:normAutofit fontScale="92500" lnSpcReduction="20000"/>
          </a:bodyPr>
          <a:lstStyle/>
          <a:p>
            <a:r>
              <a:rPr lang="en-US" dirty="0"/>
              <a:t>Run an interactive job and request a GPU (in a single node)</a:t>
            </a:r>
          </a:p>
          <a:p>
            <a:r>
              <a:rPr lang="en-US" dirty="0"/>
              <a:t>Then you run a small test of your program</a:t>
            </a:r>
          </a:p>
          <a:p>
            <a:r>
              <a:rPr lang="en-US" dirty="0"/>
              <a:t>That program can be sent to background: </a:t>
            </a:r>
            <a:r>
              <a:rPr lang="en-US" dirty="0" err="1"/>
              <a:t>bg</a:t>
            </a:r>
            <a:endParaRPr lang="en-US" dirty="0"/>
          </a:p>
          <a:p>
            <a:r>
              <a:rPr lang="en-US" dirty="0"/>
              <a:t>Use top command to look at what is running and check what type of core it is using</a:t>
            </a:r>
          </a:p>
          <a:p>
            <a:r>
              <a:rPr lang="en-US" dirty="0"/>
              <a:t>If it is not using GPU then provide us more detail</a:t>
            </a:r>
          </a:p>
          <a:p>
            <a:endParaRPr lang="en-US" dirty="0"/>
          </a:p>
          <a:p>
            <a:r>
              <a:rPr lang="en-US" dirty="0"/>
              <a:t>You can normally find out if program using a GPU from its documentation (i.e. -t = threads)</a:t>
            </a:r>
          </a:p>
          <a:p>
            <a:r>
              <a:rPr lang="en-US" dirty="0"/>
              <a:t>If no GPU capability then run it </a:t>
            </a:r>
            <a:r>
              <a:rPr lang="en-US" dirty="0" err="1"/>
              <a:t>throu</a:t>
            </a:r>
            <a:r>
              <a:rPr lang="en-US" dirty="0"/>
              <a:t> “gnu parallel” (see documentation, use installation in </a:t>
            </a:r>
            <a:r>
              <a:rPr lang="en-US" dirty="0" err="1">
                <a:solidFill>
                  <a:srgbClr val="FF0000"/>
                </a:solidFill>
              </a:rPr>
              <a:t>brc</a:t>
            </a:r>
            <a:r>
              <a:rPr lang="en-US" dirty="0">
                <a:solidFill>
                  <a:srgbClr val="FF0000"/>
                </a:solidFill>
              </a:rPr>
              <a:t> </a:t>
            </a:r>
            <a:r>
              <a:rPr lang="en-US" dirty="0" err="1">
                <a:solidFill>
                  <a:srgbClr val="FF0000"/>
                </a:solidFill>
              </a:rPr>
              <a:t>usrapps</a:t>
            </a:r>
            <a:r>
              <a:rPr lang="en-US" dirty="0"/>
              <a:t>)</a:t>
            </a:r>
          </a:p>
        </p:txBody>
      </p:sp>
    </p:spTree>
    <p:extLst>
      <p:ext uri="{BB962C8B-B14F-4D97-AF65-F5344CB8AC3E}">
        <p14:creationId xmlns:p14="http://schemas.microsoft.com/office/powerpoint/2010/main" val="29706107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BE447-1BD3-46AD-7EF0-3098A26049D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B45E4E9-28EB-D34E-87AE-4C93E8CFEDDD}"/>
              </a:ext>
            </a:extLst>
          </p:cNvPr>
          <p:cNvSpPr txBox="1">
            <a:spLocks/>
          </p:cNvSpPr>
          <p:nvPr/>
        </p:nvSpPr>
        <p:spPr>
          <a:xfrm>
            <a:off x="1201274" y="2089105"/>
            <a:ext cx="8245547"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02. Running Jobs on Hazel</a:t>
            </a:r>
          </a:p>
        </p:txBody>
      </p:sp>
      <p:pic>
        <p:nvPicPr>
          <p:cNvPr id="18440" name="Picture 8" descr="Hazel nut icon symbol on white background | Premium Vector">
            <a:extLst>
              <a:ext uri="{FF2B5EF4-FFF2-40B4-BE49-F238E27FC236}">
                <a16:creationId xmlns:a16="http://schemas.microsoft.com/office/drawing/2014/main" id="{148E47D6-DE02-85FE-B390-58996FD60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9125" y="2525388"/>
            <a:ext cx="903612" cy="903612"/>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B68BAFA6-97E3-63AA-B8D7-34530E620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7809" y="3200233"/>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6+ Thousand High Performance Computing Icon Royalty-Free Images, Stock  Photos &amp; Pictures | Shutterstock">
            <a:extLst>
              <a:ext uri="{FF2B5EF4-FFF2-40B4-BE49-F238E27FC236}">
                <a16:creationId xmlns:a16="http://schemas.microsoft.com/office/drawing/2014/main" id="{E41A0696-FE26-C562-3C39-14A12F00AC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627" t="7004" r="11439" b="14000"/>
          <a:stretch>
            <a:fillRect/>
          </a:stretch>
        </p:blipFill>
        <p:spPr bwMode="auto">
          <a:xfrm>
            <a:off x="8645236" y="2149646"/>
            <a:ext cx="1009441" cy="1087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2695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BD5BE-E0FE-2956-8CB8-6F967477ED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00F2DE-1E16-E960-EEE2-DA01F507C85D}"/>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1113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6D08-B2AF-D7E9-20FE-A4481718D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9C7B0-D9D5-E6E7-8E9B-4C8F0CE4193B}"/>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F2D19319-6387-B70F-015E-A0DF6F18B5EA}"/>
              </a:ext>
            </a:extLst>
          </p:cNvPr>
          <p:cNvGraphicFramePr>
            <a:graphicFrameLocks noGrp="1"/>
          </p:cNvGraphicFramePr>
          <p:nvPr>
            <p:extLst>
              <p:ext uri="{D42A27DB-BD31-4B8C-83A1-F6EECF244321}">
                <p14:modId xmlns:p14="http://schemas.microsoft.com/office/powerpoint/2010/main" val="2241002021"/>
              </p:ext>
            </p:extLst>
          </p:nvPr>
        </p:nvGraphicFramePr>
        <p:xfrm>
          <a:off x="957446" y="1495032"/>
          <a:ext cx="10277107" cy="4277459"/>
        </p:xfrm>
        <a:graphic>
          <a:graphicData uri="http://schemas.openxmlformats.org/drawingml/2006/table">
            <a:tbl>
              <a:tblPr firstRow="1" bandRow="1">
                <a:tableStyleId>{5940675A-B579-460E-94D1-54222C63F5DA}</a:tableStyleId>
              </a:tblPr>
              <a:tblGrid>
                <a:gridCol w="1389581">
                  <a:extLst>
                    <a:ext uri="{9D8B030D-6E8A-4147-A177-3AD203B41FA5}">
                      <a16:colId xmlns:a16="http://schemas.microsoft.com/office/drawing/2014/main" val="3588077064"/>
                    </a:ext>
                  </a:extLst>
                </a:gridCol>
                <a:gridCol w="1349052">
                  <a:extLst>
                    <a:ext uri="{9D8B030D-6E8A-4147-A177-3AD203B41FA5}">
                      <a16:colId xmlns:a16="http://schemas.microsoft.com/office/drawing/2014/main" val="2921729674"/>
                    </a:ext>
                  </a:extLst>
                </a:gridCol>
                <a:gridCol w="1297495">
                  <a:extLst>
                    <a:ext uri="{9D8B030D-6E8A-4147-A177-3AD203B41FA5}">
                      <a16:colId xmlns:a16="http://schemas.microsoft.com/office/drawing/2014/main" val="3051897964"/>
                    </a:ext>
                  </a:extLst>
                </a:gridCol>
                <a:gridCol w="1261650">
                  <a:extLst>
                    <a:ext uri="{9D8B030D-6E8A-4147-A177-3AD203B41FA5}">
                      <a16:colId xmlns:a16="http://schemas.microsoft.com/office/drawing/2014/main" val="2411906837"/>
                    </a:ext>
                  </a:extLst>
                </a:gridCol>
                <a:gridCol w="1210093">
                  <a:extLst>
                    <a:ext uri="{9D8B030D-6E8A-4147-A177-3AD203B41FA5}">
                      <a16:colId xmlns:a16="http://schemas.microsoft.com/office/drawing/2014/main" val="2317395656"/>
                    </a:ext>
                  </a:extLst>
                </a:gridCol>
                <a:gridCol w="1273782">
                  <a:extLst>
                    <a:ext uri="{9D8B030D-6E8A-4147-A177-3AD203B41FA5}">
                      <a16:colId xmlns:a16="http://schemas.microsoft.com/office/drawing/2014/main" val="1121361333"/>
                    </a:ext>
                  </a:extLst>
                </a:gridCol>
                <a:gridCol w="1270244">
                  <a:extLst>
                    <a:ext uri="{9D8B030D-6E8A-4147-A177-3AD203B41FA5}">
                      <a16:colId xmlns:a16="http://schemas.microsoft.com/office/drawing/2014/main" val="3820744059"/>
                    </a:ext>
                  </a:extLst>
                </a:gridCol>
                <a:gridCol w="1225210">
                  <a:extLst>
                    <a:ext uri="{9D8B030D-6E8A-4147-A177-3AD203B41FA5}">
                      <a16:colId xmlns:a16="http://schemas.microsoft.com/office/drawing/2014/main" val="1638370077"/>
                    </a:ext>
                  </a:extLst>
                </a:gridCol>
              </a:tblGrid>
              <a:tr h="932543">
                <a:tc>
                  <a:txBody>
                    <a:bodyPr/>
                    <a:lstStyle/>
                    <a:p>
                      <a:pPr algn="ctr"/>
                      <a:r>
                        <a:rPr lang="en-US" sz="1200" b="1" dirty="0">
                          <a:solidFill>
                            <a:schemeClr val="bg1">
                              <a:lumMod val="50000"/>
                            </a:schemeClr>
                          </a:solidFill>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solidFill>
                            <a:schemeClr val="bg1">
                              <a:lumMod val="50000"/>
                            </a:schemeClr>
                          </a:solidFill>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3.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4.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5.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6-8.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80003">
                        <a:alpha val="40000"/>
                      </a:srgbClr>
                    </a:solidFill>
                  </a:tcPr>
                </a:tc>
                <a:tc>
                  <a:txBody>
                    <a:bodyPr/>
                    <a:lstStyle/>
                    <a:p>
                      <a:pPr algn="ctr"/>
                      <a:r>
                        <a:rPr lang="en-US" sz="1200" b="1" dirty="0">
                          <a:latin typeface="Helvetica" pitchFamily="2" charset="0"/>
                        </a:rPr>
                        <a:t>9-12. Data management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1200" b="1" dirty="0">
                          <a:latin typeface="Helvetica" pitchFamily="2" charset="0"/>
                        </a:rPr>
                        <a:t>13. Bonus! – Globus transfers</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030A0">
                        <a:alpha val="41961"/>
                      </a:srgbClr>
                    </a:solidFill>
                  </a:tcPr>
                </a:tc>
                <a:extLst>
                  <a:ext uri="{0D108BD9-81ED-4DB2-BD59-A6C34878D82A}">
                    <a16:rowId xmlns:a16="http://schemas.microsoft.com/office/drawing/2014/main" val="405070096"/>
                  </a:ext>
                </a:extLst>
              </a:tr>
              <a:tr h="373116">
                <a:tc>
                  <a:txBody>
                    <a:bodyPr/>
                    <a:lstStyle/>
                    <a:p>
                      <a:r>
                        <a:rPr lang="en-US" sz="1100" dirty="0">
                          <a:solidFill>
                            <a:schemeClr val="bg1">
                              <a:lumMod val="50000"/>
                            </a:schemeClr>
                          </a:solidFill>
                          <a:latin typeface="Helvetica" pitchFamily="2" charset="0"/>
                        </a:rPr>
                        <a:t>10/29/2025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100" dirty="0">
                          <a:solidFill>
                            <a:schemeClr val="bg1">
                              <a:lumMod val="50000"/>
                            </a:schemeClr>
                          </a:solidFill>
                          <a:latin typeface="Helvetica" pitchFamily="2" charset="0"/>
                        </a:rPr>
                        <a:t>11/12/2025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11/19/2025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12/03/2025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80003">
                        <a:alpha val="21961"/>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Helvetica" pitchFamily="2" charset="0"/>
                        </a:rPr>
                        <a:t>TBD 2026</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030A0">
                        <a:alpha val="21961"/>
                      </a:srgbClr>
                    </a:solidFill>
                  </a:tcPr>
                </a:tc>
                <a:extLst>
                  <a:ext uri="{0D108BD9-81ED-4DB2-BD59-A6C34878D82A}">
                    <a16:rowId xmlns:a16="http://schemas.microsoft.com/office/drawing/2014/main" val="357620817"/>
                  </a:ext>
                </a:extLst>
              </a:tr>
              <a:tr h="2303978">
                <a:tc>
                  <a:txBody>
                    <a:bodyPr/>
                    <a:lstStyle/>
                    <a:p>
                      <a:pPr marL="171450" indent="-171450">
                        <a:buFont typeface="Arial" panose="020B0604020202020204" pitchFamily="34" charset="0"/>
                        <a:buChar char="•"/>
                      </a:pPr>
                      <a:r>
                        <a:rPr lang="en-US" sz="1050" dirty="0">
                          <a:solidFill>
                            <a:schemeClr val="bg1">
                              <a:lumMod val="50000"/>
                            </a:schemeClr>
                          </a:solidFill>
                          <a:latin typeface="Helvetica" pitchFamily="2" charset="0"/>
                        </a:rPr>
                        <a:t>Understand Core HPC Concepts (CPU/GPU, Node/Core)</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Navigate the Hazel HPC Environment</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Get started with obtaining a HPC account</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chemeClr val="bg1">
                              <a:lumMod val="50000"/>
                            </a:schemeClr>
                          </a:solidFill>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solidFill>
                            <a:schemeClr val="bg1">
                              <a:lumMod val="50000"/>
                            </a:schemeClr>
                          </a:solidFill>
                          <a:latin typeface="Helvetica" pitchFamily="2" charset="0"/>
                        </a:rPr>
                        <a:t>Understand LSF job submission </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Running an interactive job</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Create a first job script and submit it</a:t>
                      </a:r>
                    </a:p>
                    <a:p>
                      <a:pPr marL="171450" indent="-171450">
                        <a:buFont typeface="Arial" panose="020B0604020202020204" pitchFamily="34" charset="0"/>
                        <a:buChar char="•"/>
                      </a:pPr>
                      <a:r>
                        <a:rPr lang="en-US" sz="1050" dirty="0">
                          <a:solidFill>
                            <a:schemeClr val="bg1">
                              <a:lumMod val="50000"/>
                            </a:schemeClr>
                          </a:solidFill>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p>
                      <a:pPr marL="171450" indent="-171450">
                        <a:buFont typeface="Arial" panose="020B0604020202020204" pitchFamily="34" charset="0"/>
                        <a:buChar char="•"/>
                      </a:pPr>
                      <a:endParaRPr lang="en-US" sz="1050"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050" dirty="0">
                          <a:latin typeface="Helvetica" pitchFamily="2" charset="0"/>
                        </a:rPr>
                        <a:t>Learn how to load software using: </a:t>
                      </a:r>
                    </a:p>
                    <a:p>
                      <a:pPr marL="171450" indent="-171450">
                        <a:buFont typeface="Arial" panose="020B0604020202020204" pitchFamily="34" charset="0"/>
                        <a:buChar char="•"/>
                      </a:pPr>
                      <a:r>
                        <a:rPr lang="en-US" sz="1050" dirty="0">
                          <a:latin typeface="Helvetica" pitchFamily="2" charset="0"/>
                        </a:rPr>
                        <a:t>Modules</a:t>
                      </a:r>
                    </a:p>
                    <a:p>
                      <a:pPr marL="171450" indent="-171450">
                        <a:buFont typeface="Arial" panose="020B0604020202020204" pitchFamily="34" charset="0"/>
                        <a:buChar char="•"/>
                      </a:pPr>
                      <a:r>
                        <a:rPr lang="en-US" sz="1050" dirty="0">
                          <a:latin typeface="Helvetica" pitchFamily="2" charset="0"/>
                        </a:rPr>
                        <a:t>Containers</a:t>
                      </a:r>
                    </a:p>
                    <a:p>
                      <a:pPr marL="171450" indent="-171450">
                        <a:buFont typeface="Arial" panose="020B0604020202020204" pitchFamily="34" charset="0"/>
                        <a:buChar char="•"/>
                      </a:pPr>
                      <a:r>
                        <a:rPr lang="en-US" sz="1050" dirty="0">
                          <a:latin typeface="Helvetica" pitchFamily="2" charset="0"/>
                        </a:rPr>
                        <a:t>Conda environments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80003">
                        <a:alpha val="21961"/>
                      </a:srgbClr>
                    </a:solidFill>
                  </a:tcPr>
                </a:tc>
                <a:tc>
                  <a:txBody>
                    <a:bodyPr/>
                    <a:lstStyle/>
                    <a:p>
                      <a:r>
                        <a:rPr lang="en-US" sz="1050" dirty="0">
                          <a:latin typeface="Helvetica" pitchFamily="2" charset="0"/>
                        </a:rPr>
                        <a:t>Manage data across the Hazel storage system. 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Learn about the advantages of using Globus transfers</a:t>
                      </a:r>
                    </a:p>
                    <a:p>
                      <a:pPr marL="171450" indent="-171450">
                        <a:buFont typeface="Arial" panose="020B0604020202020204" pitchFamily="34" charset="0"/>
                        <a:buChar char="•"/>
                      </a:pPr>
                      <a:r>
                        <a:rPr lang="en-US" sz="1050" dirty="0">
                          <a:latin typeface="Helvetica" pitchFamily="2" charset="0"/>
                        </a:rPr>
                        <a:t>Understand endpoints</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a transfer between local and HPC</a:t>
                      </a:r>
                    </a:p>
                    <a:p>
                      <a:pPr marL="171450" indent="-171450">
                        <a:buFont typeface="Arial" panose="020B0604020202020204" pitchFamily="34" charset="0"/>
                        <a:buChar char="•"/>
                      </a:pPr>
                      <a:r>
                        <a:rPr lang="en-US" sz="1050" dirty="0">
                          <a:latin typeface="Helvetica" pitchFamily="2" charset="0"/>
                        </a:rPr>
                        <a:t>Perform a transfer to/from Google drive</a:t>
                      </a: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030A0">
                        <a:alpha val="21961"/>
                      </a:srgb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3108556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1648</TotalTime>
  <Words>5678</Words>
  <Application>Microsoft Macintosh PowerPoint</Application>
  <PresentationFormat>Widescreen</PresentationFormat>
  <Paragraphs>783</Paragraphs>
  <Slides>54</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54</vt:i4>
      </vt:variant>
    </vt:vector>
  </HeadingPairs>
  <TitlesOfParts>
    <vt:vector size="65" baseType="lpstr">
      <vt:lpstr>Arial</vt:lpstr>
      <vt:lpstr>Calibri</vt:lpstr>
      <vt:lpstr>Calibri Light</vt:lpstr>
      <vt:lpstr>Courier New</vt:lpstr>
      <vt:lpstr>Helvetica</vt:lpstr>
      <vt:lpstr>Helvetica Light</vt:lpstr>
      <vt:lpstr>Helvetica Light Oblique</vt:lpstr>
      <vt:lpstr>Menlo</vt:lpstr>
      <vt:lpstr>system-ui</vt:lpstr>
      <vt:lpstr>Wingdings</vt:lpstr>
      <vt:lpstr>Office Theme</vt:lpstr>
      <vt:lpstr>BRC workshops: Hazel HPC</vt:lpstr>
      <vt:lpstr>The bioinformatics data challenge</vt:lpstr>
      <vt:lpstr>Workshop Structure</vt:lpstr>
      <vt:lpstr>Leave us your feedback!</vt:lpstr>
      <vt:lpstr>Workshop Structure</vt:lpstr>
      <vt:lpstr>Workshop logistics</vt:lpstr>
      <vt:lpstr>Workshop logistics</vt:lpstr>
      <vt:lpstr>PowerPoint Presentation</vt:lpstr>
      <vt:lpstr>What is an HPC?</vt:lpstr>
      <vt:lpstr>What is an HPC?</vt:lpstr>
      <vt:lpstr>What is an HPC?</vt:lpstr>
      <vt:lpstr>CPU vs. GPU</vt:lpstr>
      <vt:lpstr>CPU vs. GPU</vt:lpstr>
      <vt:lpstr>Node vs. core</vt:lpstr>
      <vt:lpstr>Node vs. core</vt:lpstr>
      <vt:lpstr>Node vs. core</vt:lpstr>
      <vt:lpstr>Node vs. core</vt:lpstr>
      <vt:lpstr>Node vs. core</vt:lpstr>
      <vt:lpstr>Node vs. core</vt:lpstr>
      <vt:lpstr>Memory vs. Storage</vt:lpstr>
      <vt:lpstr>Memory vs. Storage</vt:lpstr>
      <vt:lpstr>Memory vs. Storage</vt:lpstr>
      <vt:lpstr>Memory vs. Storage</vt:lpstr>
      <vt:lpstr>Memory vs. Storage</vt:lpstr>
      <vt:lpstr>Memory vs. Storage</vt:lpstr>
      <vt:lpstr>PowerPoint Presentation</vt:lpstr>
      <vt:lpstr>Hazel HPC structure</vt:lpstr>
      <vt:lpstr>Hazel HPC structure</vt:lpstr>
      <vt:lpstr>Hazel HPC structure</vt:lpstr>
      <vt:lpstr>Hazel HPC structure</vt:lpstr>
      <vt:lpstr>Hazel HPC structure</vt:lpstr>
      <vt:lpstr>Hazel HPC Storage</vt:lpstr>
      <vt:lpstr>Hazel HPC Storage</vt:lpstr>
      <vt:lpstr>Hazel HPC Storage</vt:lpstr>
      <vt:lpstr>Hazel HPC Storage</vt:lpstr>
      <vt:lpstr>Hazel HPC Storage</vt:lpstr>
      <vt:lpstr>Hazel HPC Storage</vt:lpstr>
      <vt:lpstr>Hazel HPC Storage</vt:lpstr>
      <vt:lpstr>PowerPoint Presentation</vt:lpstr>
      <vt:lpstr>Step 1. Login in</vt:lpstr>
      <vt:lpstr>Step 2. Transferring files</vt:lpstr>
      <vt:lpstr>First week checklist</vt:lpstr>
      <vt:lpstr>PowerPoint Presentation</vt:lpstr>
      <vt:lpstr>Leave us your feedback!</vt:lpstr>
      <vt:lpstr>Bonus! Basics of Unix</vt:lpstr>
      <vt:lpstr>Bonus! Basics of Unix</vt:lpstr>
      <vt:lpstr>Leave us your feedback!</vt:lpstr>
      <vt:lpstr>PowerPoint Presentation</vt:lpstr>
      <vt:lpstr>Workshop Structure</vt:lpstr>
      <vt:lpstr>Your thoughts</vt:lpstr>
      <vt:lpstr>Why python did not use GPU despite being in GPU node</vt:lpstr>
      <vt:lpstr>PowerPoint Presentation</vt:lpstr>
      <vt:lpstr>PowerPoint Presentation</vt:lpstr>
      <vt:lpstr>Workshop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23</cp:revision>
  <dcterms:created xsi:type="dcterms:W3CDTF">2025-10-27T16:12:08Z</dcterms:created>
  <dcterms:modified xsi:type="dcterms:W3CDTF">2025-11-10T21:39:04Z</dcterms:modified>
</cp:coreProperties>
</file>