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6" r:id="rId2"/>
    <p:sldId id="259" r:id="rId3"/>
    <p:sldId id="258" r:id="rId4"/>
    <p:sldId id="301" r:id="rId5"/>
    <p:sldId id="296" r:id="rId6"/>
    <p:sldId id="291" r:id="rId7"/>
    <p:sldId id="297" r:id="rId8"/>
    <p:sldId id="260" r:id="rId9"/>
    <p:sldId id="261" r:id="rId10"/>
    <p:sldId id="262" r:id="rId11"/>
    <p:sldId id="263" r:id="rId12"/>
    <p:sldId id="264" r:id="rId13"/>
    <p:sldId id="272" r:id="rId14"/>
    <p:sldId id="274" r:id="rId15"/>
    <p:sldId id="265" r:id="rId16"/>
    <p:sldId id="273" r:id="rId17"/>
    <p:sldId id="266" r:id="rId18"/>
    <p:sldId id="298" r:id="rId19"/>
    <p:sldId id="299" r:id="rId20"/>
    <p:sldId id="267" r:id="rId21"/>
    <p:sldId id="275" r:id="rId22"/>
    <p:sldId id="268" r:id="rId23"/>
    <p:sldId id="276" r:id="rId24"/>
    <p:sldId id="277" r:id="rId25"/>
    <p:sldId id="278" r:id="rId26"/>
    <p:sldId id="269" r:id="rId27"/>
    <p:sldId id="270" r:id="rId28"/>
    <p:sldId id="271" r:id="rId29"/>
    <p:sldId id="279" r:id="rId30"/>
    <p:sldId id="280" r:id="rId31"/>
    <p:sldId id="281" r:id="rId32"/>
    <p:sldId id="282" r:id="rId33"/>
    <p:sldId id="283" r:id="rId34"/>
    <p:sldId id="284" r:id="rId35"/>
    <p:sldId id="285" r:id="rId36"/>
    <p:sldId id="286" r:id="rId37"/>
    <p:sldId id="300" r:id="rId38"/>
    <p:sldId id="287" r:id="rId39"/>
    <p:sldId id="288" r:id="rId40"/>
    <p:sldId id="289" r:id="rId41"/>
    <p:sldId id="290" r:id="rId42"/>
    <p:sldId id="292" r:id="rId43"/>
    <p:sldId id="293" r:id="rId44"/>
    <p:sldId id="302" r:id="rId45"/>
    <p:sldId id="295" r:id="rId46"/>
    <p:sldId id="294" r:id="rId47"/>
    <p:sldId id="303" r:id="rId48"/>
    <p:sldId id="308" r:id="rId49"/>
    <p:sldId id="316" r:id="rId50"/>
    <p:sldId id="314" r:id="rId51"/>
    <p:sldId id="315" r:id="rId52"/>
    <p:sldId id="306" r:id="rId53"/>
    <p:sldId id="317" r:id="rId54"/>
    <p:sldId id="318"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30A0"/>
    <a:srgbClr val="D8000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436"/>
    <p:restoredTop sz="94710"/>
  </p:normalViewPr>
  <p:slideViewPr>
    <p:cSldViewPr snapToGrid="0">
      <p:cViewPr varScale="1">
        <p:scale>
          <a:sx n="113" d="100"/>
          <a:sy n="113" d="100"/>
        </p:scale>
        <p:origin x="11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7B1BB-B1A5-EC45-BF3A-DF1134B2DC02}" type="datetimeFigureOut">
              <a:rPr lang="en-US" smtClean="0"/>
              <a:t>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FC26C8-C37B-D543-9AB9-4FE91B5DFE38}" type="slidenum">
              <a:rPr lang="en-US" smtClean="0"/>
              <a:t>‹#›</a:t>
            </a:fld>
            <a:endParaRPr lang="en-US"/>
          </a:p>
        </p:txBody>
      </p:sp>
    </p:spTree>
    <p:extLst>
      <p:ext uri="{BB962C8B-B14F-4D97-AF65-F5344CB8AC3E}">
        <p14:creationId xmlns:p14="http://schemas.microsoft.com/office/powerpoint/2010/main" val="125425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13970086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FC08E-A492-0805-0A89-BB5B4755C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E5616D-4654-FADB-7C87-C0862898C5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301DCA-20C8-6E14-00D3-0A1094197A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C194C8-7DC4-CB65-8825-6E6073E2DCC9}"/>
              </a:ext>
            </a:extLst>
          </p:cNvPr>
          <p:cNvSpPr>
            <a:spLocks noGrp="1"/>
          </p:cNvSpPr>
          <p:nvPr>
            <p:ph type="sldNum" sz="quarter" idx="5"/>
          </p:nvPr>
        </p:nvSpPr>
        <p:spPr/>
        <p:txBody>
          <a:bodyPr/>
          <a:lstStyle/>
          <a:p>
            <a:fld id="{13FC26C8-C37B-D543-9AB9-4FE91B5DFE38}" type="slidenum">
              <a:rPr lang="en-US" smtClean="0"/>
              <a:t>7</a:t>
            </a:fld>
            <a:endParaRPr lang="en-US"/>
          </a:p>
        </p:txBody>
      </p:sp>
    </p:spTree>
    <p:extLst>
      <p:ext uri="{BB962C8B-B14F-4D97-AF65-F5344CB8AC3E}">
        <p14:creationId xmlns:p14="http://schemas.microsoft.com/office/powerpoint/2010/main" val="3252420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21</a:t>
            </a:fld>
            <a:endParaRPr lang="en-US"/>
          </a:p>
        </p:txBody>
      </p:sp>
    </p:spTree>
    <p:extLst>
      <p:ext uri="{BB962C8B-B14F-4D97-AF65-F5344CB8AC3E}">
        <p14:creationId xmlns:p14="http://schemas.microsoft.com/office/powerpoint/2010/main" val="37857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27</a:t>
            </a:fld>
            <a:endParaRPr lang="en-US"/>
          </a:p>
        </p:txBody>
      </p:sp>
    </p:spTree>
    <p:extLst>
      <p:ext uri="{BB962C8B-B14F-4D97-AF65-F5344CB8AC3E}">
        <p14:creationId xmlns:p14="http://schemas.microsoft.com/office/powerpoint/2010/main" val="2665356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28</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2632-F0A1-B2AD-69EE-842C8139D0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9173C9-DFBF-411B-3B20-D7F3D900C9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64C56-706C-85FF-1B61-3AC725E04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AF1565-7A23-778A-7899-08591CDB8455}"/>
              </a:ext>
            </a:extLst>
          </p:cNvPr>
          <p:cNvSpPr>
            <a:spLocks noGrp="1"/>
          </p:cNvSpPr>
          <p:nvPr>
            <p:ph type="sldNum" sz="quarter" idx="5"/>
          </p:nvPr>
        </p:nvSpPr>
        <p:spPr/>
        <p:txBody>
          <a:bodyPr/>
          <a:lstStyle/>
          <a:p>
            <a:fld id="{13FC26C8-C37B-D543-9AB9-4FE91B5DFE38}" type="slidenum">
              <a:rPr lang="en-US" smtClean="0"/>
              <a:t>29</a:t>
            </a:fld>
            <a:endParaRPr lang="en-US"/>
          </a:p>
        </p:txBody>
      </p:sp>
    </p:spTree>
    <p:extLst>
      <p:ext uri="{BB962C8B-B14F-4D97-AF65-F5344CB8AC3E}">
        <p14:creationId xmlns:p14="http://schemas.microsoft.com/office/powerpoint/2010/main" val="1569521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D0E64-4E60-910B-346F-6E23E043C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33484C-9AE3-F43E-F047-E13DF66C5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95CCF-42D6-E97B-61FC-5BF064CC7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C5EEB0-829E-B962-EB57-BD725EBA0D42}"/>
              </a:ext>
            </a:extLst>
          </p:cNvPr>
          <p:cNvSpPr>
            <a:spLocks noGrp="1"/>
          </p:cNvSpPr>
          <p:nvPr>
            <p:ph type="sldNum" sz="quarter" idx="5"/>
          </p:nvPr>
        </p:nvSpPr>
        <p:spPr/>
        <p:txBody>
          <a:bodyPr/>
          <a:lstStyle/>
          <a:p>
            <a:fld id="{13FC26C8-C37B-D543-9AB9-4FE91B5DFE38}" type="slidenum">
              <a:rPr lang="en-US" smtClean="0"/>
              <a:t>30</a:t>
            </a:fld>
            <a:endParaRPr lang="en-US"/>
          </a:p>
        </p:txBody>
      </p:sp>
    </p:spTree>
    <p:extLst>
      <p:ext uri="{BB962C8B-B14F-4D97-AF65-F5344CB8AC3E}">
        <p14:creationId xmlns:p14="http://schemas.microsoft.com/office/powerpoint/2010/main" val="208446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224E9-A020-6FBB-227A-E67CE5D38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10D1F-A13B-E125-2E6E-F1179C264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52916-25CE-ADBA-EF05-4CE4EE77E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46E800-1537-9A3F-C385-AA8E64D1B5EB}"/>
              </a:ext>
            </a:extLst>
          </p:cNvPr>
          <p:cNvSpPr>
            <a:spLocks noGrp="1"/>
          </p:cNvSpPr>
          <p:nvPr>
            <p:ph type="sldNum" sz="quarter" idx="5"/>
          </p:nvPr>
        </p:nvSpPr>
        <p:spPr/>
        <p:txBody>
          <a:bodyPr/>
          <a:lstStyle/>
          <a:p>
            <a:fld id="{13FC26C8-C37B-D543-9AB9-4FE91B5DFE38}" type="slidenum">
              <a:rPr lang="en-US" smtClean="0"/>
              <a:t>31</a:t>
            </a:fld>
            <a:endParaRPr lang="en-US"/>
          </a:p>
        </p:txBody>
      </p:sp>
    </p:spTree>
    <p:extLst>
      <p:ext uri="{BB962C8B-B14F-4D97-AF65-F5344CB8AC3E}">
        <p14:creationId xmlns:p14="http://schemas.microsoft.com/office/powerpoint/2010/main" val="1171249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32</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33</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34</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35</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10FCB-5535-354B-34DB-2367F9082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A893F-448F-5CBE-86C7-2E47DB600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7129E-9789-D93E-01AC-0FF9A601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FFD77-8873-BAC2-A318-1DE079FEBADD}"/>
              </a:ext>
            </a:extLst>
          </p:cNvPr>
          <p:cNvSpPr>
            <a:spLocks noGrp="1"/>
          </p:cNvSpPr>
          <p:nvPr>
            <p:ph type="sldNum" sz="quarter" idx="5"/>
          </p:nvPr>
        </p:nvSpPr>
        <p:spPr/>
        <p:txBody>
          <a:bodyPr/>
          <a:lstStyle/>
          <a:p>
            <a:fld id="{13FC26C8-C37B-D543-9AB9-4FE91B5DFE38}" type="slidenum">
              <a:rPr lang="en-US" smtClean="0"/>
              <a:t>36</a:t>
            </a:fld>
            <a:endParaRPr lang="en-US"/>
          </a:p>
        </p:txBody>
      </p:sp>
    </p:spTree>
    <p:extLst>
      <p:ext uri="{BB962C8B-B14F-4D97-AF65-F5344CB8AC3E}">
        <p14:creationId xmlns:p14="http://schemas.microsoft.com/office/powerpoint/2010/main" val="36622640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1D32-EFC4-2E06-9C26-4E671E11B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B2999-F979-637F-2241-980CB44FF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EC6D76-EE55-0DAE-0F2F-8A911709E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CF3F58-6256-DB9D-E358-955DCFB45270}"/>
              </a:ext>
            </a:extLst>
          </p:cNvPr>
          <p:cNvSpPr>
            <a:spLocks noGrp="1"/>
          </p:cNvSpPr>
          <p:nvPr>
            <p:ph type="sldNum" sz="quarter" idx="5"/>
          </p:nvPr>
        </p:nvSpPr>
        <p:spPr/>
        <p:txBody>
          <a:bodyPr/>
          <a:lstStyle/>
          <a:p>
            <a:fld id="{13FC26C8-C37B-D543-9AB9-4FE91B5DFE38}" type="slidenum">
              <a:rPr lang="en-US" smtClean="0"/>
              <a:t>37</a:t>
            </a:fld>
            <a:endParaRPr lang="en-US"/>
          </a:p>
        </p:txBody>
      </p:sp>
    </p:spTree>
    <p:extLst>
      <p:ext uri="{BB962C8B-B14F-4D97-AF65-F5344CB8AC3E}">
        <p14:creationId xmlns:p14="http://schemas.microsoft.com/office/powerpoint/2010/main" val="1225429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79A51-9F81-CAC4-AD4E-68E7B7D70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DA96D-F14E-A720-70C2-316117BF9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D6023-2214-CC73-C82A-3CE61A49F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93839E-BA1D-E893-1442-62F3E66091C7}"/>
              </a:ext>
            </a:extLst>
          </p:cNvPr>
          <p:cNvSpPr>
            <a:spLocks noGrp="1"/>
          </p:cNvSpPr>
          <p:nvPr>
            <p:ph type="sldNum" sz="quarter" idx="5"/>
          </p:nvPr>
        </p:nvSpPr>
        <p:spPr/>
        <p:txBody>
          <a:bodyPr/>
          <a:lstStyle/>
          <a:p>
            <a:fld id="{13FC26C8-C37B-D543-9AB9-4FE91B5DFE38}" type="slidenum">
              <a:rPr lang="en-US" smtClean="0"/>
              <a:t>38</a:t>
            </a:fld>
            <a:endParaRPr lang="en-US"/>
          </a:p>
        </p:txBody>
      </p:sp>
    </p:spTree>
    <p:extLst>
      <p:ext uri="{BB962C8B-B14F-4D97-AF65-F5344CB8AC3E}">
        <p14:creationId xmlns:p14="http://schemas.microsoft.com/office/powerpoint/2010/main" val="34717227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7D46F-EF91-7E45-4462-1663E30E3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F0991-3D99-A1A8-839E-4A3652CD9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28F57-5C77-EDAA-6454-79C0147D92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F0A452B4-3C2B-8301-8040-4498B0C862EE}"/>
              </a:ext>
            </a:extLst>
          </p:cNvPr>
          <p:cNvSpPr>
            <a:spLocks noGrp="1"/>
          </p:cNvSpPr>
          <p:nvPr>
            <p:ph type="sldNum" sz="quarter" idx="5"/>
          </p:nvPr>
        </p:nvSpPr>
        <p:spPr/>
        <p:txBody>
          <a:bodyPr/>
          <a:lstStyle/>
          <a:p>
            <a:fld id="{13FC26C8-C37B-D543-9AB9-4FE91B5DFE38}" type="slidenum">
              <a:rPr lang="en-US" smtClean="0"/>
              <a:t>40</a:t>
            </a:fld>
            <a:endParaRPr lang="en-US"/>
          </a:p>
        </p:txBody>
      </p:sp>
    </p:spTree>
    <p:extLst>
      <p:ext uri="{BB962C8B-B14F-4D97-AF65-F5344CB8AC3E}">
        <p14:creationId xmlns:p14="http://schemas.microsoft.com/office/powerpoint/2010/main" val="188560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DBFB5-B661-BBF7-C29F-F07C5A4A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62DC1-549C-F5E6-9508-8C72400C3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48FBA-B7F5-EEAF-E254-525BEAE1A85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98B631FA-388B-BA7B-0064-C2C85956084B}"/>
              </a:ext>
            </a:extLst>
          </p:cNvPr>
          <p:cNvSpPr>
            <a:spLocks noGrp="1"/>
          </p:cNvSpPr>
          <p:nvPr>
            <p:ph type="sldNum" sz="quarter" idx="5"/>
          </p:nvPr>
        </p:nvSpPr>
        <p:spPr/>
        <p:txBody>
          <a:bodyPr/>
          <a:lstStyle/>
          <a:p>
            <a:fld id="{13FC26C8-C37B-D543-9AB9-4FE91B5DFE38}" type="slidenum">
              <a:rPr lang="en-US" smtClean="0"/>
              <a:t>41</a:t>
            </a:fld>
            <a:endParaRPr lang="en-US"/>
          </a:p>
        </p:txBody>
      </p:sp>
    </p:spTree>
    <p:extLst>
      <p:ext uri="{BB962C8B-B14F-4D97-AF65-F5344CB8AC3E}">
        <p14:creationId xmlns:p14="http://schemas.microsoft.com/office/powerpoint/2010/main" val="5807043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0DCA4-D69C-733A-6765-F8A922AD9E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483B57-BAF9-96FD-898F-0B50997590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51506B7-FDAF-8B42-302D-057C9108D574}"/>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5" name="Footer Placeholder 4">
            <a:extLst>
              <a:ext uri="{FF2B5EF4-FFF2-40B4-BE49-F238E27FC236}">
                <a16:creationId xmlns:a16="http://schemas.microsoft.com/office/drawing/2014/main" id="{83437A50-65A1-6AC3-5C78-F8FC4DD8F0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987CE-D3E6-0CB4-B324-3B5949375E40}"/>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191915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6BCB-B749-7C85-E5DD-8F91234CD0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AF7EA-6A50-2705-214C-51640FC3A4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1EE829-65E4-22B2-F105-924F2073EDDA}"/>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5" name="Footer Placeholder 4">
            <a:extLst>
              <a:ext uri="{FF2B5EF4-FFF2-40B4-BE49-F238E27FC236}">
                <a16:creationId xmlns:a16="http://schemas.microsoft.com/office/drawing/2014/main" id="{9ED4C970-E335-E488-081E-736CB23864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EC2DB-AE0A-C896-BD7B-62AED0FC834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31672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06D5B-1803-A599-E44B-1514EF3578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1DABBA-F63B-FB70-C562-12C31F3E35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DA3A61-1470-39AC-7335-EB760751475E}"/>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5" name="Footer Placeholder 4">
            <a:extLst>
              <a:ext uri="{FF2B5EF4-FFF2-40B4-BE49-F238E27FC236}">
                <a16:creationId xmlns:a16="http://schemas.microsoft.com/office/drawing/2014/main" id="{D6B96C5A-5578-4234-1B5B-BA1F95C402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A21843-6B10-8B5B-D8C5-E0E16787AF06}"/>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355476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38EF6-6A5F-A30E-4465-6FA2398F3F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0FFCFD-326D-0BA0-C02B-955328A652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7856912-633A-870B-B588-7B03B73C12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0E65A8-35EE-89F2-F539-54326B0BA869}"/>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6" name="Footer Placeholder 5">
            <a:extLst>
              <a:ext uri="{FF2B5EF4-FFF2-40B4-BE49-F238E27FC236}">
                <a16:creationId xmlns:a16="http://schemas.microsoft.com/office/drawing/2014/main" id="{69432110-F0E3-5417-A69F-7C430922E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0734EE-0B72-EBB8-99EA-E501EA06C9F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171938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0E10-4A97-3176-B5D9-FCE17D8C10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139328-FEC3-CEB7-E85C-42922502C1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122EB1-DB19-E3EC-D9AB-6083BA3A3D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CAAC9C-35AD-B604-A5A0-251CBBFD2F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837EC8-25A9-BFB4-65FF-A5E7CB43B2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7FE671-07C5-F9A5-818B-59F0A331D6DA}"/>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8" name="Footer Placeholder 7">
            <a:extLst>
              <a:ext uri="{FF2B5EF4-FFF2-40B4-BE49-F238E27FC236}">
                <a16:creationId xmlns:a16="http://schemas.microsoft.com/office/drawing/2014/main" id="{E70D4719-A8F1-5691-BB4E-75C20107F0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9D6FE2-B56F-90BB-2EDE-D699BBF34C8D}"/>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409016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701A7-715A-25C3-5CF7-CC763E7E22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F21E9E-C079-9642-ED91-62385BC9B192}"/>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4" name="Footer Placeholder 3">
            <a:extLst>
              <a:ext uri="{FF2B5EF4-FFF2-40B4-BE49-F238E27FC236}">
                <a16:creationId xmlns:a16="http://schemas.microsoft.com/office/drawing/2014/main" id="{007A3446-18EF-AB43-16D2-9F673C8A4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DB57B4-4539-78E3-C728-C92A8ADA4BB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71551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86BF2E-BBA5-8ADA-9F81-2EAE08DE7126}"/>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3" name="Footer Placeholder 2">
            <a:extLst>
              <a:ext uri="{FF2B5EF4-FFF2-40B4-BE49-F238E27FC236}">
                <a16:creationId xmlns:a16="http://schemas.microsoft.com/office/drawing/2014/main" id="{D8EDA15F-2333-DD73-10EB-1BBF60147B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8C964B-5591-424B-C41E-37241B72481A}"/>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501113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03A02-D73B-F845-F148-1B9202A477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5C155C-924C-551B-BB1D-2F0D9FECD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A3D932-BE38-F8D0-CCFE-153AFA1BC2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586B00-749E-2A92-1C08-FD35B3064868}"/>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6" name="Footer Placeholder 5">
            <a:extLst>
              <a:ext uri="{FF2B5EF4-FFF2-40B4-BE49-F238E27FC236}">
                <a16:creationId xmlns:a16="http://schemas.microsoft.com/office/drawing/2014/main" id="{0EA5AC2F-CE02-FBB0-3C34-48EA0189E3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303969-F328-BAF7-7A44-07F24E368C59}"/>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144103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B373-D9C7-9750-69C6-C17E3BEBB2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612547-2DA5-B4B5-9784-11E7AB4A2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79D8E2-B775-B393-7821-A33B78CCE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F2922E-B6F2-5E32-FD1A-796A4BE70B97}"/>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6" name="Footer Placeholder 5">
            <a:extLst>
              <a:ext uri="{FF2B5EF4-FFF2-40B4-BE49-F238E27FC236}">
                <a16:creationId xmlns:a16="http://schemas.microsoft.com/office/drawing/2014/main" id="{B3B11430-C37F-38EA-17D4-39F36108F6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A7E71E-450F-C2BD-4736-86702A67D648}"/>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885910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499A4-6D27-17A5-D21E-8EF758A72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780B756-FECF-9A85-8A32-69E92C78A1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D11F35-027B-CACF-61C3-9E12FC807300}"/>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5" name="Footer Placeholder 4">
            <a:extLst>
              <a:ext uri="{FF2B5EF4-FFF2-40B4-BE49-F238E27FC236}">
                <a16:creationId xmlns:a16="http://schemas.microsoft.com/office/drawing/2014/main" id="{2625DB7D-F335-1BE5-552B-843D3647DA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977FA1-D1AC-50B7-3F41-1F022CF96D1B}"/>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213078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5DD0BD-A7DF-8C1A-3130-9CCB7C33AC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087075-ED1A-1DAC-057C-B218889BD1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64CED7-CD35-8CEF-1C3D-C2A70558EF90}"/>
              </a:ext>
            </a:extLst>
          </p:cNvPr>
          <p:cNvSpPr>
            <a:spLocks noGrp="1"/>
          </p:cNvSpPr>
          <p:nvPr>
            <p:ph type="dt" sz="half" idx="10"/>
          </p:nvPr>
        </p:nvSpPr>
        <p:spPr/>
        <p:txBody>
          <a:bodyPr/>
          <a:lstStyle/>
          <a:p>
            <a:fld id="{32B7B50D-1189-A04C-A064-8D66602DAC23}" type="datetimeFigureOut">
              <a:rPr lang="en-US" smtClean="0"/>
              <a:t>1/20/26</a:t>
            </a:fld>
            <a:endParaRPr lang="en-US"/>
          </a:p>
        </p:txBody>
      </p:sp>
      <p:sp>
        <p:nvSpPr>
          <p:cNvPr id="5" name="Footer Placeholder 4">
            <a:extLst>
              <a:ext uri="{FF2B5EF4-FFF2-40B4-BE49-F238E27FC236}">
                <a16:creationId xmlns:a16="http://schemas.microsoft.com/office/drawing/2014/main" id="{47CEA3CF-38CD-8B00-1642-5481EFD5B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83E9B-8103-B8E8-2329-AB801D9513A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21339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50D847-CBEB-7C60-4F79-2EF28BD26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6E6717-BA0B-5C3C-F73F-D4DD6F0D20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3E1A8E-A61F-C460-8DF1-7F28818B6A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B7B50D-1189-A04C-A064-8D66602DAC23}" type="datetimeFigureOut">
              <a:rPr lang="en-US" smtClean="0"/>
              <a:t>1/20/26</a:t>
            </a:fld>
            <a:endParaRPr lang="en-US"/>
          </a:p>
        </p:txBody>
      </p:sp>
      <p:sp>
        <p:nvSpPr>
          <p:cNvPr id="5" name="Footer Placeholder 4">
            <a:extLst>
              <a:ext uri="{FF2B5EF4-FFF2-40B4-BE49-F238E27FC236}">
                <a16:creationId xmlns:a16="http://schemas.microsoft.com/office/drawing/2014/main" id="{A15D0B72-231B-784E-E7A3-E52B66E9EE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6BF07C-1891-2823-975B-F12033BD2B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48A915-4B44-3C45-8157-44CA11514BFE}" type="slidenum">
              <a:rPr lang="en-US" smtClean="0"/>
              <a:t>‹#›</a:t>
            </a:fld>
            <a:endParaRPr lang="en-US"/>
          </a:p>
        </p:txBody>
      </p:sp>
    </p:spTree>
    <p:extLst>
      <p:ext uri="{BB962C8B-B14F-4D97-AF65-F5344CB8AC3E}">
        <p14:creationId xmlns:p14="http://schemas.microsoft.com/office/powerpoint/2010/main" val="4163856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jpeg"/><Relationship Id="rId5" Type="http://schemas.openxmlformats.org/officeDocument/2006/relationships/image" Target="../media/image6.pn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23.jpeg"/></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23.jpeg"/></Relationships>
</file>

<file path=ppt/slides/_rels/slide40.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10.jpe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28.jpe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10.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8.jpeg"/><Relationship Id="rId4" Type="http://schemas.openxmlformats.org/officeDocument/2006/relationships/image" Target="../media/image27.png"/></Relationships>
</file>

<file path=ppt/slides/_rels/slide42.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jpeg"/><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October 29</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115B-56F2-431D-EC5E-9C5E8026E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CB7A4-535B-7C22-1141-79956B1BA947}"/>
              </a:ext>
            </a:extLst>
          </p:cNvPr>
          <p:cNvSpPr>
            <a:spLocks noGrp="1"/>
          </p:cNvSpPr>
          <p:nvPr>
            <p:ph type="title"/>
          </p:nvPr>
        </p:nvSpPr>
        <p:spPr/>
        <p:txBody>
          <a:bodyPr>
            <a:normAutofit/>
          </a:bodyPr>
          <a:lstStyle/>
          <a:p>
            <a:r>
              <a:rPr lang="en-US" sz="4000" dirty="0">
                <a:latin typeface="Helvetica" pitchFamily="2" charset="0"/>
              </a:rPr>
              <a:t>The bioinformatics data challenge</a:t>
            </a:r>
          </a:p>
        </p:txBody>
      </p:sp>
      <p:pic>
        <p:nvPicPr>
          <p:cNvPr id="2050" name="Picture 2" descr="6+ Thousand High Performance Computing Icon Royalty-Free Images, Stock  Photos &amp; Pictures | Shutterstock">
            <a:extLst>
              <a:ext uri="{FF2B5EF4-FFF2-40B4-BE49-F238E27FC236}">
                <a16:creationId xmlns:a16="http://schemas.microsoft.com/office/drawing/2014/main" id="{8321E816-0E81-944C-9C2E-8E55CE06DEF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3888"/>
          <a:stretch>
            <a:fillRect/>
          </a:stretch>
        </p:blipFill>
        <p:spPr bwMode="auto">
          <a:xfrm>
            <a:off x="3604273" y="4007742"/>
            <a:ext cx="1899431" cy="176146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Laptop with solid fill">
            <a:extLst>
              <a:ext uri="{FF2B5EF4-FFF2-40B4-BE49-F238E27FC236}">
                <a16:creationId xmlns:a16="http://schemas.microsoft.com/office/drawing/2014/main" id="{1E9A05F3-4BAF-85D5-1F04-094067FBAF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88694" y="1962472"/>
            <a:ext cx="1325563" cy="1325563"/>
          </a:xfrm>
          <a:prstGeom prst="rect">
            <a:avLst/>
          </a:prstGeom>
        </p:spPr>
      </p:pic>
      <p:pic>
        <p:nvPicPr>
          <p:cNvPr id="2052" name="Picture 4" descr="Sequencing - Free computer icons">
            <a:extLst>
              <a:ext uri="{FF2B5EF4-FFF2-40B4-BE49-F238E27FC236}">
                <a16:creationId xmlns:a16="http://schemas.microsoft.com/office/drawing/2014/main" id="{7434EDCC-59AA-1009-6ECB-08CBAE46938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45991" y="2113500"/>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AC799773-25D0-B572-7622-B2D77B0BF7E3}"/>
              </a:ext>
            </a:extLst>
          </p:cNvPr>
          <p:cNvCxnSpPr>
            <a:cxnSpLocks/>
          </p:cNvCxnSpPr>
          <p:nvPr/>
        </p:nvCxnSpPr>
        <p:spPr>
          <a:xfrm>
            <a:off x="2398023" y="2625254"/>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A31D8C8-CD3C-51C9-3B8D-6DD508A5C30E}"/>
              </a:ext>
            </a:extLst>
          </p:cNvPr>
          <p:cNvSpPr txBox="1"/>
          <p:nvPr/>
        </p:nvSpPr>
        <p:spPr>
          <a:xfrm>
            <a:off x="8596221" y="1690688"/>
            <a:ext cx="2842805" cy="1569660"/>
          </a:xfrm>
          <a:prstGeom prst="rect">
            <a:avLst/>
          </a:prstGeom>
          <a:noFill/>
        </p:spPr>
        <p:txBody>
          <a:bodyPr wrap="square">
            <a:spAutoFit/>
          </a:bodyPr>
          <a:lstStyle/>
          <a:p>
            <a:r>
              <a:rPr lang="en-US" sz="1600" b="1" dirty="0">
                <a:solidFill>
                  <a:srgbClr val="FF0000"/>
                </a:solidFill>
                <a:latin typeface="Helvetica" pitchFamily="2" charset="0"/>
              </a:rPr>
              <a:t>Problem:</a:t>
            </a:r>
            <a:r>
              <a:rPr lang="en-US" sz="1600" dirty="0">
                <a:solidFill>
                  <a:srgbClr val="FF0000"/>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Computation takes too long</a:t>
            </a:r>
          </a:p>
          <a:p>
            <a:pPr marL="285750" indent="-285750" fontAlgn="base">
              <a:buFont typeface="Arial" panose="020B0604020202020204" pitchFamily="34" charset="0"/>
              <a:buChar char="•"/>
            </a:pPr>
            <a:r>
              <a:rPr lang="en-US" sz="1600" dirty="0">
                <a:latin typeface="Helvetica" pitchFamily="2" charset="0"/>
              </a:rPr>
              <a:t>Modern datasets are too big </a:t>
            </a:r>
          </a:p>
          <a:p>
            <a:pPr marL="285750" indent="-285750" fontAlgn="base">
              <a:buFont typeface="Arial" panose="020B0604020202020204" pitchFamily="34" charset="0"/>
              <a:buChar char="•"/>
            </a:pPr>
            <a:r>
              <a:rPr lang="en-US" sz="1600" dirty="0">
                <a:latin typeface="Helvetica" pitchFamily="2" charset="0"/>
              </a:rPr>
              <a:t>Too many calculations</a:t>
            </a:r>
          </a:p>
        </p:txBody>
      </p:sp>
      <p:cxnSp>
        <p:nvCxnSpPr>
          <p:cNvPr id="18" name="Straight Arrow Connector 17">
            <a:extLst>
              <a:ext uri="{FF2B5EF4-FFF2-40B4-BE49-F238E27FC236}">
                <a16:creationId xmlns:a16="http://schemas.microsoft.com/office/drawing/2014/main" id="{1AFFF3F8-814B-1ADA-8A9B-8304BC8EB2B3}"/>
              </a:ext>
            </a:extLst>
          </p:cNvPr>
          <p:cNvCxnSpPr>
            <a:cxnSpLocks/>
          </p:cNvCxnSpPr>
          <p:nvPr/>
        </p:nvCxnSpPr>
        <p:spPr>
          <a:xfrm>
            <a:off x="5672447" y="2639700"/>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Sequencing - Free computer icons">
            <a:extLst>
              <a:ext uri="{FF2B5EF4-FFF2-40B4-BE49-F238E27FC236}">
                <a16:creationId xmlns:a16="http://schemas.microsoft.com/office/drawing/2014/main" id="{273EF8EA-52C8-2CCA-F347-3DC63103EDF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45991" y="4565473"/>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54ECFA63-1278-21A0-2395-C747195095A0}"/>
              </a:ext>
            </a:extLst>
          </p:cNvPr>
          <p:cNvCxnSpPr>
            <a:cxnSpLocks/>
          </p:cNvCxnSpPr>
          <p:nvPr/>
        </p:nvCxnSpPr>
        <p:spPr>
          <a:xfrm>
            <a:off x="2398023"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285422D-3B0A-47F8-B15C-DE5388034B98}"/>
              </a:ext>
            </a:extLst>
          </p:cNvPr>
          <p:cNvCxnSpPr>
            <a:cxnSpLocks/>
          </p:cNvCxnSpPr>
          <p:nvPr/>
        </p:nvCxnSpPr>
        <p:spPr>
          <a:xfrm>
            <a:off x="5672447"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56" name="Picture 8" descr="6+ Thousand Success Fail Icon Royalty-Free Images, Stock Photos &amp; Pictures  | Shutterstock">
            <a:extLst>
              <a:ext uri="{FF2B5EF4-FFF2-40B4-BE49-F238E27FC236}">
                <a16:creationId xmlns:a16="http://schemas.microsoft.com/office/drawing/2014/main" id="{36CC3D8C-101C-AA22-4B44-29624E99DC5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44956" b="17466"/>
          <a:stretch>
            <a:fillRect/>
          </a:stretch>
        </p:blipFill>
        <p:spPr bwMode="auto">
          <a:xfrm>
            <a:off x="6782252" y="4390999"/>
            <a:ext cx="1342845" cy="1084175"/>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6+ Thousand Success Fail Icon Royalty-Free Images, Stock Photos &amp; Pictures  | Shutterstock">
            <a:extLst>
              <a:ext uri="{FF2B5EF4-FFF2-40B4-BE49-F238E27FC236}">
                <a16:creationId xmlns:a16="http://schemas.microsoft.com/office/drawing/2014/main" id="{CD28C392-5F34-FC20-939D-C5858F52564A}"/>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52320" b="13714"/>
          <a:stretch>
            <a:fillRect/>
          </a:stretch>
        </p:blipFill>
        <p:spPr bwMode="auto">
          <a:xfrm>
            <a:off x="7034348" y="2032437"/>
            <a:ext cx="1163185" cy="113346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CA786265-1BB3-89DF-E9C0-2059FD6C1528}"/>
              </a:ext>
            </a:extLst>
          </p:cNvPr>
          <p:cNvSpPr txBox="1"/>
          <p:nvPr/>
        </p:nvSpPr>
        <p:spPr>
          <a:xfrm>
            <a:off x="8596221" y="3917423"/>
            <a:ext cx="3160351" cy="1815882"/>
          </a:xfrm>
          <a:prstGeom prst="rect">
            <a:avLst/>
          </a:prstGeom>
          <a:noFill/>
        </p:spPr>
        <p:txBody>
          <a:bodyPr wrap="square">
            <a:spAutoFit/>
          </a:bodyPr>
          <a:lstStyle/>
          <a:p>
            <a:r>
              <a:rPr lang="en-US" sz="1600" b="1" dirty="0">
                <a:solidFill>
                  <a:schemeClr val="accent6"/>
                </a:solidFill>
                <a:latin typeface="Helvetica" pitchFamily="2" charset="0"/>
              </a:rPr>
              <a:t>Solution:</a:t>
            </a:r>
            <a:r>
              <a:rPr lang="en-US" sz="1600" dirty="0">
                <a:solidFill>
                  <a:schemeClr val="accent6"/>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Get a computer for exclusive use</a:t>
            </a:r>
          </a:p>
          <a:p>
            <a:pPr marL="285750" indent="-285750" fontAlgn="base">
              <a:buFont typeface="Arial" panose="020B0604020202020204" pitchFamily="34" charset="0"/>
              <a:buChar char="•"/>
            </a:pPr>
            <a:r>
              <a:rPr lang="en-US" sz="1600" dirty="0">
                <a:latin typeface="Helvetica" pitchFamily="2" charset="0"/>
              </a:rPr>
              <a:t>Divide tasks between many computers</a:t>
            </a:r>
          </a:p>
          <a:p>
            <a:pPr marL="285750" indent="-285750" fontAlgn="base">
              <a:buFont typeface="Arial" panose="020B0604020202020204" pitchFamily="34" charset="0"/>
              <a:buChar char="•"/>
            </a:pPr>
            <a:r>
              <a:rPr lang="en-US" sz="1600" dirty="0">
                <a:latin typeface="Helvetica" pitchFamily="2" charset="0"/>
              </a:rPr>
              <a:t>Use lots of computers simultaneously</a:t>
            </a:r>
          </a:p>
        </p:txBody>
      </p:sp>
      <p:sp>
        <p:nvSpPr>
          <p:cNvPr id="27" name="TextBox 26">
            <a:extLst>
              <a:ext uri="{FF2B5EF4-FFF2-40B4-BE49-F238E27FC236}">
                <a16:creationId xmlns:a16="http://schemas.microsoft.com/office/drawing/2014/main" id="{46571F5D-E344-BB2D-57F1-218741FAA9C2}"/>
              </a:ext>
            </a:extLst>
          </p:cNvPr>
          <p:cNvSpPr txBox="1"/>
          <p:nvPr/>
        </p:nvSpPr>
        <p:spPr>
          <a:xfrm>
            <a:off x="797166" y="3291125"/>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8" name="TextBox 27">
            <a:extLst>
              <a:ext uri="{FF2B5EF4-FFF2-40B4-BE49-F238E27FC236}">
                <a16:creationId xmlns:a16="http://schemas.microsoft.com/office/drawing/2014/main" id="{09E1652E-04D0-65AA-2CC5-708E7A856AF2}"/>
              </a:ext>
            </a:extLst>
          </p:cNvPr>
          <p:cNvSpPr txBox="1"/>
          <p:nvPr/>
        </p:nvSpPr>
        <p:spPr>
          <a:xfrm>
            <a:off x="797166" y="5659928"/>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9" name="TextBox 28">
            <a:extLst>
              <a:ext uri="{FF2B5EF4-FFF2-40B4-BE49-F238E27FC236}">
                <a16:creationId xmlns:a16="http://schemas.microsoft.com/office/drawing/2014/main" id="{F97DF58E-2314-ED4E-8E0F-9240637FBB70}"/>
              </a:ext>
            </a:extLst>
          </p:cNvPr>
          <p:cNvSpPr txBox="1"/>
          <p:nvPr/>
        </p:nvSpPr>
        <p:spPr>
          <a:xfrm>
            <a:off x="3708135" y="3291125"/>
            <a:ext cx="168668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Personal computer</a:t>
            </a:r>
          </a:p>
        </p:txBody>
      </p:sp>
      <p:sp>
        <p:nvSpPr>
          <p:cNvPr id="30" name="TextBox 29">
            <a:extLst>
              <a:ext uri="{FF2B5EF4-FFF2-40B4-BE49-F238E27FC236}">
                <a16:creationId xmlns:a16="http://schemas.microsoft.com/office/drawing/2014/main" id="{B34146DC-DCE8-7F8A-4FCC-98B253B1295B}"/>
              </a:ext>
            </a:extLst>
          </p:cNvPr>
          <p:cNvSpPr txBox="1"/>
          <p:nvPr/>
        </p:nvSpPr>
        <p:spPr>
          <a:xfrm>
            <a:off x="3257465" y="5659928"/>
            <a:ext cx="2731838"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High performance cluster (HPC)</a:t>
            </a:r>
          </a:p>
        </p:txBody>
      </p:sp>
    </p:spTree>
    <p:extLst>
      <p:ext uri="{BB962C8B-B14F-4D97-AF65-F5344CB8AC3E}">
        <p14:creationId xmlns:p14="http://schemas.microsoft.com/office/powerpoint/2010/main" val="846848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608920168"/>
              </p:ext>
            </p:extLst>
          </p:nvPr>
        </p:nvGraphicFramePr>
        <p:xfrm>
          <a:off x="838200" y="1778354"/>
          <a:ext cx="10715265" cy="4156956"/>
        </p:xfrm>
        <a:graphic>
          <a:graphicData uri="http://schemas.openxmlformats.org/drawingml/2006/table">
            <a:tbl>
              <a:tblPr firstRow="1" bandRow="1">
                <a:tableStyleId>{5940675A-B579-460E-94D1-54222C63F5DA}</a:tableStyleId>
              </a:tblPr>
              <a:tblGrid>
                <a:gridCol w="1426018">
                  <a:extLst>
                    <a:ext uri="{9D8B030D-6E8A-4147-A177-3AD203B41FA5}">
                      <a16:colId xmlns:a16="http://schemas.microsoft.com/office/drawing/2014/main" val="197325441"/>
                    </a:ext>
                  </a:extLst>
                </a:gridCol>
                <a:gridCol w="1426018">
                  <a:extLst>
                    <a:ext uri="{9D8B030D-6E8A-4147-A177-3AD203B41FA5}">
                      <a16:colId xmlns:a16="http://schemas.microsoft.com/office/drawing/2014/main" val="3588077064"/>
                    </a:ext>
                  </a:extLst>
                </a:gridCol>
                <a:gridCol w="1384425">
                  <a:extLst>
                    <a:ext uri="{9D8B030D-6E8A-4147-A177-3AD203B41FA5}">
                      <a16:colId xmlns:a16="http://schemas.microsoft.com/office/drawing/2014/main" val="2921729674"/>
                    </a:ext>
                  </a:extLst>
                </a:gridCol>
                <a:gridCol w="1331517">
                  <a:extLst>
                    <a:ext uri="{9D8B030D-6E8A-4147-A177-3AD203B41FA5}">
                      <a16:colId xmlns:a16="http://schemas.microsoft.com/office/drawing/2014/main" val="3051897964"/>
                    </a:ext>
                  </a:extLst>
                </a:gridCol>
                <a:gridCol w="1294732">
                  <a:extLst>
                    <a:ext uri="{9D8B030D-6E8A-4147-A177-3AD203B41FA5}">
                      <a16:colId xmlns:a16="http://schemas.microsoft.com/office/drawing/2014/main" val="2411906837"/>
                    </a:ext>
                  </a:extLst>
                </a:gridCol>
                <a:gridCol w="1241822">
                  <a:extLst>
                    <a:ext uri="{9D8B030D-6E8A-4147-A177-3AD203B41FA5}">
                      <a16:colId xmlns:a16="http://schemas.microsoft.com/office/drawing/2014/main" val="2317395656"/>
                    </a:ext>
                  </a:extLst>
                </a:gridCol>
                <a:gridCol w="1307182">
                  <a:extLst>
                    <a:ext uri="{9D8B030D-6E8A-4147-A177-3AD203B41FA5}">
                      <a16:colId xmlns:a16="http://schemas.microsoft.com/office/drawing/2014/main" val="1121361333"/>
                    </a:ext>
                  </a:extLst>
                </a:gridCol>
                <a:gridCol w="1303551">
                  <a:extLst>
                    <a:ext uri="{9D8B030D-6E8A-4147-A177-3AD203B41FA5}">
                      <a16:colId xmlns:a16="http://schemas.microsoft.com/office/drawing/2014/main" val="3820744059"/>
                    </a:ext>
                  </a:extLst>
                </a:gridCol>
              </a:tblGrid>
              <a:tr h="1132074">
                <a:tc>
                  <a:txBody>
                    <a:bodyPr/>
                    <a:lstStyle/>
                    <a:p>
                      <a:pPr algn="ctr"/>
                      <a:r>
                        <a:rPr lang="en-US" sz="1200" b="1" dirty="0">
                          <a:latin typeface="Helvetica" pitchFamily="2" charset="0"/>
                        </a:rPr>
                        <a:t>0. Globus transfers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030A0">
                        <a:alpha val="34902"/>
                      </a:srgbClr>
                    </a:solidFill>
                  </a:tcPr>
                </a:tc>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3.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5.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6-8.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80003">
                        <a:alpha val="40000"/>
                      </a:srgbClr>
                    </a:solidFill>
                  </a:tcPr>
                </a:tc>
                <a:tc>
                  <a:txBody>
                    <a:bodyPr/>
                    <a:lstStyle/>
                    <a:p>
                      <a:pPr algn="ctr"/>
                      <a:r>
                        <a:rPr lang="en-US" sz="1200" b="1" dirty="0">
                          <a:latin typeface="Helvetica" pitchFamily="2" charset="0"/>
                        </a:rPr>
                        <a:t>9-12.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024882">
                <a:tc>
                  <a:txBody>
                    <a:bodyPr/>
                    <a:lstStyle/>
                    <a:p>
                      <a:pPr marL="171450" indent="-171450">
                        <a:buFont typeface="Arial" panose="020B0604020202020204" pitchFamily="34" charset="0"/>
                        <a:buChar char="•"/>
                      </a:pPr>
                      <a:r>
                        <a:rPr lang="en-US" sz="1050" dirty="0">
                          <a:latin typeface="Helvetica" pitchFamily="2" charset="0"/>
                        </a:rPr>
                        <a:t>Learn about the advantages of using Globus transfers</a:t>
                      </a:r>
                    </a:p>
                    <a:p>
                      <a:pPr marL="171450" indent="-171450">
                        <a:buFont typeface="Arial" panose="020B0604020202020204" pitchFamily="34" charset="0"/>
                        <a:buChar char="•"/>
                      </a:pPr>
                      <a:r>
                        <a:rPr lang="en-US" sz="1050" dirty="0">
                          <a:latin typeface="Helvetica" pitchFamily="2" charset="0"/>
                        </a:rPr>
                        <a:t>Understand endpoints</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a transfer between local and HPC</a:t>
                      </a:r>
                    </a:p>
                    <a:p>
                      <a:pPr marL="171450" indent="-171450">
                        <a:buFont typeface="Arial" panose="020B0604020202020204" pitchFamily="34" charset="0"/>
                        <a:buChar char="•"/>
                      </a:pPr>
                      <a:r>
                        <a:rPr lang="en-US" sz="1050" dirty="0">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p>
                      <a:pPr marL="171450" indent="-171450">
                        <a:buFont typeface="Arial" panose="020B0604020202020204" pitchFamily="34" charset="0"/>
                        <a:buChar char="•"/>
                      </a:pPr>
                      <a:endParaRPr lang="en-US" sz="1050"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r>
                        <a:rPr lang="en-US" sz="1050" dirty="0">
                          <a:latin typeface="Helvetica" pitchFamily="2" charset="0"/>
                        </a:rPr>
                        <a:t>Learn how to load software using: </a:t>
                      </a:r>
                    </a:p>
                    <a:p>
                      <a:pPr marL="171450" indent="-171450">
                        <a:buFont typeface="Arial" panose="020B0604020202020204" pitchFamily="34" charset="0"/>
                        <a:buChar char="•"/>
                      </a:pPr>
                      <a:r>
                        <a:rPr lang="en-US" sz="1050" dirty="0">
                          <a:latin typeface="Helvetica" pitchFamily="2" charset="0"/>
                        </a:rPr>
                        <a:t>Modules</a:t>
                      </a:r>
                    </a:p>
                    <a:p>
                      <a:pPr marL="171450" indent="-171450">
                        <a:buFont typeface="Arial" panose="020B0604020202020204" pitchFamily="34" charset="0"/>
                        <a:buChar char="•"/>
                      </a:pPr>
                      <a:r>
                        <a:rPr lang="en-US" sz="1050" dirty="0">
                          <a:latin typeface="Helvetica" pitchFamily="2" charset="0"/>
                        </a:rPr>
                        <a:t>Containers</a:t>
                      </a:r>
                    </a:p>
                    <a:p>
                      <a:pPr marL="171450" indent="-171450">
                        <a:buFont typeface="Arial" panose="020B0604020202020204" pitchFamily="34" charset="0"/>
                        <a:buChar char="•"/>
                      </a:pPr>
                      <a:r>
                        <a:rPr lang="en-US" sz="1050" dirty="0">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80003">
                        <a:alpha val="21961"/>
                      </a:srgbClr>
                    </a:solidFill>
                  </a:tcPr>
                </a:tc>
                <a:tc>
                  <a:txBody>
                    <a:bodyPr/>
                    <a:lstStyle/>
                    <a:p>
                      <a:r>
                        <a:rPr lang="en-US" sz="1050" dirty="0">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84383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DB88E-CF58-5216-E3DA-A70DE3B9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2DEB1-B666-14B3-CA8F-FBEED22D4D7F}"/>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7A16492F-058B-6A9A-6F90-B4D8DE161BAB}"/>
              </a:ext>
            </a:extLst>
          </p:cNvPr>
          <p:cNvGraphicFramePr>
            <a:graphicFrameLocks noGrp="1"/>
          </p:cNvGraphicFramePr>
          <p:nvPr>
            <p:extLst>
              <p:ext uri="{D42A27DB-BD31-4B8C-83A1-F6EECF244321}">
                <p14:modId xmlns:p14="http://schemas.microsoft.com/office/powerpoint/2010/main" val="283767127"/>
              </p:ext>
            </p:extLst>
          </p:nvPr>
        </p:nvGraphicFramePr>
        <p:xfrm>
          <a:off x="1034142" y="1893162"/>
          <a:ext cx="10123715" cy="3797399"/>
        </p:xfrm>
        <a:graphic>
          <a:graphicData uri="http://schemas.openxmlformats.org/drawingml/2006/table">
            <a:tbl>
              <a:tblPr firstRow="1" bandRow="1">
                <a:tableStyleId>{5940675A-B579-460E-94D1-54222C63F5DA}</a:tableStyleId>
              </a:tblPr>
              <a:tblGrid>
                <a:gridCol w="1567543">
                  <a:extLst>
                    <a:ext uri="{9D8B030D-6E8A-4147-A177-3AD203B41FA5}">
                      <a16:colId xmlns:a16="http://schemas.microsoft.com/office/drawing/2014/main" val="3588077064"/>
                    </a:ext>
                  </a:extLst>
                </a:gridCol>
                <a:gridCol w="1521823">
                  <a:extLst>
                    <a:ext uri="{9D8B030D-6E8A-4147-A177-3AD203B41FA5}">
                      <a16:colId xmlns:a16="http://schemas.microsoft.com/office/drawing/2014/main" val="2921729674"/>
                    </a:ext>
                  </a:extLst>
                </a:gridCol>
                <a:gridCol w="1417320">
                  <a:extLst>
                    <a:ext uri="{9D8B030D-6E8A-4147-A177-3AD203B41FA5}">
                      <a16:colId xmlns:a16="http://schemas.microsoft.com/office/drawing/2014/main" val="2465255924"/>
                    </a:ext>
                  </a:extLst>
                </a:gridCol>
                <a:gridCol w="1365069">
                  <a:extLst>
                    <a:ext uri="{9D8B030D-6E8A-4147-A177-3AD203B41FA5}">
                      <a16:colId xmlns:a16="http://schemas.microsoft.com/office/drawing/2014/main" val="2411906837"/>
                    </a:ext>
                  </a:extLst>
                </a:gridCol>
                <a:gridCol w="1436914">
                  <a:extLst>
                    <a:ext uri="{9D8B030D-6E8A-4147-A177-3AD203B41FA5}">
                      <a16:colId xmlns:a16="http://schemas.microsoft.com/office/drawing/2014/main" val="1121361333"/>
                    </a:ext>
                  </a:extLst>
                </a:gridCol>
                <a:gridCol w="1432923">
                  <a:extLst>
                    <a:ext uri="{9D8B030D-6E8A-4147-A177-3AD203B41FA5}">
                      <a16:colId xmlns:a16="http://schemas.microsoft.com/office/drawing/2014/main" val="3820744059"/>
                    </a:ext>
                  </a:extLst>
                </a:gridCol>
                <a:gridCol w="1382123">
                  <a:extLst>
                    <a:ext uri="{9D8B030D-6E8A-4147-A177-3AD203B41FA5}">
                      <a16:colId xmlns:a16="http://schemas.microsoft.com/office/drawing/2014/main" val="1638370077"/>
                    </a:ext>
                  </a:extLst>
                </a:gridCol>
              </a:tblGrid>
              <a:tr h="932543">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solidFill>
                            <a:schemeClr val="bg1">
                              <a:lumMod val="65000"/>
                            </a:schemeClr>
                          </a:solidFill>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65000"/>
                            </a:schemeClr>
                          </a:solidFill>
                          <a:latin typeface="Helvetica" pitchFamily="2" charset="0"/>
                        </a:rPr>
                        <a:t>3.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65000"/>
                            </a:schemeClr>
                          </a:solidFill>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65000"/>
                            </a:schemeClr>
                          </a:solidFill>
                          <a:latin typeface="Helvetica" pitchFamily="2" charset="0"/>
                        </a:rPr>
                        <a:t>5-7.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65000"/>
                            </a:schemeClr>
                          </a:solidFill>
                          <a:latin typeface="Helvetica" pitchFamily="2" charset="0"/>
                        </a:rPr>
                        <a:t>8-11.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65000"/>
                            </a:schemeClr>
                          </a:solidFill>
                          <a:latin typeface="Helvetica" pitchFamily="2" charset="0"/>
                        </a:rPr>
                        <a:t>12. Bonus! – Globus transfers</a:t>
                      </a:r>
                    </a:p>
                  </a:txBody>
                  <a:tcP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73116">
                <a:tc>
                  <a:txBody>
                    <a:bodyPr/>
                    <a:lstStyle/>
                    <a:p>
                      <a:r>
                        <a:rPr lang="en-US" sz="1100" dirty="0">
                          <a:latin typeface="Helvetica" pitchFamily="2" charset="0"/>
                        </a:rPr>
                        <a:t>10/29/2025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r>
                        <a:rPr lang="en-US" sz="1100" dirty="0">
                          <a:solidFill>
                            <a:schemeClr val="bg1">
                              <a:lumMod val="65000"/>
                            </a:schemeClr>
                          </a:solidFill>
                          <a:latin typeface="Helvetica" pitchFamily="2" charset="0"/>
                        </a:rPr>
                        <a:t>11/12/2025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65000"/>
                            </a:schemeClr>
                          </a:solidFill>
                          <a:latin typeface="Helvetica" pitchFamily="2" charset="0"/>
                        </a:rPr>
                        <a:t>11/19/2025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65000"/>
                            </a:schemeClr>
                          </a:solidFill>
                          <a:latin typeface="Helvetica" pitchFamily="2" charset="0"/>
                        </a:rPr>
                        <a:t>TBD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65000"/>
                            </a:schemeClr>
                          </a:solidFill>
                          <a:latin typeface="Helvetica" pitchFamily="2" charset="0"/>
                        </a:rPr>
                        <a:t>TBD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65000"/>
                            </a:schemeClr>
                          </a:solidFill>
                          <a:latin typeface="Helvetica" pitchFamily="2" charset="0"/>
                        </a:rPr>
                        <a:t>TBD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65000"/>
                            </a:schemeClr>
                          </a:solidFill>
                          <a:latin typeface="Helvetica" pitchFamily="2" charset="0"/>
                        </a:rPr>
                        <a:t>TBD</a:t>
                      </a:r>
                    </a:p>
                  </a:txBody>
                  <a:tcP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7620817"/>
                  </a:ext>
                </a:extLst>
              </a:tr>
              <a:tr h="2303978">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solidFill>
                            <a:schemeClr val="bg1">
                              <a:lumMod val="65000"/>
                            </a:schemeClr>
                          </a:solidFill>
                          <a:latin typeface="Helvetica" pitchFamily="2" charset="0"/>
                        </a:rPr>
                        <a:t>Understand LSF job submission </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Running an interactive job</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Create a first job script and submit it</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solidFill>
                            <a:schemeClr val="bg1">
                              <a:lumMod val="65000"/>
                            </a:schemeClr>
                          </a:solidFill>
                          <a:latin typeface="Helvetica" pitchFamily="2" charset="0"/>
                        </a:rPr>
                        <a:t>Learn how to estimate job requirements</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65000"/>
                            </a:schemeClr>
                          </a:solidFill>
                          <a:latin typeface="Helvetica" pitchFamily="2" charset="0"/>
                        </a:rPr>
                        <a:t>Perform basic scaling analysis</a:t>
                      </a:r>
                    </a:p>
                    <a:p>
                      <a:endParaRPr lang="en-US" sz="1050" dirty="0">
                        <a:solidFill>
                          <a:schemeClr val="bg1">
                            <a:lumMod val="65000"/>
                          </a:schemeClr>
                        </a:solidFill>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solidFill>
                            <a:schemeClr val="bg1">
                              <a:lumMod val="65000"/>
                            </a:schemeClr>
                          </a:solidFill>
                          <a:latin typeface="Helvetica" pitchFamily="2" charset="0"/>
                        </a:rPr>
                        <a:t>Understand the use cases for job arrays</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Learn about the computation behind job arrays</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050" dirty="0">
                          <a:solidFill>
                            <a:schemeClr val="bg1">
                              <a:lumMod val="65000"/>
                            </a:schemeClr>
                          </a:solidFill>
                          <a:latin typeface="Helvetica" pitchFamily="2" charset="0"/>
                        </a:rPr>
                        <a:t>Learn how to load software using: </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Modules</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Containers</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050" dirty="0">
                          <a:solidFill>
                            <a:schemeClr val="bg1">
                              <a:lumMod val="65000"/>
                            </a:schemeClr>
                          </a:solidFill>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Research Storage (RS1)</a:t>
                      </a:r>
                    </a:p>
                    <a:p>
                      <a:pPr marL="171450" indent="-171450">
                        <a:buFont typeface="Arial" panose="020B0604020202020204" pitchFamily="34" charset="0"/>
                        <a:buChar char="•"/>
                      </a:pPr>
                      <a:r>
                        <a:rPr lang="en-US" sz="1050" dirty="0" err="1">
                          <a:solidFill>
                            <a:schemeClr val="bg1">
                              <a:lumMod val="65000"/>
                            </a:schemeClr>
                          </a:solidFill>
                          <a:latin typeface="Helvetica" pitchFamily="2" charset="0"/>
                        </a:rPr>
                        <a:t>Usrapps</a:t>
                      </a:r>
                      <a:endParaRPr lang="en-US" sz="1050" dirty="0">
                        <a:solidFill>
                          <a:schemeClr val="bg1">
                            <a:lumMod val="65000"/>
                          </a:schemeClr>
                        </a:solidFill>
                        <a:latin typeface="Helvetica" pitchFamily="2" charset="0"/>
                      </a:endParaRP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Scratch</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solidFill>
                            <a:schemeClr val="bg1">
                              <a:lumMod val="65000"/>
                            </a:schemeClr>
                          </a:solidFill>
                          <a:latin typeface="Helvetica" pitchFamily="2" charset="0"/>
                        </a:rPr>
                        <a:t>Learn about the advantages of using Globus transfers</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Understand endpoints</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Create a local and Google drive endpoint</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Perform a transfer between local and HPC</a:t>
                      </a:r>
                    </a:p>
                    <a:p>
                      <a:pPr marL="171450" indent="-171450">
                        <a:buFont typeface="Arial" panose="020B0604020202020204" pitchFamily="34" charset="0"/>
                        <a:buChar char="•"/>
                      </a:pPr>
                      <a:r>
                        <a:rPr lang="en-US" sz="1050" dirty="0">
                          <a:solidFill>
                            <a:schemeClr val="bg1">
                              <a:lumMod val="65000"/>
                            </a:schemeClr>
                          </a:solidFill>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7321800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218B2-E135-26F1-97D0-87DC45D10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CB91C-E5B1-61D6-1379-EC11B99949F9}"/>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19CA38BF-6D4D-305D-CA49-7AAEFA69C0A2}"/>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93A7186-A969-4CE3-8915-88EBF41466B8}"/>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409EEDC1-05C9-D5EF-8B52-119DC4CED4E0}"/>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4" name="TextBox 3">
            <a:extLst>
              <a:ext uri="{FF2B5EF4-FFF2-40B4-BE49-F238E27FC236}">
                <a16:creationId xmlns:a16="http://schemas.microsoft.com/office/drawing/2014/main" id="{896C092A-532A-4E65-7A2F-11C3D9DBE157}"/>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B5E20723-3BFD-6C4C-611A-D662B5F666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A51A9E8-E9C2-3A81-5022-837FD92D72D6}"/>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05524F7-7190-7722-0BE2-775F11E6D852}"/>
              </a:ext>
            </a:extLst>
          </p:cNvPr>
          <p:cNvSpPr txBox="1"/>
          <p:nvPr/>
        </p:nvSpPr>
        <p:spPr>
          <a:xfrm>
            <a:off x="2349802" y="2207599"/>
            <a:ext cx="2165978" cy="369332"/>
          </a:xfrm>
          <a:prstGeom prst="rect">
            <a:avLst/>
          </a:prstGeom>
          <a:noFill/>
        </p:spPr>
        <p:txBody>
          <a:bodyPr wrap="none" rtlCol="0">
            <a:spAutoFit/>
          </a:bodyPr>
          <a:lstStyle/>
          <a:p>
            <a:r>
              <a:rPr lang="en-US" dirty="0">
                <a:latin typeface="Helvetica" pitchFamily="2" charset="0"/>
              </a:rPr>
              <a:t>1h work + 1h social</a:t>
            </a:r>
          </a:p>
        </p:txBody>
      </p:sp>
      <p:pic>
        <p:nvPicPr>
          <p:cNvPr id="1028" name="Picture 4" descr="Drinking - Free people icons">
            <a:extLst>
              <a:ext uri="{FF2B5EF4-FFF2-40B4-BE49-F238E27FC236}">
                <a16:creationId xmlns:a16="http://schemas.microsoft.com/office/drawing/2014/main" id="{1767A7D1-2AF2-592F-0CFA-BDE7964660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6291B33-709B-1C11-57F6-8734CABD62EC}"/>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47407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51B61-C36C-4C00-5C15-8273C95084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0553F6-CFD3-EAC9-615A-2573101C1480}"/>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2743B522-4833-BF48-4C15-DDCB5726428D}"/>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5B84724-8939-73B7-0078-F592D1A968A0}"/>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9C1A588F-DAA1-07F9-508D-64F083AB5E34}"/>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7" name="TextBox 6">
            <a:extLst>
              <a:ext uri="{FF2B5EF4-FFF2-40B4-BE49-F238E27FC236}">
                <a16:creationId xmlns:a16="http://schemas.microsoft.com/office/drawing/2014/main" id="{5418856D-764C-2A9E-2143-1A40C59B7BA3}"/>
              </a:ext>
            </a:extLst>
          </p:cNvPr>
          <p:cNvSpPr txBox="1"/>
          <p:nvPr/>
        </p:nvSpPr>
        <p:spPr>
          <a:xfrm>
            <a:off x="6372794" y="3783957"/>
            <a:ext cx="4967686" cy="2272545"/>
          </a:xfrm>
          <a:prstGeom prst="rect">
            <a:avLst/>
          </a:prstGeom>
          <a:noFill/>
        </p:spPr>
        <p:txBody>
          <a:bodyPr wrap="square" rtlCol="0">
            <a:spAutoFit/>
          </a:bodyPr>
          <a:lstStyle/>
          <a:p>
            <a:pPr>
              <a:lnSpc>
                <a:spcPct val="150000"/>
              </a:lnSpc>
            </a:pPr>
            <a:r>
              <a:rPr lang="en-US" sz="1600" b="1" dirty="0">
                <a:latin typeface="Helvetica" pitchFamily="2" charset="0"/>
              </a:rPr>
              <a:t>Today's Roadmap 🗺️</a:t>
            </a:r>
          </a:p>
          <a:p>
            <a:pPr marL="285750" indent="-285750">
              <a:lnSpc>
                <a:spcPct val="150000"/>
              </a:lnSpc>
              <a:buFont typeface="Arial" panose="020B0604020202020204" pitchFamily="34" charset="0"/>
              <a:buChar char="•"/>
            </a:pPr>
            <a:r>
              <a:rPr lang="en-US" sz="1600" dirty="0">
                <a:latin typeface="Helvetica" pitchFamily="2" charset="0"/>
              </a:rPr>
              <a:t>HPC Terminology (CPU vs. GPU, Node vs. Core)</a:t>
            </a:r>
          </a:p>
          <a:p>
            <a:pPr marL="285750" indent="-285750">
              <a:lnSpc>
                <a:spcPct val="150000"/>
              </a:lnSpc>
              <a:buFont typeface="Arial" panose="020B0604020202020204" pitchFamily="34" charset="0"/>
              <a:buChar char="•"/>
            </a:pPr>
            <a:r>
              <a:rPr lang="en-US" sz="1600" dirty="0">
                <a:latin typeface="Helvetica" pitchFamily="2" charset="0"/>
              </a:rPr>
              <a:t>Understanding the Hazel File Systems (Home, Scratch, RS1)</a:t>
            </a:r>
          </a:p>
          <a:p>
            <a:pPr marL="285750" indent="-285750">
              <a:lnSpc>
                <a:spcPct val="150000"/>
              </a:lnSpc>
              <a:buFont typeface="Arial" panose="020B0604020202020204" pitchFamily="34" charset="0"/>
              <a:buChar char="•"/>
            </a:pPr>
            <a:r>
              <a:rPr lang="en-US" sz="1600" dirty="0">
                <a:latin typeface="Helvetica" pitchFamily="2" charset="0"/>
              </a:rPr>
              <a:t>Access and File Transfer (SSH, OnDemand)</a:t>
            </a:r>
          </a:p>
          <a:p>
            <a:pPr marL="285750" indent="-285750">
              <a:lnSpc>
                <a:spcPct val="150000"/>
              </a:lnSpc>
              <a:buFont typeface="Arial" panose="020B0604020202020204" pitchFamily="34" charset="0"/>
              <a:buChar char="•"/>
            </a:pPr>
            <a:r>
              <a:rPr lang="en-US" sz="1600" dirty="0">
                <a:latin typeface="Helvetica" pitchFamily="2" charset="0"/>
              </a:rPr>
              <a:t>Bonus! Basics of Unix</a:t>
            </a:r>
          </a:p>
        </p:txBody>
      </p:sp>
      <p:sp>
        <p:nvSpPr>
          <p:cNvPr id="4" name="TextBox 3">
            <a:extLst>
              <a:ext uri="{FF2B5EF4-FFF2-40B4-BE49-F238E27FC236}">
                <a16:creationId xmlns:a16="http://schemas.microsoft.com/office/drawing/2014/main" id="{D755A216-8514-5B6F-E6FC-CBE57FD2B8C5}"/>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745D3581-0C53-177E-5516-B560531172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256ED46E-B549-180E-3C1A-A74A79697200}"/>
              </a:ext>
            </a:extLst>
          </p:cNvPr>
          <p:cNvSpPr/>
          <p:nvPr/>
        </p:nvSpPr>
        <p:spPr>
          <a:xfrm>
            <a:off x="6271399" y="3742097"/>
            <a:ext cx="5170476" cy="2795269"/>
          </a:xfrm>
          <a:prstGeom prst="rect">
            <a:avLst/>
          </a:prstGeom>
          <a:noFill/>
          <a:ln w="28575">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DB0F828-A6F7-5E94-495C-8D36451EAA37}"/>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26112C9-D78B-B948-A5E2-CF4008062971}"/>
              </a:ext>
            </a:extLst>
          </p:cNvPr>
          <p:cNvSpPr txBox="1"/>
          <p:nvPr/>
        </p:nvSpPr>
        <p:spPr>
          <a:xfrm>
            <a:off x="2349802" y="2207599"/>
            <a:ext cx="2165978" cy="369332"/>
          </a:xfrm>
          <a:prstGeom prst="rect">
            <a:avLst/>
          </a:prstGeom>
          <a:noFill/>
        </p:spPr>
        <p:txBody>
          <a:bodyPr wrap="none" rtlCol="0">
            <a:spAutoFit/>
          </a:bodyPr>
          <a:lstStyle/>
          <a:p>
            <a:r>
              <a:rPr lang="en-US" dirty="0">
                <a:latin typeface="Helvetica" pitchFamily="2" charset="0"/>
              </a:rPr>
              <a:t>1h work + 1h social</a:t>
            </a:r>
          </a:p>
        </p:txBody>
      </p:sp>
      <p:pic>
        <p:nvPicPr>
          <p:cNvPr id="1028" name="Picture 4" descr="Drinking - Free people icons">
            <a:extLst>
              <a:ext uri="{FF2B5EF4-FFF2-40B4-BE49-F238E27FC236}">
                <a16:creationId xmlns:a16="http://schemas.microsoft.com/office/drawing/2014/main" id="{EAFBA163-F97B-14E7-E6C5-A9A49D1ADA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BB111145-B310-ED3D-156F-27726377A878}"/>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6433126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HPC fundamentals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81B9-A535-46D6-8D1F-FB28C8E97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08573-F8FD-0FA6-7F73-ECD08151652F}"/>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9379BE18-A732-C3EA-0967-B4349149A278}"/>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5122" name="Picture 2" descr="Graphical user interface&#10;&#10;Description automatically generated">
            <a:extLst>
              <a:ext uri="{FF2B5EF4-FFF2-40B4-BE49-F238E27FC236}">
                <a16:creationId xmlns:a16="http://schemas.microsoft.com/office/drawing/2014/main" id="{4071D3FF-8388-B734-EB7A-FC772230E9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32" t="26476" r="2535" b="26762"/>
          <a:stretch>
            <a:fillRect/>
          </a:stretch>
        </p:blipFill>
        <p:spPr bwMode="auto">
          <a:xfrm>
            <a:off x="1881052" y="2809018"/>
            <a:ext cx="8255725" cy="300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8689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C60F9-6E56-DEA6-E2D2-EBB155253C50}"/>
            </a:ext>
          </a:extLst>
        </p:cNvPr>
        <p:cNvGrpSpPr/>
        <p:nvPr/>
      </p:nvGrpSpPr>
      <p:grpSpPr>
        <a:xfrm>
          <a:off x="0" y="0"/>
          <a:ext cx="0" cy="0"/>
          <a:chOff x="0" y="0"/>
          <a:chExt cx="0" cy="0"/>
        </a:xfrm>
      </p:grpSpPr>
      <p:pic>
        <p:nvPicPr>
          <p:cNvPr id="7170" name="Picture 2" descr="Graphical user interface&#10;&#10;Description automatically generated">
            <a:extLst>
              <a:ext uri="{FF2B5EF4-FFF2-40B4-BE49-F238E27FC236}">
                <a16:creationId xmlns:a16="http://schemas.microsoft.com/office/drawing/2014/main" id="{508F6F86-8EC7-6D62-1437-2C43705369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59" t="28571" r="2100" b="27678"/>
          <a:stretch>
            <a:fillRect/>
          </a:stretch>
        </p:blipFill>
        <p:spPr bwMode="auto">
          <a:xfrm>
            <a:off x="1815737" y="2869512"/>
            <a:ext cx="8495211" cy="287942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61E1C2B-5CA1-ACED-5C17-3CEC9222FC13}"/>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0A520AA3-9322-61B8-4551-E5F4D8040672}"/>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spTree>
    <p:extLst>
      <p:ext uri="{BB962C8B-B14F-4D97-AF65-F5344CB8AC3E}">
        <p14:creationId xmlns:p14="http://schemas.microsoft.com/office/powerpoint/2010/main" val="10934370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72EB-397D-9D9E-5D4A-406DCF452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FCBF7-C404-517C-D712-1D1371DEEB38}"/>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1CE433F4-4BBE-906F-0A9D-7514686F17BD}"/>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9218" name="Picture 2">
            <a:extLst>
              <a:ext uri="{FF2B5EF4-FFF2-40B4-BE49-F238E27FC236}">
                <a16:creationId xmlns:a16="http://schemas.microsoft.com/office/drawing/2014/main" id="{8BFC1275-6A55-D69B-3BFA-365F79B42A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328" y="2409377"/>
            <a:ext cx="6674439" cy="408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545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8812F-FD91-EF7F-A8B9-F15559D63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0241E-7BD0-D5F3-80A4-1E63961F5888}"/>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EB60A4D9-2D50-1C28-1090-8EDF32EC99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C110A-578E-CE85-9E54-83175489E54D}"/>
              </a:ext>
            </a:extLst>
          </p:cNvPr>
          <p:cNvSpPr txBox="1"/>
          <p:nvPr/>
        </p:nvSpPr>
        <p:spPr>
          <a:xfrm>
            <a:off x="642900" y="1690688"/>
            <a:ext cx="6097088" cy="2215991"/>
          </a:xfrm>
          <a:prstGeom prst="rect">
            <a:avLst/>
          </a:prstGeom>
          <a:noFill/>
        </p:spPr>
        <p:txBody>
          <a:bodyPr wrap="square">
            <a:spAutoFit/>
          </a:bodyPr>
          <a:lstStyle/>
          <a:p>
            <a:pPr marL="285750" indent="-285750">
              <a:buFont typeface="Arial" panose="020B0604020202020204" pitchFamily="34" charset="0"/>
              <a:buChar char="•"/>
            </a:pPr>
            <a:r>
              <a:rPr lang="en-US" b="1" dirty="0">
                <a:latin typeface="Helvetica" pitchFamily="2" charset="0"/>
              </a:rPr>
              <a:t>CPU  </a:t>
            </a:r>
            <a:r>
              <a:rPr lang="en-US" dirty="0">
                <a:latin typeface="Helvetica" pitchFamily="2" charset="0"/>
              </a:rPr>
              <a:t>(Central processing unit) </a:t>
            </a:r>
            <a:r>
              <a:rPr lang="en-US" b="1" dirty="0">
                <a:latin typeface="Helvetica" pitchFamily="2" charset="0"/>
              </a:rPr>
              <a:t>= Taskmaster:</a:t>
            </a:r>
            <a:r>
              <a:rPr lang="en-US" dirty="0">
                <a:latin typeface="Helvetica" pitchFamily="2" charset="0"/>
              </a:rPr>
              <a:t> General purpose, sequential work. 8-64 cores.</a:t>
            </a:r>
          </a:p>
          <a:p>
            <a:r>
              <a:rPr lang="en-US" sz="1400" i="1" dirty="0">
                <a:latin typeface="Helvetica Light Oblique" panose="020B0403020202020204" pitchFamily="34" charset="0"/>
              </a:rPr>
              <a:t>Think of a CPU as a small team of highly skilled experts. Each core can tackle complex, diverse tasks independently and make sophisticated decisions.</a:t>
            </a:r>
            <a:endParaRPr lang="en-US" dirty="0">
              <a:latin typeface="Helvetica" pitchFamily="2" charset="0"/>
            </a:endParaRPr>
          </a:p>
          <a:p>
            <a:pPr marL="742950" lvl="1" indent="-285750">
              <a:buFont typeface="Arial" panose="020B0604020202020204" pitchFamily="34" charset="0"/>
              <a:buChar char="•"/>
            </a:pPr>
            <a:r>
              <a:rPr lang="en-US" sz="1400" dirty="0">
                <a:latin typeface="Helvetica" pitchFamily="2" charset="0"/>
              </a:rPr>
              <a:t>Sequence alignment (BWA, Bowtie) </a:t>
            </a:r>
          </a:p>
          <a:p>
            <a:pPr marL="742950" lvl="1" indent="-285750">
              <a:buFont typeface="Arial" panose="020B0604020202020204" pitchFamily="34" charset="0"/>
              <a:buChar char="•"/>
            </a:pPr>
            <a:r>
              <a:rPr lang="en-US" sz="1400" dirty="0">
                <a:latin typeface="Helvetica" pitchFamily="2" charset="0"/>
              </a:rPr>
              <a:t>Variant calling (GATK), </a:t>
            </a:r>
          </a:p>
          <a:p>
            <a:pPr marL="742950" lvl="1" indent="-285750">
              <a:buFont typeface="Arial" panose="020B0604020202020204" pitchFamily="34" charset="0"/>
              <a:buChar char="•"/>
            </a:pPr>
            <a:r>
              <a:rPr lang="en-US" sz="1400" dirty="0">
                <a:latin typeface="Helvetica" pitchFamily="2" charset="0"/>
              </a:rPr>
              <a:t>Gene expression analysis (DESeq2)</a:t>
            </a:r>
          </a:p>
          <a:p>
            <a:endParaRPr lang="en-US" dirty="0">
              <a:latin typeface="Helvetica" pitchFamily="2" charset="0"/>
            </a:endParaRPr>
          </a:p>
        </p:txBody>
      </p:sp>
    </p:spTree>
    <p:extLst>
      <p:ext uri="{BB962C8B-B14F-4D97-AF65-F5344CB8AC3E}">
        <p14:creationId xmlns:p14="http://schemas.microsoft.com/office/powerpoint/2010/main" val="1926250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6302D-752C-DC45-2306-781B3D4F8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1ECD0-5722-9778-284D-B12200C6BF9B}"/>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F8F7E9E6-AA9A-B767-D1F1-DEBD9A654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6B948E3-ED56-AB76-B756-7935446AF413}"/>
              </a:ext>
            </a:extLst>
          </p:cNvPr>
          <p:cNvSpPr txBox="1"/>
          <p:nvPr/>
        </p:nvSpPr>
        <p:spPr>
          <a:xfrm>
            <a:off x="642900" y="1690688"/>
            <a:ext cx="6097088" cy="4124206"/>
          </a:xfrm>
          <a:prstGeom prst="rect">
            <a:avLst/>
          </a:prstGeom>
          <a:noFill/>
        </p:spPr>
        <p:txBody>
          <a:bodyPr wrap="square">
            <a:spAutoFit/>
          </a:bodyPr>
          <a:lstStyle/>
          <a:p>
            <a:pPr marL="285750" indent="-285750">
              <a:buFont typeface="Arial" panose="020B0604020202020204" pitchFamily="34" charset="0"/>
              <a:buChar char="•"/>
            </a:pPr>
            <a:r>
              <a:rPr lang="en-US" b="1" dirty="0">
                <a:solidFill>
                  <a:schemeClr val="bg1">
                    <a:lumMod val="50000"/>
                  </a:schemeClr>
                </a:solidFill>
                <a:latin typeface="Helvetica" pitchFamily="2" charset="0"/>
              </a:rPr>
              <a:t>CPU  </a:t>
            </a:r>
            <a:r>
              <a:rPr lang="en-US" dirty="0">
                <a:solidFill>
                  <a:schemeClr val="bg1">
                    <a:lumMod val="50000"/>
                  </a:schemeClr>
                </a:solidFill>
                <a:latin typeface="Helvetica" pitchFamily="2" charset="0"/>
              </a:rPr>
              <a:t>(Central processing unit) </a:t>
            </a:r>
            <a:r>
              <a:rPr lang="en-US" b="1" dirty="0">
                <a:solidFill>
                  <a:schemeClr val="bg1">
                    <a:lumMod val="50000"/>
                  </a:schemeClr>
                </a:solidFill>
                <a:latin typeface="Helvetica" pitchFamily="2" charset="0"/>
              </a:rPr>
              <a:t>= Taskmaster:</a:t>
            </a:r>
            <a:r>
              <a:rPr lang="en-US" dirty="0">
                <a:solidFill>
                  <a:schemeClr val="bg1">
                    <a:lumMod val="50000"/>
                  </a:schemeClr>
                </a:solidFill>
                <a:latin typeface="Helvetica" pitchFamily="2" charset="0"/>
              </a:rPr>
              <a:t> General purpose, sequential work. 8-64 cores.</a:t>
            </a:r>
          </a:p>
          <a:p>
            <a:r>
              <a:rPr lang="en-US" sz="1400" i="1" dirty="0">
                <a:solidFill>
                  <a:schemeClr val="bg1">
                    <a:lumMod val="50000"/>
                  </a:schemeClr>
                </a:solidFill>
                <a:latin typeface="Helvetica Light Oblique" panose="020B0403020202020204" pitchFamily="34" charset="0"/>
              </a:rPr>
              <a:t>Think of a CPU as a small team of highly skilled experts. Each core can tackle complex, diverse tasks independently and make sophisticated decisions.</a:t>
            </a:r>
            <a:endParaRPr lang="en-US" dirty="0">
              <a:solidFill>
                <a:schemeClr val="bg1">
                  <a:lumMod val="50000"/>
                </a:schemeClr>
              </a:solidFill>
              <a:latin typeface="Helvetica" pitchFamily="2" charset="0"/>
            </a:endParaRP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Sequence alignment (BWA, Bowtie)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Variant calling (GATK),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Gene expression analysis (DESeq2)</a:t>
            </a:r>
          </a:p>
          <a:p>
            <a:endParaRPr lang="en-US" dirty="0">
              <a:latin typeface="Helvetica" pitchFamily="2" charset="0"/>
            </a:endParaRPr>
          </a:p>
          <a:p>
            <a:pPr marL="285750" indent="-285750">
              <a:buFont typeface="Arial" panose="020B0604020202020204" pitchFamily="34" charset="0"/>
              <a:buChar char="•"/>
            </a:pPr>
            <a:r>
              <a:rPr lang="en-US" b="1" dirty="0">
                <a:latin typeface="Helvetica" pitchFamily="2" charset="0"/>
              </a:rPr>
              <a:t>GPU </a:t>
            </a:r>
            <a:r>
              <a:rPr lang="en-US" dirty="0">
                <a:latin typeface="Helvetica" pitchFamily="2" charset="0"/>
              </a:rPr>
              <a:t>(Graphic processing unit) </a:t>
            </a:r>
            <a:r>
              <a:rPr lang="en-US" b="1" dirty="0">
                <a:latin typeface="Helvetica" pitchFamily="2" charset="0"/>
              </a:rPr>
              <a:t>= Turbo-Boost:</a:t>
            </a:r>
            <a:r>
              <a:rPr lang="en-US" dirty="0">
                <a:latin typeface="Helvetica" pitchFamily="2" charset="0"/>
              </a:rPr>
              <a:t> Specialized, massive parallel work (Deep Learning, Protein Prediction). Thousands of cores.</a:t>
            </a:r>
          </a:p>
          <a:p>
            <a:r>
              <a:rPr lang="en-US" sz="1400" i="1" dirty="0">
                <a:latin typeface="Helvetica Light Oblique" panose="020B0403020202020204" pitchFamily="34" charset="0"/>
              </a:rPr>
              <a:t>A GPU is  like having thousands of workers who can all do the same simple task simultaneously.</a:t>
            </a:r>
          </a:p>
          <a:p>
            <a:pPr marL="742950" lvl="1" indent="-285750">
              <a:buFont typeface="Arial" panose="020B0604020202020204" pitchFamily="34" charset="0"/>
              <a:buChar char="•"/>
            </a:pPr>
            <a:r>
              <a:rPr lang="en-US" sz="1400" dirty="0">
                <a:latin typeface="Helvetica" pitchFamily="2" charset="0"/>
              </a:rPr>
              <a:t>Deep learning (AlphaFold, protein structure prediction)</a:t>
            </a:r>
          </a:p>
          <a:p>
            <a:pPr marL="742950" lvl="1" indent="-285750">
              <a:buFont typeface="Arial" panose="020B0604020202020204" pitchFamily="34" charset="0"/>
              <a:buChar char="•"/>
            </a:pPr>
            <a:r>
              <a:rPr lang="en-US" sz="1400" dirty="0">
                <a:latin typeface="Helvetica" pitchFamily="2" charset="0"/>
              </a:rPr>
              <a:t>Molecular dynamics simulations</a:t>
            </a:r>
          </a:p>
          <a:p>
            <a:pPr marL="742950" lvl="1" indent="-285750">
              <a:buFont typeface="Arial" panose="020B0604020202020204" pitchFamily="34" charset="0"/>
              <a:buChar char="•"/>
            </a:pPr>
            <a:r>
              <a:rPr lang="en-US" sz="1400" dirty="0">
                <a:latin typeface="Helvetica" pitchFamily="2" charset="0"/>
              </a:rPr>
              <a:t>Some genome assembly algorithms</a:t>
            </a:r>
            <a:endParaRPr lang="en-US" sz="1400" i="1" dirty="0">
              <a:latin typeface="Helvetica" pitchFamily="2" charset="0"/>
            </a:endParaRPr>
          </a:p>
        </p:txBody>
      </p:sp>
    </p:spTree>
    <p:extLst>
      <p:ext uri="{BB962C8B-B14F-4D97-AF65-F5344CB8AC3E}">
        <p14:creationId xmlns:p14="http://schemas.microsoft.com/office/powerpoint/2010/main" val="1027911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B7653-2B50-AEB2-747D-1C847DEF0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6A812-3C65-51A5-469E-4F5AA25BE7F8}"/>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7359E43-7C1E-361E-2264-53712D534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248C0F-3164-DA58-071F-C6F698A4D10C}"/>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6856800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C7BAD-DC17-E664-89B0-29E816D0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C19D-DD0D-D938-F48E-78AE17E5C28F}"/>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0B9F0F9D-BB10-ED14-4F70-045461165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575BAF5-DDD2-2F5F-AA14-55CDFD17116D}"/>
              </a:ext>
            </a:extLst>
          </p:cNvPr>
          <p:cNvSpPr txBox="1"/>
          <p:nvPr/>
        </p:nvSpPr>
        <p:spPr>
          <a:xfrm>
            <a:off x="632598" y="2118241"/>
            <a:ext cx="6159136" cy="2739211"/>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Helvetica" pitchFamily="2" charset="0"/>
              </a:rPr>
              <a:t>Node: </a:t>
            </a:r>
          </a:p>
          <a:p>
            <a:r>
              <a:rPr lang="en-US" sz="1400" dirty="0">
                <a:latin typeface="Helvetica" pitchFamily="2" charset="0"/>
              </a:rPr>
              <a:t>A node is </a:t>
            </a:r>
            <a:r>
              <a:rPr lang="en-US" sz="1400" b="1" dirty="0">
                <a:latin typeface="Helvetica" pitchFamily="2" charset="0"/>
              </a:rPr>
              <a:t>an entire computer </a:t>
            </a:r>
            <a:r>
              <a:rPr lang="en-US" sz="1400" dirty="0">
                <a:latin typeface="Helvetica" pitchFamily="2" charset="0"/>
              </a:rPr>
              <a:t>within the HPC cluster. </a:t>
            </a:r>
            <a:r>
              <a:rPr lang="en-US" sz="1400" i="1" dirty="0">
                <a:latin typeface="Helvetica" pitchFamily="2" charset="0"/>
              </a:rPr>
              <a:t>Think of a node as a complete office workspace with everything needed to function independently. </a:t>
            </a:r>
            <a:r>
              <a:rPr lang="en-US" sz="1400" dirty="0">
                <a:latin typeface="Helvetica" pitchFamily="2" charset="0"/>
              </a:rPr>
              <a:t>Each node contains:</a:t>
            </a:r>
          </a:p>
          <a:p>
            <a:pPr marL="742950" lvl="1" indent="-285750">
              <a:buFont typeface="Arial" panose="020B0604020202020204" pitchFamily="34" charset="0"/>
              <a:buChar char="•"/>
            </a:pPr>
            <a:r>
              <a:rPr lang="en-US" sz="1400" dirty="0">
                <a:latin typeface="Helvetica" pitchFamily="2" charset="0"/>
              </a:rPr>
              <a:t>One or more CPUs and/or GPUs (each with multiple cores)</a:t>
            </a:r>
          </a:p>
          <a:p>
            <a:pPr marL="742950" lvl="1" indent="-285750">
              <a:buFont typeface="Arial" panose="020B0604020202020204" pitchFamily="34" charset="0"/>
              <a:buChar char="•"/>
            </a:pPr>
            <a:r>
              <a:rPr lang="en-US" sz="1400" dirty="0">
                <a:latin typeface="Helvetica" pitchFamily="2" charset="0"/>
              </a:rPr>
              <a:t>Memory (RAM)</a:t>
            </a:r>
          </a:p>
          <a:p>
            <a:pPr marL="742950" lvl="1" indent="-285750">
              <a:buFont typeface="Arial" panose="020B0604020202020204" pitchFamily="34" charset="0"/>
              <a:buChar char="•"/>
            </a:pPr>
            <a:r>
              <a:rPr lang="en-US" sz="1400" dirty="0">
                <a:latin typeface="Helvetica" pitchFamily="2" charset="0"/>
              </a:rPr>
              <a:t>Storage connection</a:t>
            </a:r>
          </a:p>
          <a:p>
            <a:pPr marL="742950" lvl="1" indent="-285750">
              <a:buFont typeface="Arial" panose="020B0604020202020204" pitchFamily="34" charset="0"/>
              <a:buChar char="•"/>
            </a:pPr>
            <a:r>
              <a:rPr lang="en-US" sz="1400" dirty="0">
                <a:latin typeface="Helvetica" pitchFamily="2" charset="0"/>
              </a:rPr>
              <a:t>Network connection to other nodes </a:t>
            </a:r>
          </a:p>
          <a:p>
            <a:pPr marL="742950" lvl="1" indent="-285750">
              <a:buFont typeface="Arial" panose="020B0604020202020204" pitchFamily="34" charset="0"/>
              <a:buChar char="•"/>
            </a:pPr>
            <a:r>
              <a:rPr lang="en-US" sz="1400" dirty="0">
                <a:latin typeface="Helvetica" pitchFamily="2" charset="0"/>
              </a:rPr>
              <a:t>Note: in Hazel compute nodes do not have internet connection!</a:t>
            </a: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endParaRPr lang="en-US" sz="1400" dirty="0">
              <a:latin typeface="Helvetica" pitchFamily="2" charset="0"/>
            </a:endParaRPr>
          </a:p>
        </p:txBody>
      </p:sp>
      <p:sp>
        <p:nvSpPr>
          <p:cNvPr id="5" name="TextBox 4">
            <a:extLst>
              <a:ext uri="{FF2B5EF4-FFF2-40B4-BE49-F238E27FC236}">
                <a16:creationId xmlns:a16="http://schemas.microsoft.com/office/drawing/2014/main" id="{795EDF3B-86D3-BF09-3D4E-24A5FD628F57}"/>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pic>
        <p:nvPicPr>
          <p:cNvPr id="17" name="Picture 2">
            <a:extLst>
              <a:ext uri="{FF2B5EF4-FFF2-40B4-BE49-F238E27FC236}">
                <a16:creationId xmlns:a16="http://schemas.microsoft.com/office/drawing/2014/main" id="{25BE3D07-2DD4-B95C-D9FA-4A737D7E96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804" b="34535"/>
          <a:stretch>
            <a:fillRect/>
          </a:stretch>
        </p:blipFill>
        <p:spPr bwMode="auto">
          <a:xfrm>
            <a:off x="10444347" y="5282178"/>
            <a:ext cx="1668483" cy="135838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B9DCF0F5-E2DE-7BEB-1CAC-600BF2CD5853}"/>
              </a:ext>
            </a:extLst>
          </p:cNvPr>
          <p:cNvCxnSpPr>
            <a:cxnSpLocks/>
          </p:cNvCxnSpPr>
          <p:nvPr/>
        </p:nvCxnSpPr>
        <p:spPr>
          <a:xfrm flipH="1" flipV="1">
            <a:off x="11780322" y="3877293"/>
            <a:ext cx="89065" cy="163879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740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964B5-46AE-53A5-D2B1-8D5AAF0D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DC1A8-643B-55FF-7774-9B6C51CCBFED}"/>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2F0CC91-2C95-9FD9-1234-5AF2C07F7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1D844C2-5CA9-8A6D-9E75-0027219067A2}"/>
              </a:ext>
            </a:extLst>
          </p:cNvPr>
          <p:cNvSpPr txBox="1"/>
          <p:nvPr/>
        </p:nvSpPr>
        <p:spPr>
          <a:xfrm>
            <a:off x="632598" y="2118241"/>
            <a:ext cx="6159136" cy="473975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bg1">
                    <a:lumMod val="65000"/>
                  </a:schemeClr>
                </a:solidFill>
                <a:latin typeface="Helvetica" pitchFamily="2" charset="0"/>
              </a:rPr>
              <a:t>Node: </a:t>
            </a:r>
          </a:p>
          <a:p>
            <a:r>
              <a:rPr lang="en-US" sz="1400" dirty="0">
                <a:solidFill>
                  <a:schemeClr val="bg1">
                    <a:lumMod val="65000"/>
                  </a:schemeClr>
                </a:solidFill>
                <a:latin typeface="Helvetica" pitchFamily="2" charset="0"/>
              </a:rPr>
              <a:t>A node is </a:t>
            </a:r>
            <a:r>
              <a:rPr lang="en-US" sz="1400" b="1" dirty="0">
                <a:solidFill>
                  <a:schemeClr val="bg1">
                    <a:lumMod val="65000"/>
                  </a:schemeClr>
                </a:solidFill>
                <a:latin typeface="Helvetica" pitchFamily="2" charset="0"/>
              </a:rPr>
              <a:t>an entire computer </a:t>
            </a:r>
            <a:r>
              <a:rPr lang="en-US" sz="1400" dirty="0">
                <a:solidFill>
                  <a:schemeClr val="bg1">
                    <a:lumMod val="65000"/>
                  </a:schemeClr>
                </a:solidFill>
                <a:latin typeface="Helvetica" pitchFamily="2" charset="0"/>
              </a:rPr>
              <a:t>within the HPC cluster. </a:t>
            </a:r>
            <a:r>
              <a:rPr lang="en-US" sz="1400" i="1" dirty="0">
                <a:solidFill>
                  <a:schemeClr val="bg1">
                    <a:lumMod val="65000"/>
                  </a:schemeClr>
                </a:solidFill>
                <a:latin typeface="Helvetica" pitchFamily="2" charset="0"/>
              </a:rPr>
              <a:t>Think of a node as a complete office workspace with everything needed to function independently. </a:t>
            </a:r>
            <a:r>
              <a:rPr lang="en-US" sz="1400" dirty="0">
                <a:solidFill>
                  <a:schemeClr val="bg1">
                    <a:lumMod val="65000"/>
                  </a:schemeClr>
                </a:solidFill>
                <a:latin typeface="Helvetica" pitchFamily="2" charset="0"/>
              </a:rPr>
              <a:t>Each node contains: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One or more CPUs and/or GPUs (each with multiple cores)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Memory (RAM)</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Storage connection</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Network connection to other nodes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Note: in Hazel compute nodes do not have internet connection!</a:t>
            </a:r>
            <a:endParaRPr lang="en-US" sz="1400" b="1" dirty="0">
              <a:solidFill>
                <a:schemeClr val="bg1">
                  <a:lumMod val="65000"/>
                </a:schemeClr>
              </a:solidFill>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r>
              <a:rPr lang="en-US" b="1" dirty="0">
                <a:latin typeface="Helvetica" pitchFamily="2" charset="0"/>
              </a:rPr>
              <a:t>Core: </a:t>
            </a:r>
          </a:p>
          <a:p>
            <a:r>
              <a:rPr lang="en-US" sz="1400" dirty="0">
                <a:latin typeface="Helvetica" pitchFamily="2" charset="0"/>
              </a:rPr>
              <a:t>A core is a</a:t>
            </a:r>
            <a:r>
              <a:rPr lang="en-US" sz="1400" b="1" dirty="0">
                <a:latin typeface="Helvetica" pitchFamily="2" charset="0"/>
              </a:rPr>
              <a:t> single processing unit </a:t>
            </a:r>
            <a:r>
              <a:rPr lang="en-US" sz="1400" dirty="0">
                <a:latin typeface="Helvetica" pitchFamily="2" charset="0"/>
              </a:rPr>
              <a:t>within a CPU. It's the fundamental unit that executes instructions. </a:t>
            </a:r>
            <a:r>
              <a:rPr lang="en-US" sz="1400" i="1" dirty="0">
                <a:latin typeface="Helvetica" pitchFamily="2" charset="0"/>
              </a:rPr>
              <a:t>Think of a core as one individual worker who can complete tasks.</a:t>
            </a:r>
          </a:p>
          <a:p>
            <a:pPr marL="742950" lvl="1" indent="-285750">
              <a:buFont typeface="Arial" panose="020B0604020202020204" pitchFamily="34" charset="0"/>
              <a:buChar char="•"/>
            </a:pPr>
            <a:r>
              <a:rPr lang="en-US" sz="1400" dirty="0">
                <a:latin typeface="Helvetica" pitchFamily="2" charset="0"/>
              </a:rPr>
              <a:t>Modern CPUs contain multiple cores (typically 8-64 cores per CPU)</a:t>
            </a:r>
          </a:p>
          <a:p>
            <a:pPr marL="742950" lvl="1" indent="-285750">
              <a:buFont typeface="Arial" panose="020B0604020202020204" pitchFamily="34" charset="0"/>
              <a:buChar char="•"/>
            </a:pPr>
            <a:r>
              <a:rPr lang="en-US" sz="1400" dirty="0">
                <a:latin typeface="Helvetica" pitchFamily="2" charset="0"/>
              </a:rPr>
              <a:t>Each core can run its own thread of execution independently</a:t>
            </a:r>
          </a:p>
          <a:p>
            <a:pPr marL="742950" lvl="1" indent="-285750">
              <a:buFont typeface="Arial" panose="020B0604020202020204" pitchFamily="34" charset="0"/>
              <a:buChar char="•"/>
            </a:pPr>
            <a:r>
              <a:rPr lang="en-US" sz="1400" dirty="0">
                <a:latin typeface="Helvetica" pitchFamily="2" charset="0"/>
              </a:rPr>
              <a:t>More cores = more tasks can run simultaneously</a:t>
            </a:r>
          </a:p>
          <a:p>
            <a:pPr marL="742950" lvl="1" indent="-285750">
              <a:buFont typeface="Arial" panose="020B0604020202020204" pitchFamily="34" charset="0"/>
              <a:buChar char="•"/>
            </a:pPr>
            <a:r>
              <a:rPr lang="en-US" sz="1400" dirty="0">
                <a:latin typeface="Helvetica" pitchFamily="2" charset="0"/>
              </a:rPr>
              <a:t>Example: A 32-core CPU can theoretically run 32 different calculations at the same time</a:t>
            </a:r>
          </a:p>
          <a:p>
            <a:endParaRPr lang="en-US" sz="1400" dirty="0">
              <a:latin typeface="Helvetica" pitchFamily="2" charset="0"/>
            </a:endParaRPr>
          </a:p>
        </p:txBody>
      </p:sp>
      <p:sp>
        <p:nvSpPr>
          <p:cNvPr id="5" name="TextBox 4">
            <a:extLst>
              <a:ext uri="{FF2B5EF4-FFF2-40B4-BE49-F238E27FC236}">
                <a16:creationId xmlns:a16="http://schemas.microsoft.com/office/drawing/2014/main" id="{26C0FA63-C607-4532-2BCA-4219E61B56F6}"/>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773095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BA12A-EAC2-BEA2-A23B-E9DF2CE5F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4AA2C3-ABB2-9B43-F1F6-839CB7037F46}"/>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7684A8EE-85A0-8F7A-E326-39B51E108337}"/>
              </a:ext>
            </a:extLst>
          </p:cNvPr>
          <p:cNvSpPr txBox="1"/>
          <p:nvPr/>
        </p:nvSpPr>
        <p:spPr>
          <a:xfrm>
            <a:off x="397466" y="1690688"/>
            <a:ext cx="6159136" cy="1877437"/>
          </a:xfrm>
          <a:prstGeom prst="rect">
            <a:avLst/>
          </a:prstGeom>
          <a:noFill/>
        </p:spPr>
        <p:txBody>
          <a:bodyPr wrap="square" rtlCol="0">
            <a:spAutoFit/>
          </a:bodyPr>
          <a:lstStyle/>
          <a:p>
            <a:r>
              <a:rPr lang="en-US" sz="1600" b="1" dirty="0">
                <a:latin typeface="Helvetica" pitchFamily="2" charset="0"/>
              </a:rPr>
              <a:t>Single-node jobs</a:t>
            </a:r>
            <a:r>
              <a:rPr lang="en-US" sz="1600" dirty="0">
                <a:latin typeface="Helvetica" pitchFamily="2" charset="0"/>
              </a:rPr>
              <a:t>: Your program uses multiple cores on ONE node </a:t>
            </a:r>
          </a:p>
          <a:p>
            <a:pPr marL="742950" lvl="1" indent="-285750">
              <a:buFont typeface="Arial" panose="020B0604020202020204" pitchFamily="34" charset="0"/>
              <a:buChar char="•"/>
            </a:pPr>
            <a:r>
              <a:rPr lang="en-US" sz="1400" dirty="0">
                <a:latin typeface="Helvetica" pitchFamily="2" charset="0"/>
              </a:rPr>
              <a:t>Faster communication between cores (they share memory)</a:t>
            </a:r>
          </a:p>
          <a:p>
            <a:pPr marL="742950" lvl="1" indent="-285750">
              <a:buFont typeface="Arial" panose="020B0604020202020204" pitchFamily="34" charset="0"/>
              <a:buChar char="•"/>
            </a:pPr>
            <a:r>
              <a:rPr lang="en-US" sz="1400" dirty="0">
                <a:latin typeface="Helvetica" pitchFamily="2" charset="0"/>
              </a:rPr>
              <a:t>Limited by one node's resources (if a node has 32 cores and 128GB RAM, that's your max)</a:t>
            </a:r>
          </a:p>
          <a:p>
            <a:pPr lvl="1"/>
            <a:r>
              <a:rPr lang="en-US" sz="1400" i="1" dirty="0">
                <a:latin typeface="Helvetica" pitchFamily="2" charset="0"/>
              </a:rPr>
              <a:t>Example: Most alignment tools (BWA, STAR) run on a single node</a:t>
            </a:r>
          </a:p>
          <a:p>
            <a:pPr lvl="1"/>
            <a:endParaRPr lang="en-US" sz="1400" i="1" dirty="0">
              <a:latin typeface="Helvetica" pitchFamily="2" charset="0"/>
            </a:endParaRPr>
          </a:p>
          <a:p>
            <a:endParaRPr lang="en-US" sz="1400" dirty="0">
              <a:latin typeface="Helvetica" pitchFamily="2" charset="0"/>
            </a:endParaRPr>
          </a:p>
        </p:txBody>
      </p:sp>
      <p:pic>
        <p:nvPicPr>
          <p:cNvPr id="7" name="Picture 2">
            <a:extLst>
              <a:ext uri="{FF2B5EF4-FFF2-40B4-BE49-F238E27FC236}">
                <a16:creationId xmlns:a16="http://schemas.microsoft.com/office/drawing/2014/main" id="{E627B80D-214D-15DF-9567-61B30B0993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104D6AC0-160F-1AF8-852E-3F15928EF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557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2A9E-5935-7D8C-A638-D55C94E91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DD537-C84E-5AFD-5F8A-9CF234BC0F35}"/>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4F856ABA-D7F4-48EE-B65C-3C5B3957FBBF}"/>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pic>
        <p:nvPicPr>
          <p:cNvPr id="13314" name="Picture 2" descr="MPI for Multi-node and Parallel Jobs — Sheffield HPC Documentation">
            <a:extLst>
              <a:ext uri="{FF2B5EF4-FFF2-40B4-BE49-F238E27FC236}">
                <a16:creationId xmlns:a16="http://schemas.microsoft.com/office/drawing/2014/main" id="{9A6EB347-2470-DA30-367E-B2D2D4B779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3C56612-3051-0631-7D9A-D7962AA46AD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15AC4FE9-71B6-B45B-1865-712A68DA84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2782F16E-EC1B-E5AA-6B47-060C20327F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2B3507B4-558B-F434-2006-BB75F9EB38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944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A058B-0E5C-5AE7-C7DB-9194E5316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B30D-8516-CE98-0A62-78DCCAB2935D}"/>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15FCFC9C-B047-2C4F-A850-0B910793FF7A}"/>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sp>
        <p:nvSpPr>
          <p:cNvPr id="8" name="TextBox 7">
            <a:extLst>
              <a:ext uri="{FF2B5EF4-FFF2-40B4-BE49-F238E27FC236}">
                <a16:creationId xmlns:a16="http://schemas.microsoft.com/office/drawing/2014/main" id="{19715517-0F65-007E-BB70-AC12086D6A61}"/>
              </a:ext>
            </a:extLst>
          </p:cNvPr>
          <p:cNvSpPr txBox="1"/>
          <p:nvPr/>
        </p:nvSpPr>
        <p:spPr>
          <a:xfrm>
            <a:off x="397466" y="5476161"/>
            <a:ext cx="6459582" cy="1077218"/>
          </a:xfrm>
          <a:prstGeom prst="rect">
            <a:avLst/>
          </a:prstGeom>
          <a:solidFill>
            <a:schemeClr val="accent6">
              <a:lumMod val="20000"/>
              <a:lumOff val="80000"/>
            </a:schemeClr>
          </a:solidFill>
        </p:spPr>
        <p:txBody>
          <a:bodyPr wrap="square">
            <a:spAutoFit/>
          </a:bodyPr>
          <a:lstStyle/>
          <a:p>
            <a:r>
              <a:rPr lang="en-US" sz="1600" dirty="0">
                <a:latin typeface="Helvetica" pitchFamily="2" charset="0"/>
              </a:rPr>
              <a:t>Not all bioinformatics software can use multiple nodes! </a:t>
            </a:r>
            <a:r>
              <a:rPr lang="en-US" sz="1600" b="1" dirty="0">
                <a:latin typeface="Helvetica" pitchFamily="2" charset="0"/>
              </a:rPr>
              <a:t>Most tools are designed to use multiple cores on a single node</a:t>
            </a:r>
            <a:r>
              <a:rPr lang="en-US" sz="1600" dirty="0">
                <a:latin typeface="Helvetica" pitchFamily="2" charset="0"/>
              </a:rPr>
              <a:t>. Always check your software's documentation before requesting multi-node resources.</a:t>
            </a:r>
          </a:p>
        </p:txBody>
      </p:sp>
      <p:pic>
        <p:nvPicPr>
          <p:cNvPr id="13314" name="Picture 2" descr="MPI for Multi-node and Parallel Jobs — Sheffield HPC Documentation">
            <a:extLst>
              <a:ext uri="{FF2B5EF4-FFF2-40B4-BE49-F238E27FC236}">
                <a16:creationId xmlns:a16="http://schemas.microsoft.com/office/drawing/2014/main" id="{2BB4CEE0-7FE1-72A8-7A39-E96C363B8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84863020-BDF1-1676-B401-82B7585025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F616E44D-CD95-6810-1713-C2772003E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99D0769C-BB9B-4302-8260-A5F76E9418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4E709820-833B-C1C3-4617-116F0663E2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7797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61DD-055F-56DF-FC5D-605571E5E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652C0-085C-6A1C-E223-BA5E8B94355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9BB185E2-CF0F-E9D3-8CE5-602CD6C1702F}"/>
              </a:ext>
            </a:extLst>
          </p:cNvPr>
          <p:cNvSpPr txBox="1"/>
          <p:nvPr/>
        </p:nvSpPr>
        <p:spPr>
          <a:xfrm>
            <a:off x="397466" y="1690688"/>
            <a:ext cx="6159136" cy="2492990"/>
          </a:xfrm>
          <a:prstGeom prst="rect">
            <a:avLst/>
          </a:prstGeom>
          <a:noFill/>
        </p:spPr>
        <p:txBody>
          <a:bodyPr wrap="square" rtlCol="0">
            <a:spAutoFit/>
          </a:bodyPr>
          <a:lstStyle/>
          <a:p>
            <a:r>
              <a:rPr lang="en-US" sz="1600" b="1" dirty="0">
                <a:latin typeface="Helvetica" pitchFamily="2" charset="0"/>
              </a:rPr>
              <a:t>Memory (RAM - Random Access Memory)</a:t>
            </a:r>
          </a:p>
          <a:p>
            <a:pPr marL="285750" indent="-285750">
              <a:buFont typeface="Arial" panose="020B0604020202020204" pitchFamily="34" charset="0"/>
              <a:buChar char="•"/>
            </a:pPr>
            <a:r>
              <a:rPr lang="en-US" sz="1400" b="1" dirty="0">
                <a:latin typeface="Helvetica" pitchFamily="2" charset="0"/>
              </a:rPr>
              <a:t>Small</a:t>
            </a:r>
            <a:r>
              <a:rPr lang="en-US" sz="1400" dirty="0">
                <a:latin typeface="Helvetica" pitchFamily="2" charset="0"/>
              </a:rPr>
              <a:t> - Typically 16-512 GB per node on HPC systems</a:t>
            </a:r>
          </a:p>
          <a:p>
            <a:pPr marL="285750" indent="-285750">
              <a:buFont typeface="Arial" panose="020B0604020202020204" pitchFamily="34" charset="0"/>
              <a:buChar char="•"/>
            </a:pPr>
            <a:r>
              <a:rPr lang="en-US" sz="1400" b="1" dirty="0">
                <a:latin typeface="Helvetica" pitchFamily="2" charset="0"/>
              </a:rPr>
              <a:t>Fast</a:t>
            </a:r>
            <a:r>
              <a:rPr lang="en-US" sz="1400" dirty="0">
                <a:latin typeface="Helvetica" pitchFamily="2" charset="0"/>
              </a:rPr>
              <a:t> - Nanosecond access times; data transfer at 100+ GB/second</a:t>
            </a:r>
          </a:p>
          <a:p>
            <a:pPr marL="285750" indent="-285750">
              <a:buFont typeface="Arial" panose="020B0604020202020204" pitchFamily="34" charset="0"/>
              <a:buChar char="•"/>
            </a:pPr>
            <a:r>
              <a:rPr lang="en-US" sz="1400" b="1" dirty="0">
                <a:latin typeface="Helvetica" pitchFamily="2" charset="0"/>
              </a:rPr>
              <a:t>Expensive</a:t>
            </a:r>
            <a:r>
              <a:rPr lang="en-US" sz="1400" dirty="0">
                <a:latin typeface="Helvetica" pitchFamily="2" charset="0"/>
              </a:rPr>
              <a:t> - Costs significantly more per GB than storage</a:t>
            </a:r>
          </a:p>
          <a:p>
            <a:pPr marL="285750" indent="-285750">
              <a:buFont typeface="Arial" panose="020B0604020202020204" pitchFamily="34" charset="0"/>
              <a:buChar char="•"/>
            </a:pPr>
            <a:r>
              <a:rPr lang="en-US" sz="1400" b="1" dirty="0">
                <a:latin typeface="Helvetica" pitchFamily="2" charset="0"/>
              </a:rPr>
              <a:t>Volatile</a:t>
            </a:r>
            <a:r>
              <a:rPr lang="en-US" sz="1400" dirty="0">
                <a:latin typeface="Helvetica" pitchFamily="2" charset="0"/>
              </a:rPr>
              <a:t> - All data is lost when the computer powers off or your job ends</a:t>
            </a:r>
          </a:p>
          <a:p>
            <a:r>
              <a:rPr lang="en-US" sz="1400" b="1" dirty="0">
                <a:latin typeface="Helvetica" pitchFamily="2" charset="0"/>
              </a:rPr>
              <a:t>Purpose:</a:t>
            </a:r>
            <a:r>
              <a:rPr lang="en-US" sz="1400" dirty="0">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p:txBody>
      </p:sp>
      <p:pic>
        <p:nvPicPr>
          <p:cNvPr id="15362" name="Picture 2" descr="Understanding RAM versus hard-drive space via an analogy - CNET">
            <a:extLst>
              <a:ext uri="{FF2B5EF4-FFF2-40B4-BE49-F238E27FC236}">
                <a16:creationId xmlns:a16="http://schemas.microsoft.com/office/drawing/2014/main" id="{91C596E3-AE90-E60A-2DA3-8DC37B6ABE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C64C22-3F41-2AC2-36DF-3FDCBE7AD289}"/>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Tree>
    <p:extLst>
      <p:ext uri="{BB962C8B-B14F-4D97-AF65-F5344CB8AC3E}">
        <p14:creationId xmlns:p14="http://schemas.microsoft.com/office/powerpoint/2010/main" val="323488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42336-29DC-2203-B216-8F95146D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5D6D4-E1A5-0B85-6274-30E0FA0D4C1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2FD4A457-5220-9906-3025-2B1AF83621B7}"/>
              </a:ext>
            </a:extLst>
          </p:cNvPr>
          <p:cNvSpPr txBox="1"/>
          <p:nvPr/>
        </p:nvSpPr>
        <p:spPr>
          <a:xfrm>
            <a:off x="397466" y="1690688"/>
            <a:ext cx="6159136" cy="4462760"/>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Memory (RAM - Random Access Memory)</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Small</a:t>
            </a:r>
            <a:r>
              <a:rPr lang="en-US" sz="1400" dirty="0">
                <a:solidFill>
                  <a:schemeClr val="bg1">
                    <a:lumMod val="50000"/>
                  </a:schemeClr>
                </a:solidFill>
                <a:latin typeface="Helvetica" pitchFamily="2" charset="0"/>
              </a:rPr>
              <a:t> - Typically 16-512 GB per node on HPC systems</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Fast</a:t>
            </a:r>
            <a:r>
              <a:rPr lang="en-US" sz="1400" dirty="0">
                <a:solidFill>
                  <a:schemeClr val="bg1">
                    <a:lumMod val="50000"/>
                  </a:schemeClr>
                </a:solidFill>
                <a:latin typeface="Helvetica" pitchFamily="2" charset="0"/>
              </a:rPr>
              <a:t> - Nanosecond access times; data transfer at 100+ GB/second</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Expensive</a:t>
            </a:r>
            <a:r>
              <a:rPr lang="en-US" sz="1400" dirty="0">
                <a:solidFill>
                  <a:schemeClr val="bg1">
                    <a:lumMod val="50000"/>
                  </a:schemeClr>
                </a:solidFill>
                <a:latin typeface="Helvetica" pitchFamily="2" charset="0"/>
              </a:rPr>
              <a:t> - Costs significantly more per GB than storage</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Volatile</a:t>
            </a:r>
            <a:r>
              <a:rPr lang="en-US" sz="1400" dirty="0">
                <a:solidFill>
                  <a:schemeClr val="bg1">
                    <a:lumMod val="50000"/>
                  </a:schemeClr>
                </a:solidFill>
                <a:latin typeface="Helvetica" pitchFamily="2" charset="0"/>
              </a:rPr>
              <a:t> - All data is lost when the computer powers off or your job ends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a:p>
            <a:r>
              <a:rPr lang="en-US" sz="1600" b="1" dirty="0">
                <a:latin typeface="Helvetica" pitchFamily="2" charset="0"/>
              </a:rPr>
              <a:t>Storage (Disk - Hard Drives or SSDs)</a:t>
            </a:r>
          </a:p>
          <a:p>
            <a:pPr marL="285750" indent="-285750">
              <a:buFont typeface="Arial" panose="020B0604020202020204" pitchFamily="34" charset="0"/>
              <a:buChar char="•"/>
            </a:pPr>
            <a:r>
              <a:rPr lang="en-US" sz="1400" b="1" dirty="0">
                <a:latin typeface="Helvetica" pitchFamily="2" charset="0"/>
              </a:rPr>
              <a:t>Large</a:t>
            </a:r>
            <a:r>
              <a:rPr lang="en-US" sz="1400" dirty="0">
                <a:latin typeface="Helvetica" pitchFamily="2" charset="0"/>
              </a:rPr>
              <a:t> - Terabytes to petabytes on HPC systems</a:t>
            </a:r>
          </a:p>
          <a:p>
            <a:pPr marL="285750" indent="-285750">
              <a:buFont typeface="Arial" panose="020B0604020202020204" pitchFamily="34" charset="0"/>
              <a:buChar char="•"/>
            </a:pPr>
            <a:r>
              <a:rPr lang="en-US" sz="1400" b="1" dirty="0">
                <a:latin typeface="Helvetica" pitchFamily="2" charset="0"/>
              </a:rPr>
              <a:t>Slower</a:t>
            </a:r>
            <a:r>
              <a:rPr lang="en-US" sz="1400" dirty="0">
                <a:latin typeface="Helvetica" pitchFamily="2" charset="0"/>
              </a:rPr>
              <a:t> - Millisecond access times; data transfer at 1-10 GB/second</a:t>
            </a:r>
          </a:p>
          <a:p>
            <a:pPr marL="285750" indent="-285750">
              <a:buFont typeface="Arial" panose="020B0604020202020204" pitchFamily="34" charset="0"/>
              <a:buChar char="•"/>
            </a:pPr>
            <a:r>
              <a:rPr lang="en-US" sz="1400" b="1" dirty="0">
                <a:latin typeface="Helvetica" pitchFamily="2" charset="0"/>
              </a:rPr>
              <a:t>Cheaper</a:t>
            </a:r>
            <a:r>
              <a:rPr lang="en-US" sz="1400" dirty="0">
                <a:latin typeface="Helvetica" pitchFamily="2" charset="0"/>
              </a:rPr>
              <a:t> - Costs much less per GB than memory</a:t>
            </a:r>
          </a:p>
          <a:p>
            <a:pPr marL="285750" indent="-285750">
              <a:buFont typeface="Arial" panose="020B0604020202020204" pitchFamily="34" charset="0"/>
              <a:buChar char="•"/>
            </a:pPr>
            <a:r>
              <a:rPr lang="en-US" sz="1400" b="1" dirty="0">
                <a:latin typeface="Helvetica" pitchFamily="2" charset="0"/>
              </a:rPr>
              <a:t>Non-volatile</a:t>
            </a:r>
            <a:r>
              <a:rPr lang="en-US" sz="1400" dirty="0">
                <a:latin typeface="Helvetica" pitchFamily="2" charset="0"/>
              </a:rPr>
              <a:t> - Data persists even when powered off</a:t>
            </a:r>
          </a:p>
          <a:p>
            <a:r>
              <a:rPr lang="en-US" sz="1400" b="1" dirty="0">
                <a:latin typeface="Helvetica" pitchFamily="2" charset="0"/>
              </a:rPr>
              <a:t>Purpose:</a:t>
            </a:r>
            <a:r>
              <a:rPr lang="en-US" sz="1400" dirty="0">
                <a:latin typeface="Helvetica" pitchFamily="2" charset="0"/>
              </a:rPr>
              <a:t> Storage is your filing cabinet. It holds all your data long-term: raw sequencing files, reference genomes, analysis results, scripts, and software. You can't work directly from storage—data must be copied into memory first.</a:t>
            </a:r>
          </a:p>
        </p:txBody>
      </p:sp>
      <p:pic>
        <p:nvPicPr>
          <p:cNvPr id="15362" name="Picture 2" descr="Understanding RAM versus hard-drive space via an analogy - CNET">
            <a:extLst>
              <a:ext uri="{FF2B5EF4-FFF2-40B4-BE49-F238E27FC236}">
                <a16:creationId xmlns:a16="http://schemas.microsoft.com/office/drawing/2014/main" id="{3A1689CB-2E12-E400-5AED-13A704A56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82F83B6-526C-3213-3350-A77B16534B2B}"/>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
        <p:nvSpPr>
          <p:cNvPr id="6" name="TextBox 5">
            <a:extLst>
              <a:ext uri="{FF2B5EF4-FFF2-40B4-BE49-F238E27FC236}">
                <a16:creationId xmlns:a16="http://schemas.microsoft.com/office/drawing/2014/main" id="{84C7B99F-B130-EB6B-D55C-1DC3D1EBA7B7}"/>
              </a:ext>
            </a:extLst>
          </p:cNvPr>
          <p:cNvSpPr txBox="1"/>
          <p:nvPr/>
        </p:nvSpPr>
        <p:spPr>
          <a:xfrm>
            <a:off x="8353698" y="5368101"/>
            <a:ext cx="3530134" cy="1384995"/>
          </a:xfrm>
          <a:prstGeom prst="rect">
            <a:avLst/>
          </a:prstGeom>
          <a:noFill/>
          <a:ln w="12700">
            <a:solidFill>
              <a:srgbClr val="D80003"/>
            </a:solidFill>
          </a:ln>
        </p:spPr>
        <p:txBody>
          <a:bodyPr wrap="none" rtlCol="0">
            <a:spAutoFit/>
          </a:bodyPr>
          <a:lstStyle/>
          <a:p>
            <a:r>
              <a:rPr lang="en-US" sz="1200" dirty="0">
                <a:latin typeface="Helvetica" pitchFamily="2" charset="0"/>
              </a:rPr>
              <a:t>What lives in </a:t>
            </a:r>
            <a:r>
              <a:rPr lang="en-US" sz="1200" b="1" dirty="0">
                <a:latin typeface="Helvetica" pitchFamily="2" charset="0"/>
              </a:rPr>
              <a:t>storage:</a:t>
            </a:r>
            <a:endParaRPr lang="en-US" sz="1200" dirty="0">
              <a:latin typeface="Helvetica" pitchFamily="2" charset="0"/>
            </a:endParaRPr>
          </a:p>
          <a:p>
            <a:r>
              <a:rPr lang="en-US" sz="1200" dirty="0">
                <a:latin typeface="Helvetica" pitchFamily="2" charset="0"/>
              </a:rPr>
              <a:t>Raw data files (FASTQ, FASTA)</a:t>
            </a:r>
          </a:p>
          <a:p>
            <a:r>
              <a:rPr lang="en-US" sz="1200" dirty="0">
                <a:latin typeface="Helvetica" pitchFamily="2" charset="0"/>
              </a:rPr>
              <a:t>Reference genomes and annotations</a:t>
            </a:r>
          </a:p>
          <a:p>
            <a:r>
              <a:rPr lang="en-US" sz="1200" dirty="0">
                <a:latin typeface="Helvetica" pitchFamily="2" charset="0"/>
              </a:rPr>
              <a:t>Final analysis results (BAM, VCF, counts tables)</a:t>
            </a:r>
          </a:p>
          <a:p>
            <a:r>
              <a:rPr lang="en-US" sz="1200" dirty="0">
                <a:latin typeface="Helvetica" pitchFamily="2" charset="0"/>
              </a:rPr>
              <a:t>Your scripts and programs</a:t>
            </a:r>
          </a:p>
          <a:p>
            <a:r>
              <a:rPr lang="en-US" sz="1200" dirty="0">
                <a:latin typeface="Helvetica" pitchFamily="2" charset="0"/>
              </a:rPr>
              <a:t>Everything you want to keep after the job finishes</a:t>
            </a:r>
          </a:p>
          <a:p>
            <a:endParaRPr lang="en-US" sz="1200" dirty="0"/>
          </a:p>
        </p:txBody>
      </p:sp>
    </p:spTree>
    <p:extLst>
      <p:ext uri="{BB962C8B-B14F-4D97-AF65-F5344CB8AC3E}">
        <p14:creationId xmlns:p14="http://schemas.microsoft.com/office/powerpoint/2010/main" val="28455744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086A-311D-AD24-102B-C45D2FF19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88802-F68A-9CB1-C37A-DDAF7DB04B9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A0A834E0-5DCC-5191-AD16-CF9DEE1D1FE4}"/>
              </a:ext>
            </a:extLst>
          </p:cNvPr>
          <p:cNvSpPr txBox="1"/>
          <p:nvPr/>
        </p:nvSpPr>
        <p:spPr>
          <a:xfrm>
            <a:off x="423592" y="1429431"/>
            <a:ext cx="6159136" cy="1908215"/>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Mistake 1: Confusing memory and storage requirements</a:t>
            </a:r>
            <a:endParaRPr lang="en-US" sz="1600" dirty="0"/>
          </a:p>
          <a:p>
            <a:r>
              <a:rPr lang="en-US" sz="1400" i="1" dirty="0"/>
              <a:t>"My FASTQ file is 50GB, so I need 50GB of memory"</a:t>
            </a:r>
            <a:endParaRPr lang="en-US" sz="1400" dirty="0"/>
          </a:p>
          <a:p>
            <a:r>
              <a:rPr lang="en-US" sz="1400" b="1" dirty="0"/>
              <a:t>Reality:</a:t>
            </a:r>
            <a:r>
              <a:rPr lang="en-US" sz="1400" dirty="0"/>
              <a:t> Your program might only need 8GB of memory because it processes the file in chunks</a:t>
            </a:r>
          </a:p>
          <a:p>
            <a:r>
              <a:rPr lang="en-US" sz="1400" b="1" dirty="0"/>
              <a:t>Solution:</a:t>
            </a:r>
            <a:r>
              <a:rPr lang="en-US" sz="1400" dirty="0"/>
              <a:t> Check your software documentation for memory requirements</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AC681DC2-E0DA-DC0C-896A-A28C1EFDCF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01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A9FC-BA7D-7EA6-0A7B-20BF82F4B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874F5-EA04-66B5-CD27-53CDAA7E2D20}"/>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6B1E9AB5-2BF5-83A7-1A22-AA5FF8AEA7CF}"/>
              </a:ext>
            </a:extLst>
          </p:cNvPr>
          <p:cNvSpPr txBox="1"/>
          <p:nvPr/>
        </p:nvSpPr>
        <p:spPr>
          <a:xfrm>
            <a:off x="423592" y="1429431"/>
            <a:ext cx="6159136" cy="3262432"/>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p>
          <a:p>
            <a:r>
              <a:rPr lang="en-US" sz="1600" b="1" dirty="0"/>
              <a:t>❌ Mistake 2: Not requesting enough memory</a:t>
            </a:r>
            <a:endParaRPr lang="en-US" sz="1600" dirty="0"/>
          </a:p>
          <a:p>
            <a:r>
              <a:rPr lang="en-US" sz="1400" dirty="0"/>
              <a:t>Your job will crash with "Out of Memory" or "Killed" errors</a:t>
            </a:r>
          </a:p>
          <a:p>
            <a:r>
              <a:rPr lang="en-US" sz="1400" dirty="0"/>
              <a:t>The program was terminated by the system for exceeding memory limits</a:t>
            </a:r>
          </a:p>
          <a:p>
            <a:r>
              <a:rPr lang="en-US" sz="1400" b="1" dirty="0"/>
              <a:t>Solution:</a:t>
            </a:r>
            <a:r>
              <a:rPr lang="en-US" sz="1400" dirty="0"/>
              <a:t> Always check memory usage from test runs and add 20% buffer</a:t>
            </a:r>
          </a:p>
          <a:p>
            <a:endParaRPr lang="en-US" sz="1400" dirty="0"/>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D6CE8738-1565-503A-7CA1-90D969635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717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DDDC-6B2B-C327-74B9-B3978A56F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D90B-4C67-FC0A-9F88-F7C341ACC77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351DF808-FE45-59BF-5CDD-FD9866A6DA9A}"/>
              </a:ext>
            </a:extLst>
          </p:cNvPr>
          <p:cNvSpPr txBox="1"/>
          <p:nvPr/>
        </p:nvSpPr>
        <p:spPr>
          <a:xfrm>
            <a:off x="423592" y="1429431"/>
            <a:ext cx="6159136" cy="4124206"/>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p>
          <a:p>
            <a:r>
              <a:rPr lang="en-US" sz="1600" b="1" dirty="0"/>
              <a:t>❌ Mistake 3: Requesting too much memory</a:t>
            </a:r>
            <a:endParaRPr lang="en-US" sz="1600" dirty="0"/>
          </a:p>
          <a:p>
            <a:r>
              <a:rPr lang="en-US" sz="1400" dirty="0"/>
              <a:t>Your job waits longer in the queue (high-memory nodes are scarce)</a:t>
            </a:r>
          </a:p>
          <a:p>
            <a:r>
              <a:rPr lang="en-US" sz="1400" dirty="0"/>
              <a:t>You waste resources that others could use</a:t>
            </a:r>
          </a:p>
          <a:p>
            <a:r>
              <a:rPr lang="en-US" sz="1400" b="1" dirty="0"/>
              <a:t>Solution:</a:t>
            </a:r>
            <a:r>
              <a:rPr lang="en-US" sz="1400" dirty="0"/>
              <a:t> Monitor your actual memory usage and adjust requests accordingly</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1AC1E68E-6989-FFE9-A6AD-520AEB2FBD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1068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386F-DF76-031E-A454-5B688A7313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DBF17-D5C2-F8D1-6A78-DC27074B9A2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CC7091F6-2F01-6562-F822-C1A6F8D673F1}"/>
              </a:ext>
            </a:extLst>
          </p:cNvPr>
          <p:cNvSpPr txBox="1"/>
          <p:nvPr/>
        </p:nvSpPr>
        <p:spPr>
          <a:xfrm>
            <a:off x="423592" y="1429431"/>
            <a:ext cx="6159136" cy="5016758"/>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solidFill>
                <a:schemeClr val="bg1">
                  <a:lumMod val="50000"/>
                </a:schemeClr>
              </a:solidFill>
            </a:endParaRPr>
          </a:p>
          <a:p>
            <a:r>
              <a:rPr lang="en-US" sz="1600" b="1" dirty="0">
                <a:solidFill>
                  <a:schemeClr val="bg1">
                    <a:lumMod val="50000"/>
                  </a:schemeClr>
                </a:solidFill>
              </a:rPr>
              <a:t>❌ Mistake 3: Requesting too much memory</a:t>
            </a:r>
            <a:endParaRPr lang="en-US" sz="1600" dirty="0">
              <a:solidFill>
                <a:schemeClr val="bg1">
                  <a:lumMod val="50000"/>
                </a:schemeClr>
              </a:solidFill>
            </a:endParaRPr>
          </a:p>
          <a:p>
            <a:r>
              <a:rPr lang="en-US" sz="1400" dirty="0">
                <a:solidFill>
                  <a:schemeClr val="bg1">
                    <a:lumMod val="50000"/>
                  </a:schemeClr>
                </a:solidFill>
              </a:rPr>
              <a:t>Your job waits longer in the queue (high-memory nodes are scarce)</a:t>
            </a:r>
          </a:p>
          <a:p>
            <a:r>
              <a:rPr lang="en-US" sz="1400" dirty="0">
                <a:solidFill>
                  <a:schemeClr val="bg1">
                    <a:lumMod val="50000"/>
                  </a:schemeClr>
                </a:solidFill>
              </a:rPr>
              <a:t>You waste resources that others could use</a:t>
            </a:r>
          </a:p>
          <a:p>
            <a:r>
              <a:rPr lang="en-US" sz="1400" b="1" dirty="0">
                <a:solidFill>
                  <a:schemeClr val="bg1">
                    <a:lumMod val="50000"/>
                  </a:schemeClr>
                </a:solidFill>
              </a:rPr>
              <a:t>Solution:</a:t>
            </a:r>
            <a:r>
              <a:rPr lang="en-US" sz="1400" dirty="0">
                <a:solidFill>
                  <a:schemeClr val="bg1">
                    <a:lumMod val="50000"/>
                  </a:schemeClr>
                </a:solidFill>
              </a:rPr>
              <a:t> Monitor your actual memory usage and adjust requests accordingly</a:t>
            </a:r>
          </a:p>
          <a:p>
            <a:endParaRPr lang="en-US" sz="1400" dirty="0"/>
          </a:p>
          <a:p>
            <a:r>
              <a:rPr lang="en-US" sz="1600" b="1" dirty="0"/>
              <a:t>❌ Mistake 4: Trying to work with data larger than available memory</a:t>
            </a:r>
            <a:endParaRPr lang="en-US" sz="1600" dirty="0"/>
          </a:p>
          <a:p>
            <a:r>
              <a:rPr lang="en-US" sz="1400" dirty="0"/>
              <a:t>Some tools require the entire dataset in memory</a:t>
            </a:r>
          </a:p>
          <a:p>
            <a:r>
              <a:rPr lang="en-US" sz="1400" b="1" dirty="0"/>
              <a:t>Solution:</a:t>
            </a:r>
            <a:r>
              <a:rPr lang="en-US" sz="1400" dirty="0"/>
              <a:t> Use tools designed for large data (</a:t>
            </a:r>
            <a:r>
              <a:rPr lang="en-US" sz="1400" dirty="0" err="1"/>
              <a:t>samtools</a:t>
            </a:r>
            <a:r>
              <a:rPr lang="en-US" sz="1400" dirty="0"/>
              <a:t> for BAM files, streaming processors) or split your data</a:t>
            </a:r>
          </a:p>
        </p:txBody>
      </p:sp>
      <p:pic>
        <p:nvPicPr>
          <p:cNvPr id="17410" name="Picture 2" descr="7 Worst Desks Ever! ideas to save today | messy desk, getting organized,  work space and more">
            <a:extLst>
              <a:ext uri="{FF2B5EF4-FFF2-40B4-BE49-F238E27FC236}">
                <a16:creationId xmlns:a16="http://schemas.microsoft.com/office/drawing/2014/main" id="{7054CC2A-1B05-17F1-55D8-C2EFAD7CA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34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35C9-609F-45B6-8E76-4750D17AFA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DF8AA2-93D1-399E-821B-F2E1D88DA475}"/>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Hazel structure</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B3B721D2-7FE8-CA45-22E9-E8F27BC4B2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7628709" y="2027251"/>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9817EF9-B30E-B7AB-4F9E-9C0EF2D8D8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3588" y="1724996"/>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551A5228-191A-D395-34C2-00707D72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12285" y="2260809"/>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7065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9438B-A4D3-15EA-C128-7EC108BE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1DB1A-8C8D-F75A-3A2D-9AAD745EDB26}"/>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2B662220-EB47-C887-9CA3-3FE03F497E1D}"/>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FA1E56C-4218-8E2D-6A19-2EEAC75308EF}"/>
              </a:ext>
            </a:extLst>
          </p:cNvPr>
          <p:cNvSpPr txBox="1"/>
          <p:nvPr/>
        </p:nvSpPr>
        <p:spPr>
          <a:xfrm>
            <a:off x="357725" y="1312817"/>
            <a:ext cx="6433457" cy="1908215"/>
          </a:xfrm>
          <a:prstGeom prst="rect">
            <a:avLst/>
          </a:prstGeom>
          <a:noFill/>
        </p:spPr>
        <p:txBody>
          <a:bodyPr wrap="square" rtlCol="0">
            <a:spAutoFit/>
          </a:bodyPr>
          <a:lstStyle/>
          <a:p>
            <a:r>
              <a:rPr lang="en-US" sz="1600" b="1" dirty="0">
                <a:latin typeface="Helvetica" pitchFamily="2" charset="0"/>
              </a:rPr>
              <a:t>1. Login Nodes</a:t>
            </a:r>
            <a:r>
              <a:rPr lang="en-US" sz="1600" dirty="0">
                <a:latin typeface="Helvetica" pitchFamily="2" charset="0"/>
              </a:rPr>
              <a:t> - Your Gateway to HPC</a:t>
            </a:r>
          </a:p>
          <a:p>
            <a:r>
              <a:rPr lang="en-US" sz="1400" b="1" dirty="0">
                <a:latin typeface="Helvetica" pitchFamily="2" charset="0"/>
              </a:rPr>
              <a:t>Purpose:</a:t>
            </a:r>
            <a:r>
              <a:rPr lang="en-US" sz="1400" dirty="0">
                <a:latin typeface="Helvetica" pitchFamily="2" charset="0"/>
              </a:rPr>
              <a:t> Entry point to Hazel; where you prepare your work, write scripts, organize files, and submit jobs</a:t>
            </a:r>
          </a:p>
          <a:p>
            <a:r>
              <a:rPr lang="en-US" sz="1400" b="1" dirty="0">
                <a:latin typeface="Helvetica" pitchFamily="2" charset="0"/>
              </a:rPr>
              <a:t>What you CAN do:</a:t>
            </a:r>
            <a:r>
              <a:rPr lang="en-US" sz="1400" dirty="0">
                <a:latin typeface="Helvetica" pitchFamily="2" charset="0"/>
              </a:rPr>
              <a:t> Edit files, organize directories, install software, submit jobs to the scheduler, check job status</a:t>
            </a:r>
          </a:p>
          <a:p>
            <a:r>
              <a:rPr lang="en-US" sz="1400" b="1" dirty="0">
                <a:latin typeface="Helvetica" pitchFamily="2" charset="0"/>
              </a:rPr>
              <a:t>What you CANNOT do:</a:t>
            </a:r>
            <a:r>
              <a:rPr lang="en-US" sz="1400" dirty="0">
                <a:latin typeface="Helvetica" pitchFamily="2" charset="0"/>
              </a:rPr>
              <a:t> Run computationally intensive analyses</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23BD1041-F5F7-9AC3-7DE9-6322C309279C}"/>
              </a:ext>
            </a:extLst>
          </p:cNvPr>
          <p:cNvSpPr/>
          <p:nvPr/>
        </p:nvSpPr>
        <p:spPr>
          <a:xfrm>
            <a:off x="8629359" y="2389876"/>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3527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Hazel HPC structure</a:t>
            </a:r>
          </a:p>
        </p:txBody>
      </p:sp>
      <p:sp>
        <p:nvSpPr>
          <p:cNvPr id="3" name="TextBox 2">
            <a:extLst>
              <a:ext uri="{FF2B5EF4-FFF2-40B4-BE49-F238E27FC236}">
                <a16:creationId xmlns:a16="http://schemas.microsoft.com/office/drawing/2014/main" id="{1ABF76D4-2015-B4F1-7603-B8AEC2B2F006}"/>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937A45D4-014E-9526-58E9-E3BBF2B9DA6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8B008-F9A7-1C69-2EC8-8E4866766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CCAD2E-E4CA-A4B6-5584-D2B9BE086C1D}"/>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3EB9DB19-7E16-294F-29B3-05C3A71CDF9B}"/>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035637C-B885-E65C-6BF7-7818BC6208C6}"/>
              </a:ext>
            </a:extLst>
          </p:cNvPr>
          <p:cNvSpPr txBox="1"/>
          <p:nvPr/>
        </p:nvSpPr>
        <p:spPr>
          <a:xfrm>
            <a:off x="357725" y="1312817"/>
            <a:ext cx="6433457" cy="3046988"/>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latin typeface="Helvetica" pitchFamily="2" charset="0"/>
            </a:endParaRPr>
          </a:p>
          <a:p>
            <a:r>
              <a:rPr lang="en-US" sz="1600" b="1" dirty="0">
                <a:latin typeface="Helvetica" pitchFamily="2" charset="0"/>
              </a:rPr>
              <a:t>2. Compute Nodes</a:t>
            </a:r>
            <a:r>
              <a:rPr lang="en-US" sz="1600" dirty="0">
                <a:latin typeface="Helvetica" pitchFamily="2" charset="0"/>
              </a:rPr>
              <a:t> - Where the Real Work Happens</a:t>
            </a:r>
          </a:p>
          <a:p>
            <a:r>
              <a:rPr lang="en-US" sz="1400" b="1" dirty="0">
                <a:latin typeface="Helvetica" pitchFamily="2" charset="0"/>
              </a:rPr>
              <a:t>Purpose:</a:t>
            </a:r>
            <a:r>
              <a:rPr lang="en-US" sz="1400" dirty="0">
                <a:latin typeface="Helvetica" pitchFamily="2" charset="0"/>
              </a:rPr>
              <a:t> Execute your analyses (alignments, assemblies, variant calling, etc.)</a:t>
            </a:r>
          </a:p>
          <a:p>
            <a:r>
              <a:rPr lang="en-US" sz="1400" b="1" dirty="0">
                <a:latin typeface="Helvetica" pitchFamily="2" charset="0"/>
              </a:rPr>
              <a:t>Access:</a:t>
            </a:r>
            <a:r>
              <a:rPr lang="en-US" sz="1400" dirty="0">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FD71A91B-7CF9-3E51-5F5A-FE8C81CC9F3D}"/>
              </a:ext>
            </a:extLst>
          </p:cNvPr>
          <p:cNvSpPr/>
          <p:nvPr/>
        </p:nvSpPr>
        <p:spPr>
          <a:xfrm>
            <a:off x="10176324" y="1884237"/>
            <a:ext cx="1115890" cy="1090695"/>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1585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AA96-D752-F630-96E6-C57A789BD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966BB-3761-3A8E-BFB9-CBDFCA738677}"/>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57983CD6-B687-76F6-7020-98B4CEE26B8A}"/>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4B75985-685C-3219-C9C9-AC2430BFEC2D}"/>
              </a:ext>
            </a:extLst>
          </p:cNvPr>
          <p:cNvSpPr txBox="1"/>
          <p:nvPr/>
        </p:nvSpPr>
        <p:spPr>
          <a:xfrm>
            <a:off x="357725" y="1312817"/>
            <a:ext cx="6433457" cy="5232202"/>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r>
              <a:rPr lang="en-US" sz="1600" b="1" dirty="0">
                <a:latin typeface="Helvetica" pitchFamily="2" charset="0"/>
              </a:rPr>
              <a:t>3. Scheduler (LSF)</a:t>
            </a:r>
            <a:r>
              <a:rPr lang="en-US" sz="1600" dirty="0">
                <a:latin typeface="Helvetica" pitchFamily="2" charset="0"/>
              </a:rPr>
              <a:t> - The Traffic Controller</a:t>
            </a:r>
          </a:p>
          <a:p>
            <a:r>
              <a:rPr lang="en-US" sz="1400" dirty="0">
                <a:latin typeface="Helvetica" pitchFamily="2" charset="0"/>
              </a:rPr>
              <a:t>Software that manages all job submissions and resource allocation</a:t>
            </a:r>
          </a:p>
          <a:p>
            <a:r>
              <a:rPr lang="en-US" sz="1400" b="1" dirty="0">
                <a:latin typeface="Helvetica" pitchFamily="2" charset="0"/>
              </a:rPr>
              <a:t>Purpose:</a:t>
            </a:r>
            <a:r>
              <a:rPr lang="en-US" sz="1400" dirty="0">
                <a:latin typeface="Helvetica" pitchFamily="2" charset="0"/>
              </a:rPr>
              <a:t> Ensures fair resource distribution among all users; prevents conflicts</a:t>
            </a:r>
          </a:p>
          <a:p>
            <a:r>
              <a:rPr lang="en-US" sz="1400" b="1" dirty="0">
                <a:latin typeface="Helvetica" pitchFamily="2" charset="0"/>
              </a:rPr>
              <a:t>How it works:</a:t>
            </a:r>
            <a:r>
              <a:rPr lang="en-US" sz="1400" dirty="0">
                <a:latin typeface="Helvetica" pitchFamily="2" charset="0"/>
              </a:rPr>
              <a:t> </a:t>
            </a:r>
          </a:p>
          <a:p>
            <a:pPr marL="742950" lvl="1" indent="-285750">
              <a:buFont typeface="Arial" panose="020B0604020202020204" pitchFamily="34" charset="0"/>
              <a:buChar char="•"/>
            </a:pPr>
            <a:r>
              <a:rPr lang="en-US" sz="1400" dirty="0">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latin typeface="Helvetica" pitchFamily="2" charset="0"/>
              </a:rPr>
              <a:t>LSF queues your job</a:t>
            </a:r>
          </a:p>
          <a:p>
            <a:pPr marL="742950" lvl="1" indent="-285750">
              <a:buFont typeface="Arial" panose="020B0604020202020204" pitchFamily="34" charset="0"/>
              <a:buChar char="•"/>
            </a:pPr>
            <a:r>
              <a:rPr lang="en-US" sz="1400" dirty="0">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latin typeface="Helvetica" pitchFamily="2" charset="0"/>
              </a:rPr>
              <a:t>Your job runs on those nodes until completion</a:t>
            </a:r>
          </a:p>
          <a:p>
            <a:pPr lvl="1"/>
            <a:endParaRPr lang="en-US" sz="14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85394122-923E-88E3-A051-C7E67293CAE1}"/>
              </a:ext>
            </a:extLst>
          </p:cNvPr>
          <p:cNvSpPr/>
          <p:nvPr/>
        </p:nvSpPr>
        <p:spPr>
          <a:xfrm>
            <a:off x="9493027" y="2371087"/>
            <a:ext cx="653056" cy="58505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32660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5C431-B482-EA60-9519-05B352D2F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F503C-8238-9084-9CFC-DE06D663FC63}"/>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86AAC808-4784-C566-FECB-0637CB909F88}"/>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D8DB5E1-F7A8-EF53-1EBF-34E0A9C9B865}"/>
              </a:ext>
            </a:extLst>
          </p:cNvPr>
          <p:cNvSpPr txBox="1"/>
          <p:nvPr/>
        </p:nvSpPr>
        <p:spPr>
          <a:xfrm>
            <a:off x="357725" y="1312817"/>
            <a:ext cx="6433457" cy="5693866"/>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3. Scheduler (LSF)</a:t>
            </a:r>
            <a:r>
              <a:rPr lang="en-US" sz="1600" dirty="0">
                <a:solidFill>
                  <a:schemeClr val="bg1">
                    <a:lumMod val="50000"/>
                  </a:schemeClr>
                </a:solidFill>
                <a:latin typeface="Helvetica" pitchFamily="2" charset="0"/>
              </a:rPr>
              <a:t> - The Traffic Controller</a:t>
            </a:r>
          </a:p>
          <a:p>
            <a:r>
              <a:rPr lang="en-US" sz="1400" dirty="0">
                <a:solidFill>
                  <a:schemeClr val="bg1">
                    <a:lumMod val="50000"/>
                  </a:schemeClr>
                </a:solidFill>
                <a:latin typeface="Helvetica" pitchFamily="2" charset="0"/>
              </a:rPr>
              <a:t>Software that manages all job submissions and resource allocation</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Ensures fair resource distribution among all users; prevents conflicts</a:t>
            </a:r>
          </a:p>
          <a:p>
            <a:r>
              <a:rPr lang="en-US" sz="1400" b="1" dirty="0">
                <a:solidFill>
                  <a:schemeClr val="bg1">
                    <a:lumMod val="50000"/>
                  </a:schemeClr>
                </a:solidFill>
                <a:latin typeface="Helvetica" pitchFamily="2" charset="0"/>
              </a:rPr>
              <a:t>How it works:</a:t>
            </a:r>
            <a:r>
              <a:rPr lang="en-US" sz="1400" dirty="0">
                <a:solidFill>
                  <a:schemeClr val="bg1">
                    <a:lumMod val="50000"/>
                  </a:schemeClr>
                </a:solidFill>
                <a:latin typeface="Helvetica" pitchFamily="2" charset="0"/>
              </a:rPr>
              <a:t>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LSF queues your job</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Your job runs on those nodes until completion</a:t>
            </a:r>
          </a:p>
          <a:p>
            <a:pPr lvl="1"/>
            <a:endParaRPr lang="en-US" sz="1400" dirty="0">
              <a:latin typeface="Helvetica" pitchFamily="2" charset="0"/>
            </a:endParaRPr>
          </a:p>
          <a:p>
            <a:r>
              <a:rPr lang="en-US" sz="1600" b="1" dirty="0">
                <a:latin typeface="Helvetica" pitchFamily="2" charset="0"/>
              </a:rPr>
              <a:t>4. Storage (Filesystems)</a:t>
            </a:r>
            <a:r>
              <a:rPr lang="en-US" sz="1600" dirty="0">
                <a:latin typeface="Helvetica" pitchFamily="2" charset="0"/>
              </a:rPr>
              <a:t> - Where Everything Lives</a:t>
            </a:r>
          </a:p>
          <a:p>
            <a:endParaRPr lang="en-US" sz="1600" dirty="0">
              <a:latin typeface="Helvetica" pitchFamily="2" charset="0"/>
            </a:endParaRPr>
          </a:p>
        </p:txBody>
      </p:sp>
      <p:sp>
        <p:nvSpPr>
          <p:cNvPr id="3" name="Oval 2">
            <a:extLst>
              <a:ext uri="{FF2B5EF4-FFF2-40B4-BE49-F238E27FC236}">
                <a16:creationId xmlns:a16="http://schemas.microsoft.com/office/drawing/2014/main" id="{F2DB1856-050A-96BA-D25C-0F74BE43DDEF}"/>
              </a:ext>
            </a:extLst>
          </p:cNvPr>
          <p:cNvSpPr/>
          <p:nvPr/>
        </p:nvSpPr>
        <p:spPr>
          <a:xfrm>
            <a:off x="8886143" y="2890917"/>
            <a:ext cx="3170158" cy="1530771"/>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85422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7369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FA8A-CEBC-CEC0-7524-059A7AB80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69409-8A6A-1700-941A-1F72CF86D51F}"/>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DAA608AD-15A1-7FD4-80F3-8EC91B53990B}"/>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4" name="Oval 3">
            <a:extLst>
              <a:ext uri="{FF2B5EF4-FFF2-40B4-BE49-F238E27FC236}">
                <a16:creationId xmlns:a16="http://schemas.microsoft.com/office/drawing/2014/main" id="{A90BFA4D-D687-99FA-9EFE-BE8D63163F5E}"/>
              </a:ext>
            </a:extLst>
          </p:cNvPr>
          <p:cNvSpPr/>
          <p:nvPr/>
        </p:nvSpPr>
        <p:spPr>
          <a:xfrm>
            <a:off x="10437223" y="3579222"/>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05DC5959-29DE-1EED-6AD9-BDE909803A1B}"/>
              </a:ext>
            </a:extLst>
          </p:cNvPr>
          <p:cNvGraphicFramePr>
            <a:graphicFrameLocks noGrp="1"/>
          </p:cNvGraphicFramePr>
          <p:nvPr>
            <p:extLst>
              <p:ext uri="{D42A27DB-BD31-4B8C-83A1-F6EECF244321}">
                <p14:modId xmlns:p14="http://schemas.microsoft.com/office/powerpoint/2010/main" val="3604978546"/>
              </p:ext>
            </p:extLst>
          </p:nvPr>
        </p:nvGraphicFramePr>
        <p:xfrm>
          <a:off x="557478" y="2336074"/>
          <a:ext cx="5582195" cy="2590800"/>
        </p:xfrm>
        <a:graphic>
          <a:graphicData uri="http://schemas.openxmlformats.org/drawingml/2006/table">
            <a:tbl>
              <a:tblPr>
                <a:tableStyleId>{D7AC3CCA-C797-4891-BE02-D94E43425B78}</a:tableStyleId>
              </a:tblPr>
              <a:tblGrid>
                <a:gridCol w="1369293">
                  <a:extLst>
                    <a:ext uri="{9D8B030D-6E8A-4147-A177-3AD203B41FA5}">
                      <a16:colId xmlns:a16="http://schemas.microsoft.com/office/drawing/2014/main" val="3584143395"/>
                    </a:ext>
                  </a:extLst>
                </a:gridCol>
                <a:gridCol w="863585">
                  <a:extLst>
                    <a:ext uri="{9D8B030D-6E8A-4147-A177-3AD203B41FA5}">
                      <a16:colId xmlns:a16="http://schemas.microsoft.com/office/drawing/2014/main" val="3930158542"/>
                    </a:ext>
                  </a:extLst>
                </a:gridCol>
                <a:gridCol w="1116439">
                  <a:extLst>
                    <a:ext uri="{9D8B030D-6E8A-4147-A177-3AD203B41FA5}">
                      <a16:colId xmlns:a16="http://schemas.microsoft.com/office/drawing/2014/main" val="1182053037"/>
                    </a:ext>
                  </a:extLst>
                </a:gridCol>
                <a:gridCol w="1116439">
                  <a:extLst>
                    <a:ext uri="{9D8B030D-6E8A-4147-A177-3AD203B41FA5}">
                      <a16:colId xmlns:a16="http://schemas.microsoft.com/office/drawing/2014/main" val="691130429"/>
                    </a:ext>
                  </a:extLst>
                </a:gridCol>
                <a:gridCol w="1116439">
                  <a:extLst>
                    <a:ext uri="{9D8B030D-6E8A-4147-A177-3AD203B41FA5}">
                      <a16:colId xmlns:a16="http://schemas.microsoft.com/office/drawing/2014/main" val="2945315753"/>
                    </a:ext>
                  </a:extLst>
                </a:gridCol>
              </a:tblGrid>
              <a:tr h="0">
                <a:tc>
                  <a:txBody>
                    <a:bodyPr/>
                    <a:lstStyle/>
                    <a:p>
                      <a:pPr>
                        <a:buNone/>
                      </a:pPr>
                      <a:r>
                        <a:rPr lang="en-US" sz="1100" b="1" dirty="0"/>
                        <a:t>File Type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Home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Scratch</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err="1"/>
                        <a:t>Usrapps</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RS1</a:t>
                      </a:r>
                      <a:endParaRPr lang="en-US" sz="1100" b="1" dirty="0">
                        <a:latin typeface="Helvetica" pitchFamily="2" charset="0"/>
                      </a:endParaRPr>
                    </a:p>
                  </a:txBody>
                  <a:tcPr anchor="ctr">
                    <a:solidFill>
                      <a:schemeClr val="bg1">
                        <a:lumMod val="75000"/>
                      </a:schemeClr>
                    </a:solidFill>
                  </a:tcPr>
                </a:tc>
                <a:extLst>
                  <a:ext uri="{0D108BD9-81ED-4DB2-BD59-A6C34878D82A}">
                    <a16:rowId xmlns:a16="http://schemas.microsoft.com/office/drawing/2014/main" val="16453893"/>
                  </a:ext>
                </a:extLst>
              </a:tr>
              <a:tr h="0">
                <a:tc>
                  <a:txBody>
                    <a:bodyPr/>
                    <a:lstStyle/>
                    <a:p>
                      <a:pPr>
                        <a:buNone/>
                      </a:pPr>
                      <a:r>
                        <a:rPr lang="en-US" sz="1100" dirty="0"/>
                        <a:t>.</a:t>
                      </a:r>
                      <a:r>
                        <a:rPr lang="en-US" sz="1100" dirty="0" err="1"/>
                        <a:t>bashrc</a:t>
                      </a:r>
                      <a:r>
                        <a:rPr lang="en-US" sz="1100" dirty="0"/>
                        <a:t>, SSH keys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2498754007"/>
                  </a:ext>
                </a:extLst>
              </a:tr>
              <a:tr h="0">
                <a:tc>
                  <a:txBody>
                    <a:bodyPr/>
                    <a:lstStyle/>
                    <a:p>
                      <a:pPr>
                        <a:buNone/>
                      </a:pPr>
                      <a:r>
                        <a:rPr lang="en-US" sz="1100" dirty="0"/>
                        <a:t>Raw FASTQ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 (too big)</a:t>
                      </a:r>
                      <a:endParaRPr lang="en-US" sz="1100">
                        <a:latin typeface="Helvetica" pitchFamily="2" charset="0"/>
                      </a:endParaRPr>
                    </a:p>
                  </a:txBody>
                  <a:tcPr anchor="ctr"/>
                </a:tc>
                <a:tc>
                  <a:txBody>
                    <a:bodyPr/>
                    <a:lstStyle/>
                    <a:p>
                      <a:pPr>
                        <a:buNone/>
                      </a:pPr>
                      <a:r>
                        <a:rPr lang="en-US" sz="1100"/>
                        <a:t>❌ (temporary)</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25222671"/>
                  </a:ext>
                </a:extLst>
              </a:tr>
              <a:tr h="0">
                <a:tc>
                  <a:txBody>
                    <a:bodyPr/>
                    <a:lstStyle/>
                    <a:p>
                      <a:pPr>
                        <a:buNone/>
                      </a:pPr>
                      <a:r>
                        <a:rPr lang="en-US" sz="1100" dirty="0"/>
                        <a:t>Analysis scripts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dirty="0"/>
                        <a:t>✅ (if small)</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591205060"/>
                  </a:ext>
                </a:extLst>
              </a:tr>
              <a:tr h="0">
                <a:tc>
                  <a:txBody>
                    <a:bodyPr/>
                    <a:lstStyle/>
                    <a:p>
                      <a:pPr>
                        <a:buNone/>
                      </a:pPr>
                      <a:r>
                        <a:rPr lang="en-US" sz="1100" dirty="0"/>
                        <a:t>Conda environments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521178366"/>
                  </a:ext>
                </a:extLst>
              </a:tr>
              <a:tr h="0">
                <a:tc>
                  <a:txBody>
                    <a:bodyPr/>
                    <a:lstStyle/>
                    <a:p>
                      <a:pPr>
                        <a:buNone/>
                      </a:pPr>
                      <a:r>
                        <a:rPr lang="en-US" sz="1100" dirty="0"/>
                        <a:t>Containers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400125258"/>
                  </a:ext>
                </a:extLst>
              </a:tr>
              <a:tr h="0">
                <a:tc>
                  <a:txBody>
                    <a:bodyPr/>
                    <a:lstStyle/>
                    <a:p>
                      <a:pPr>
                        <a:buNone/>
                      </a:pPr>
                      <a:r>
                        <a:rPr lang="en-US" sz="1100" dirty="0"/>
                        <a:t>Intermediate BAMs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3508092908"/>
                  </a:ext>
                </a:extLst>
              </a:tr>
              <a:tr h="0">
                <a:tc>
                  <a:txBody>
                    <a:bodyPr/>
                    <a:lstStyle/>
                    <a:p>
                      <a:pPr>
                        <a:buNone/>
                      </a:pPr>
                      <a:r>
                        <a:rPr lang="en-US" sz="1100" dirty="0"/>
                        <a:t>Final results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187726750"/>
                  </a:ext>
                </a:extLst>
              </a:tr>
              <a:tr h="0">
                <a:tc>
                  <a:txBody>
                    <a:bodyPr/>
                    <a:lstStyle/>
                    <a:p>
                      <a:pPr>
                        <a:buNone/>
                      </a:pPr>
                      <a:r>
                        <a:rPr lang="en-US" sz="1100" dirty="0"/>
                        <a:t>Reference genomes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73008818"/>
                  </a:ext>
                </a:extLst>
              </a:tr>
              <a:tr h="0">
                <a:tc>
                  <a:txBody>
                    <a:bodyPr/>
                    <a:lstStyle/>
                    <a:p>
                      <a:pPr>
                        <a:buNone/>
                      </a:pPr>
                      <a:r>
                        <a:rPr lang="en-US" sz="1100" dirty="0"/>
                        <a:t>Temp alignment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extLst>
                  <a:ext uri="{0D108BD9-81ED-4DB2-BD59-A6C34878D82A}">
                    <a16:rowId xmlns:a16="http://schemas.microsoft.com/office/drawing/2014/main" val="2178476895"/>
                  </a:ext>
                </a:extLst>
              </a:tr>
            </a:tbl>
          </a:graphicData>
        </a:graphic>
      </p:graphicFrame>
      <p:sp>
        <p:nvSpPr>
          <p:cNvPr id="9" name="Oval 8">
            <a:extLst>
              <a:ext uri="{FF2B5EF4-FFF2-40B4-BE49-F238E27FC236}">
                <a16:creationId xmlns:a16="http://schemas.microsoft.com/office/drawing/2014/main" id="{6B2EBD2A-1A40-3F8C-6F44-635A16F5A809}"/>
              </a:ext>
            </a:extLst>
          </p:cNvPr>
          <p:cNvSpPr/>
          <p:nvPr/>
        </p:nvSpPr>
        <p:spPr>
          <a:xfrm>
            <a:off x="10068197" y="3050177"/>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7DC3BDB-13AE-6120-5AD9-9A9649DF9A2C}"/>
              </a:ext>
            </a:extLst>
          </p:cNvPr>
          <p:cNvSpPr/>
          <p:nvPr/>
        </p:nvSpPr>
        <p:spPr>
          <a:xfrm>
            <a:off x="10940143" y="3200399"/>
            <a:ext cx="824462" cy="86215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F0EBD8C-6C78-E16D-606E-27786850CB9A}"/>
              </a:ext>
            </a:extLst>
          </p:cNvPr>
          <p:cNvSpPr/>
          <p:nvPr/>
        </p:nvSpPr>
        <p:spPr>
          <a:xfrm>
            <a:off x="8872128" y="3247207"/>
            <a:ext cx="674371" cy="66403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55197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17466-0E6B-8FE8-4874-C6A2ED727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874EB-EEA3-A9F7-5D26-ED03431FB5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E9134EDF-F676-A622-84C4-FB4E5FA69747}"/>
              </a:ext>
            </a:extLst>
          </p:cNvPr>
          <p:cNvSpPr txBox="1"/>
          <p:nvPr/>
        </p:nvSpPr>
        <p:spPr>
          <a:xfrm>
            <a:off x="711858" y="1557388"/>
            <a:ext cx="6017145" cy="4801314"/>
          </a:xfrm>
          <a:prstGeom prst="rect">
            <a:avLst/>
          </a:prstGeom>
          <a:noFill/>
        </p:spPr>
        <p:txBody>
          <a:bodyPr wrap="square">
            <a:spAutoFit/>
          </a:bodyPr>
          <a:lstStyle/>
          <a:p>
            <a:r>
              <a:rPr lang="en-US" sz="1400" b="1" dirty="0">
                <a:latin typeface="Helvetica" pitchFamily="2" charset="0"/>
              </a:rPr>
              <a:t>Common Mistakes and How to Avoid Them</a:t>
            </a:r>
          </a:p>
          <a:p>
            <a:r>
              <a:rPr lang="en-US" sz="1400" b="1" dirty="0">
                <a:latin typeface="Helvetica" pitchFamily="2" charset="0"/>
              </a:rPr>
              <a:t>❌ </a:t>
            </a:r>
            <a:r>
              <a:rPr lang="en-US" sz="1200" b="1" dirty="0">
                <a:latin typeface="Helvetica" pitchFamily="2" charset="0"/>
              </a:rPr>
              <a:t>Mistake 1: Running analyses on login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system for everyone; may get account suspended</a:t>
            </a:r>
          </a:p>
          <a:p>
            <a:r>
              <a:rPr lang="en-US" sz="1200" b="1" dirty="0">
                <a:latin typeface="Helvetica" pitchFamily="2" charset="0"/>
              </a:rPr>
              <a:t>Solution:</a:t>
            </a:r>
            <a:r>
              <a:rPr lang="en-US" sz="1200" dirty="0">
                <a:latin typeface="Helvetica" pitchFamily="2" charset="0"/>
              </a:rPr>
              <a:t> Always use </a:t>
            </a:r>
            <a:r>
              <a:rPr lang="en-US" sz="1200" dirty="0" err="1">
                <a:latin typeface="Helvetica" pitchFamily="2" charset="0"/>
              </a:rPr>
              <a:t>bsub</a:t>
            </a:r>
            <a:r>
              <a:rPr lang="en-US" sz="1200" dirty="0">
                <a:latin typeface="Helvetica" pitchFamily="2" charset="0"/>
              </a:rPr>
              <a:t> to submit jobs to compute nodes</a:t>
            </a:r>
          </a:p>
          <a:p>
            <a:endParaRPr lang="en-US" sz="1200" dirty="0">
              <a:latin typeface="Helvetica" pitchFamily="2" charset="0"/>
            </a:endParaRPr>
          </a:p>
          <a:p>
            <a:r>
              <a:rPr lang="en-US" sz="1200" b="1" dirty="0">
                <a:latin typeface="Helvetica" pitchFamily="2" charset="0"/>
              </a:rPr>
              <a:t>❌ Mistake 2: Storing important data in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Data deleted after 30 days automatically</a:t>
            </a:r>
          </a:p>
          <a:p>
            <a:r>
              <a:rPr lang="en-US" sz="1200" b="1" dirty="0">
                <a:latin typeface="Helvetica" pitchFamily="2" charset="0"/>
              </a:rPr>
              <a:t>Solution:</a:t>
            </a:r>
            <a:r>
              <a:rPr lang="en-US" sz="1200" dirty="0">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latin typeface="Helvetica" pitchFamily="2" charset="0"/>
              </a:rPr>
              <a:t>❌ Mistake 5: Not using scratch for large intermediate files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down RS1 for everyone; analysis runs slower</a:t>
            </a:r>
          </a:p>
          <a:p>
            <a:r>
              <a:rPr lang="en-US" sz="1200" b="1" dirty="0">
                <a:latin typeface="Helvetica" pitchFamily="2" charset="0"/>
              </a:rPr>
              <a:t>Solution:</a:t>
            </a:r>
            <a:r>
              <a:rPr lang="en-US" sz="1200" dirty="0">
                <a:latin typeface="Helvetica" pitchFamily="2" charset="0"/>
              </a:rPr>
              <a:t> Work in scratch, copy only final results to RS1</a:t>
            </a:r>
          </a:p>
          <a:p>
            <a:endParaRPr lang="en-US" sz="1200" dirty="0">
              <a:latin typeface="Helvetica" pitchFamily="2" charset="0"/>
            </a:endParaRPr>
          </a:p>
          <a:p>
            <a:r>
              <a:rPr lang="en-US" sz="1200" b="1" dirty="0">
                <a:latin typeface="Helvetica" pitchFamily="2" charset="0"/>
              </a:rPr>
              <a:t>❌ Mistake 6: Not cleaning up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Your group quota fills up; others can't use scratch</a:t>
            </a:r>
          </a:p>
          <a:p>
            <a:r>
              <a:rPr lang="en-US" sz="1200" b="1" dirty="0">
                <a:latin typeface="Helvetica" pitchFamily="2" charset="0"/>
              </a:rPr>
              <a:t>Solution:</a:t>
            </a:r>
            <a:r>
              <a:rPr lang="en-US" sz="1200" dirty="0">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5D368512-28CD-294A-6D7A-DB78FD89DA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10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A5DDD-FE65-CD59-C5ED-85BD626E2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E4B3A-486E-B400-AB2C-B4CDCAAB03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459663D4-5B35-B3C9-FBBC-BEF1ECEDC48E}"/>
              </a:ext>
            </a:extLst>
          </p:cNvPr>
          <p:cNvSpPr txBox="1"/>
          <p:nvPr/>
        </p:nvSpPr>
        <p:spPr>
          <a:xfrm>
            <a:off x="711858" y="1557388"/>
            <a:ext cx="6017145" cy="4801314"/>
          </a:xfrm>
          <a:prstGeom prst="rect">
            <a:avLst/>
          </a:prstGeom>
          <a:noFill/>
        </p:spPr>
        <p:txBody>
          <a:bodyPr wrap="square">
            <a:spAutoFit/>
          </a:bodyPr>
          <a:lstStyle/>
          <a:p>
            <a:r>
              <a:rPr lang="en-US" sz="1400" b="1" dirty="0">
                <a:solidFill>
                  <a:schemeClr val="bg1">
                    <a:lumMod val="75000"/>
                  </a:schemeClr>
                </a:solidFill>
                <a:latin typeface="Helvetica" pitchFamily="2" charset="0"/>
              </a:rPr>
              <a:t>Common Mistakes and How to Avoid Them</a:t>
            </a:r>
          </a:p>
          <a:p>
            <a:r>
              <a:rPr lang="en-US" sz="1400" b="1" dirty="0">
                <a:solidFill>
                  <a:schemeClr val="bg1">
                    <a:lumMod val="75000"/>
                  </a:schemeClr>
                </a:solidFill>
                <a:latin typeface="Helvetica" pitchFamily="2" charset="0"/>
              </a:rPr>
              <a:t>❌ </a:t>
            </a:r>
            <a:r>
              <a:rPr lang="en-US" sz="1200" b="1" dirty="0">
                <a:solidFill>
                  <a:schemeClr val="bg1">
                    <a:lumMod val="75000"/>
                  </a:schemeClr>
                </a:solidFill>
                <a:latin typeface="Helvetica" pitchFamily="2" charset="0"/>
              </a:rPr>
              <a:t>Mistake 1: Running analyses on login nodes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system for everyone; may get account suspended</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Always use </a:t>
            </a:r>
            <a:r>
              <a:rPr lang="en-US" sz="1200" dirty="0" err="1">
                <a:solidFill>
                  <a:schemeClr val="bg1">
                    <a:lumMod val="75000"/>
                  </a:schemeClr>
                </a:solidFill>
                <a:latin typeface="Helvetica" pitchFamily="2" charset="0"/>
              </a:rPr>
              <a:t>bsub</a:t>
            </a:r>
            <a:r>
              <a:rPr lang="en-US" sz="1200" dirty="0">
                <a:solidFill>
                  <a:schemeClr val="bg1">
                    <a:lumMod val="75000"/>
                  </a:schemeClr>
                </a:solidFill>
                <a:latin typeface="Helvetica" pitchFamily="2" charset="0"/>
              </a:rPr>
              <a:t> to submit jobs to compute nodes</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2: Storing important data in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Data deleted after 30 days automatically</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solidFill>
                  <a:schemeClr val="bg1">
                    <a:lumMod val="75000"/>
                  </a:schemeClr>
                </a:solidFill>
                <a:latin typeface="Helvetica" pitchFamily="2" charset="0"/>
              </a:rPr>
              <a:t>❌ Mistake 5: Not using scratch for large intermediate files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down RS1 for everyone; analysis runs slower</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Work in scratch, copy only final results to RS1</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6: Not cleaning up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Your group quota fills up; others can't use scratch</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D61B78A1-65D6-B912-0626-ED4751B299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4571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DE2D4-5904-1832-237C-1F3D585500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EC10FB1-46E6-C321-2E28-9F07999E3110}"/>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01. Getting started on Hazel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A97FE54A-9D64-F2AB-CF59-D1EE367B79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8634549" y="3973617"/>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80C6855-53E8-1763-E262-4E741945DE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89428" y="3671362"/>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F248D8FB-1F8B-ED68-FFAB-C8D9781F0C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8125" y="4207175"/>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7056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A9B-D926-2BCE-0F62-E0B9A0C6F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0F0B4-3134-937F-012B-6444346F6963}"/>
              </a:ext>
            </a:extLst>
          </p:cNvPr>
          <p:cNvSpPr>
            <a:spLocks noGrp="1"/>
          </p:cNvSpPr>
          <p:nvPr>
            <p:ph type="title"/>
          </p:nvPr>
        </p:nvSpPr>
        <p:spPr/>
        <p:txBody>
          <a:bodyPr>
            <a:normAutofit/>
          </a:bodyPr>
          <a:lstStyle/>
          <a:p>
            <a:r>
              <a:rPr lang="en-US" sz="4000" dirty="0">
                <a:latin typeface="Helvetica" pitchFamily="2" charset="0"/>
              </a:rPr>
              <a:t>Step 1. Login in</a:t>
            </a:r>
          </a:p>
        </p:txBody>
      </p:sp>
      <p:sp>
        <p:nvSpPr>
          <p:cNvPr id="7" name="TextBox 6">
            <a:extLst>
              <a:ext uri="{FF2B5EF4-FFF2-40B4-BE49-F238E27FC236}">
                <a16:creationId xmlns:a16="http://schemas.microsoft.com/office/drawing/2014/main" id="{E12008CB-0793-685F-915D-AC9C75551B18}"/>
              </a:ext>
            </a:extLst>
          </p:cNvPr>
          <p:cNvSpPr txBox="1"/>
          <p:nvPr/>
        </p:nvSpPr>
        <p:spPr>
          <a:xfrm>
            <a:off x="838200" y="4630285"/>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962CCDB-DEA3-22C6-A10D-E989F00141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9969" y="1893579"/>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58770289-5B55-33E0-CBD6-02EF943A3F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2080550"/>
            <a:ext cx="1660144" cy="1357594"/>
          </a:xfrm>
          <a:prstGeom prst="rect">
            <a:avLst/>
          </a:prstGeom>
          <a:noFill/>
          <a:extLst>
            <a:ext uri="{909E8E84-426E-40DD-AFC4-6F175D3DCCD1}">
              <a14:hiddenFill xmlns:a14="http://schemas.microsoft.com/office/drawing/2010/main">
                <a:solidFill>
                  <a:srgbClr val="FFFFFF"/>
                </a:solidFill>
              </a14:hiddenFill>
            </a:ext>
          </a:extLst>
        </p:spPr>
      </p:pic>
      <p:pic>
        <p:nvPicPr>
          <p:cNvPr id="28682" name="Picture 10" descr="10 Features of VS Code Every Developer Should Know">
            <a:extLst>
              <a:ext uri="{FF2B5EF4-FFF2-40B4-BE49-F238E27FC236}">
                <a16:creationId xmlns:a16="http://schemas.microsoft.com/office/drawing/2014/main" id="{EBCC067C-737D-48B4-E5A4-3F9EEAE21CA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0353" r="8627"/>
          <a:stretch>
            <a:fillRect/>
          </a:stretch>
        </p:blipFill>
        <p:spPr bwMode="auto">
          <a:xfrm>
            <a:off x="8866745" y="1821817"/>
            <a:ext cx="2104169" cy="194782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12FDAE6-C713-F37B-6E72-62F6CB5DD94A}"/>
              </a:ext>
            </a:extLst>
          </p:cNvPr>
          <p:cNvSpPr txBox="1"/>
          <p:nvPr/>
        </p:nvSpPr>
        <p:spPr>
          <a:xfrm>
            <a:off x="4183086" y="4014732"/>
            <a:ext cx="4215783" cy="1846659"/>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endParaRPr kumimoji="0" lang="en-US" altLang="en-US" b="0" i="0" u="none" strike="noStrike" cap="none" normalizeH="0" baseline="0" dirty="0">
              <a:ln>
                <a:noFill/>
              </a:ln>
              <a:solidFill>
                <a:srgbClr val="212529"/>
              </a:solidFill>
              <a:effectLst/>
              <a:latin typeface="Helvetica" pitchFamily="2" charset="0"/>
            </a:endParaRPr>
          </a:p>
          <a:p>
            <a:pPr marL="228600" lvl="0" indent="-228600" eaLnBrk="0" fontAlgn="base" hangingPunct="0">
              <a:spcBef>
                <a:spcPct val="0"/>
              </a:spcBef>
              <a:spcAft>
                <a:spcPct val="0"/>
              </a:spcAft>
              <a:buFont typeface="+mj-lt"/>
              <a:buAutoNum type="arabicPeriod"/>
            </a:pPr>
            <a:r>
              <a:rPr lang="en-US" altLang="en-US" sz="1600" dirty="0">
                <a:solidFill>
                  <a:srgbClr val="212529"/>
                </a:solidFill>
                <a:latin typeface="Helvetica" pitchFamily="2" charset="0"/>
              </a:rPr>
              <a:t>Open </a:t>
            </a:r>
            <a:r>
              <a:rPr kumimoji="0" lang="en-US" altLang="en-US" sz="1600" b="0" i="0" u="none" strike="noStrike" cap="none" normalizeH="0" baseline="0" dirty="0">
                <a:ln>
                  <a:noFill/>
                </a:ln>
                <a:solidFill>
                  <a:srgbClr val="212529"/>
                </a:solidFill>
                <a:effectLst/>
                <a:latin typeface="Helvetica" pitchFamily="2" charset="0"/>
              </a:rPr>
              <a:t>a terminal window </a:t>
            </a:r>
          </a:p>
          <a:p>
            <a:pPr marL="228600" lvl="0" indent="-228600" eaLnBrk="0" fontAlgn="base" hangingPunct="0">
              <a:spcBef>
                <a:spcPct val="0"/>
              </a:spcBef>
              <a:spcAft>
                <a:spcPct val="0"/>
              </a:spcAft>
              <a:buFont typeface="+mj-lt"/>
              <a:buAutoNum type="arabicPeriod"/>
            </a:pPr>
            <a:r>
              <a:rPr lang="en-US" altLang="en-US" sz="1600" dirty="0">
                <a:latin typeface="Helvetica" pitchFamily="2" charset="0"/>
              </a:rPr>
              <a:t>Type: </a:t>
            </a:r>
            <a:r>
              <a:rPr kumimoji="0" lang="en-US" altLang="en-US" sz="1600" b="0" i="0" u="none" strike="noStrike" cap="none" normalizeH="0" baseline="0" dirty="0">
                <a:ln>
                  <a:noFill/>
                </a:ln>
                <a:solidFill>
                  <a:srgbClr val="4758AB"/>
                </a:solidFill>
                <a:effectLst/>
                <a:latin typeface="Helvetica" pitchFamily="2" charset="0"/>
              </a:rPr>
              <a:t>ssh</a:t>
            </a:r>
            <a:r>
              <a:rPr kumimoji="0" lang="en-US" altLang="en-US" sz="1600" b="0" i="0" u="none" strike="noStrike" cap="none" normalizeH="0" baseline="0" dirty="0">
                <a:ln>
                  <a:noFill/>
                </a:ln>
                <a:solidFill>
                  <a:srgbClr val="003B4F"/>
                </a:solidFill>
                <a:effectLst/>
                <a:latin typeface="Helvetica" pitchFamily="2" charset="0"/>
              </a:rPr>
              <a:t> </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err="1">
                <a:ln>
                  <a:noFill/>
                </a:ln>
                <a:solidFill>
                  <a:srgbClr val="20794D"/>
                </a:solidFill>
                <a:effectLst/>
                <a:latin typeface="Helvetica" pitchFamily="2" charset="0"/>
              </a:rPr>
              <a:t>UnityID</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a:ln>
                  <a:noFill/>
                </a:ln>
                <a:solidFill>
                  <a:srgbClr val="003B4F"/>
                </a:solidFill>
                <a:effectLst/>
                <a:latin typeface="Helvetica" pitchFamily="2" charset="0"/>
              </a:rPr>
              <a:t>@</a:t>
            </a:r>
            <a:r>
              <a:rPr kumimoji="0" lang="en-US" altLang="en-US" sz="1600" b="0" i="0" u="none" strike="noStrike" cap="none" normalizeH="0" baseline="0" dirty="0" err="1">
                <a:ln>
                  <a:noFill/>
                </a:ln>
                <a:solidFill>
                  <a:srgbClr val="003B4F"/>
                </a:solidFill>
                <a:effectLst/>
                <a:latin typeface="Helvetica" pitchFamily="2" charset="0"/>
              </a:rPr>
              <a:t>login.hpc.ncsu.edu</a:t>
            </a:r>
            <a:endParaRPr lang="en-US" altLang="en-US" sz="1600" dirty="0">
              <a:latin typeface="Helvetica" pitchFamily="2" charset="0"/>
            </a:endParaRPr>
          </a:p>
          <a:p>
            <a:pPr marL="228600" lvl="0" indent="-228600" eaLnBrk="0" fontAlgn="base" hangingPunct="0">
              <a:spcBef>
                <a:spcPct val="0"/>
              </a:spcBef>
              <a:spcAft>
                <a:spcPct val="0"/>
              </a:spcAft>
              <a:buFont typeface="+mj-lt"/>
              <a:buAutoNum type="arabicPeriod"/>
            </a:pPr>
            <a:r>
              <a:rPr lang="en-US" sz="1600" dirty="0">
                <a:latin typeface="Helvetica" pitchFamily="2" charset="0"/>
              </a:rPr>
              <a:t>Enter your password and go through DUO push</a:t>
            </a:r>
          </a:p>
          <a:p>
            <a:pPr marL="228600" lvl="0" indent="-228600" eaLnBrk="0" fontAlgn="base" hangingPunct="0">
              <a:spcBef>
                <a:spcPct val="0"/>
              </a:spcBef>
              <a:spcAft>
                <a:spcPct val="0"/>
              </a:spcAft>
              <a:buFont typeface="+mj-lt"/>
              <a:buAutoNum type="arabicPeriod"/>
            </a:pPr>
            <a:r>
              <a:rPr lang="en-US" sz="1600" dirty="0">
                <a:latin typeface="Helvetica" pitchFamily="2" charset="0"/>
              </a:rPr>
              <a:t>You will be in the login node in your home directory</a:t>
            </a:r>
          </a:p>
        </p:txBody>
      </p:sp>
      <p:sp>
        <p:nvSpPr>
          <p:cNvPr id="13" name="TextBox 12">
            <a:extLst>
              <a:ext uri="{FF2B5EF4-FFF2-40B4-BE49-F238E27FC236}">
                <a16:creationId xmlns:a16="http://schemas.microsoft.com/office/drawing/2014/main" id="{CDD3BB61-CC10-67F9-2CFA-3855C73065A7}"/>
              </a:ext>
            </a:extLst>
          </p:cNvPr>
          <p:cNvSpPr txBox="1"/>
          <p:nvPr/>
        </p:nvSpPr>
        <p:spPr>
          <a:xfrm>
            <a:off x="9434561" y="4753395"/>
            <a:ext cx="1069524"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err="1">
                <a:ln>
                  <a:noFill/>
                </a:ln>
                <a:solidFill>
                  <a:srgbClr val="212529"/>
                </a:solidFill>
                <a:effectLst/>
                <a:latin typeface="Helvetica" pitchFamily="2" charset="0"/>
              </a:rPr>
              <a:t>VSCode</a:t>
            </a:r>
            <a:endParaRPr lang="en-US" altLang="en-US" dirty="0">
              <a:solidFill>
                <a:srgbClr val="212529"/>
              </a:solidFill>
              <a:latin typeface="Helvetica" pitchFamily="2" charset="0"/>
            </a:endParaRPr>
          </a:p>
        </p:txBody>
      </p:sp>
      <p:pic>
        <p:nvPicPr>
          <p:cNvPr id="14" name="Picture 6" descr="coding Symbol mark in filled style 47628836 Vector Art at Vecteezy">
            <a:extLst>
              <a:ext uri="{FF2B5EF4-FFF2-40B4-BE49-F238E27FC236}">
                <a16:creationId xmlns:a16="http://schemas.microsoft.com/office/drawing/2014/main" id="{6BED170F-C36A-29BD-9011-2A0152AEBA08}"/>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7718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2BD25-EBB9-7F09-9783-046FFEFF1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0C800-6CEC-D983-0182-DF87344F6770}"/>
              </a:ext>
            </a:extLst>
          </p:cNvPr>
          <p:cNvSpPr>
            <a:spLocks noGrp="1"/>
          </p:cNvSpPr>
          <p:nvPr>
            <p:ph type="title"/>
          </p:nvPr>
        </p:nvSpPr>
        <p:spPr/>
        <p:txBody>
          <a:bodyPr>
            <a:normAutofit/>
          </a:bodyPr>
          <a:lstStyle/>
          <a:p>
            <a:r>
              <a:rPr lang="en-US" sz="4000" dirty="0">
                <a:latin typeface="Helvetica" pitchFamily="2" charset="0"/>
              </a:rPr>
              <a:t>Step 2. Transferring files</a:t>
            </a:r>
          </a:p>
        </p:txBody>
      </p:sp>
      <p:sp>
        <p:nvSpPr>
          <p:cNvPr id="7" name="TextBox 6">
            <a:extLst>
              <a:ext uri="{FF2B5EF4-FFF2-40B4-BE49-F238E27FC236}">
                <a16:creationId xmlns:a16="http://schemas.microsoft.com/office/drawing/2014/main" id="{F27C919B-7CC6-8C01-9EF4-FBBF091A65E0}"/>
              </a:ext>
            </a:extLst>
          </p:cNvPr>
          <p:cNvSpPr txBox="1"/>
          <p:nvPr/>
        </p:nvSpPr>
        <p:spPr>
          <a:xfrm>
            <a:off x="838200" y="442739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48C39AB-94B5-BF47-30A0-A9AD4DAA9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7127" y="1690688"/>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FE5212FA-338E-ECC9-6CAA-216BEB8CEBD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1877659"/>
            <a:ext cx="1660144" cy="135759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ABC07266-4B38-01B4-E659-FF73522229E8}"/>
              </a:ext>
            </a:extLst>
          </p:cNvPr>
          <p:cNvSpPr txBox="1"/>
          <p:nvPr/>
        </p:nvSpPr>
        <p:spPr>
          <a:xfrm>
            <a:off x="3999110" y="3811841"/>
            <a:ext cx="4860330" cy="369332"/>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p>
        </p:txBody>
      </p:sp>
      <p:sp>
        <p:nvSpPr>
          <p:cNvPr id="13" name="TextBox 12">
            <a:extLst>
              <a:ext uri="{FF2B5EF4-FFF2-40B4-BE49-F238E27FC236}">
                <a16:creationId xmlns:a16="http://schemas.microsoft.com/office/drawing/2014/main" id="{764BDBAD-F1F1-1ADF-24E9-D2B54B6741EE}"/>
              </a:ext>
            </a:extLst>
          </p:cNvPr>
          <p:cNvSpPr txBox="1"/>
          <p:nvPr/>
        </p:nvSpPr>
        <p:spPr>
          <a:xfrm>
            <a:off x="9434561" y="4550504"/>
            <a:ext cx="979755"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Globus</a:t>
            </a:r>
            <a:endParaRPr lang="en-US" altLang="en-US" dirty="0">
              <a:solidFill>
                <a:srgbClr val="212529"/>
              </a:solidFill>
              <a:latin typeface="Helvetica" pitchFamily="2" charset="0"/>
            </a:endParaRPr>
          </a:p>
        </p:txBody>
      </p:sp>
      <p:pic>
        <p:nvPicPr>
          <p:cNvPr id="30724" name="Picture 4" descr="HOWTO: Use Globus (Overview) | Ohio Supercomputer Center">
            <a:extLst>
              <a:ext uri="{FF2B5EF4-FFF2-40B4-BE49-F238E27FC236}">
                <a16:creationId xmlns:a16="http://schemas.microsoft.com/office/drawing/2014/main" id="{DD9B9AA6-AF64-CC8B-23F2-F7ADAEE020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74384" y="1690688"/>
            <a:ext cx="1804296"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5A8FE33-1650-B762-1D37-18249392A639}"/>
              </a:ext>
            </a:extLst>
          </p:cNvPr>
          <p:cNvSpPr txBox="1"/>
          <p:nvPr/>
        </p:nvSpPr>
        <p:spPr>
          <a:xfrm>
            <a:off x="3999110" y="4181173"/>
            <a:ext cx="4860330" cy="2415661"/>
          </a:xfrm>
          <a:prstGeom prst="rect">
            <a:avLst/>
          </a:prstGeom>
          <a:noFill/>
          <a:ln w="19050">
            <a:solidFill>
              <a:schemeClr val="bg1">
                <a:lumMod val="50000"/>
              </a:schemeClr>
            </a:solidFill>
          </a:ln>
        </p:spPr>
        <p:txBody>
          <a:bodyPr wrap="square">
            <a:spAutoFit/>
          </a:bodyPr>
          <a:lstStyle/>
          <a:p>
            <a:pPr>
              <a:lnSpc>
                <a:spcPts val="1350"/>
              </a:lnSpc>
            </a:pPr>
            <a:r>
              <a:rPr lang="en-US" sz="1100" b="0" dirty="0">
                <a:solidFill>
                  <a:srgbClr val="6A9955"/>
                </a:solidFill>
                <a:effectLst/>
                <a:latin typeface="Menlo" panose="020B0609030804020204" pitchFamily="49" charset="0"/>
              </a:rPr>
              <a:t># SCP for 1 file in 1 direction</a:t>
            </a:r>
          </a:p>
          <a:p>
            <a:pPr>
              <a:lnSpc>
                <a:spcPts val="1350"/>
              </a:lnSpc>
              <a:buNone/>
            </a:pPr>
            <a:r>
              <a:rPr lang="en-US" sz="1100" b="0" dirty="0">
                <a:solidFill>
                  <a:srgbClr val="6A9955"/>
                </a:solidFill>
                <a:effectLst/>
                <a:latin typeface="Menlo" panose="020B0609030804020204" pitchFamily="49" charset="0"/>
              </a:rPr>
              <a:t># Local to HPC</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filename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br>
              <a:rPr lang="en-US" sz="1100" b="0" dirty="0">
                <a:solidFill>
                  <a:srgbClr val="CCCCCC"/>
                </a:solidFill>
                <a:effectLst/>
                <a:latin typeface="Menlo" panose="020B0609030804020204" pitchFamily="49" charset="0"/>
              </a:rPr>
            </a:b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HPC to local</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p>
          <a:p>
            <a:pPr>
              <a:lnSpc>
                <a:spcPts val="1350"/>
              </a:lnSpc>
              <a:buNone/>
            </a:pPr>
            <a:endParaRPr lang="en-US" sz="1100" dirty="0">
              <a:latin typeface="Menlo" panose="020B0609030804020204" pitchFamily="49" charset="0"/>
            </a:endParaRPr>
          </a:p>
          <a:p>
            <a:pPr>
              <a:lnSpc>
                <a:spcPts val="1350"/>
              </a:lnSpc>
            </a:pPr>
            <a:r>
              <a:rPr lang="en-US" sz="1100" b="0" dirty="0">
                <a:solidFill>
                  <a:srgbClr val="6A9955"/>
                </a:solidFill>
                <a:effectLst/>
                <a:latin typeface="Menlo" panose="020B0609030804020204" pitchFamily="49" charset="0"/>
              </a:rPr>
              <a:t># SFTP for multiple files both directions</a:t>
            </a:r>
            <a:endParaRPr lang="en-US" sz="1100" dirty="0">
              <a:latin typeface="Menlo" panose="020B0609030804020204" pitchFamily="49" charset="0"/>
            </a:endParaRPr>
          </a:p>
          <a:p>
            <a:pPr>
              <a:lnSpc>
                <a:spcPts val="1350"/>
              </a:lnSpc>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a:solidFill>
                  <a:srgbClr val="CE9178"/>
                </a:solidFill>
                <a:effectLst/>
                <a:latin typeface="Menlo" panose="020B0609030804020204" pitchFamily="49" charset="0"/>
              </a:rPr>
              <a:t>sftp</a:t>
            </a:r>
            <a:r>
              <a:rPr lang="en-US" sz="1100" b="0" dirty="0">
                <a:solidFill>
                  <a:srgbClr val="D4D4D4"/>
                </a:solidFill>
                <a:effectLst/>
                <a:latin typeface="Menlo" panose="020B0609030804020204" pitchFamily="49" charset="0"/>
              </a:rPr>
              <a:t> [</a:t>
            </a:r>
            <a:r>
              <a:rPr lang="en-US" sz="1100" b="0" dirty="0" err="1">
                <a:solidFill>
                  <a:srgbClr val="D4D4D4"/>
                </a:solidFill>
                <a:effectLst/>
                <a:latin typeface="Menlo" panose="020B0609030804020204" pitchFamily="49" charset="0"/>
              </a:rPr>
              <a:t>UnityID</a:t>
            </a:r>
            <a:r>
              <a:rPr lang="en-US" sz="1100" b="0" dirty="0">
                <a:solidFill>
                  <a:srgbClr val="D4D4D4"/>
                </a:solidFill>
                <a:effectLst/>
                <a:latin typeface="Menlo" panose="020B0609030804020204" pitchFamily="49" charset="0"/>
              </a:rPr>
              <a:t>]@</a:t>
            </a:r>
            <a:r>
              <a:rPr lang="en-US" sz="1100" b="0" dirty="0" err="1">
                <a:solidFill>
                  <a:srgbClr val="D4D4D4"/>
                </a:solidFill>
                <a:effectLst/>
                <a:latin typeface="Menlo" panose="020B0609030804020204" pitchFamily="49" charset="0"/>
              </a:rPr>
              <a:t>login.hpc.ncsu.edu</a:t>
            </a:r>
            <a:endParaRPr lang="en-US" sz="1100" b="0" dirty="0">
              <a:solidFill>
                <a:srgbClr val="CCCCCC"/>
              </a:solidFill>
              <a:effectLst/>
              <a:latin typeface="Menlo" panose="020B0609030804020204" pitchFamily="49" charset="0"/>
            </a:endParaRPr>
          </a:p>
        </p:txBody>
      </p:sp>
      <p:pic>
        <p:nvPicPr>
          <p:cNvPr id="30726" name="Picture 6" descr="coding Symbol mark in filled style 47628836 Vector Art at Vecteezy">
            <a:extLst>
              <a:ext uri="{FF2B5EF4-FFF2-40B4-BE49-F238E27FC236}">
                <a16:creationId xmlns:a16="http://schemas.microsoft.com/office/drawing/2014/main" id="{CA4FD2B3-4222-D379-2757-E92F80DD236E}"/>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50164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1E800-355D-7037-5308-F12B90E39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86E6-165F-C341-0286-12F3B3F77C48}"/>
              </a:ext>
            </a:extLst>
          </p:cNvPr>
          <p:cNvSpPr>
            <a:spLocks noGrp="1"/>
          </p:cNvSpPr>
          <p:nvPr>
            <p:ph type="title"/>
          </p:nvPr>
        </p:nvSpPr>
        <p:spPr/>
        <p:txBody>
          <a:bodyPr>
            <a:normAutofit/>
          </a:bodyPr>
          <a:lstStyle/>
          <a:p>
            <a:r>
              <a:rPr lang="en-US" sz="4000" dirty="0">
                <a:latin typeface="Helvetica" pitchFamily="2" charset="0"/>
              </a:rPr>
              <a:t>First week checklist</a:t>
            </a:r>
          </a:p>
        </p:txBody>
      </p:sp>
      <p:sp>
        <p:nvSpPr>
          <p:cNvPr id="7" name="TextBox 6">
            <a:extLst>
              <a:ext uri="{FF2B5EF4-FFF2-40B4-BE49-F238E27FC236}">
                <a16:creationId xmlns:a16="http://schemas.microsoft.com/office/drawing/2014/main" id="{A055576C-995C-4F7E-3A8A-BEB6DF155577}"/>
              </a:ext>
            </a:extLst>
          </p:cNvPr>
          <p:cNvSpPr txBox="1"/>
          <p:nvPr/>
        </p:nvSpPr>
        <p:spPr>
          <a:xfrm>
            <a:off x="2950464" y="4268344"/>
            <a:ext cx="6094476" cy="1944956"/>
          </a:xfrm>
          <a:prstGeom prst="rect">
            <a:avLst/>
          </a:prstGeom>
          <a:noFill/>
        </p:spPr>
        <p:txBody>
          <a:bodyPr wrap="square">
            <a:spAutoFit/>
          </a:bodyPr>
          <a:lstStyle/>
          <a:p>
            <a:pPr marL="285750" indent="-285750">
              <a:lnSpc>
                <a:spcPct val="150000"/>
              </a:lnSpc>
              <a:buFont typeface="Wingdings" pitchFamily="2" charset="2"/>
              <a:buChar char="q"/>
            </a:pPr>
            <a:r>
              <a:rPr lang="en-US" sz="1600" dirty="0">
                <a:latin typeface="Helvetica" pitchFamily="2" charset="0"/>
              </a:rPr>
              <a:t>Get </a:t>
            </a:r>
            <a:r>
              <a:rPr lang="en-US" sz="1600" dirty="0" err="1">
                <a:latin typeface="Helvetica" pitchFamily="2" charset="0"/>
              </a:rPr>
              <a:t>UnityID</a:t>
            </a:r>
            <a:r>
              <a:rPr lang="en-US" sz="1600" dirty="0">
                <a:latin typeface="Helvetica" pitchFamily="2" charset="0"/>
              </a:rPr>
              <a:t>/VPN, Join Group Allocation</a:t>
            </a:r>
          </a:p>
          <a:p>
            <a:pPr marL="285750" indent="-285750">
              <a:lnSpc>
                <a:spcPct val="150000"/>
              </a:lnSpc>
              <a:buFont typeface="Wingdings" pitchFamily="2" charset="2"/>
              <a:buChar char="q"/>
            </a:pPr>
            <a:r>
              <a:rPr lang="en-US" sz="1600" dirty="0">
                <a:latin typeface="Helvetica" pitchFamily="2" charset="0"/>
              </a:rPr>
              <a:t>SSH in</a:t>
            </a:r>
          </a:p>
          <a:p>
            <a:pPr marL="285750" indent="-285750">
              <a:lnSpc>
                <a:spcPct val="150000"/>
              </a:lnSpc>
              <a:buFont typeface="Wingdings" pitchFamily="2" charset="2"/>
              <a:buChar char="q"/>
            </a:pPr>
            <a:r>
              <a:rPr lang="en-US" sz="1600" dirty="0">
                <a:latin typeface="Helvetica" pitchFamily="2" charset="0"/>
              </a:rPr>
              <a:t>Explore Home, Scratch, and RS1 paths</a:t>
            </a:r>
          </a:p>
          <a:p>
            <a:pPr marL="285750" indent="-285750">
              <a:lnSpc>
                <a:spcPct val="150000"/>
              </a:lnSpc>
              <a:buFont typeface="Wingdings" pitchFamily="2" charset="2"/>
              <a:buChar char="q"/>
            </a:pPr>
            <a:r>
              <a:rPr lang="en-US" sz="1600" dirty="0">
                <a:latin typeface="Helvetica" pitchFamily="2" charset="0"/>
              </a:rPr>
              <a:t>Transfer a file using </a:t>
            </a:r>
            <a:r>
              <a:rPr lang="en-US" sz="1600" dirty="0" err="1">
                <a:latin typeface="Helvetica" pitchFamily="2" charset="0"/>
              </a:rPr>
              <a:t>scp</a:t>
            </a:r>
            <a:endParaRPr lang="en-US" sz="1600" dirty="0">
              <a:latin typeface="Helvetica" pitchFamily="2" charset="0"/>
            </a:endParaRPr>
          </a:p>
          <a:p>
            <a:pPr marL="285750" indent="-285750">
              <a:lnSpc>
                <a:spcPct val="150000"/>
              </a:lnSpc>
              <a:buFont typeface="Wingdings" pitchFamily="2" charset="2"/>
              <a:buChar char="q"/>
            </a:pPr>
            <a:r>
              <a:rPr lang="en-US" sz="1600" dirty="0">
                <a:latin typeface="Helvetica" pitchFamily="2" charset="0"/>
              </a:rPr>
              <a:t>Do Bonus! Basics of Unix activity (optional)</a:t>
            </a:r>
          </a:p>
        </p:txBody>
      </p:sp>
      <p:pic>
        <p:nvPicPr>
          <p:cNvPr id="8" name="Picture 6" descr="coding Symbol mark in filled style 47628836 Vector Art at Vecteezy">
            <a:extLst>
              <a:ext uri="{FF2B5EF4-FFF2-40B4-BE49-F238E27FC236}">
                <a16:creationId xmlns:a16="http://schemas.microsoft.com/office/drawing/2014/main" id="{C567998B-BFE9-6C7B-4971-7FA98B02518A}"/>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295400" y="4522946"/>
            <a:ext cx="1264920" cy="126492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B31AD7-9DC8-56CD-B134-6830D78DB6BE}"/>
              </a:ext>
            </a:extLst>
          </p:cNvPr>
          <p:cNvSpPr txBox="1"/>
          <p:nvPr/>
        </p:nvSpPr>
        <p:spPr>
          <a:xfrm>
            <a:off x="2950464" y="1690688"/>
            <a:ext cx="6094476" cy="2129622"/>
          </a:xfrm>
          <a:prstGeom prst="rect">
            <a:avLst/>
          </a:prstGeom>
          <a:noFill/>
        </p:spPr>
        <p:txBody>
          <a:bodyPr wrap="square">
            <a:spAutoFit/>
          </a:bodyPr>
          <a:lstStyle/>
          <a:p>
            <a:pPr marL="285750" indent="-285750">
              <a:lnSpc>
                <a:spcPct val="150000"/>
              </a:lnSpc>
              <a:buFont typeface="Wingdings" pitchFamily="2" charset="2"/>
              <a:buChar char="ü"/>
            </a:pPr>
            <a:r>
              <a:rPr lang="en-US" sz="1800" dirty="0">
                <a:latin typeface="Helvetica" pitchFamily="2" charset="0"/>
              </a:rPr>
              <a:t>Understand Core HPC Concepts (CPU/GPU, Node/Core)</a:t>
            </a:r>
          </a:p>
          <a:p>
            <a:pPr marL="285750" indent="-285750">
              <a:lnSpc>
                <a:spcPct val="150000"/>
              </a:lnSpc>
              <a:buFont typeface="Wingdings" pitchFamily="2" charset="2"/>
              <a:buChar char="ü"/>
            </a:pPr>
            <a:r>
              <a:rPr lang="en-US" sz="1800" dirty="0">
                <a:latin typeface="Helvetica" pitchFamily="2" charset="0"/>
              </a:rPr>
              <a:t>Navigate the Hazel HPC Environment</a:t>
            </a:r>
          </a:p>
          <a:p>
            <a:pPr marL="285750" indent="-285750">
              <a:lnSpc>
                <a:spcPct val="150000"/>
              </a:lnSpc>
              <a:buFont typeface="Wingdings" pitchFamily="2" charset="2"/>
              <a:buChar char="ü"/>
            </a:pPr>
            <a:r>
              <a:rPr lang="en-US" sz="1800" dirty="0">
                <a:latin typeface="Helvetica" pitchFamily="2" charset="0"/>
              </a:rPr>
              <a:t>Get started with obtaining an HPC account</a:t>
            </a:r>
          </a:p>
          <a:p>
            <a:pPr marL="285750" indent="-285750">
              <a:lnSpc>
                <a:spcPct val="150000"/>
              </a:lnSpc>
              <a:buFont typeface="Wingdings" pitchFamily="2" charset="2"/>
              <a:buChar char="ü"/>
            </a:pPr>
            <a:r>
              <a:rPr lang="en-US" sz="1800" dirty="0">
                <a:latin typeface="Helvetica" pitchFamily="2" charset="0"/>
              </a:rPr>
              <a:t>Learning ways to transfer files</a:t>
            </a:r>
          </a:p>
        </p:txBody>
      </p:sp>
      <p:pic>
        <p:nvPicPr>
          <p:cNvPr id="33796" name="Picture 4" descr="184,600+ Goals Icon Stock Illustrations, Royalty-Free Vector ...">
            <a:extLst>
              <a:ext uri="{FF2B5EF4-FFF2-40B4-BE49-F238E27FC236}">
                <a16:creationId xmlns:a16="http://schemas.microsoft.com/office/drawing/2014/main" id="{5E1EC66C-213F-3D8F-0CC9-47CDFFFE3416}"/>
              </a:ext>
            </a:extLst>
          </p:cNvPr>
          <p:cNvPicPr>
            <a:picLocks noChangeAspect="1" noChangeArrowheads="1"/>
          </p:cNvPicPr>
          <p:nvPr/>
        </p:nvPicPr>
        <p:blipFill rotWithShape="1">
          <a:blip r:embed="rId3">
            <a:duotone>
              <a:prstClr val="black"/>
              <a:schemeClr val="accent6">
                <a:tint val="45000"/>
                <a:satMod val="400000"/>
              </a:schemeClr>
            </a:duotone>
            <a:extLst>
              <a:ext uri="{28A0092B-C50C-407E-A947-70E740481C1C}">
                <a14:useLocalDpi xmlns:a14="http://schemas.microsoft.com/office/drawing/2010/main" val="0"/>
              </a:ext>
            </a:extLst>
          </a:blip>
          <a:srcRect l="17568" t="19066" r="15910" b="19600"/>
          <a:stretch>
            <a:fillRect/>
          </a:stretch>
        </p:blipFill>
        <p:spPr bwMode="auto">
          <a:xfrm>
            <a:off x="1326970" y="2103437"/>
            <a:ext cx="1233350" cy="1325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52688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594D-E571-9D02-40D7-3EDDDF48594D}"/>
            </a:ext>
          </a:extLst>
        </p:cNvPr>
        <p:cNvGrpSpPr/>
        <p:nvPr/>
      </p:nvGrpSpPr>
      <p:grpSpPr>
        <a:xfrm>
          <a:off x="0" y="0"/>
          <a:ext cx="0" cy="0"/>
          <a:chOff x="0" y="0"/>
          <a:chExt cx="0" cy="0"/>
        </a:xfrm>
      </p:grpSpPr>
      <p:pic>
        <p:nvPicPr>
          <p:cNvPr id="1026" name="Picture 2" descr="end button color icon vector illustration 35559824 Vector Art at Vecteezy">
            <a:extLst>
              <a:ext uri="{FF2B5EF4-FFF2-40B4-BE49-F238E27FC236}">
                <a16:creationId xmlns:a16="http://schemas.microsoft.com/office/drawing/2014/main" id="{51A2ABF0-03DC-CCCE-3399-C976A4392C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4839" y="2648692"/>
            <a:ext cx="1560616" cy="15606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58B3E0A-ED3B-D0D2-3C1B-D80FECD53D8D}"/>
              </a:ext>
            </a:extLst>
          </p:cNvPr>
          <p:cNvSpPr txBox="1"/>
          <p:nvPr/>
        </p:nvSpPr>
        <p:spPr>
          <a:xfrm>
            <a:off x="5195455" y="3241964"/>
            <a:ext cx="2701381" cy="523220"/>
          </a:xfrm>
          <a:prstGeom prst="rect">
            <a:avLst/>
          </a:prstGeom>
          <a:noFill/>
        </p:spPr>
        <p:txBody>
          <a:bodyPr wrap="none" rtlCol="0">
            <a:spAutoFit/>
          </a:bodyPr>
          <a:lstStyle/>
          <a:p>
            <a:r>
              <a:rPr lang="en-US" sz="2800" dirty="0">
                <a:latin typeface="Helvetica" pitchFamily="2" charset="0"/>
              </a:rPr>
              <a:t>of the first week</a:t>
            </a:r>
          </a:p>
        </p:txBody>
      </p:sp>
    </p:spTree>
    <p:extLst>
      <p:ext uri="{BB962C8B-B14F-4D97-AF65-F5344CB8AC3E}">
        <p14:creationId xmlns:p14="http://schemas.microsoft.com/office/powerpoint/2010/main" val="11170887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10360-8ADE-06B5-D86E-D03F18939F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D9039-4DFD-7AB0-EDDF-4BA5F97AD77B}"/>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B670F70C-3516-1D45-FEBD-0DB1961EE6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3EF8D2E-D4A4-F876-10A0-64702D5E4E2A}"/>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23852152-B5ED-1B11-C191-200B1EDA9A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28748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F37D7-8E9C-56DD-36C9-86A0FD3AF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26D856-AEC2-FA52-F016-4FAC8FF66B2D}"/>
              </a:ext>
            </a:extLst>
          </p:cNvPr>
          <p:cNvSpPr>
            <a:spLocks noGrp="1"/>
          </p:cNvSpPr>
          <p:nvPr>
            <p:ph type="title"/>
          </p:nvPr>
        </p:nvSpPr>
        <p:spPr/>
        <p:txBody>
          <a:bodyPr>
            <a:normAutofit/>
          </a:bodyPr>
          <a:lstStyle/>
          <a:p>
            <a:r>
              <a:rPr lang="en-US" sz="4000" dirty="0">
                <a:solidFill>
                  <a:schemeClr val="accent1">
                    <a:lumMod val="60000"/>
                    <a:lumOff val="40000"/>
                  </a:schemeClr>
                </a:solidFill>
                <a:latin typeface="Helvetica" pitchFamily="2" charset="0"/>
              </a:rPr>
              <a:t>Bonus! </a:t>
            </a:r>
            <a:r>
              <a:rPr lang="en-US" sz="4000" dirty="0">
                <a:latin typeface="Helvetica" pitchFamily="2" charset="0"/>
              </a:rPr>
              <a:t>Basics of Unix</a:t>
            </a:r>
          </a:p>
        </p:txBody>
      </p:sp>
      <p:sp>
        <p:nvSpPr>
          <p:cNvPr id="11" name="TextBox 10">
            <a:extLst>
              <a:ext uri="{FF2B5EF4-FFF2-40B4-BE49-F238E27FC236}">
                <a16:creationId xmlns:a16="http://schemas.microsoft.com/office/drawing/2014/main" id="{F9670887-9B7E-606F-2839-37C7B4A216FB}"/>
              </a:ext>
            </a:extLst>
          </p:cNvPr>
          <p:cNvSpPr txBox="1"/>
          <p:nvPr/>
        </p:nvSpPr>
        <p:spPr>
          <a:xfrm>
            <a:off x="1044477" y="1552429"/>
            <a:ext cx="10609613" cy="883127"/>
          </a:xfrm>
          <a:prstGeom prst="rect">
            <a:avLst/>
          </a:prstGeom>
          <a:noFill/>
        </p:spPr>
        <p:txBody>
          <a:bodyPr wrap="square">
            <a:spAutoFit/>
          </a:bodyPr>
          <a:lstStyle/>
          <a:p>
            <a:pPr>
              <a:lnSpc>
                <a:spcPct val="150000"/>
              </a:lnSpc>
            </a:pPr>
            <a:r>
              <a:rPr lang="en-US" dirty="0">
                <a:latin typeface="Helvetica" pitchFamily="2" charset="0"/>
              </a:rPr>
              <a:t>Bash is a </a:t>
            </a:r>
            <a:r>
              <a:rPr lang="en-US" b="1" dirty="0">
                <a:latin typeface="Helvetica" pitchFamily="2" charset="0"/>
              </a:rPr>
              <a:t>command-line interface</a:t>
            </a:r>
            <a:r>
              <a:rPr lang="en-US" dirty="0">
                <a:latin typeface="Helvetica" pitchFamily="2" charset="0"/>
              </a:rPr>
              <a:t> that lets you communicate directly with your computer using text commands. </a:t>
            </a:r>
            <a:r>
              <a:rPr lang="en-US" i="1" dirty="0">
                <a:latin typeface="Helvetica" pitchFamily="2" charset="0"/>
              </a:rPr>
              <a:t>Think of it as having a conversation with your computer instead of clicking buttons!</a:t>
            </a:r>
            <a:endParaRPr lang="en-US" sz="1800" i="1" dirty="0">
              <a:latin typeface="Helvetica" pitchFamily="2" charset="0"/>
            </a:endParaRPr>
          </a:p>
        </p:txBody>
      </p:sp>
      <p:grpSp>
        <p:nvGrpSpPr>
          <p:cNvPr id="13" name="Group 12">
            <a:extLst>
              <a:ext uri="{FF2B5EF4-FFF2-40B4-BE49-F238E27FC236}">
                <a16:creationId xmlns:a16="http://schemas.microsoft.com/office/drawing/2014/main" id="{6B89104C-2593-988A-9F44-0C66FA96D333}"/>
              </a:ext>
            </a:extLst>
          </p:cNvPr>
          <p:cNvGrpSpPr/>
          <p:nvPr/>
        </p:nvGrpSpPr>
        <p:grpSpPr>
          <a:xfrm>
            <a:off x="838200" y="2761658"/>
            <a:ext cx="10661072" cy="2376611"/>
            <a:chOff x="838200" y="2992582"/>
            <a:chExt cx="10661072" cy="2376611"/>
          </a:xfrm>
        </p:grpSpPr>
        <p:sp>
          <p:nvSpPr>
            <p:cNvPr id="8" name="Rectangle 7">
              <a:extLst>
                <a:ext uri="{FF2B5EF4-FFF2-40B4-BE49-F238E27FC236}">
                  <a16:creationId xmlns:a16="http://schemas.microsoft.com/office/drawing/2014/main" id="{CBCD1D04-156E-9665-7382-1B25B9FAA18A}"/>
                </a:ext>
              </a:extLst>
            </p:cNvPr>
            <p:cNvSpPr/>
            <p:nvPr/>
          </p:nvSpPr>
          <p:spPr>
            <a:xfrm>
              <a:off x="838200" y="2992582"/>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9A55A2E-8F36-1171-1C27-93E9EFDC8899}"/>
                </a:ext>
              </a:extLst>
            </p:cNvPr>
            <p:cNvSpPr/>
            <p:nvPr/>
          </p:nvSpPr>
          <p:spPr>
            <a:xfrm>
              <a:off x="6506688" y="2992582"/>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0C74BB2-0D95-8EAF-512F-159CB515F504}"/>
                </a:ext>
              </a:extLst>
            </p:cNvPr>
            <p:cNvSpPr/>
            <p:nvPr/>
          </p:nvSpPr>
          <p:spPr>
            <a:xfrm>
              <a:off x="838200" y="4294476"/>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958068E-7B7D-3F77-29E3-7E37E946C52E}"/>
                </a:ext>
              </a:extLst>
            </p:cNvPr>
            <p:cNvSpPr/>
            <p:nvPr/>
          </p:nvSpPr>
          <p:spPr>
            <a:xfrm>
              <a:off x="6506688" y="4260900"/>
              <a:ext cx="4992584" cy="1074717"/>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79DA9A9-707F-F287-4A47-36F682A0057B}"/>
                </a:ext>
              </a:extLst>
            </p:cNvPr>
            <p:cNvSpPr txBox="1"/>
            <p:nvPr/>
          </p:nvSpPr>
          <p:spPr>
            <a:xfrm>
              <a:off x="910631" y="3111609"/>
              <a:ext cx="4847722" cy="830997"/>
            </a:xfrm>
            <a:prstGeom prst="rect">
              <a:avLst/>
            </a:prstGeom>
            <a:noFill/>
          </p:spPr>
          <p:txBody>
            <a:bodyPr wrap="square">
              <a:spAutoFit/>
            </a:bodyPr>
            <a:lstStyle/>
            <a:p>
              <a:r>
                <a:rPr lang="en-US" sz="1600" b="1" dirty="0">
                  <a:latin typeface="Helvetica" pitchFamily="2" charset="0"/>
                </a:rPr>
                <a:t>⚡ Automate Repetitive Tasks</a:t>
              </a:r>
            </a:p>
            <a:p>
              <a:r>
                <a:rPr lang="en-US" sz="1600" dirty="0">
                  <a:latin typeface="Helvetica" pitchFamily="2" charset="0"/>
                </a:rPr>
                <a:t>Process hundreds of data files with a single command</a:t>
              </a:r>
            </a:p>
          </p:txBody>
        </p:sp>
        <p:sp>
          <p:nvSpPr>
            <p:cNvPr id="4" name="TextBox 3">
              <a:extLst>
                <a:ext uri="{FF2B5EF4-FFF2-40B4-BE49-F238E27FC236}">
                  <a16:creationId xmlns:a16="http://schemas.microsoft.com/office/drawing/2014/main" id="{7A42F559-EB28-4BF7-EE97-3A5A0FCAACD8}"/>
                </a:ext>
              </a:extLst>
            </p:cNvPr>
            <p:cNvSpPr txBox="1"/>
            <p:nvPr/>
          </p:nvSpPr>
          <p:spPr>
            <a:xfrm>
              <a:off x="6699666" y="3111609"/>
              <a:ext cx="4463081" cy="861774"/>
            </a:xfrm>
            <a:prstGeom prst="rect">
              <a:avLst/>
            </a:prstGeom>
            <a:noFill/>
          </p:spPr>
          <p:txBody>
            <a:bodyPr wrap="none" rtlCol="0">
              <a:spAutoFit/>
            </a:bodyPr>
            <a:lstStyle/>
            <a:p>
              <a:r>
                <a:rPr lang="en-US" sz="1600" b="1" dirty="0">
                  <a:latin typeface="Helvetica" pitchFamily="2" charset="0"/>
                </a:rPr>
                <a:t>🔍 Work with Large Datasets</a:t>
              </a:r>
            </a:p>
            <a:p>
              <a:r>
                <a:rPr lang="en-US" sz="1600" dirty="0">
                  <a:latin typeface="Helvetica" pitchFamily="2" charset="0"/>
                </a:rPr>
                <a:t>Handle files too big for Excel or other GUI tools</a:t>
              </a:r>
            </a:p>
            <a:p>
              <a:endParaRPr lang="en-US" sz="1600" dirty="0">
                <a:latin typeface="Helvetica" pitchFamily="2" charset="0"/>
              </a:endParaRPr>
            </a:p>
          </p:txBody>
        </p:sp>
        <p:sp>
          <p:nvSpPr>
            <p:cNvPr id="5" name="TextBox 4">
              <a:extLst>
                <a:ext uri="{FF2B5EF4-FFF2-40B4-BE49-F238E27FC236}">
                  <a16:creationId xmlns:a16="http://schemas.microsoft.com/office/drawing/2014/main" id="{250342BE-0356-E502-B6CC-747132BE1A44}"/>
                </a:ext>
              </a:extLst>
            </p:cNvPr>
            <p:cNvSpPr txBox="1"/>
            <p:nvPr/>
          </p:nvSpPr>
          <p:spPr>
            <a:xfrm>
              <a:off x="910631" y="4496871"/>
              <a:ext cx="4336444" cy="861774"/>
            </a:xfrm>
            <a:prstGeom prst="rect">
              <a:avLst/>
            </a:prstGeom>
            <a:noFill/>
          </p:spPr>
          <p:txBody>
            <a:bodyPr wrap="none" rtlCol="0">
              <a:spAutoFit/>
            </a:bodyPr>
            <a:lstStyle/>
            <a:p>
              <a:r>
                <a:rPr lang="en-US" sz="1600" b="1" dirty="0">
                  <a:latin typeface="Helvetica" pitchFamily="2" charset="0"/>
                </a:rPr>
                <a:t>🔄 Reproducible Research</a:t>
              </a:r>
            </a:p>
            <a:p>
              <a:r>
                <a:rPr lang="en-US" sz="1600" dirty="0">
                  <a:latin typeface="Helvetica" pitchFamily="2" charset="0"/>
                </a:rPr>
                <a:t>Document your exact analysis steps in scripts</a:t>
              </a:r>
            </a:p>
            <a:p>
              <a:endParaRPr lang="en-US" sz="1600" dirty="0">
                <a:latin typeface="Helvetica" pitchFamily="2" charset="0"/>
              </a:endParaRPr>
            </a:p>
          </p:txBody>
        </p:sp>
        <p:sp>
          <p:nvSpPr>
            <p:cNvPr id="6" name="TextBox 5">
              <a:extLst>
                <a:ext uri="{FF2B5EF4-FFF2-40B4-BE49-F238E27FC236}">
                  <a16:creationId xmlns:a16="http://schemas.microsoft.com/office/drawing/2014/main" id="{02DEED90-7AAE-987F-DCD8-530A5D477404}"/>
                </a:ext>
              </a:extLst>
            </p:cNvPr>
            <p:cNvSpPr txBox="1"/>
            <p:nvPr/>
          </p:nvSpPr>
          <p:spPr>
            <a:xfrm>
              <a:off x="6699666" y="4496871"/>
              <a:ext cx="4310795" cy="861774"/>
            </a:xfrm>
            <a:prstGeom prst="rect">
              <a:avLst/>
            </a:prstGeom>
            <a:noFill/>
          </p:spPr>
          <p:txBody>
            <a:bodyPr wrap="none" rtlCol="0">
              <a:spAutoFit/>
            </a:bodyPr>
            <a:lstStyle/>
            <a:p>
              <a:r>
                <a:rPr lang="en-US" sz="1600" b="1" dirty="0">
                  <a:latin typeface="Helvetica" pitchFamily="2" charset="0"/>
                </a:rPr>
                <a:t>🌐 Access Remote Servers</a:t>
              </a:r>
            </a:p>
            <a:p>
              <a:r>
                <a:rPr lang="en-US" sz="1600" dirty="0">
                  <a:latin typeface="Helvetica" pitchFamily="2" charset="0"/>
                </a:rPr>
                <a:t>Run analyses on powerful computing clusters</a:t>
              </a:r>
            </a:p>
            <a:p>
              <a:endParaRPr lang="en-US" sz="1600" dirty="0">
                <a:latin typeface="Helvetica" pitchFamily="2" charset="0"/>
              </a:endParaRPr>
            </a:p>
          </p:txBody>
        </p:sp>
      </p:grpSp>
      <p:sp>
        <p:nvSpPr>
          <p:cNvPr id="14" name="TextBox 13">
            <a:extLst>
              <a:ext uri="{FF2B5EF4-FFF2-40B4-BE49-F238E27FC236}">
                <a16:creationId xmlns:a16="http://schemas.microsoft.com/office/drawing/2014/main" id="{B43208FC-5A04-08A3-2383-0A879A09CBD0}"/>
              </a:ext>
            </a:extLst>
          </p:cNvPr>
          <p:cNvSpPr txBox="1"/>
          <p:nvPr/>
        </p:nvSpPr>
        <p:spPr>
          <a:xfrm>
            <a:off x="889659" y="5617685"/>
            <a:ext cx="10609613" cy="795218"/>
          </a:xfrm>
          <a:prstGeom prst="rect">
            <a:avLst/>
          </a:prstGeom>
          <a:solidFill>
            <a:schemeClr val="accent1">
              <a:lumMod val="20000"/>
              <a:lumOff val="80000"/>
            </a:schemeClr>
          </a:solidFill>
        </p:spPr>
        <p:txBody>
          <a:bodyPr wrap="square">
            <a:spAutoFit/>
          </a:bodyPr>
          <a:lstStyle/>
          <a:p>
            <a:pPr>
              <a:lnSpc>
                <a:spcPct val="150000"/>
              </a:lnSpc>
            </a:pPr>
            <a:r>
              <a:rPr lang="en-US" sz="1600" b="1" dirty="0">
                <a:latin typeface="Helvetica" pitchFamily="2" charset="0"/>
              </a:rPr>
              <a:t>Today's Goal:</a:t>
            </a:r>
            <a:r>
              <a:rPr lang="en-US" sz="1600" dirty="0">
                <a:latin typeface="Helvetica" pitchFamily="2" charset="0"/>
              </a:rPr>
              <a:t> Learn the essential Bash commands by creating a research project directory, creating a text file, and moving the text file into the directory.</a:t>
            </a:r>
          </a:p>
        </p:txBody>
      </p:sp>
    </p:spTree>
    <p:extLst>
      <p:ext uri="{BB962C8B-B14F-4D97-AF65-F5344CB8AC3E}">
        <p14:creationId xmlns:p14="http://schemas.microsoft.com/office/powerpoint/2010/main" val="2386092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0648E-19F2-5F98-87A2-F9B633CA0E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AC2453-E2C3-E754-4EF9-5F3405A61712}"/>
              </a:ext>
            </a:extLst>
          </p:cNvPr>
          <p:cNvSpPr>
            <a:spLocks noGrp="1"/>
          </p:cNvSpPr>
          <p:nvPr>
            <p:ph type="title"/>
          </p:nvPr>
        </p:nvSpPr>
        <p:spPr/>
        <p:txBody>
          <a:bodyPr>
            <a:normAutofit/>
          </a:bodyPr>
          <a:lstStyle/>
          <a:p>
            <a:r>
              <a:rPr lang="en-US" sz="4000" dirty="0">
                <a:solidFill>
                  <a:schemeClr val="accent1">
                    <a:lumMod val="60000"/>
                    <a:lumOff val="40000"/>
                  </a:schemeClr>
                </a:solidFill>
                <a:latin typeface="Helvetica" pitchFamily="2" charset="0"/>
              </a:rPr>
              <a:t>Bonus! </a:t>
            </a:r>
            <a:r>
              <a:rPr lang="en-US" sz="4000" dirty="0">
                <a:latin typeface="Helvetica" pitchFamily="2" charset="0"/>
              </a:rPr>
              <a:t>Basics of Unix</a:t>
            </a:r>
          </a:p>
        </p:txBody>
      </p:sp>
      <p:pic>
        <p:nvPicPr>
          <p:cNvPr id="3" name="Picture 6" descr="coding Symbol mark in filled style 47628836 Vector Art at Vecteezy">
            <a:extLst>
              <a:ext uri="{FF2B5EF4-FFF2-40B4-BE49-F238E27FC236}">
                <a16:creationId xmlns:a16="http://schemas.microsoft.com/office/drawing/2014/main" id="{CE778536-A122-552F-BE09-04F3C8B0EF08}"/>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5176551-9798-8503-3A3F-F1234DFF9839}"/>
              </a:ext>
            </a:extLst>
          </p:cNvPr>
          <p:cNvSpPr txBox="1"/>
          <p:nvPr/>
        </p:nvSpPr>
        <p:spPr>
          <a:xfrm>
            <a:off x="914400" y="1904686"/>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a:t>
            </a:r>
            <a:r>
              <a:rPr lang="en-US" sz="1200" b="0" i="0" dirty="0" err="1">
                <a:solidFill>
                  <a:srgbClr val="F8F8F2"/>
                </a:solidFill>
                <a:effectLst/>
                <a:latin typeface="Courier New" panose="02070309020205020404" pitchFamily="49" charset="0"/>
              </a:rPr>
              <a:t>pwd</a:t>
            </a:r>
            <a:endParaRPr lang="en-US" sz="1200" dirty="0"/>
          </a:p>
        </p:txBody>
      </p:sp>
      <p:sp>
        <p:nvSpPr>
          <p:cNvPr id="9" name="TextBox 8">
            <a:extLst>
              <a:ext uri="{FF2B5EF4-FFF2-40B4-BE49-F238E27FC236}">
                <a16:creationId xmlns:a16="http://schemas.microsoft.com/office/drawing/2014/main" id="{33C17551-34D2-3883-9AEF-22B4952B4130}"/>
              </a:ext>
            </a:extLst>
          </p:cNvPr>
          <p:cNvSpPr txBox="1"/>
          <p:nvPr/>
        </p:nvSpPr>
        <p:spPr>
          <a:xfrm>
            <a:off x="914400" y="1521411"/>
            <a:ext cx="4224233" cy="338554"/>
          </a:xfrm>
          <a:prstGeom prst="rect">
            <a:avLst/>
          </a:prstGeom>
          <a:noFill/>
        </p:spPr>
        <p:txBody>
          <a:bodyPr wrap="none" rtlCol="0">
            <a:spAutoFit/>
          </a:bodyPr>
          <a:lstStyle/>
          <a:p>
            <a:r>
              <a:rPr lang="en-US" sz="1600" dirty="0">
                <a:latin typeface="Helvetica" pitchFamily="2" charset="0"/>
              </a:rPr>
              <a:t>1. Open a terminal and check where you are</a:t>
            </a:r>
          </a:p>
        </p:txBody>
      </p:sp>
      <p:sp>
        <p:nvSpPr>
          <p:cNvPr id="10" name="TextBox 9">
            <a:extLst>
              <a:ext uri="{FF2B5EF4-FFF2-40B4-BE49-F238E27FC236}">
                <a16:creationId xmlns:a16="http://schemas.microsoft.com/office/drawing/2014/main" id="{3EA432BC-F09E-8F8A-C23D-1FC3972122F1}"/>
              </a:ext>
            </a:extLst>
          </p:cNvPr>
          <p:cNvSpPr txBox="1"/>
          <p:nvPr/>
        </p:nvSpPr>
        <p:spPr>
          <a:xfrm>
            <a:off x="914400" y="2398386"/>
            <a:ext cx="6527749" cy="338554"/>
          </a:xfrm>
          <a:prstGeom prst="rect">
            <a:avLst/>
          </a:prstGeom>
          <a:noFill/>
        </p:spPr>
        <p:txBody>
          <a:bodyPr wrap="none" rtlCol="0">
            <a:spAutoFit/>
          </a:bodyPr>
          <a:lstStyle/>
          <a:p>
            <a:r>
              <a:rPr lang="en-US" sz="1600" dirty="0">
                <a:latin typeface="Helvetica" pitchFamily="2" charset="0"/>
              </a:rPr>
              <a:t>2. Navigate to wherever you would like to create your project directory</a:t>
            </a:r>
          </a:p>
        </p:txBody>
      </p:sp>
      <p:sp>
        <p:nvSpPr>
          <p:cNvPr id="12" name="TextBox 11">
            <a:extLst>
              <a:ext uri="{FF2B5EF4-FFF2-40B4-BE49-F238E27FC236}">
                <a16:creationId xmlns:a16="http://schemas.microsoft.com/office/drawing/2014/main" id="{ED5541F7-CAB4-2FB8-795F-7023E0735EFE}"/>
              </a:ext>
            </a:extLst>
          </p:cNvPr>
          <p:cNvSpPr txBox="1"/>
          <p:nvPr/>
        </p:nvSpPr>
        <p:spPr>
          <a:xfrm>
            <a:off x="914400" y="2781661"/>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cd [path/where/you/want/to/go]</a:t>
            </a:r>
          </a:p>
        </p:txBody>
      </p:sp>
      <p:sp>
        <p:nvSpPr>
          <p:cNvPr id="13" name="TextBox 12">
            <a:extLst>
              <a:ext uri="{FF2B5EF4-FFF2-40B4-BE49-F238E27FC236}">
                <a16:creationId xmlns:a16="http://schemas.microsoft.com/office/drawing/2014/main" id="{64F6D0BB-C49B-DB26-483A-B774A773F9DF}"/>
              </a:ext>
            </a:extLst>
          </p:cNvPr>
          <p:cNvSpPr txBox="1"/>
          <p:nvPr/>
        </p:nvSpPr>
        <p:spPr>
          <a:xfrm>
            <a:off x="914400" y="3275361"/>
            <a:ext cx="2547492" cy="338554"/>
          </a:xfrm>
          <a:prstGeom prst="rect">
            <a:avLst/>
          </a:prstGeom>
          <a:noFill/>
        </p:spPr>
        <p:txBody>
          <a:bodyPr wrap="none" rtlCol="0">
            <a:spAutoFit/>
          </a:bodyPr>
          <a:lstStyle/>
          <a:p>
            <a:r>
              <a:rPr lang="en-US" sz="1600" dirty="0">
                <a:latin typeface="Helvetica" pitchFamily="2" charset="0"/>
              </a:rPr>
              <a:t>3. Create project directory</a:t>
            </a:r>
          </a:p>
        </p:txBody>
      </p:sp>
      <p:sp>
        <p:nvSpPr>
          <p:cNvPr id="14" name="TextBox 13">
            <a:extLst>
              <a:ext uri="{FF2B5EF4-FFF2-40B4-BE49-F238E27FC236}">
                <a16:creationId xmlns:a16="http://schemas.microsoft.com/office/drawing/2014/main" id="{9052DF06-1EC0-8935-7AE5-81DA694FAF14}"/>
              </a:ext>
            </a:extLst>
          </p:cNvPr>
          <p:cNvSpPr txBox="1"/>
          <p:nvPr/>
        </p:nvSpPr>
        <p:spPr>
          <a:xfrm>
            <a:off x="914400" y="3658636"/>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a:t>
            </a:r>
            <a:r>
              <a:rPr lang="en-US" sz="1200" b="0" i="0" dirty="0" err="1">
                <a:solidFill>
                  <a:srgbClr val="F8F8F2"/>
                </a:solidFill>
                <a:effectLst/>
                <a:latin typeface="Courier New" panose="02070309020205020404" pitchFamily="49" charset="0"/>
              </a:rPr>
              <a:t>mkdir</a:t>
            </a:r>
            <a:r>
              <a:rPr lang="en-US" sz="1200" b="0" i="0" dirty="0">
                <a:solidFill>
                  <a:srgbClr val="F8F8F2"/>
                </a:solidFill>
                <a:effectLst/>
                <a:latin typeface="Courier New" panose="02070309020205020404" pitchFamily="49" charset="0"/>
              </a:rPr>
              <a:t> [</a:t>
            </a:r>
            <a:r>
              <a:rPr lang="en-US" sz="1200" b="0" i="0" dirty="0" err="1">
                <a:solidFill>
                  <a:srgbClr val="F8F8F2"/>
                </a:solidFill>
                <a:effectLst/>
                <a:latin typeface="Courier New" panose="02070309020205020404" pitchFamily="49" charset="0"/>
              </a:rPr>
              <a:t>name_of_directory</a:t>
            </a:r>
            <a:r>
              <a:rPr lang="en-US" sz="1200" b="0" i="0" dirty="0">
                <a:solidFill>
                  <a:srgbClr val="F8F8F2"/>
                </a:solidFill>
                <a:effectLst/>
                <a:latin typeface="Courier New" panose="02070309020205020404" pitchFamily="49" charset="0"/>
              </a:rPr>
              <a:t>]</a:t>
            </a:r>
            <a:endParaRPr lang="en-US" sz="1200" dirty="0"/>
          </a:p>
        </p:txBody>
      </p:sp>
      <p:sp>
        <p:nvSpPr>
          <p:cNvPr id="15" name="TextBox 14">
            <a:extLst>
              <a:ext uri="{FF2B5EF4-FFF2-40B4-BE49-F238E27FC236}">
                <a16:creationId xmlns:a16="http://schemas.microsoft.com/office/drawing/2014/main" id="{0618390F-59A6-3467-1F26-1014B41208C6}"/>
              </a:ext>
            </a:extLst>
          </p:cNvPr>
          <p:cNvSpPr txBox="1"/>
          <p:nvPr/>
        </p:nvSpPr>
        <p:spPr>
          <a:xfrm>
            <a:off x="914400" y="4152336"/>
            <a:ext cx="1909497" cy="338554"/>
          </a:xfrm>
          <a:prstGeom prst="rect">
            <a:avLst/>
          </a:prstGeom>
          <a:noFill/>
        </p:spPr>
        <p:txBody>
          <a:bodyPr wrap="none" rtlCol="0">
            <a:spAutoFit/>
          </a:bodyPr>
          <a:lstStyle/>
          <a:p>
            <a:r>
              <a:rPr lang="en-US" sz="1600" dirty="0">
                <a:latin typeface="Helvetica" pitchFamily="2" charset="0"/>
              </a:rPr>
              <a:t>4. Create a text file</a:t>
            </a:r>
          </a:p>
        </p:txBody>
      </p:sp>
      <p:sp>
        <p:nvSpPr>
          <p:cNvPr id="16" name="TextBox 15">
            <a:extLst>
              <a:ext uri="{FF2B5EF4-FFF2-40B4-BE49-F238E27FC236}">
                <a16:creationId xmlns:a16="http://schemas.microsoft.com/office/drawing/2014/main" id="{CDC84DC0-1FC6-EE11-389F-018495843782}"/>
              </a:ext>
            </a:extLst>
          </p:cNvPr>
          <p:cNvSpPr txBox="1"/>
          <p:nvPr/>
        </p:nvSpPr>
        <p:spPr>
          <a:xfrm>
            <a:off x="914400" y="4535611"/>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emacs [</a:t>
            </a:r>
            <a:r>
              <a:rPr lang="en-US" sz="1200" b="0" i="0" dirty="0" err="1">
                <a:solidFill>
                  <a:srgbClr val="F8F8F2"/>
                </a:solidFill>
                <a:effectLst/>
                <a:latin typeface="Courier New" panose="02070309020205020404" pitchFamily="49" charset="0"/>
              </a:rPr>
              <a:t>name_of_file</a:t>
            </a:r>
            <a:r>
              <a:rPr lang="en-US" sz="1200" b="0" i="0" dirty="0">
                <a:solidFill>
                  <a:srgbClr val="F8F8F2"/>
                </a:solidFill>
                <a:effectLst/>
                <a:latin typeface="Courier New" panose="02070309020205020404" pitchFamily="49" charset="0"/>
              </a:rPr>
              <a:t>]</a:t>
            </a:r>
            <a:endParaRPr lang="en-US" sz="1200" dirty="0"/>
          </a:p>
        </p:txBody>
      </p:sp>
      <p:sp>
        <p:nvSpPr>
          <p:cNvPr id="17" name="TextBox 16">
            <a:extLst>
              <a:ext uri="{FF2B5EF4-FFF2-40B4-BE49-F238E27FC236}">
                <a16:creationId xmlns:a16="http://schemas.microsoft.com/office/drawing/2014/main" id="{E2657F13-9DAC-B16D-545C-5D724109D639}"/>
              </a:ext>
            </a:extLst>
          </p:cNvPr>
          <p:cNvSpPr txBox="1"/>
          <p:nvPr/>
        </p:nvSpPr>
        <p:spPr>
          <a:xfrm>
            <a:off x="914400" y="5029311"/>
            <a:ext cx="1909497" cy="338554"/>
          </a:xfrm>
          <a:prstGeom prst="rect">
            <a:avLst/>
          </a:prstGeom>
          <a:noFill/>
        </p:spPr>
        <p:txBody>
          <a:bodyPr wrap="none" rtlCol="0">
            <a:spAutoFit/>
          </a:bodyPr>
          <a:lstStyle/>
          <a:p>
            <a:r>
              <a:rPr lang="en-US" sz="1600" dirty="0">
                <a:latin typeface="Helvetica" pitchFamily="2" charset="0"/>
              </a:rPr>
              <a:t>5. Create a text file</a:t>
            </a:r>
          </a:p>
        </p:txBody>
      </p:sp>
      <p:sp>
        <p:nvSpPr>
          <p:cNvPr id="18" name="TextBox 17">
            <a:extLst>
              <a:ext uri="{FF2B5EF4-FFF2-40B4-BE49-F238E27FC236}">
                <a16:creationId xmlns:a16="http://schemas.microsoft.com/office/drawing/2014/main" id="{C7D08C57-B6CD-1EFC-887D-4A07162EFBB2}"/>
              </a:ext>
            </a:extLst>
          </p:cNvPr>
          <p:cNvSpPr txBox="1"/>
          <p:nvPr/>
        </p:nvSpPr>
        <p:spPr>
          <a:xfrm>
            <a:off x="914400" y="5412586"/>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b="0" i="0" dirty="0">
                <a:solidFill>
                  <a:srgbClr val="F8F8F2"/>
                </a:solidFill>
                <a:effectLst/>
                <a:latin typeface="Courier New" panose="02070309020205020404" pitchFamily="49" charset="0"/>
              </a:rPr>
              <a:t> mv [</a:t>
            </a:r>
            <a:r>
              <a:rPr lang="en-US" sz="1200" b="0" i="0" dirty="0" err="1">
                <a:solidFill>
                  <a:srgbClr val="F8F8F2"/>
                </a:solidFill>
                <a:effectLst/>
                <a:latin typeface="Courier New" panose="02070309020205020404" pitchFamily="49" charset="0"/>
              </a:rPr>
              <a:t>name_of_file</a:t>
            </a:r>
            <a:r>
              <a:rPr lang="en-US" sz="1200" dirty="0">
                <a:solidFill>
                  <a:srgbClr val="F8F8F2"/>
                </a:solidFill>
                <a:latin typeface="Courier New" panose="02070309020205020404" pitchFamily="49" charset="0"/>
              </a:rPr>
              <a:t>] [path/of/directory]</a:t>
            </a:r>
            <a:endParaRPr lang="en-US" sz="1200" dirty="0"/>
          </a:p>
        </p:txBody>
      </p:sp>
      <p:sp>
        <p:nvSpPr>
          <p:cNvPr id="19" name="TextBox 18">
            <a:extLst>
              <a:ext uri="{FF2B5EF4-FFF2-40B4-BE49-F238E27FC236}">
                <a16:creationId xmlns:a16="http://schemas.microsoft.com/office/drawing/2014/main" id="{092440B2-2931-CBBF-0A26-739EA32C23D0}"/>
              </a:ext>
            </a:extLst>
          </p:cNvPr>
          <p:cNvSpPr txBox="1"/>
          <p:nvPr/>
        </p:nvSpPr>
        <p:spPr>
          <a:xfrm>
            <a:off x="914400" y="5906286"/>
            <a:ext cx="3873176" cy="338554"/>
          </a:xfrm>
          <a:prstGeom prst="rect">
            <a:avLst/>
          </a:prstGeom>
          <a:noFill/>
        </p:spPr>
        <p:txBody>
          <a:bodyPr wrap="none" rtlCol="0">
            <a:spAutoFit/>
          </a:bodyPr>
          <a:lstStyle/>
          <a:p>
            <a:r>
              <a:rPr lang="en-US" sz="1600" dirty="0">
                <a:latin typeface="Helvetica" pitchFamily="2" charset="0"/>
              </a:rPr>
              <a:t>6. Move to directory and list the contents</a:t>
            </a:r>
          </a:p>
        </p:txBody>
      </p:sp>
      <p:sp>
        <p:nvSpPr>
          <p:cNvPr id="23" name="TextBox 22">
            <a:extLst>
              <a:ext uri="{FF2B5EF4-FFF2-40B4-BE49-F238E27FC236}">
                <a16:creationId xmlns:a16="http://schemas.microsoft.com/office/drawing/2014/main" id="{390A150A-0A3A-E4DF-07FB-9CE6F9E2456E}"/>
              </a:ext>
            </a:extLst>
          </p:cNvPr>
          <p:cNvSpPr txBox="1"/>
          <p:nvPr/>
        </p:nvSpPr>
        <p:spPr>
          <a:xfrm>
            <a:off x="7999058" y="2602371"/>
            <a:ext cx="3354742" cy="510778"/>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to move backwards use:</a:t>
            </a:r>
          </a:p>
          <a:p>
            <a:r>
              <a:rPr lang="en-US" sz="1200" dirty="0">
                <a:solidFill>
                  <a:schemeClr val="accent6"/>
                </a:solidFill>
                <a:latin typeface="Courier New" panose="02070309020205020404" pitchFamily="49" charset="0"/>
              </a:rPr>
              <a:t>$</a:t>
            </a:r>
            <a:r>
              <a:rPr lang="en-US" sz="1200" dirty="0">
                <a:solidFill>
                  <a:srgbClr val="F8F8F2"/>
                </a:solidFill>
                <a:latin typeface="Courier New" panose="02070309020205020404" pitchFamily="49" charset="0"/>
              </a:rPr>
              <a:t> cd ..</a:t>
            </a:r>
            <a:endParaRPr lang="en-US" sz="1200" dirty="0"/>
          </a:p>
        </p:txBody>
      </p:sp>
      <p:sp>
        <p:nvSpPr>
          <p:cNvPr id="24" name="TextBox 23">
            <a:extLst>
              <a:ext uri="{FF2B5EF4-FFF2-40B4-BE49-F238E27FC236}">
                <a16:creationId xmlns:a16="http://schemas.microsoft.com/office/drawing/2014/main" id="{024CC175-29C5-9433-000E-D4A3C739AAFD}"/>
              </a:ext>
            </a:extLst>
          </p:cNvPr>
          <p:cNvSpPr txBox="1"/>
          <p:nvPr/>
        </p:nvSpPr>
        <p:spPr>
          <a:xfrm>
            <a:off x="914400" y="6289560"/>
            <a:ext cx="6095010" cy="306467"/>
          </a:xfrm>
          <a:prstGeom prst="roundRect">
            <a:avLst/>
          </a:prstGeom>
          <a:solidFill>
            <a:schemeClr val="tx1"/>
          </a:solidFill>
        </p:spPr>
        <p:txBody>
          <a:bodyPr wrap="square">
            <a:spAutoFit/>
          </a:bodyPr>
          <a:lstStyle/>
          <a:p>
            <a:r>
              <a:rPr lang="en-US" sz="1200" b="0" i="0" dirty="0">
                <a:solidFill>
                  <a:schemeClr val="accent6"/>
                </a:solidFill>
                <a:effectLst/>
                <a:latin typeface="Courier New" panose="02070309020205020404" pitchFamily="49" charset="0"/>
              </a:rPr>
              <a:t>$</a:t>
            </a:r>
            <a:r>
              <a:rPr lang="en-US" sz="1200" dirty="0">
                <a:solidFill>
                  <a:srgbClr val="F8F8F2"/>
                </a:solidFill>
                <a:latin typeface="Courier New" panose="02070309020205020404" pitchFamily="49" charset="0"/>
              </a:rPr>
              <a:t> cd [</a:t>
            </a:r>
            <a:r>
              <a:rPr lang="en-US" sz="1200" dirty="0" err="1">
                <a:solidFill>
                  <a:srgbClr val="F8F8F2"/>
                </a:solidFill>
                <a:latin typeface="Courier New" panose="02070309020205020404" pitchFamily="49" charset="0"/>
              </a:rPr>
              <a:t>name_of_directory</a:t>
            </a:r>
            <a:r>
              <a:rPr lang="en-US" sz="1200" dirty="0">
                <a:solidFill>
                  <a:srgbClr val="F8F8F2"/>
                </a:solidFill>
                <a:latin typeface="Courier New" panose="02070309020205020404" pitchFamily="49" charset="0"/>
              </a:rPr>
              <a:t>]| ls -l </a:t>
            </a:r>
            <a:endParaRPr lang="en-US" sz="1200" dirty="0"/>
          </a:p>
        </p:txBody>
      </p:sp>
      <p:sp>
        <p:nvSpPr>
          <p:cNvPr id="25" name="TextBox 24">
            <a:extLst>
              <a:ext uri="{FF2B5EF4-FFF2-40B4-BE49-F238E27FC236}">
                <a16:creationId xmlns:a16="http://schemas.microsoft.com/office/drawing/2014/main" id="{139CCB26-F988-A3D9-0D5B-E5999B4C4105}"/>
              </a:ext>
            </a:extLst>
          </p:cNvPr>
          <p:cNvSpPr txBox="1"/>
          <p:nvPr/>
        </p:nvSpPr>
        <p:spPr>
          <a:xfrm>
            <a:off x="7999058" y="4331300"/>
            <a:ext cx="3354742" cy="510778"/>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other options for text editors are ”nano” or “vim”</a:t>
            </a:r>
            <a:endParaRPr lang="en-US" sz="1200" dirty="0"/>
          </a:p>
        </p:txBody>
      </p:sp>
      <p:sp>
        <p:nvSpPr>
          <p:cNvPr id="26" name="TextBox 25">
            <a:extLst>
              <a:ext uri="{FF2B5EF4-FFF2-40B4-BE49-F238E27FC236}">
                <a16:creationId xmlns:a16="http://schemas.microsoft.com/office/drawing/2014/main" id="{25506683-B58D-0CDA-4BEC-59264924E8C4}"/>
              </a:ext>
            </a:extLst>
          </p:cNvPr>
          <p:cNvSpPr txBox="1"/>
          <p:nvPr/>
        </p:nvSpPr>
        <p:spPr>
          <a:xfrm>
            <a:off x="7999058" y="3275034"/>
            <a:ext cx="3354742" cy="715089"/>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the [] are used to denote a variable, or something you should fill in yourself</a:t>
            </a:r>
            <a:endParaRPr lang="en-US" sz="1200" dirty="0"/>
          </a:p>
        </p:txBody>
      </p:sp>
      <p:sp>
        <p:nvSpPr>
          <p:cNvPr id="28" name="TextBox 27">
            <a:extLst>
              <a:ext uri="{FF2B5EF4-FFF2-40B4-BE49-F238E27FC236}">
                <a16:creationId xmlns:a16="http://schemas.microsoft.com/office/drawing/2014/main" id="{14C17403-2CFE-9FB2-0114-C7474934080E}"/>
              </a:ext>
            </a:extLst>
          </p:cNvPr>
          <p:cNvSpPr txBox="1"/>
          <p:nvPr/>
        </p:nvSpPr>
        <p:spPr>
          <a:xfrm>
            <a:off x="7999057" y="6085249"/>
            <a:ext cx="3626885" cy="510778"/>
          </a:xfrm>
          <a:prstGeom prst="roundRect">
            <a:avLst/>
          </a:prstGeom>
          <a:solidFill>
            <a:schemeClr val="tx1"/>
          </a:solidFill>
        </p:spPr>
        <p:txBody>
          <a:bodyPr wrap="square">
            <a:spAutoFit/>
          </a:bodyPr>
          <a:lstStyle/>
          <a:p>
            <a:r>
              <a:rPr lang="en-US" sz="1200" dirty="0">
                <a:solidFill>
                  <a:schemeClr val="accent4">
                    <a:lumMod val="20000"/>
                    <a:lumOff val="80000"/>
                  </a:schemeClr>
                </a:solidFill>
                <a:latin typeface="Courier New" panose="02070309020205020404" pitchFamily="49" charset="0"/>
              </a:rPr>
              <a:t># move back and remove directory</a:t>
            </a:r>
          </a:p>
          <a:p>
            <a:r>
              <a:rPr lang="en-US" sz="1200" dirty="0">
                <a:solidFill>
                  <a:schemeClr val="accent6"/>
                </a:solidFill>
                <a:latin typeface="Courier New" panose="02070309020205020404" pitchFamily="49" charset="0"/>
              </a:rPr>
              <a:t>$</a:t>
            </a:r>
            <a:r>
              <a:rPr lang="en-US" sz="1200" dirty="0">
                <a:solidFill>
                  <a:srgbClr val="F8F8F2"/>
                </a:solidFill>
                <a:latin typeface="Courier New" panose="02070309020205020404" pitchFamily="49" charset="0"/>
              </a:rPr>
              <a:t> cd .. | rm –r [</a:t>
            </a:r>
            <a:r>
              <a:rPr lang="en-US" sz="1200" dirty="0" err="1">
                <a:solidFill>
                  <a:srgbClr val="F8F8F2"/>
                </a:solidFill>
                <a:latin typeface="Courier New" panose="02070309020205020404" pitchFamily="49" charset="0"/>
              </a:rPr>
              <a:t>name_of_directory</a:t>
            </a:r>
            <a:r>
              <a:rPr lang="en-US" sz="1200" dirty="0">
                <a:solidFill>
                  <a:srgbClr val="F8F8F2"/>
                </a:solidFill>
                <a:latin typeface="Courier New" panose="02070309020205020404" pitchFamily="49" charset="0"/>
              </a:rPr>
              <a:t>]</a:t>
            </a:r>
            <a:endParaRPr lang="en-US" sz="1200" dirty="0"/>
          </a:p>
        </p:txBody>
      </p:sp>
    </p:spTree>
    <p:extLst>
      <p:ext uri="{BB962C8B-B14F-4D97-AF65-F5344CB8AC3E}">
        <p14:creationId xmlns:p14="http://schemas.microsoft.com/office/powerpoint/2010/main" val="33133652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55E57-4FF5-3228-5D94-606499A2E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A82FBE-5C84-B77A-693A-BC593B83CFCB}"/>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15026429-18CC-F240-D655-3848919B41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757A6B2-BCF5-6309-24E2-58C895D1E5AF}"/>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18DC604F-E0DE-9774-B921-9FF5195789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58942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D4E8FA5-0881-A510-6571-043A06D698A2}"/>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91805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51255-102E-0964-722F-024CB448D5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D02164-C39A-82B4-DC8E-60566E7068BC}"/>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17F32CC6-BB23-D366-A5A3-EBF766669956}"/>
              </a:ext>
            </a:extLst>
          </p:cNvPr>
          <p:cNvGraphicFramePr>
            <a:graphicFrameLocks noGrp="1"/>
          </p:cNvGraphicFramePr>
          <p:nvPr>
            <p:extLst>
              <p:ext uri="{D42A27DB-BD31-4B8C-83A1-F6EECF244321}">
                <p14:modId xmlns:p14="http://schemas.microsoft.com/office/powerpoint/2010/main" val="1255688504"/>
              </p:ext>
            </p:extLst>
          </p:nvPr>
        </p:nvGraphicFramePr>
        <p:xfrm>
          <a:off x="957446" y="1495032"/>
          <a:ext cx="10277107" cy="4277459"/>
        </p:xfrm>
        <a:graphic>
          <a:graphicData uri="http://schemas.openxmlformats.org/drawingml/2006/table">
            <a:tbl>
              <a:tblPr firstRow="1" bandRow="1">
                <a:tableStyleId>{5940675A-B579-460E-94D1-54222C63F5DA}</a:tableStyleId>
              </a:tblPr>
              <a:tblGrid>
                <a:gridCol w="1389581">
                  <a:extLst>
                    <a:ext uri="{9D8B030D-6E8A-4147-A177-3AD203B41FA5}">
                      <a16:colId xmlns:a16="http://schemas.microsoft.com/office/drawing/2014/main" val="3588077064"/>
                    </a:ext>
                  </a:extLst>
                </a:gridCol>
                <a:gridCol w="1349052">
                  <a:extLst>
                    <a:ext uri="{9D8B030D-6E8A-4147-A177-3AD203B41FA5}">
                      <a16:colId xmlns:a16="http://schemas.microsoft.com/office/drawing/2014/main" val="2921729674"/>
                    </a:ext>
                  </a:extLst>
                </a:gridCol>
                <a:gridCol w="1297495">
                  <a:extLst>
                    <a:ext uri="{9D8B030D-6E8A-4147-A177-3AD203B41FA5}">
                      <a16:colId xmlns:a16="http://schemas.microsoft.com/office/drawing/2014/main" val="3051897964"/>
                    </a:ext>
                  </a:extLst>
                </a:gridCol>
                <a:gridCol w="1261650">
                  <a:extLst>
                    <a:ext uri="{9D8B030D-6E8A-4147-A177-3AD203B41FA5}">
                      <a16:colId xmlns:a16="http://schemas.microsoft.com/office/drawing/2014/main" val="2411906837"/>
                    </a:ext>
                  </a:extLst>
                </a:gridCol>
                <a:gridCol w="1210093">
                  <a:extLst>
                    <a:ext uri="{9D8B030D-6E8A-4147-A177-3AD203B41FA5}">
                      <a16:colId xmlns:a16="http://schemas.microsoft.com/office/drawing/2014/main" val="2317395656"/>
                    </a:ext>
                  </a:extLst>
                </a:gridCol>
                <a:gridCol w="1273782">
                  <a:extLst>
                    <a:ext uri="{9D8B030D-6E8A-4147-A177-3AD203B41FA5}">
                      <a16:colId xmlns:a16="http://schemas.microsoft.com/office/drawing/2014/main" val="1121361333"/>
                    </a:ext>
                  </a:extLst>
                </a:gridCol>
                <a:gridCol w="1270244">
                  <a:extLst>
                    <a:ext uri="{9D8B030D-6E8A-4147-A177-3AD203B41FA5}">
                      <a16:colId xmlns:a16="http://schemas.microsoft.com/office/drawing/2014/main" val="3820744059"/>
                    </a:ext>
                  </a:extLst>
                </a:gridCol>
                <a:gridCol w="1225210">
                  <a:extLst>
                    <a:ext uri="{9D8B030D-6E8A-4147-A177-3AD203B41FA5}">
                      <a16:colId xmlns:a16="http://schemas.microsoft.com/office/drawing/2014/main" val="1638370077"/>
                    </a:ext>
                  </a:extLst>
                </a:gridCol>
              </a:tblGrid>
              <a:tr h="932543">
                <a:tc>
                  <a:txBody>
                    <a:bodyPr/>
                    <a:lstStyle/>
                    <a:p>
                      <a:pPr algn="ctr"/>
                      <a:r>
                        <a:rPr lang="en-US" sz="1200" b="1" dirty="0">
                          <a:solidFill>
                            <a:schemeClr val="bg1">
                              <a:lumMod val="50000"/>
                            </a:schemeClr>
                          </a:solidFill>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solidFill>
                            <a:schemeClr val="bg1">
                              <a:lumMod val="50000"/>
                            </a:schemeClr>
                          </a:solidFill>
                          <a:latin typeface="Helvetica" pitchFamily="2" charset="0"/>
                        </a:rPr>
                        <a:t>3.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50000"/>
                            </a:schemeClr>
                          </a:solidFill>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50000"/>
                            </a:schemeClr>
                          </a:solidFill>
                          <a:latin typeface="Helvetica" pitchFamily="2" charset="0"/>
                        </a:rPr>
                        <a:t>5.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50000"/>
                            </a:schemeClr>
                          </a:solidFill>
                          <a:latin typeface="Helvetica" pitchFamily="2" charset="0"/>
                        </a:rPr>
                        <a:t>6-8.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50000"/>
                            </a:schemeClr>
                          </a:solidFill>
                          <a:latin typeface="Helvetica" pitchFamily="2" charset="0"/>
                        </a:rPr>
                        <a:t>9-12.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50000"/>
                            </a:schemeClr>
                          </a:solidFill>
                          <a:latin typeface="Helvetica" pitchFamily="2" charset="0"/>
                        </a:rPr>
                        <a:t>13. Bonus! – Globus transfers</a:t>
                      </a:r>
                    </a:p>
                  </a:txBody>
                  <a:tcP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73116">
                <a:tc>
                  <a:txBody>
                    <a:bodyPr/>
                    <a:lstStyle/>
                    <a:p>
                      <a:r>
                        <a:rPr lang="en-US" sz="1100" dirty="0">
                          <a:solidFill>
                            <a:schemeClr val="bg1">
                              <a:lumMod val="50000"/>
                            </a:schemeClr>
                          </a:solidFill>
                          <a:latin typeface="Helvetica" pitchFamily="2" charset="0"/>
                        </a:rPr>
                        <a:t>10/29/2025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100" dirty="0">
                          <a:latin typeface="Helvetica" pitchFamily="2" charset="0"/>
                        </a:rPr>
                        <a:t>11/12/2025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50000"/>
                            </a:schemeClr>
                          </a:solidFill>
                          <a:latin typeface="Helvetica" pitchFamily="2" charset="0"/>
                        </a:rPr>
                        <a:t>11/19/2025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50000"/>
                            </a:schemeClr>
                          </a:solidFill>
                          <a:latin typeface="Helvetica" pitchFamily="2" charset="0"/>
                        </a:rPr>
                        <a:t>12/03/2025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50000"/>
                            </a:schemeClr>
                          </a:solidFill>
                          <a:latin typeface="Helvetica" pitchFamily="2" charset="0"/>
                        </a:rPr>
                        <a:t>TBD 2026</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50000"/>
                            </a:schemeClr>
                          </a:solidFill>
                          <a:latin typeface="Helvetica" pitchFamily="2" charset="0"/>
                        </a:rPr>
                        <a:t>TBD 2026</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50000"/>
                            </a:schemeClr>
                          </a:solidFill>
                          <a:latin typeface="Helvetica" pitchFamily="2" charset="0"/>
                        </a:rPr>
                        <a:t>TBD 2026</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bg1">
                              <a:lumMod val="50000"/>
                            </a:schemeClr>
                          </a:solidFill>
                          <a:latin typeface="Helvetica" pitchFamily="2" charset="0"/>
                        </a:rPr>
                        <a:t>TBD 2026</a:t>
                      </a:r>
                    </a:p>
                  </a:txBody>
                  <a:tcP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7620817"/>
                  </a:ext>
                </a:extLst>
              </a:tr>
              <a:tr h="2303978">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Core HPC Concepts (CPU/GPU, Node/Core)</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Navigate the Hazel HPC Environment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Get started with obtaining a HPC account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50000"/>
                            </a:schemeClr>
                          </a:solidFill>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GNU parallel</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Run two examples on data downloading</a:t>
                      </a:r>
                    </a:p>
                    <a:p>
                      <a:pPr marL="171450" indent="-171450">
                        <a:buFont typeface="Arial" panose="020B0604020202020204" pitchFamily="34" charset="0"/>
                        <a:buChar char="•"/>
                      </a:pPr>
                      <a:endParaRPr lang="en-US" sz="1050" dirty="0">
                        <a:solidFill>
                          <a:schemeClr val="bg1">
                            <a:lumMod val="50000"/>
                          </a:schemeClr>
                        </a:solidFill>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the use cases for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computation behind job arrays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how to estimate job requirements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50000"/>
                            </a:schemeClr>
                          </a:solidFill>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050" dirty="0">
                          <a:solidFill>
                            <a:schemeClr val="bg1">
                              <a:lumMod val="50000"/>
                            </a:schemeClr>
                          </a:solidFill>
                          <a:latin typeface="Helvetica" pitchFamily="2" charset="0"/>
                        </a:rPr>
                        <a:t>Learn how to load software using: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Modules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Containers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050" dirty="0">
                          <a:solidFill>
                            <a:schemeClr val="bg1">
                              <a:lumMod val="50000"/>
                            </a:schemeClr>
                          </a:solidFill>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Research Storage (RS1)</a:t>
                      </a:r>
                    </a:p>
                    <a:p>
                      <a:pPr marL="171450" indent="-171450">
                        <a:buFont typeface="Arial" panose="020B0604020202020204" pitchFamily="34" charset="0"/>
                        <a:buChar char="•"/>
                      </a:pPr>
                      <a:r>
                        <a:rPr lang="en-US" sz="1050" dirty="0" err="1">
                          <a:solidFill>
                            <a:schemeClr val="bg1">
                              <a:lumMod val="50000"/>
                            </a:schemeClr>
                          </a:solidFill>
                          <a:latin typeface="Helvetica" pitchFamily="2" charset="0"/>
                        </a:rPr>
                        <a:t>Usrapps</a:t>
                      </a:r>
                      <a:endParaRPr lang="en-US" sz="1050" dirty="0">
                        <a:solidFill>
                          <a:schemeClr val="bg1">
                            <a:lumMod val="50000"/>
                          </a:schemeClr>
                        </a:solidFill>
                        <a:latin typeface="Helvetica" pitchFamily="2" charset="0"/>
                      </a:endParaRP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Scratch</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How to mount your RS1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about the advantages of using Globus transfers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endpoints</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a local and Google drive endpoint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between local and HPC</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9242862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D6509-0F6F-9556-134C-3E92BD21F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598605-5CA5-BA60-D91C-EFABA614EDE8}"/>
              </a:ext>
            </a:extLst>
          </p:cNvPr>
          <p:cNvSpPr>
            <a:spLocks noGrp="1"/>
          </p:cNvSpPr>
          <p:nvPr>
            <p:ph type="title"/>
          </p:nvPr>
        </p:nvSpPr>
        <p:spPr/>
        <p:txBody>
          <a:bodyPr>
            <a:normAutofit/>
          </a:bodyPr>
          <a:lstStyle/>
          <a:p>
            <a:r>
              <a:rPr lang="en-US" sz="4000" dirty="0">
                <a:latin typeface="Helvetica" pitchFamily="2" charset="0"/>
              </a:rPr>
              <a:t>Your thoughts</a:t>
            </a:r>
          </a:p>
        </p:txBody>
      </p:sp>
      <p:pic>
        <p:nvPicPr>
          <p:cNvPr id="5" name="Graphic 4" descr="Group brainstorm with solid fill">
            <a:extLst>
              <a:ext uri="{FF2B5EF4-FFF2-40B4-BE49-F238E27FC236}">
                <a16:creationId xmlns:a16="http://schemas.microsoft.com/office/drawing/2014/main" id="{2C610ABD-2A88-6E72-38E4-C816D46B482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55298" y="449892"/>
            <a:ext cx="830893" cy="830893"/>
          </a:xfrm>
          <a:prstGeom prst="rect">
            <a:avLst/>
          </a:prstGeom>
        </p:spPr>
      </p:pic>
      <p:sp>
        <p:nvSpPr>
          <p:cNvPr id="6" name="TextBox 5">
            <a:extLst>
              <a:ext uri="{FF2B5EF4-FFF2-40B4-BE49-F238E27FC236}">
                <a16:creationId xmlns:a16="http://schemas.microsoft.com/office/drawing/2014/main" id="{65F875B7-8B4F-A198-3D0E-8F1B3CEC047B}"/>
              </a:ext>
            </a:extLst>
          </p:cNvPr>
          <p:cNvSpPr txBox="1"/>
          <p:nvPr/>
        </p:nvSpPr>
        <p:spPr>
          <a:xfrm>
            <a:off x="908250" y="1690688"/>
            <a:ext cx="5066666" cy="507831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latin typeface="Helvetica" pitchFamily="2" charset="0"/>
              </a:rPr>
              <a:t>Differences between accessing HPC through terminal vs. </a:t>
            </a:r>
            <a:r>
              <a:rPr lang="en-US" dirty="0" err="1">
                <a:latin typeface="Helvetica" pitchFamily="2" charset="0"/>
              </a:rPr>
              <a:t>VSCode</a:t>
            </a:r>
            <a:r>
              <a:rPr lang="en-US" dirty="0">
                <a:latin typeface="Helvetica" pitchFamily="2" charset="0"/>
              </a:rPr>
              <a:t> (li)</a:t>
            </a:r>
          </a:p>
          <a:p>
            <a:pPr marL="285750" indent="-285750">
              <a:lnSpc>
                <a:spcPct val="150000"/>
              </a:lnSpc>
              <a:buFont typeface="Arial" panose="020B0604020202020204" pitchFamily="34" charset="0"/>
              <a:buChar char="•"/>
            </a:pPr>
            <a:r>
              <a:rPr lang="en-US" dirty="0">
                <a:latin typeface="Helvetica" pitchFamily="2" charset="0"/>
              </a:rPr>
              <a:t>Why python did not use GPU despite being in GPU node</a:t>
            </a:r>
          </a:p>
          <a:p>
            <a:pPr marL="285750" indent="-285750">
              <a:lnSpc>
                <a:spcPct val="150000"/>
              </a:lnSpc>
              <a:buFont typeface="Arial" panose="020B0604020202020204" pitchFamily="34" charset="0"/>
              <a:buChar char="•"/>
            </a:pPr>
            <a:r>
              <a:rPr lang="en-US" dirty="0">
                <a:latin typeface="Helvetica" pitchFamily="2" charset="0"/>
              </a:rPr>
              <a:t>How to make sure your program is actually using GPU</a:t>
            </a:r>
          </a:p>
          <a:p>
            <a:pPr marL="285750" indent="-285750">
              <a:lnSpc>
                <a:spcPct val="150000"/>
              </a:lnSpc>
              <a:buFont typeface="Arial" panose="020B0604020202020204" pitchFamily="34" charset="0"/>
              <a:buChar char="•"/>
            </a:pPr>
            <a:r>
              <a:rPr lang="en-US" dirty="0">
                <a:latin typeface="Helvetica" pitchFamily="2" charset="0"/>
              </a:rPr>
              <a:t>Docker</a:t>
            </a:r>
          </a:p>
          <a:p>
            <a:pPr marL="285750" indent="-285750">
              <a:lnSpc>
                <a:spcPct val="150000"/>
              </a:lnSpc>
              <a:buFont typeface="Arial" panose="020B0604020202020204" pitchFamily="34" charset="0"/>
              <a:buChar char="•"/>
            </a:pPr>
            <a:r>
              <a:rPr lang="en-US" dirty="0" err="1">
                <a:latin typeface="Helvetica" pitchFamily="2" charset="0"/>
              </a:rPr>
              <a:t>Nextflow</a:t>
            </a:r>
            <a:r>
              <a:rPr lang="en-US" dirty="0">
                <a:latin typeface="Helvetica" pitchFamily="2" charset="0"/>
              </a:rPr>
              <a:t> </a:t>
            </a:r>
          </a:p>
          <a:p>
            <a:pPr marL="285750" indent="-285750">
              <a:lnSpc>
                <a:spcPct val="150000"/>
              </a:lnSpc>
              <a:buFont typeface="Arial" panose="020B0604020202020204" pitchFamily="34" charset="0"/>
              <a:buChar char="•"/>
            </a:pPr>
            <a:r>
              <a:rPr lang="en-US" dirty="0">
                <a:latin typeface="Helvetica" pitchFamily="2" charset="0"/>
              </a:rPr>
              <a:t>See </a:t>
            </a:r>
            <a:r>
              <a:rPr lang="en-US" dirty="0" err="1">
                <a:latin typeface="Helvetica" pitchFamily="2" charset="0"/>
              </a:rPr>
              <a:t>conda</a:t>
            </a:r>
            <a:r>
              <a:rPr lang="en-US" dirty="0">
                <a:latin typeface="Helvetica" pitchFamily="2" charset="0"/>
              </a:rPr>
              <a:t> environments earlier</a:t>
            </a:r>
          </a:p>
          <a:p>
            <a:pPr marL="285750" indent="-285750">
              <a:lnSpc>
                <a:spcPct val="150000"/>
              </a:lnSpc>
              <a:buFont typeface="Arial" panose="020B0604020202020204" pitchFamily="34" charset="0"/>
              <a:buChar char="•"/>
            </a:pPr>
            <a:r>
              <a:rPr lang="en-US" dirty="0">
                <a:latin typeface="Helvetica" pitchFamily="2" charset="0"/>
              </a:rPr>
              <a:t>Add a Q&amp;A section/method</a:t>
            </a:r>
          </a:p>
          <a:p>
            <a:pPr marL="285750" indent="-285750">
              <a:buFont typeface="Arial" panose="020B0604020202020204" pitchFamily="34" charset="0"/>
              <a:buChar char="•"/>
            </a:pPr>
            <a:endParaRPr lang="en-US" dirty="0">
              <a:latin typeface="Helvetica" pitchFamily="2" charset="0"/>
            </a:endParaRPr>
          </a:p>
          <a:p>
            <a:pPr marL="285750" indent="-285750">
              <a:buFont typeface="Arial" panose="020B0604020202020204" pitchFamily="34" charset="0"/>
              <a:buChar char="•"/>
            </a:pPr>
            <a:r>
              <a:rPr lang="en-US" dirty="0">
                <a:latin typeface="Helvetica" pitchFamily="2" charset="0"/>
              </a:rPr>
              <a:t>PI onboarding handout</a:t>
            </a:r>
          </a:p>
          <a:p>
            <a:pPr marL="285750" indent="-285750">
              <a:buFont typeface="Arial" panose="020B0604020202020204" pitchFamily="34" charset="0"/>
              <a:buChar char="•"/>
            </a:pPr>
            <a:endParaRPr lang="en-US" dirty="0">
              <a:latin typeface="Helvetica" pitchFamily="2" charset="0"/>
            </a:endParaRPr>
          </a:p>
        </p:txBody>
      </p:sp>
      <p:sp>
        <p:nvSpPr>
          <p:cNvPr id="7" name="TextBox 6">
            <a:extLst>
              <a:ext uri="{FF2B5EF4-FFF2-40B4-BE49-F238E27FC236}">
                <a16:creationId xmlns:a16="http://schemas.microsoft.com/office/drawing/2014/main" id="{1CB90818-3ADC-E4E9-FADC-5A0B2DA1F39E}"/>
              </a:ext>
            </a:extLst>
          </p:cNvPr>
          <p:cNvSpPr txBox="1"/>
          <p:nvPr/>
        </p:nvSpPr>
        <p:spPr>
          <a:xfrm>
            <a:off x="6131025" y="1690688"/>
            <a:ext cx="5066666" cy="4801314"/>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Differences between accessing HPC through terminal vs. </a:t>
            </a:r>
            <a:r>
              <a:rPr lang="en-US" dirty="0" err="1">
                <a:solidFill>
                  <a:schemeClr val="bg1">
                    <a:lumMod val="75000"/>
                  </a:schemeClr>
                </a:solidFill>
                <a:latin typeface="Helvetica" pitchFamily="2" charset="0"/>
              </a:rPr>
              <a:t>VSCode</a:t>
            </a:r>
            <a:endParaRPr lang="en-US" dirty="0">
              <a:solidFill>
                <a:schemeClr val="bg1">
                  <a:lumMod val="75000"/>
                </a:schemeClr>
              </a:solidFill>
              <a:latin typeface="Helvetica" pitchFamily="2" charset="0"/>
            </a:endParaRP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Why python did not use GPU despite being in GPU node</a:t>
            </a: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How to make sure your program is actually using GPU</a:t>
            </a:r>
          </a:p>
          <a:p>
            <a:pPr marL="285750" indent="-285750">
              <a:lnSpc>
                <a:spcPct val="150000"/>
              </a:lnSpc>
              <a:buFont typeface="Arial" panose="020B0604020202020204" pitchFamily="34" charset="0"/>
              <a:buChar char="•"/>
            </a:pPr>
            <a:r>
              <a:rPr lang="en-US" dirty="0">
                <a:solidFill>
                  <a:schemeClr val="accent5"/>
                </a:solidFill>
                <a:latin typeface="Helvetica" pitchFamily="2" charset="0"/>
              </a:rPr>
              <a:t>This will be covered in the software section</a:t>
            </a:r>
          </a:p>
          <a:p>
            <a:pPr marL="285750" indent="-285750">
              <a:lnSpc>
                <a:spcPct val="150000"/>
              </a:lnSpc>
              <a:buFont typeface="Arial" panose="020B0604020202020204" pitchFamily="34" charset="0"/>
              <a:buChar char="•"/>
            </a:pPr>
            <a:r>
              <a:rPr lang="en-US" dirty="0">
                <a:solidFill>
                  <a:schemeClr val="accent5"/>
                </a:solidFill>
                <a:latin typeface="Helvetica" pitchFamily="2" charset="0"/>
              </a:rPr>
              <a:t>We are planning a specific training for this</a:t>
            </a: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nope</a:t>
            </a:r>
          </a:p>
          <a:p>
            <a:pPr marL="285750" indent="-285750">
              <a:lnSpc>
                <a:spcPct val="150000"/>
              </a:lnSpc>
              <a:buFont typeface="Arial" panose="020B0604020202020204" pitchFamily="34" charset="0"/>
              <a:buChar char="•"/>
            </a:pPr>
            <a:r>
              <a:rPr lang="en-US" dirty="0">
                <a:solidFill>
                  <a:schemeClr val="bg1">
                    <a:lumMod val="75000"/>
                  </a:schemeClr>
                </a:solidFill>
                <a:latin typeface="Helvetica" pitchFamily="2" charset="0"/>
              </a:rPr>
              <a:t>Add a Q&amp;A section/method</a:t>
            </a:r>
          </a:p>
          <a:p>
            <a:pPr marL="285750" indent="-285750">
              <a:buFont typeface="Arial" panose="020B0604020202020204" pitchFamily="34" charset="0"/>
              <a:buChar char="•"/>
            </a:pPr>
            <a:endParaRPr lang="en-US" dirty="0">
              <a:latin typeface="Helvetica" pitchFamily="2" charset="0"/>
            </a:endParaRPr>
          </a:p>
          <a:p>
            <a:pPr marL="285750" indent="-285750">
              <a:buFont typeface="Arial" panose="020B0604020202020204" pitchFamily="34" charset="0"/>
              <a:buChar char="•"/>
            </a:pPr>
            <a:endParaRPr lang="en-US" dirty="0">
              <a:latin typeface="Helvetica" pitchFamily="2" charset="0"/>
            </a:endParaRPr>
          </a:p>
        </p:txBody>
      </p:sp>
    </p:spTree>
    <p:extLst>
      <p:ext uri="{BB962C8B-B14F-4D97-AF65-F5344CB8AC3E}">
        <p14:creationId xmlns:p14="http://schemas.microsoft.com/office/powerpoint/2010/main" val="14142253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7057-3397-2AED-BA3B-7AE55A5BC2AF}"/>
              </a:ext>
            </a:extLst>
          </p:cNvPr>
          <p:cNvSpPr>
            <a:spLocks noGrp="1"/>
          </p:cNvSpPr>
          <p:nvPr>
            <p:ph type="title"/>
          </p:nvPr>
        </p:nvSpPr>
        <p:spPr/>
        <p:txBody>
          <a:bodyPr>
            <a:normAutofit/>
          </a:bodyPr>
          <a:lstStyle/>
          <a:p>
            <a:r>
              <a:rPr lang="en-US" dirty="0">
                <a:latin typeface="Helvetica" pitchFamily="2" charset="0"/>
              </a:rPr>
              <a:t>Why python did not use GPU despite being in GPU node</a:t>
            </a:r>
            <a:endParaRPr lang="en-US" dirty="0"/>
          </a:p>
        </p:txBody>
      </p:sp>
      <p:sp>
        <p:nvSpPr>
          <p:cNvPr id="3" name="Content Placeholder 2">
            <a:extLst>
              <a:ext uri="{FF2B5EF4-FFF2-40B4-BE49-F238E27FC236}">
                <a16:creationId xmlns:a16="http://schemas.microsoft.com/office/drawing/2014/main" id="{5D30940C-9A95-00C2-7626-81ADEFFCC3B3}"/>
              </a:ext>
            </a:extLst>
          </p:cNvPr>
          <p:cNvSpPr>
            <a:spLocks noGrp="1"/>
          </p:cNvSpPr>
          <p:nvPr>
            <p:ph idx="1"/>
          </p:nvPr>
        </p:nvSpPr>
        <p:spPr/>
        <p:txBody>
          <a:bodyPr>
            <a:normAutofit fontScale="92500" lnSpcReduction="20000"/>
          </a:bodyPr>
          <a:lstStyle/>
          <a:p>
            <a:r>
              <a:rPr lang="en-US" dirty="0"/>
              <a:t>Run an interactive job and request a GPU (in a single node)</a:t>
            </a:r>
          </a:p>
          <a:p>
            <a:r>
              <a:rPr lang="en-US" dirty="0"/>
              <a:t>Then you run a small test of your program</a:t>
            </a:r>
          </a:p>
          <a:p>
            <a:r>
              <a:rPr lang="en-US" dirty="0"/>
              <a:t>That program can be sent to background: </a:t>
            </a:r>
            <a:r>
              <a:rPr lang="en-US" dirty="0" err="1"/>
              <a:t>bg</a:t>
            </a:r>
            <a:endParaRPr lang="en-US" dirty="0"/>
          </a:p>
          <a:p>
            <a:r>
              <a:rPr lang="en-US" dirty="0"/>
              <a:t>Use top command to look at what is running and check what type of core it is using</a:t>
            </a:r>
          </a:p>
          <a:p>
            <a:r>
              <a:rPr lang="en-US" dirty="0"/>
              <a:t>If it is not using GPU then provide us more detail</a:t>
            </a:r>
          </a:p>
          <a:p>
            <a:endParaRPr lang="en-US" dirty="0"/>
          </a:p>
          <a:p>
            <a:r>
              <a:rPr lang="en-US" dirty="0"/>
              <a:t>You can normally find out if program using a GPU from its documentation (i.e. -t = threads)</a:t>
            </a:r>
          </a:p>
          <a:p>
            <a:r>
              <a:rPr lang="en-US" dirty="0"/>
              <a:t>If no GPU capability then run it </a:t>
            </a:r>
            <a:r>
              <a:rPr lang="en-US" dirty="0" err="1"/>
              <a:t>throu</a:t>
            </a:r>
            <a:r>
              <a:rPr lang="en-US" dirty="0"/>
              <a:t> “gnu parallel” (see documentation, use installation in </a:t>
            </a:r>
            <a:r>
              <a:rPr lang="en-US" dirty="0" err="1">
                <a:solidFill>
                  <a:srgbClr val="FF0000"/>
                </a:solidFill>
              </a:rPr>
              <a:t>brc</a:t>
            </a:r>
            <a:r>
              <a:rPr lang="en-US" dirty="0">
                <a:solidFill>
                  <a:srgbClr val="FF0000"/>
                </a:solidFill>
              </a:rPr>
              <a:t> </a:t>
            </a:r>
            <a:r>
              <a:rPr lang="en-US" dirty="0" err="1">
                <a:solidFill>
                  <a:srgbClr val="FF0000"/>
                </a:solidFill>
              </a:rPr>
              <a:t>usrapps</a:t>
            </a:r>
            <a:r>
              <a:rPr lang="en-US" dirty="0"/>
              <a:t>)</a:t>
            </a:r>
          </a:p>
        </p:txBody>
      </p:sp>
    </p:spTree>
    <p:extLst>
      <p:ext uri="{BB962C8B-B14F-4D97-AF65-F5344CB8AC3E}">
        <p14:creationId xmlns:p14="http://schemas.microsoft.com/office/powerpoint/2010/main" val="29706107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BE447-1BD3-46AD-7EF0-3098A26049D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B45E4E9-28EB-D34E-87AE-4C93E8CFEDDD}"/>
              </a:ext>
            </a:extLst>
          </p:cNvPr>
          <p:cNvSpPr txBox="1">
            <a:spLocks/>
          </p:cNvSpPr>
          <p:nvPr/>
        </p:nvSpPr>
        <p:spPr>
          <a:xfrm>
            <a:off x="1201274" y="2089105"/>
            <a:ext cx="8245547"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02. Running Jobs on Hazel</a:t>
            </a:r>
          </a:p>
        </p:txBody>
      </p:sp>
      <p:pic>
        <p:nvPicPr>
          <p:cNvPr id="18440" name="Picture 8" descr="Hazel nut icon symbol on white background | Premium Vector">
            <a:extLst>
              <a:ext uri="{FF2B5EF4-FFF2-40B4-BE49-F238E27FC236}">
                <a16:creationId xmlns:a16="http://schemas.microsoft.com/office/drawing/2014/main" id="{148E47D6-DE02-85FE-B390-58996FD60F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9125" y="2525388"/>
            <a:ext cx="903612" cy="903612"/>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B68BAFA6-97E3-63AA-B8D7-34530E6202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7809" y="3200233"/>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6+ Thousand High Performance Computing Icon Royalty-Free Images, Stock  Photos &amp; Pictures | Shutterstock">
            <a:extLst>
              <a:ext uri="{FF2B5EF4-FFF2-40B4-BE49-F238E27FC236}">
                <a16:creationId xmlns:a16="http://schemas.microsoft.com/office/drawing/2014/main" id="{E41A0696-FE26-C562-3C39-14A12F00AC7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627" t="7004" r="11439" b="14000"/>
          <a:stretch>
            <a:fillRect/>
          </a:stretch>
        </p:blipFill>
        <p:spPr bwMode="auto">
          <a:xfrm>
            <a:off x="8645236" y="2149646"/>
            <a:ext cx="1009441" cy="1087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2695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D5BE-E0FE-2956-8CB8-6F967477ED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A00F2DE-1E16-E960-EEE2-DA01F507C8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1139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D6D08-B2AF-D7E9-20FE-A4481718DC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9C7B0-D9D5-E6E7-8E9B-4C8F0CE4193B}"/>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F2D19319-6387-B70F-015E-A0DF6F18B5EA}"/>
              </a:ext>
            </a:extLst>
          </p:cNvPr>
          <p:cNvGraphicFramePr>
            <a:graphicFrameLocks noGrp="1"/>
          </p:cNvGraphicFramePr>
          <p:nvPr>
            <p:extLst>
              <p:ext uri="{D42A27DB-BD31-4B8C-83A1-F6EECF244321}">
                <p14:modId xmlns:p14="http://schemas.microsoft.com/office/powerpoint/2010/main" val="2241002021"/>
              </p:ext>
            </p:extLst>
          </p:nvPr>
        </p:nvGraphicFramePr>
        <p:xfrm>
          <a:off x="957446" y="1495032"/>
          <a:ext cx="10277107" cy="4277459"/>
        </p:xfrm>
        <a:graphic>
          <a:graphicData uri="http://schemas.openxmlformats.org/drawingml/2006/table">
            <a:tbl>
              <a:tblPr firstRow="1" bandRow="1">
                <a:tableStyleId>{5940675A-B579-460E-94D1-54222C63F5DA}</a:tableStyleId>
              </a:tblPr>
              <a:tblGrid>
                <a:gridCol w="1389581">
                  <a:extLst>
                    <a:ext uri="{9D8B030D-6E8A-4147-A177-3AD203B41FA5}">
                      <a16:colId xmlns:a16="http://schemas.microsoft.com/office/drawing/2014/main" val="3588077064"/>
                    </a:ext>
                  </a:extLst>
                </a:gridCol>
                <a:gridCol w="1349052">
                  <a:extLst>
                    <a:ext uri="{9D8B030D-6E8A-4147-A177-3AD203B41FA5}">
                      <a16:colId xmlns:a16="http://schemas.microsoft.com/office/drawing/2014/main" val="2921729674"/>
                    </a:ext>
                  </a:extLst>
                </a:gridCol>
                <a:gridCol w="1297495">
                  <a:extLst>
                    <a:ext uri="{9D8B030D-6E8A-4147-A177-3AD203B41FA5}">
                      <a16:colId xmlns:a16="http://schemas.microsoft.com/office/drawing/2014/main" val="3051897964"/>
                    </a:ext>
                  </a:extLst>
                </a:gridCol>
                <a:gridCol w="1261650">
                  <a:extLst>
                    <a:ext uri="{9D8B030D-6E8A-4147-A177-3AD203B41FA5}">
                      <a16:colId xmlns:a16="http://schemas.microsoft.com/office/drawing/2014/main" val="2411906837"/>
                    </a:ext>
                  </a:extLst>
                </a:gridCol>
                <a:gridCol w="1210093">
                  <a:extLst>
                    <a:ext uri="{9D8B030D-6E8A-4147-A177-3AD203B41FA5}">
                      <a16:colId xmlns:a16="http://schemas.microsoft.com/office/drawing/2014/main" val="2317395656"/>
                    </a:ext>
                  </a:extLst>
                </a:gridCol>
                <a:gridCol w="1273782">
                  <a:extLst>
                    <a:ext uri="{9D8B030D-6E8A-4147-A177-3AD203B41FA5}">
                      <a16:colId xmlns:a16="http://schemas.microsoft.com/office/drawing/2014/main" val="1121361333"/>
                    </a:ext>
                  </a:extLst>
                </a:gridCol>
                <a:gridCol w="1270244">
                  <a:extLst>
                    <a:ext uri="{9D8B030D-6E8A-4147-A177-3AD203B41FA5}">
                      <a16:colId xmlns:a16="http://schemas.microsoft.com/office/drawing/2014/main" val="3820744059"/>
                    </a:ext>
                  </a:extLst>
                </a:gridCol>
                <a:gridCol w="1225210">
                  <a:extLst>
                    <a:ext uri="{9D8B030D-6E8A-4147-A177-3AD203B41FA5}">
                      <a16:colId xmlns:a16="http://schemas.microsoft.com/office/drawing/2014/main" val="1638370077"/>
                    </a:ext>
                  </a:extLst>
                </a:gridCol>
              </a:tblGrid>
              <a:tr h="932543">
                <a:tc>
                  <a:txBody>
                    <a:bodyPr/>
                    <a:lstStyle/>
                    <a:p>
                      <a:pPr algn="ctr"/>
                      <a:r>
                        <a:rPr lang="en-US" sz="1200" b="1" dirty="0">
                          <a:solidFill>
                            <a:schemeClr val="bg1">
                              <a:lumMod val="50000"/>
                            </a:schemeClr>
                          </a:solidFill>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solidFill>
                            <a:schemeClr val="bg1">
                              <a:lumMod val="50000"/>
                            </a:schemeClr>
                          </a:solidFill>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3.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5.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6-8.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80003">
                        <a:alpha val="40000"/>
                      </a:srgbClr>
                    </a:solidFill>
                  </a:tcPr>
                </a:tc>
                <a:tc>
                  <a:txBody>
                    <a:bodyPr/>
                    <a:lstStyle/>
                    <a:p>
                      <a:pPr algn="ctr"/>
                      <a:r>
                        <a:rPr lang="en-US" sz="1200" b="1" dirty="0">
                          <a:latin typeface="Helvetica" pitchFamily="2" charset="0"/>
                        </a:rPr>
                        <a:t>9-12. Data management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13. Bonus! – Globus transfers</a:t>
                      </a:r>
                    </a:p>
                  </a:txBody>
                  <a:tcP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030A0">
                        <a:alpha val="41961"/>
                      </a:srgbClr>
                    </a:solidFill>
                  </a:tcPr>
                </a:tc>
                <a:extLst>
                  <a:ext uri="{0D108BD9-81ED-4DB2-BD59-A6C34878D82A}">
                    <a16:rowId xmlns:a16="http://schemas.microsoft.com/office/drawing/2014/main" val="405070096"/>
                  </a:ext>
                </a:extLst>
              </a:tr>
              <a:tr h="373116">
                <a:tc>
                  <a:txBody>
                    <a:bodyPr/>
                    <a:lstStyle/>
                    <a:p>
                      <a:r>
                        <a:rPr lang="en-US" sz="1100" dirty="0">
                          <a:solidFill>
                            <a:schemeClr val="bg1">
                              <a:lumMod val="50000"/>
                            </a:schemeClr>
                          </a:solidFill>
                          <a:latin typeface="Helvetica" pitchFamily="2" charset="0"/>
                        </a:rPr>
                        <a:t>10/29/2025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100" dirty="0">
                          <a:solidFill>
                            <a:schemeClr val="bg1">
                              <a:lumMod val="50000"/>
                            </a:schemeClr>
                          </a:solidFill>
                          <a:latin typeface="Helvetica" pitchFamily="2" charset="0"/>
                        </a:rPr>
                        <a:t>11/12/2025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Helvetica" pitchFamily="2" charset="0"/>
                        </a:rPr>
                        <a:t>11/19/2025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Helvetica" pitchFamily="2" charset="0"/>
                        </a:rPr>
                        <a:t>12/03/2025</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Helvetica" pitchFamily="2" charset="0"/>
                        </a:rPr>
                        <a:t>TBD 2026</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Helvetica" pitchFamily="2" charset="0"/>
                        </a:rPr>
                        <a:t>TBD 2026</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80003">
                        <a:alpha val="21961"/>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Helvetica" pitchFamily="2" charset="0"/>
                        </a:rPr>
                        <a:t>TBD 2026</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Helvetica" pitchFamily="2" charset="0"/>
                        </a:rPr>
                        <a:t>TBD 2026</a:t>
                      </a:r>
                    </a:p>
                  </a:txBody>
                  <a:tcP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030A0">
                        <a:alpha val="21961"/>
                      </a:srgbClr>
                    </a:solidFill>
                  </a:tcPr>
                </a:tc>
                <a:extLst>
                  <a:ext uri="{0D108BD9-81ED-4DB2-BD59-A6C34878D82A}">
                    <a16:rowId xmlns:a16="http://schemas.microsoft.com/office/drawing/2014/main" val="357620817"/>
                  </a:ext>
                </a:extLst>
              </a:tr>
              <a:tr h="2303978">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Core HPC Concepts (CPU/GPU, Node/Core)</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Navigate the Hazel HPC Environment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Get started with obtaining a HPC account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solidFill>
                            <a:schemeClr val="bg1">
                              <a:lumMod val="50000"/>
                            </a:schemeClr>
                          </a:solidFill>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solidFill>
                            <a:schemeClr val="bg1">
                              <a:lumMod val="50000"/>
                            </a:schemeClr>
                          </a:solidFill>
                          <a:latin typeface="Helvetica" pitchFamily="2" charset="0"/>
                        </a:rPr>
                        <a:t>Understand LSF job submission </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Running an interactive job</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Create a first job script and submit it</a:t>
                      </a:r>
                    </a:p>
                    <a:p>
                      <a:pPr marL="171450" indent="-171450">
                        <a:buFont typeface="Arial" panose="020B0604020202020204" pitchFamily="34" charset="0"/>
                        <a:buChar char="•"/>
                      </a:pPr>
                      <a:r>
                        <a:rPr lang="en-US" sz="1050" dirty="0">
                          <a:solidFill>
                            <a:schemeClr val="bg1">
                              <a:lumMod val="50000"/>
                            </a:schemeClr>
                          </a:solidFill>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p>
                      <a:pPr marL="171450" indent="-171450">
                        <a:buFont typeface="Arial" panose="020B0604020202020204" pitchFamily="34" charset="0"/>
                        <a:buChar char="•"/>
                      </a:pPr>
                      <a:endParaRPr lang="en-US" sz="1050"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r>
                        <a:rPr lang="en-US" sz="1050" dirty="0">
                          <a:latin typeface="Helvetica" pitchFamily="2" charset="0"/>
                        </a:rPr>
                        <a:t>Learn how to load software using: </a:t>
                      </a:r>
                    </a:p>
                    <a:p>
                      <a:pPr marL="171450" indent="-171450">
                        <a:buFont typeface="Arial" panose="020B0604020202020204" pitchFamily="34" charset="0"/>
                        <a:buChar char="•"/>
                      </a:pPr>
                      <a:r>
                        <a:rPr lang="en-US" sz="1050" dirty="0">
                          <a:latin typeface="Helvetica" pitchFamily="2" charset="0"/>
                        </a:rPr>
                        <a:t>Modules</a:t>
                      </a:r>
                    </a:p>
                    <a:p>
                      <a:pPr marL="171450" indent="-171450">
                        <a:buFont typeface="Arial" panose="020B0604020202020204" pitchFamily="34" charset="0"/>
                        <a:buChar char="•"/>
                      </a:pPr>
                      <a:r>
                        <a:rPr lang="en-US" sz="1050" dirty="0">
                          <a:latin typeface="Helvetica" pitchFamily="2" charset="0"/>
                        </a:rPr>
                        <a:t>Containers</a:t>
                      </a:r>
                    </a:p>
                    <a:p>
                      <a:pPr marL="171450" indent="-171450">
                        <a:buFont typeface="Arial" panose="020B0604020202020204" pitchFamily="34" charset="0"/>
                        <a:buChar char="•"/>
                      </a:pPr>
                      <a:r>
                        <a:rPr lang="en-US" sz="1050" dirty="0">
                          <a:latin typeface="Helvetica" pitchFamily="2" charset="0"/>
                        </a:rPr>
                        <a:t>Conda environments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80003">
                        <a:alpha val="21961"/>
                      </a:srgbClr>
                    </a:solidFill>
                  </a:tcPr>
                </a:tc>
                <a:tc>
                  <a:txBody>
                    <a:bodyPr/>
                    <a:lstStyle/>
                    <a:p>
                      <a:r>
                        <a:rPr lang="en-US" sz="1050" dirty="0">
                          <a:latin typeface="Helvetica" pitchFamily="2" charset="0"/>
                        </a:rPr>
                        <a:t>Manage data across the Hazel storage system. 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about the advantages of using Globus transfers</a:t>
                      </a:r>
                    </a:p>
                    <a:p>
                      <a:pPr marL="171450" indent="-171450">
                        <a:buFont typeface="Arial" panose="020B0604020202020204" pitchFamily="34" charset="0"/>
                        <a:buChar char="•"/>
                      </a:pPr>
                      <a:r>
                        <a:rPr lang="en-US" sz="1050" dirty="0">
                          <a:latin typeface="Helvetica" pitchFamily="2" charset="0"/>
                        </a:rPr>
                        <a:t>Understand endpoints</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a transfer between local and HPC</a:t>
                      </a:r>
                    </a:p>
                    <a:p>
                      <a:pPr marL="171450" indent="-171450">
                        <a:buFont typeface="Arial" panose="020B0604020202020204" pitchFamily="34" charset="0"/>
                        <a:buChar char="•"/>
                      </a:pPr>
                      <a:r>
                        <a:rPr lang="en-US" sz="1050" dirty="0">
                          <a:latin typeface="Helvetica" pitchFamily="2" charset="0"/>
                        </a:rPr>
                        <a:t>Perform a transfer to/from Google drive</a:t>
                      </a:r>
                    </a:p>
                  </a:txBody>
                  <a:tcP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7030A0">
                        <a:alpha val="21961"/>
                      </a:srgb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31085567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1661</TotalTime>
  <Words>5654</Words>
  <Application>Microsoft Macintosh PowerPoint</Application>
  <PresentationFormat>Widescreen</PresentationFormat>
  <Paragraphs>774</Paragraphs>
  <Slides>54</Slides>
  <Notes>17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54</vt:i4>
      </vt:variant>
    </vt:vector>
  </HeadingPairs>
  <TitlesOfParts>
    <vt:vector size="65" baseType="lpstr">
      <vt:lpstr>Arial</vt:lpstr>
      <vt:lpstr>Calibri</vt:lpstr>
      <vt:lpstr>Calibri Light</vt:lpstr>
      <vt:lpstr>Courier New</vt:lpstr>
      <vt:lpstr>Helvetica</vt:lpstr>
      <vt:lpstr>Helvetica Light</vt:lpstr>
      <vt:lpstr>Helvetica Light Oblique</vt:lpstr>
      <vt:lpstr>Menlo</vt:lpstr>
      <vt:lpstr>system-ui</vt:lpstr>
      <vt:lpstr>Wingdings</vt:lpstr>
      <vt:lpstr>Office Theme</vt:lpstr>
      <vt:lpstr>BRC workshops: Hazel HPC</vt:lpstr>
      <vt:lpstr>The bioinformatics data challenge</vt:lpstr>
      <vt:lpstr>Workshop Structure</vt:lpstr>
      <vt:lpstr>Leave us your feedback!</vt:lpstr>
      <vt:lpstr>Workshop Structure</vt:lpstr>
      <vt:lpstr>Workshop logistics</vt:lpstr>
      <vt:lpstr>Workshop logistics</vt:lpstr>
      <vt:lpstr>PowerPoint Presentation</vt:lpstr>
      <vt:lpstr>What is an HPC?</vt:lpstr>
      <vt:lpstr>What is an HPC?</vt:lpstr>
      <vt:lpstr>What is an HPC?</vt:lpstr>
      <vt:lpstr>CPU vs. GPU</vt:lpstr>
      <vt:lpstr>CPU vs. GPU</vt:lpstr>
      <vt:lpstr>Node vs. core</vt:lpstr>
      <vt:lpstr>Node vs. core</vt:lpstr>
      <vt:lpstr>Node vs. core</vt:lpstr>
      <vt:lpstr>Node vs. core</vt:lpstr>
      <vt:lpstr>Node vs. core</vt:lpstr>
      <vt:lpstr>Node vs. core</vt:lpstr>
      <vt:lpstr>Memory vs. Storage</vt:lpstr>
      <vt:lpstr>Memory vs. Storage</vt:lpstr>
      <vt:lpstr>Memory vs. Storage</vt:lpstr>
      <vt:lpstr>Memory vs. Storage</vt:lpstr>
      <vt:lpstr>Memory vs. Storage</vt:lpstr>
      <vt:lpstr>Memory vs. Storage</vt:lpstr>
      <vt:lpstr>PowerPoint Presentation</vt:lpstr>
      <vt:lpstr>Hazel HPC structure</vt:lpstr>
      <vt:lpstr>Hazel HPC structure</vt:lpstr>
      <vt:lpstr>Hazel HPC structure</vt:lpstr>
      <vt:lpstr>Hazel HPC structure</vt:lpstr>
      <vt:lpstr>Hazel HPC structure</vt:lpstr>
      <vt:lpstr>Hazel HPC Storage</vt:lpstr>
      <vt:lpstr>Hazel HPC Storage</vt:lpstr>
      <vt:lpstr>Hazel HPC Storage</vt:lpstr>
      <vt:lpstr>Hazel HPC Storage</vt:lpstr>
      <vt:lpstr>Hazel HPC Storage</vt:lpstr>
      <vt:lpstr>Hazel HPC Storage</vt:lpstr>
      <vt:lpstr>Hazel HPC Storage</vt:lpstr>
      <vt:lpstr>PowerPoint Presentation</vt:lpstr>
      <vt:lpstr>Step 1. Login in</vt:lpstr>
      <vt:lpstr>Step 2. Transferring files</vt:lpstr>
      <vt:lpstr>First week checklist</vt:lpstr>
      <vt:lpstr>PowerPoint Presentation</vt:lpstr>
      <vt:lpstr>Leave us your feedback!</vt:lpstr>
      <vt:lpstr>Bonus! Basics of Unix</vt:lpstr>
      <vt:lpstr>Bonus! Basics of Unix</vt:lpstr>
      <vt:lpstr>Leave us your feedback!</vt:lpstr>
      <vt:lpstr>PowerPoint Presentation</vt:lpstr>
      <vt:lpstr>Workshop Structure</vt:lpstr>
      <vt:lpstr>Your thoughts</vt:lpstr>
      <vt:lpstr>Why python did not use GPU despite being in GPU node</vt:lpstr>
      <vt:lpstr>PowerPoint Presentation</vt:lpstr>
      <vt:lpstr>PowerPoint Presentation</vt:lpstr>
      <vt:lpstr>Workshop Structure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24</cp:revision>
  <dcterms:created xsi:type="dcterms:W3CDTF">2025-10-27T16:12:08Z</dcterms:created>
  <dcterms:modified xsi:type="dcterms:W3CDTF">2026-01-20T19:28:18Z</dcterms:modified>
</cp:coreProperties>
</file>