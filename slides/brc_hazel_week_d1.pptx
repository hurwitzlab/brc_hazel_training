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9" r:id="rId3"/>
    <p:sldId id="301" r:id="rId4"/>
    <p:sldId id="291" r:id="rId5"/>
    <p:sldId id="258" r:id="rId6"/>
    <p:sldId id="296" r:id="rId7"/>
    <p:sldId id="260" r:id="rId8"/>
    <p:sldId id="33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306" r:id="rId43"/>
    <p:sldId id="318" r:id="rId44"/>
    <p:sldId id="319" r:id="rId45"/>
    <p:sldId id="320" r:id="rId46"/>
    <p:sldId id="321" r:id="rId47"/>
    <p:sldId id="322" r:id="rId48"/>
    <p:sldId id="323" r:id="rId49"/>
    <p:sldId id="324" r:id="rId50"/>
    <p:sldId id="327" r:id="rId51"/>
    <p:sldId id="325" r:id="rId52"/>
    <p:sldId id="326" r:id="rId53"/>
    <p:sldId id="328" r:id="rId54"/>
    <p:sldId id="329" r:id="rId55"/>
    <p:sldId id="293" r:id="rId56"/>
    <p:sldId id="331" r:id="rId57"/>
    <p:sldId id="317"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CE9178"/>
    <a:srgbClr val="DCDDAA"/>
    <a:srgbClr val="9DDDFE"/>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74"/>
    <p:restoredTop sz="94832"/>
  </p:normalViewPr>
  <p:slideViewPr>
    <p:cSldViewPr snapToGrid="0">
      <p:cViewPr varScale="1">
        <p:scale>
          <a:sx n="128" d="100"/>
          <a:sy n="128" d="100"/>
        </p:scale>
        <p:origin x="78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47</a:t>
            </a:fld>
            <a:endParaRPr lang="en-US"/>
          </a:p>
        </p:txBody>
      </p:sp>
    </p:spTree>
    <p:extLst>
      <p:ext uri="{BB962C8B-B14F-4D97-AF65-F5344CB8AC3E}">
        <p14:creationId xmlns:p14="http://schemas.microsoft.com/office/powerpoint/2010/main" val="3420184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0996-4000-ECCE-F980-92BE78CB9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79178-B2A5-724A-59EC-0FEDD4BB6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536E5-2427-73D8-F01F-CC5A330E25F6}"/>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A3167574-C57B-9D99-1823-42BFB7BF4736}"/>
              </a:ext>
            </a:extLst>
          </p:cNvPr>
          <p:cNvSpPr>
            <a:spLocks noGrp="1"/>
          </p:cNvSpPr>
          <p:nvPr>
            <p:ph type="sldNum" sz="quarter" idx="5"/>
          </p:nvPr>
        </p:nvSpPr>
        <p:spPr/>
        <p:txBody>
          <a:bodyPr/>
          <a:lstStyle/>
          <a:p>
            <a:fld id="{13FC26C8-C37B-D543-9AB9-4FE91B5DFE38}" type="slidenum">
              <a:rPr lang="en-US" smtClean="0"/>
              <a:t>48</a:t>
            </a:fld>
            <a:endParaRPr lang="en-US"/>
          </a:p>
        </p:txBody>
      </p:sp>
    </p:spTree>
    <p:extLst>
      <p:ext uri="{BB962C8B-B14F-4D97-AF65-F5344CB8AC3E}">
        <p14:creationId xmlns:p14="http://schemas.microsoft.com/office/powerpoint/2010/main" val="1361302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DC2F9-B183-9277-B697-1C8830525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6DD94-D5A3-55C7-9676-8A534B30D8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787D1-91A8-A2CF-CC46-E6A2160D89F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326C1A7A-B291-4EAB-BDD7-4E260F702B0B}"/>
              </a:ext>
            </a:extLst>
          </p:cNvPr>
          <p:cNvSpPr>
            <a:spLocks noGrp="1"/>
          </p:cNvSpPr>
          <p:nvPr>
            <p:ph type="sldNum" sz="quarter" idx="5"/>
          </p:nvPr>
        </p:nvSpPr>
        <p:spPr/>
        <p:txBody>
          <a:bodyPr/>
          <a:lstStyle/>
          <a:p>
            <a:fld id="{13FC26C8-C37B-D543-9AB9-4FE91B5DFE38}" type="slidenum">
              <a:rPr lang="en-US" smtClean="0"/>
              <a:t>49</a:t>
            </a:fld>
            <a:endParaRPr lang="en-US"/>
          </a:p>
        </p:txBody>
      </p:sp>
    </p:spTree>
    <p:extLst>
      <p:ext uri="{BB962C8B-B14F-4D97-AF65-F5344CB8AC3E}">
        <p14:creationId xmlns:p14="http://schemas.microsoft.com/office/powerpoint/2010/main" val="3917022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2107D-4AAE-0664-B7E0-803D0E2A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4E6EB-C839-2ABE-93A2-986E261F4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EF0CE-7AF5-5715-6F13-D89E39461D20}"/>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F5600F9-4C52-2E09-4234-C913F3498835}"/>
              </a:ext>
            </a:extLst>
          </p:cNvPr>
          <p:cNvSpPr>
            <a:spLocks noGrp="1"/>
          </p:cNvSpPr>
          <p:nvPr>
            <p:ph type="sldNum" sz="quarter" idx="5"/>
          </p:nvPr>
        </p:nvSpPr>
        <p:spPr/>
        <p:txBody>
          <a:bodyPr/>
          <a:lstStyle/>
          <a:p>
            <a:fld id="{13FC26C8-C37B-D543-9AB9-4FE91B5DFE38}" type="slidenum">
              <a:rPr lang="en-US" smtClean="0"/>
              <a:t>50</a:t>
            </a:fld>
            <a:endParaRPr lang="en-US"/>
          </a:p>
        </p:txBody>
      </p:sp>
    </p:spTree>
    <p:extLst>
      <p:ext uri="{BB962C8B-B14F-4D97-AF65-F5344CB8AC3E}">
        <p14:creationId xmlns:p14="http://schemas.microsoft.com/office/powerpoint/2010/main" val="40119651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F96E6-6032-0F98-AD89-A1DDA396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41AE6-0944-B2CB-EC23-0D863F880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793AA-B7EE-9C8D-3ABC-62D463FEEA3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3C87FE7-6163-F664-20B2-350D00688DF9}"/>
              </a:ext>
            </a:extLst>
          </p:cNvPr>
          <p:cNvSpPr>
            <a:spLocks noGrp="1"/>
          </p:cNvSpPr>
          <p:nvPr>
            <p:ph type="sldNum" sz="quarter" idx="5"/>
          </p:nvPr>
        </p:nvSpPr>
        <p:spPr/>
        <p:txBody>
          <a:bodyPr/>
          <a:lstStyle/>
          <a:p>
            <a:fld id="{13FC26C8-C37B-D543-9AB9-4FE91B5DFE38}" type="slidenum">
              <a:rPr lang="en-US" smtClean="0"/>
              <a:t>51</a:t>
            </a:fld>
            <a:endParaRPr lang="en-US"/>
          </a:p>
        </p:txBody>
      </p:sp>
    </p:spTree>
    <p:extLst>
      <p:ext uri="{BB962C8B-B14F-4D97-AF65-F5344CB8AC3E}">
        <p14:creationId xmlns:p14="http://schemas.microsoft.com/office/powerpoint/2010/main" val="1523775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C040-D9D4-FA0B-0937-71595BD69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24090-203A-04D2-B5EE-7A09E7F90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212338-F8D4-3926-BEBF-094AE0CC598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0AD6F7F4-D8F6-AD07-047B-4C306A20CD35}"/>
              </a:ext>
            </a:extLst>
          </p:cNvPr>
          <p:cNvSpPr>
            <a:spLocks noGrp="1"/>
          </p:cNvSpPr>
          <p:nvPr>
            <p:ph type="sldNum" sz="quarter" idx="5"/>
          </p:nvPr>
        </p:nvSpPr>
        <p:spPr/>
        <p:txBody>
          <a:bodyPr/>
          <a:lstStyle/>
          <a:p>
            <a:fld id="{13FC26C8-C37B-D543-9AB9-4FE91B5DFE38}" type="slidenum">
              <a:rPr lang="en-US" smtClean="0"/>
              <a:t>52</a:t>
            </a:fld>
            <a:endParaRPr lang="en-US"/>
          </a:p>
        </p:txBody>
      </p:sp>
    </p:spTree>
    <p:extLst>
      <p:ext uri="{BB962C8B-B14F-4D97-AF65-F5344CB8AC3E}">
        <p14:creationId xmlns:p14="http://schemas.microsoft.com/office/powerpoint/2010/main" val="2360146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3E413-1BD6-554D-1629-5C00BC543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6F5766-3FEC-4BDB-4194-70FADDE62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4D663-1975-432F-863C-EDACF97A364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B8EEC18-972B-D122-968C-559953E9163A}"/>
              </a:ext>
            </a:extLst>
          </p:cNvPr>
          <p:cNvSpPr>
            <a:spLocks noGrp="1"/>
          </p:cNvSpPr>
          <p:nvPr>
            <p:ph type="sldNum" sz="quarter" idx="5"/>
          </p:nvPr>
        </p:nvSpPr>
        <p:spPr/>
        <p:txBody>
          <a:bodyPr/>
          <a:lstStyle/>
          <a:p>
            <a:fld id="{13FC26C8-C37B-D543-9AB9-4FE91B5DFE38}" type="slidenum">
              <a:rPr lang="en-US" smtClean="0"/>
              <a:t>53</a:t>
            </a:fld>
            <a:endParaRPr lang="en-US"/>
          </a:p>
        </p:txBody>
      </p:sp>
    </p:spTree>
    <p:extLst>
      <p:ext uri="{BB962C8B-B14F-4D97-AF65-F5344CB8AC3E}">
        <p14:creationId xmlns:p14="http://schemas.microsoft.com/office/powerpoint/2010/main" val="4000280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jpe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49.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About us</a:t>
            </a:r>
          </a:p>
        </p:txBody>
      </p:sp>
      <p:pic>
        <p:nvPicPr>
          <p:cNvPr id="4" name="Picture 3">
            <a:extLst>
              <a:ext uri="{FF2B5EF4-FFF2-40B4-BE49-F238E27FC236}">
                <a16:creationId xmlns:a16="http://schemas.microsoft.com/office/drawing/2014/main" id="{2ED42ADC-1E90-4CC2-BBF8-31056C8728AC}"/>
              </a:ext>
            </a:extLst>
          </p:cNvPr>
          <p:cNvPicPr>
            <a:picLocks noChangeAspect="1"/>
          </p:cNvPicPr>
          <p:nvPr/>
        </p:nvPicPr>
        <p:blipFill>
          <a:blip r:embed="rId2"/>
          <a:stretch>
            <a:fillRect/>
          </a:stretch>
        </p:blipFill>
        <p:spPr>
          <a:xfrm>
            <a:off x="1113052" y="1730237"/>
            <a:ext cx="1816221" cy="1808307"/>
          </a:xfrm>
          <a:prstGeom prst="rect">
            <a:avLst/>
          </a:prstGeom>
        </p:spPr>
      </p:pic>
      <p:pic>
        <p:nvPicPr>
          <p:cNvPr id="6" name="Picture 5">
            <a:extLst>
              <a:ext uri="{FF2B5EF4-FFF2-40B4-BE49-F238E27FC236}">
                <a16:creationId xmlns:a16="http://schemas.microsoft.com/office/drawing/2014/main" id="{809B6446-4E53-65DD-0664-C84668116D9E}"/>
              </a:ext>
            </a:extLst>
          </p:cNvPr>
          <p:cNvPicPr>
            <a:picLocks noChangeAspect="1"/>
          </p:cNvPicPr>
          <p:nvPr/>
        </p:nvPicPr>
        <p:blipFill>
          <a:blip r:embed="rId3"/>
          <a:stretch>
            <a:fillRect/>
          </a:stretch>
        </p:blipFill>
        <p:spPr>
          <a:xfrm>
            <a:off x="4529326" y="1730237"/>
            <a:ext cx="1959428" cy="1768758"/>
          </a:xfrm>
          <a:prstGeom prst="rect">
            <a:avLst/>
          </a:prstGeom>
        </p:spPr>
      </p:pic>
      <p:sp>
        <p:nvSpPr>
          <p:cNvPr id="7" name="TextBox 6">
            <a:extLst>
              <a:ext uri="{FF2B5EF4-FFF2-40B4-BE49-F238E27FC236}">
                <a16:creationId xmlns:a16="http://schemas.microsoft.com/office/drawing/2014/main" id="{0255EDCA-52BF-4511-1901-DED0F798E8F0}"/>
              </a:ext>
            </a:extLst>
          </p:cNvPr>
          <p:cNvSpPr txBox="1"/>
          <p:nvPr/>
        </p:nvSpPr>
        <p:spPr>
          <a:xfrm>
            <a:off x="597727" y="3585720"/>
            <a:ext cx="2846870" cy="830997"/>
          </a:xfrm>
          <a:prstGeom prst="rect">
            <a:avLst/>
          </a:prstGeom>
          <a:noFill/>
        </p:spPr>
        <p:txBody>
          <a:bodyPr wrap="none" rtlCol="0">
            <a:spAutoFit/>
          </a:bodyPr>
          <a:lstStyle/>
          <a:p>
            <a:pPr algn="ctr"/>
            <a:r>
              <a:rPr lang="en-US" sz="1600" b="1" dirty="0"/>
              <a:t>Bioinformatics Research Center</a:t>
            </a:r>
          </a:p>
          <a:p>
            <a:pPr algn="ctr"/>
            <a:r>
              <a:rPr lang="en-US" sz="1400" dirty="0"/>
              <a:t>Ricks Hall (3d floor)</a:t>
            </a:r>
          </a:p>
          <a:p>
            <a:pPr algn="ctr"/>
            <a:endParaRPr lang="en-US" sz="1600" dirty="0"/>
          </a:p>
        </p:txBody>
      </p:sp>
      <p:sp>
        <p:nvSpPr>
          <p:cNvPr id="8" name="TextBox 7">
            <a:extLst>
              <a:ext uri="{FF2B5EF4-FFF2-40B4-BE49-F238E27FC236}">
                <a16:creationId xmlns:a16="http://schemas.microsoft.com/office/drawing/2014/main" id="{F592B8E1-1F09-1B87-A579-67E742415152}"/>
              </a:ext>
            </a:extLst>
          </p:cNvPr>
          <p:cNvSpPr txBox="1"/>
          <p:nvPr/>
        </p:nvSpPr>
        <p:spPr>
          <a:xfrm>
            <a:off x="4320670" y="3582100"/>
            <a:ext cx="2376740" cy="1107996"/>
          </a:xfrm>
          <a:prstGeom prst="rect">
            <a:avLst/>
          </a:prstGeom>
          <a:noFill/>
        </p:spPr>
        <p:txBody>
          <a:bodyPr wrap="none" rtlCol="0">
            <a:spAutoFit/>
          </a:bodyPr>
          <a:lstStyle/>
          <a:p>
            <a:pPr algn="ctr"/>
            <a:r>
              <a:rPr lang="en-US" sz="1400" b="1" dirty="0"/>
              <a:t>María (Mery) Touceda-Suárez</a:t>
            </a:r>
          </a:p>
          <a:p>
            <a:pPr algn="ctr"/>
            <a:r>
              <a:rPr lang="en-US" sz="1200" dirty="0"/>
              <a:t>Postdoctoral researcher</a:t>
            </a:r>
          </a:p>
          <a:p>
            <a:pPr algn="ctr"/>
            <a:r>
              <a:rPr lang="en-US" sz="1200" dirty="0"/>
              <a:t>Ricks Hall – Room 357A</a:t>
            </a:r>
          </a:p>
          <a:p>
            <a:pPr algn="ctr"/>
            <a:r>
              <a:rPr lang="en-US" sz="1200" dirty="0" err="1"/>
              <a:t>mtouced@ncsu.edu</a:t>
            </a:r>
            <a:endParaRPr lang="en-US" sz="1200" dirty="0"/>
          </a:p>
          <a:p>
            <a:pPr algn="ctr"/>
            <a:endParaRPr lang="en-US" sz="1400" dirty="0"/>
          </a:p>
        </p:txBody>
      </p:sp>
      <p:sp>
        <p:nvSpPr>
          <p:cNvPr id="12" name="TextBox 11">
            <a:extLst>
              <a:ext uri="{FF2B5EF4-FFF2-40B4-BE49-F238E27FC236}">
                <a16:creationId xmlns:a16="http://schemas.microsoft.com/office/drawing/2014/main" id="{2727A6F7-8110-B1F6-023A-186084F1B9D0}"/>
              </a:ext>
            </a:extLst>
          </p:cNvPr>
          <p:cNvSpPr txBox="1"/>
          <p:nvPr/>
        </p:nvSpPr>
        <p:spPr>
          <a:xfrm>
            <a:off x="9765491" y="3582227"/>
            <a:ext cx="1560299" cy="1107996"/>
          </a:xfrm>
          <a:prstGeom prst="rect">
            <a:avLst/>
          </a:prstGeom>
          <a:noFill/>
        </p:spPr>
        <p:txBody>
          <a:bodyPr wrap="none" rtlCol="0">
            <a:spAutoFit/>
          </a:bodyPr>
          <a:lstStyle/>
          <a:p>
            <a:pPr algn="ctr"/>
            <a:r>
              <a:rPr lang="en-US" sz="1400" b="1" dirty="0"/>
              <a:t>Bonnie L. Hurwitz</a:t>
            </a:r>
          </a:p>
          <a:p>
            <a:pPr algn="ctr"/>
            <a:r>
              <a:rPr lang="en-US" sz="1200" dirty="0"/>
              <a:t>Associate Professor</a:t>
            </a:r>
          </a:p>
          <a:p>
            <a:pPr algn="ctr"/>
            <a:r>
              <a:rPr lang="en-US" sz="1200" dirty="0"/>
              <a:t>Ricks Hall – Room 334</a:t>
            </a:r>
          </a:p>
          <a:p>
            <a:pPr algn="ctr"/>
            <a:r>
              <a:rPr lang="en-US" sz="1200" dirty="0" err="1"/>
              <a:t>blhurwit@ncsu.edu</a:t>
            </a:r>
            <a:endParaRPr lang="en-US" sz="1200" dirty="0"/>
          </a:p>
          <a:p>
            <a:pPr algn="ctr"/>
            <a:endParaRPr lang="en-US" sz="1400" dirty="0"/>
          </a:p>
        </p:txBody>
      </p:sp>
      <p:pic>
        <p:nvPicPr>
          <p:cNvPr id="1026" name="Picture 2" descr="Bonnie Hurwitz | Department of Biological Sciences">
            <a:extLst>
              <a:ext uri="{FF2B5EF4-FFF2-40B4-BE49-F238E27FC236}">
                <a16:creationId xmlns:a16="http://schemas.microsoft.com/office/drawing/2014/main" id="{1B4406F5-F071-989A-6A4D-2DDAA58487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849" r="11887"/>
          <a:stretch>
            <a:fillRect/>
          </a:stretch>
        </p:blipFill>
        <p:spPr bwMode="auto">
          <a:xfrm>
            <a:off x="9565927" y="1731279"/>
            <a:ext cx="1959428" cy="17677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8182010A-E980-F010-6D30-CC7D28F97979}"/>
              </a:ext>
            </a:extLst>
          </p:cNvPr>
          <p:cNvPicPr>
            <a:picLocks noChangeAspect="1"/>
          </p:cNvPicPr>
          <p:nvPr/>
        </p:nvPicPr>
        <p:blipFill>
          <a:blip r:embed="rId5"/>
          <a:stretch>
            <a:fillRect/>
          </a:stretch>
        </p:blipFill>
        <p:spPr>
          <a:xfrm>
            <a:off x="7349225" y="1690688"/>
            <a:ext cx="1356230" cy="1808307"/>
          </a:xfrm>
          <a:prstGeom prst="rect">
            <a:avLst/>
          </a:prstGeom>
        </p:spPr>
      </p:pic>
      <p:sp>
        <p:nvSpPr>
          <p:cNvPr id="16" name="TextBox 15">
            <a:extLst>
              <a:ext uri="{FF2B5EF4-FFF2-40B4-BE49-F238E27FC236}">
                <a16:creationId xmlns:a16="http://schemas.microsoft.com/office/drawing/2014/main" id="{3A6B9800-1AA3-D0BD-A71F-89AA688CCCCE}"/>
              </a:ext>
            </a:extLst>
          </p:cNvPr>
          <p:cNvSpPr txBox="1"/>
          <p:nvPr/>
        </p:nvSpPr>
        <p:spPr>
          <a:xfrm>
            <a:off x="7192015" y="3582227"/>
            <a:ext cx="1670649" cy="861774"/>
          </a:xfrm>
          <a:prstGeom prst="rect">
            <a:avLst/>
          </a:prstGeom>
          <a:noFill/>
        </p:spPr>
        <p:txBody>
          <a:bodyPr wrap="none" rtlCol="0">
            <a:spAutoFit/>
          </a:bodyPr>
          <a:lstStyle/>
          <a:p>
            <a:pPr algn="ctr"/>
            <a:r>
              <a:rPr lang="en-US" sz="1400" b="1" dirty="0"/>
              <a:t>Seth Weaver</a:t>
            </a:r>
          </a:p>
          <a:p>
            <a:pPr algn="ctr"/>
            <a:r>
              <a:rPr lang="en-US" sz="1200" dirty="0"/>
              <a:t>Computational Scientist</a:t>
            </a:r>
          </a:p>
          <a:p>
            <a:pPr algn="ctr"/>
            <a:r>
              <a:rPr lang="en-US" sz="1200" dirty="0"/>
              <a:t>Ricks Hall – Room </a:t>
            </a:r>
          </a:p>
          <a:p>
            <a:pPr algn="ctr"/>
            <a:r>
              <a:rPr lang="en-US" sz="1200" dirty="0"/>
              <a:t>sdweave2@ncsu.edu</a:t>
            </a:r>
          </a:p>
        </p:txBody>
      </p:sp>
      <p:sp>
        <p:nvSpPr>
          <p:cNvPr id="22" name="TextBox 21">
            <a:extLst>
              <a:ext uri="{FF2B5EF4-FFF2-40B4-BE49-F238E27FC236}">
                <a16:creationId xmlns:a16="http://schemas.microsoft.com/office/drawing/2014/main" id="{7337EBB3-C0A0-0199-13CA-C40AFC556A9C}"/>
              </a:ext>
            </a:extLst>
          </p:cNvPr>
          <p:cNvSpPr txBox="1"/>
          <p:nvPr/>
        </p:nvSpPr>
        <p:spPr>
          <a:xfrm>
            <a:off x="3000723" y="5167312"/>
            <a:ext cx="6190554" cy="1200329"/>
          </a:xfrm>
          <a:prstGeom prst="rect">
            <a:avLst/>
          </a:prstGeom>
          <a:solidFill>
            <a:srgbClr val="FF0000">
              <a:alpha val="21176"/>
            </a:srgbClr>
          </a:solidFill>
          <a:ln w="28575">
            <a:solidFill>
              <a:srgbClr val="C00000"/>
            </a:solidFill>
          </a:ln>
        </p:spPr>
        <p:txBody>
          <a:bodyPr wrap="square" rtlCol="0">
            <a:spAutoFit/>
          </a:bodyPr>
          <a:lstStyle/>
          <a:p>
            <a:r>
              <a:rPr lang="en-US" b="1" dirty="0"/>
              <a:t>Stay tuned for: </a:t>
            </a:r>
          </a:p>
          <a:p>
            <a:pPr marL="285750" indent="-285750">
              <a:buFont typeface="Arial" panose="020B0604020202020204" pitchFamily="34" charset="0"/>
              <a:buChar char="•"/>
            </a:pPr>
            <a:r>
              <a:rPr lang="en-US" dirty="0"/>
              <a:t>Our new website!</a:t>
            </a:r>
          </a:p>
          <a:p>
            <a:pPr marL="285750" indent="-285750">
              <a:buFont typeface="Arial" panose="020B0604020202020204" pitchFamily="34" charset="0"/>
              <a:buChar char="•"/>
            </a:pPr>
            <a:r>
              <a:rPr lang="en-US" dirty="0"/>
              <a:t>Hazel Training Week – Fall Session: August 11th-14</a:t>
            </a:r>
            <a:r>
              <a:rPr lang="en-US" baseline="30000" dirty="0"/>
              <a:t>th</a:t>
            </a:r>
          </a:p>
          <a:p>
            <a:pPr marL="285750" indent="-285750">
              <a:buFont typeface="Arial" panose="020B0604020202020204" pitchFamily="34" charset="0"/>
              <a:buChar char="•"/>
            </a:pPr>
            <a:r>
              <a:rPr lang="en-US" dirty="0"/>
              <a:t>... Introduction to </a:t>
            </a:r>
            <a:r>
              <a:rPr lang="en-US" dirty="0" err="1"/>
              <a:t>Nextflow</a:t>
            </a:r>
            <a:r>
              <a:rPr lang="en-US" dirty="0"/>
              <a:t>, Python, and more!</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2528438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76D1-CC64-6C7C-1EF7-A72FEF48A5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2D505A-798F-B5F2-3DAA-7B32D04E03A6}"/>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20056B37-6D49-2E05-E94B-C4CF0183F70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00EFECDC-DDB3-5611-52AB-434245D1D6F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9BCCD70B-1AF3-E550-EDE9-4E864BB54F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D1BBE614-B373-2D88-AE8F-F6DFB27F74E0}"/>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D9E40E9-106A-7C33-0435-1C099766561F}"/>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8CF01938-FD82-80CF-A85F-94AACCD1583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37A534C0-A95B-7D99-2DFA-D7F053E85EC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81996C50-5981-4FEB-86A5-15C575E30361}"/>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B1F02-9131-0979-3D9B-DDFC27110B8D}"/>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13685A5D-F48E-664B-0452-1CC3C33CDC3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67EA9F03-6C27-FB94-8814-601BB079F56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64B79496-0D26-424A-C06B-0F5BC4BA1D09}"/>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A9A74D1D-10EB-3067-0763-9B694966D223}"/>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B21A965D-B813-D289-1EBB-694ABF58FF03}"/>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E25569EB-14A4-4BAC-D182-71354458BE4E}"/>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DBA359E4-38A4-536D-AEB7-E614AA3B9345}"/>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3603461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531247" y="1445863"/>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199" y="450717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79012" y="2314365"/>
            <a:ext cx="4610625" cy="2794894"/>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effectLst/>
              </a:rPr>
              <a:t>Hazel uses the </a:t>
            </a:r>
            <a:r>
              <a:rPr lang="en-US" b="1" i="0" dirty="0">
                <a:effectLst/>
              </a:rPr>
              <a:t>LSF</a:t>
            </a:r>
            <a:r>
              <a:rPr lang="en-US" b="0" i="0" dirty="0">
                <a:effectLst/>
              </a:rPr>
              <a:t> (Load Sharing Facility) job scheduler, currently known as IBM Spectrum LSF.</a:t>
            </a:r>
            <a:endParaRPr lang="en-US" dirty="0"/>
          </a:p>
        </p:txBody>
      </p:sp>
      <p:sp>
        <p:nvSpPr>
          <p:cNvPr id="12" name="TextBox 11">
            <a:extLst>
              <a:ext uri="{FF2B5EF4-FFF2-40B4-BE49-F238E27FC236}">
                <a16:creationId xmlns:a16="http://schemas.microsoft.com/office/drawing/2014/main" id="{CF8558D8-B8AB-B3DC-A7CE-F3BE23FB6EBE}"/>
              </a:ext>
            </a:extLst>
          </p:cNvPr>
          <p:cNvSpPr txBox="1"/>
          <p:nvPr/>
        </p:nvSpPr>
        <p:spPr>
          <a:xfrm>
            <a:off x="910436" y="2405579"/>
            <a:ext cx="5403897" cy="923330"/>
          </a:xfrm>
          <a:prstGeom prst="rect">
            <a:avLst/>
          </a:prstGeom>
          <a:noFill/>
        </p:spPr>
        <p:txBody>
          <a:bodyPr wrap="square" rtlCol="0">
            <a:spAutoFit/>
          </a:bodyPr>
          <a:lstStyle/>
          <a:p>
            <a:r>
              <a:rPr lang="en-US" dirty="0"/>
              <a:t>Jobs are submitted with the </a:t>
            </a:r>
            <a:r>
              <a:rPr lang="en-US" sz="14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a:t>
            </a:r>
            <a:r>
              <a:rPr lang="en-US" dirty="0"/>
              <a:t> command. </a:t>
            </a:r>
          </a:p>
          <a:p>
            <a:r>
              <a:rPr lang="en-US" dirty="0"/>
              <a:t>A job is submitted either </a:t>
            </a:r>
            <a:r>
              <a:rPr lang="en-US" b="1" dirty="0"/>
              <a:t>interactively</a:t>
            </a:r>
            <a:r>
              <a:rPr lang="en-US" dirty="0"/>
              <a:t> or via a </a:t>
            </a:r>
            <a:r>
              <a:rPr lang="en-US" b="1" dirty="0"/>
              <a:t>job script </a:t>
            </a:r>
            <a:r>
              <a:rPr lang="en-US" dirty="0"/>
              <a:t>containing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 </a:t>
            </a:r>
            <a:r>
              <a:rPr lang="en-US" dirty="0"/>
              <a:t>directives</a:t>
            </a:r>
          </a:p>
        </p:txBody>
      </p:sp>
      <p:pic>
        <p:nvPicPr>
          <p:cNvPr id="14" name="Picture 13">
            <a:extLst>
              <a:ext uri="{FF2B5EF4-FFF2-40B4-BE49-F238E27FC236}">
                <a16:creationId xmlns:a16="http://schemas.microsoft.com/office/drawing/2014/main" id="{B5AA787B-D4A9-3E45-7379-EB6D130DB63B}"/>
              </a:ext>
            </a:extLst>
          </p:cNvPr>
          <p:cNvPicPr>
            <a:picLocks noChangeAspect="1"/>
          </p:cNvPicPr>
          <p:nvPr/>
        </p:nvPicPr>
        <p:blipFill>
          <a:blip r:embed="rId3"/>
          <a:stretch>
            <a:fillRect/>
          </a:stretch>
        </p:blipFill>
        <p:spPr>
          <a:xfrm>
            <a:off x="982674" y="3797644"/>
            <a:ext cx="5259423" cy="1978880"/>
          </a:xfrm>
          <a:prstGeom prst="rect">
            <a:avLst/>
          </a:prstGeom>
        </p:spPr>
      </p:pic>
    </p:spTree>
    <p:extLst>
      <p:ext uri="{BB962C8B-B14F-4D97-AF65-F5344CB8AC3E}">
        <p14:creationId xmlns:p14="http://schemas.microsoft.com/office/powerpoint/2010/main" val="2263966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699C0-2454-2488-30E6-AA54BD76A39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FFE7E835-5FCF-1159-CC74-CEDD0AE2F404}"/>
              </a:ext>
            </a:extLst>
          </p:cNvPr>
          <p:cNvSpPr>
            <a:spLocks noGrp="1"/>
          </p:cNvSpPr>
          <p:nvPr>
            <p:ph type="title"/>
          </p:nvPr>
        </p:nvSpPr>
        <p:spPr>
          <a:xfrm>
            <a:off x="838200" y="365125"/>
            <a:ext cx="10515600" cy="1325563"/>
          </a:xfrm>
        </p:spPr>
        <p:txBody>
          <a:bodyPr/>
          <a:lstStyle/>
          <a:p>
            <a:r>
              <a:rPr lang="en-US" dirty="0"/>
              <a:t>Interactive jobs</a:t>
            </a:r>
          </a:p>
        </p:txBody>
      </p:sp>
      <p:sp>
        <p:nvSpPr>
          <p:cNvPr id="11" name="TextBox 10">
            <a:extLst>
              <a:ext uri="{FF2B5EF4-FFF2-40B4-BE49-F238E27FC236}">
                <a16:creationId xmlns:a16="http://schemas.microsoft.com/office/drawing/2014/main" id="{E59E3915-77BA-69D3-4E82-F50255089D39}"/>
              </a:ext>
            </a:extLst>
          </p:cNvPr>
          <p:cNvSpPr txBox="1"/>
          <p:nvPr/>
        </p:nvSpPr>
        <p:spPr>
          <a:xfrm>
            <a:off x="838200" y="1567512"/>
            <a:ext cx="10148350" cy="646331"/>
          </a:xfrm>
          <a:prstGeom prst="rect">
            <a:avLst/>
          </a:prstGeom>
          <a:noFill/>
        </p:spPr>
        <p:txBody>
          <a:bodyPr wrap="square">
            <a:spAutoFit/>
          </a:bodyPr>
          <a:lstStyle/>
          <a:p>
            <a:r>
              <a:rPr lang="en-US" dirty="0"/>
              <a:t>For quick testing, debugging, or running applications that require a graphical interface (GUI), you must request a temporary allocation on a compute node using an interactive job.</a:t>
            </a:r>
          </a:p>
        </p:txBody>
      </p:sp>
      <p:sp>
        <p:nvSpPr>
          <p:cNvPr id="3" name="TextBox 2">
            <a:extLst>
              <a:ext uri="{FF2B5EF4-FFF2-40B4-BE49-F238E27FC236}">
                <a16:creationId xmlns:a16="http://schemas.microsoft.com/office/drawing/2014/main" id="{C3E0AB0F-D76E-1DAA-B1F0-E51EEAE070BB}"/>
              </a:ext>
            </a:extLst>
          </p:cNvPr>
          <p:cNvSpPr txBox="1"/>
          <p:nvPr/>
        </p:nvSpPr>
        <p:spPr>
          <a:xfrm>
            <a:off x="953529" y="275702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graphicFrame>
        <p:nvGraphicFramePr>
          <p:cNvPr id="4" name="Table 3">
            <a:extLst>
              <a:ext uri="{FF2B5EF4-FFF2-40B4-BE49-F238E27FC236}">
                <a16:creationId xmlns:a16="http://schemas.microsoft.com/office/drawing/2014/main" id="{855F0A74-37FC-A1E0-0086-9864FA8125F9}"/>
              </a:ext>
            </a:extLst>
          </p:cNvPr>
          <p:cNvGraphicFramePr>
            <a:graphicFrameLocks noGrp="1"/>
          </p:cNvGraphicFramePr>
          <p:nvPr>
            <p:extLst>
              <p:ext uri="{D42A27DB-BD31-4B8C-83A1-F6EECF244321}">
                <p14:modId xmlns:p14="http://schemas.microsoft.com/office/powerpoint/2010/main" val="2433882797"/>
              </p:ext>
            </p:extLst>
          </p:nvPr>
        </p:nvGraphicFramePr>
        <p:xfrm>
          <a:off x="953529" y="3461688"/>
          <a:ext cx="4747054" cy="1828800"/>
        </p:xfrm>
        <a:graphic>
          <a:graphicData uri="http://schemas.openxmlformats.org/drawingml/2006/table">
            <a:tbl>
              <a:tblPr>
                <a:tableStyleId>{5940675A-B579-460E-94D1-54222C63F5DA}</a:tableStyleId>
              </a:tblPr>
              <a:tblGrid>
                <a:gridCol w="801130">
                  <a:extLst>
                    <a:ext uri="{9D8B030D-6E8A-4147-A177-3AD203B41FA5}">
                      <a16:colId xmlns:a16="http://schemas.microsoft.com/office/drawing/2014/main" val="4025928815"/>
                    </a:ext>
                  </a:extLst>
                </a:gridCol>
                <a:gridCol w="3945924">
                  <a:extLst>
                    <a:ext uri="{9D8B030D-6E8A-4147-A177-3AD203B41FA5}">
                      <a16:colId xmlns:a16="http://schemas.microsoft.com/office/drawing/2014/main" val="288006986"/>
                    </a:ext>
                  </a:extLst>
                </a:gridCol>
              </a:tblGrid>
              <a:tr h="0">
                <a:tc>
                  <a:txBody>
                    <a:bodyPr/>
                    <a:lstStyle/>
                    <a:p>
                      <a:pPr algn="l">
                        <a:buNone/>
                      </a:pPr>
                      <a:r>
                        <a:rPr lang="en-US" sz="1400" b="1" dirty="0">
                          <a:effectLst/>
                        </a:rPr>
                        <a:t>Option</a:t>
                      </a:r>
                      <a:endParaRPr lang="en-US" sz="1400" b="1" dirty="0">
                        <a:effectLst/>
                        <a:latin typeface="+mn-lt"/>
                      </a:endParaRPr>
                    </a:p>
                  </a:txBody>
                  <a:tcPr/>
                </a:tc>
                <a:tc>
                  <a:txBody>
                    <a:bodyPr/>
                    <a:lstStyle/>
                    <a:p>
                      <a:pPr algn="l">
                        <a:buNone/>
                      </a:pPr>
                      <a:r>
                        <a:rPr lang="en-US" sz="1400" b="1" dirty="0">
                          <a:effectLst/>
                        </a:rPr>
                        <a:t>Meaning</a:t>
                      </a:r>
                      <a:endParaRPr lang="en-US" sz="1400" b="1" dirty="0">
                        <a:effectLst/>
                        <a:latin typeface="+mn-lt"/>
                      </a:endParaRPr>
                    </a:p>
                  </a:txBody>
                  <a:tcPr/>
                </a:tc>
                <a:extLst>
                  <a:ext uri="{0D108BD9-81ED-4DB2-BD59-A6C34878D82A}">
                    <a16:rowId xmlns:a16="http://schemas.microsoft.com/office/drawing/2014/main" val="1378608204"/>
                  </a:ext>
                </a:extLst>
              </a:tr>
              <a:tr h="0">
                <a:tc>
                  <a:txBody>
                    <a:bodyPr/>
                    <a:lstStyle/>
                    <a:p>
                      <a:pPr algn="l">
                        <a:buNone/>
                      </a:pPr>
                      <a:r>
                        <a:rPr lang="en-US" sz="1400" b="0" dirty="0">
                          <a:solidFill>
                            <a:schemeClr val="accent6"/>
                          </a:solidFill>
                          <a:effectLst/>
                        </a:rPr>
                        <a:t>-I</a:t>
                      </a:r>
                      <a:endParaRPr lang="en-US" sz="1400" dirty="0">
                        <a:solidFill>
                          <a:schemeClr val="accent6"/>
                        </a:solidFill>
                        <a:effectLst/>
                        <a:latin typeface="+mn-lt"/>
                      </a:endParaRPr>
                    </a:p>
                  </a:txBody>
                  <a:tcPr/>
                </a:tc>
                <a:tc>
                  <a:txBody>
                    <a:bodyPr/>
                    <a:lstStyle/>
                    <a:p>
                      <a:pPr algn="l">
                        <a:buNone/>
                      </a:pPr>
                      <a:r>
                        <a:rPr lang="en-US" sz="1400">
                          <a:effectLst/>
                        </a:rPr>
                        <a:t>Requests an </a:t>
                      </a:r>
                      <a:r>
                        <a:rPr lang="en-US" sz="1400" b="1">
                          <a:effectLst/>
                        </a:rPr>
                        <a:t>interactive</a:t>
                      </a:r>
                      <a:r>
                        <a:rPr lang="en-US" sz="1400">
                          <a:effectLst/>
                        </a:rPr>
                        <a:t> session.</a:t>
                      </a:r>
                      <a:endParaRPr lang="en-US" sz="1400">
                        <a:effectLst/>
                        <a:latin typeface="+mn-lt"/>
                      </a:endParaRPr>
                    </a:p>
                  </a:txBody>
                  <a:tcPr/>
                </a:tc>
                <a:extLst>
                  <a:ext uri="{0D108BD9-81ED-4DB2-BD59-A6C34878D82A}">
                    <a16:rowId xmlns:a16="http://schemas.microsoft.com/office/drawing/2014/main" val="1594914945"/>
                  </a:ext>
                </a:extLst>
              </a:tr>
              <a:tr h="0">
                <a:tc>
                  <a:txBody>
                    <a:bodyPr/>
                    <a:lstStyle/>
                    <a:p>
                      <a:pPr algn="l">
                        <a:buNone/>
                      </a:pPr>
                      <a:r>
                        <a:rPr lang="en-US" sz="1400" b="0" dirty="0">
                          <a:solidFill>
                            <a:schemeClr val="accent6"/>
                          </a:solidFill>
                          <a:effectLst/>
                        </a:rPr>
                        <a:t>-s</a:t>
                      </a:r>
                      <a:endParaRPr lang="en-US" sz="1400" dirty="0">
                        <a:solidFill>
                          <a:schemeClr val="accent6"/>
                        </a:solidFill>
                        <a:effectLst/>
                        <a:latin typeface="+mn-lt"/>
                      </a:endParaRPr>
                    </a:p>
                  </a:txBody>
                  <a:tcPr/>
                </a:tc>
                <a:tc>
                  <a:txBody>
                    <a:bodyPr/>
                    <a:lstStyle/>
                    <a:p>
                      <a:pPr algn="l">
                        <a:buNone/>
                      </a:pPr>
                      <a:r>
                        <a:rPr lang="en-US" sz="1400" dirty="0">
                          <a:effectLst/>
                        </a:rPr>
                        <a:t>Sends a </a:t>
                      </a:r>
                      <a:r>
                        <a:rPr lang="en-US" sz="1400" b="1" dirty="0">
                          <a:effectLst/>
                        </a:rPr>
                        <a:t>signal</a:t>
                      </a:r>
                      <a:r>
                        <a:rPr lang="en-US" sz="1400" dirty="0">
                          <a:effectLst/>
                        </a:rPr>
                        <a:t> to the job shell upon termination.</a:t>
                      </a:r>
                      <a:endParaRPr lang="en-US" sz="1400" dirty="0">
                        <a:effectLst/>
                        <a:latin typeface="+mn-lt"/>
                      </a:endParaRPr>
                    </a:p>
                  </a:txBody>
                  <a:tcPr/>
                </a:tc>
                <a:extLst>
                  <a:ext uri="{0D108BD9-81ED-4DB2-BD59-A6C34878D82A}">
                    <a16:rowId xmlns:a16="http://schemas.microsoft.com/office/drawing/2014/main" val="2526338493"/>
                  </a:ext>
                </a:extLst>
              </a:tr>
              <a:tr h="0">
                <a:tc>
                  <a:txBody>
                    <a:bodyPr/>
                    <a:lstStyle/>
                    <a:p>
                      <a:pPr algn="l">
                        <a:buNone/>
                      </a:pPr>
                      <a:r>
                        <a:rPr lang="en-US" sz="1400" b="0" dirty="0">
                          <a:solidFill>
                            <a:schemeClr val="accent6"/>
                          </a:solidFill>
                          <a:effectLst/>
                        </a:rPr>
                        <a:t>-n 1</a:t>
                      </a:r>
                      <a:endParaRPr lang="en-US" sz="1400" dirty="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 CPU core</a:t>
                      </a:r>
                      <a:r>
                        <a:rPr lang="en-US" sz="1400" dirty="0">
                          <a:effectLst/>
                        </a:rPr>
                        <a:t>.</a:t>
                      </a:r>
                      <a:endParaRPr lang="en-US" sz="1400" dirty="0">
                        <a:effectLst/>
                        <a:latin typeface="+mn-lt"/>
                      </a:endParaRPr>
                    </a:p>
                  </a:txBody>
                  <a:tcPr/>
                </a:tc>
                <a:extLst>
                  <a:ext uri="{0D108BD9-81ED-4DB2-BD59-A6C34878D82A}">
                    <a16:rowId xmlns:a16="http://schemas.microsoft.com/office/drawing/2014/main" val="3209910700"/>
                  </a:ext>
                </a:extLst>
              </a:tr>
              <a:tr h="0">
                <a:tc>
                  <a:txBody>
                    <a:bodyPr/>
                    <a:lstStyle/>
                    <a:p>
                      <a:pPr algn="l">
                        <a:buNone/>
                      </a:pPr>
                      <a:r>
                        <a:rPr lang="en-US" sz="1400" b="0">
                          <a:solidFill>
                            <a:schemeClr val="accent6"/>
                          </a:solidFill>
                          <a:effectLst/>
                        </a:rPr>
                        <a:t>-W 10</a:t>
                      </a:r>
                      <a:endParaRPr lang="en-US" sz="140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10 minutes</a:t>
                      </a:r>
                      <a:r>
                        <a:rPr lang="en-US" sz="1400" dirty="0">
                          <a:effectLst/>
                        </a:rPr>
                        <a:t> of wall-clock time.</a:t>
                      </a:r>
                      <a:endParaRPr lang="en-US" sz="1400" dirty="0">
                        <a:effectLst/>
                        <a:latin typeface="+mn-lt"/>
                      </a:endParaRPr>
                    </a:p>
                  </a:txBody>
                  <a:tcPr/>
                </a:tc>
                <a:extLst>
                  <a:ext uri="{0D108BD9-81ED-4DB2-BD59-A6C34878D82A}">
                    <a16:rowId xmlns:a16="http://schemas.microsoft.com/office/drawing/2014/main" val="2710503718"/>
                  </a:ext>
                </a:extLst>
              </a:tr>
              <a:tr h="0">
                <a:tc>
                  <a:txBody>
                    <a:bodyPr/>
                    <a:lstStyle/>
                    <a:p>
                      <a:pPr algn="l">
                        <a:buNone/>
                      </a:pPr>
                      <a:r>
                        <a:rPr lang="en-US" sz="1400" b="0" dirty="0">
                          <a:solidFill>
                            <a:schemeClr val="accent6"/>
                          </a:solidFill>
                          <a:effectLst/>
                        </a:rPr>
                        <a:t>bash</a:t>
                      </a:r>
                      <a:endParaRPr lang="en-US" sz="1400" dirty="0">
                        <a:solidFill>
                          <a:schemeClr val="accent6"/>
                        </a:solidFill>
                        <a:effectLst/>
                        <a:latin typeface="+mn-lt"/>
                      </a:endParaRPr>
                    </a:p>
                  </a:txBody>
                  <a:tcPr/>
                </a:tc>
                <a:tc>
                  <a:txBody>
                    <a:bodyPr/>
                    <a:lstStyle/>
                    <a:p>
                      <a:pPr algn="l">
                        <a:buNone/>
                      </a:pPr>
                      <a:r>
                        <a:rPr lang="en-US" sz="1400" dirty="0">
                          <a:effectLst/>
                        </a:rPr>
                        <a:t>The shell to run on the allocated node.</a:t>
                      </a:r>
                      <a:endParaRPr lang="en-US" sz="1400" dirty="0">
                        <a:effectLst/>
                        <a:latin typeface="+mn-lt"/>
                      </a:endParaRPr>
                    </a:p>
                  </a:txBody>
                  <a:tcPr/>
                </a:tc>
                <a:extLst>
                  <a:ext uri="{0D108BD9-81ED-4DB2-BD59-A6C34878D82A}">
                    <a16:rowId xmlns:a16="http://schemas.microsoft.com/office/drawing/2014/main" val="391249382"/>
                  </a:ext>
                </a:extLst>
              </a:tr>
            </a:tbl>
          </a:graphicData>
        </a:graphic>
      </p:graphicFrame>
      <p:pic>
        <p:nvPicPr>
          <p:cNvPr id="4098" name="Picture 2" descr="Testing vs Debugging: What are the differences? - QA world">
            <a:extLst>
              <a:ext uri="{FF2B5EF4-FFF2-40B4-BE49-F238E27FC236}">
                <a16:creationId xmlns:a16="http://schemas.microsoft.com/office/drawing/2014/main" id="{E75E751B-3E24-EFC1-D9EC-3D47DB462A9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24" r="23581"/>
          <a:stretch>
            <a:fillRect/>
          </a:stretch>
        </p:blipFill>
        <p:spPr bwMode="auto">
          <a:xfrm>
            <a:off x="7656404" y="2663214"/>
            <a:ext cx="3440691" cy="3467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5313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B04F-DF16-4003-E8D0-F498A7D6B1E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5A87AD02-5A84-835F-17F2-DE0A1628E928}"/>
              </a:ext>
            </a:extLst>
          </p:cNvPr>
          <p:cNvSpPr>
            <a:spLocks noGrp="1"/>
          </p:cNvSpPr>
          <p:nvPr>
            <p:ph type="title"/>
          </p:nvPr>
        </p:nvSpPr>
        <p:spPr>
          <a:xfrm>
            <a:off x="838200" y="365125"/>
            <a:ext cx="10515600" cy="1325563"/>
          </a:xfrm>
        </p:spPr>
        <p:txBody>
          <a:bodyPr/>
          <a:lstStyle/>
          <a:p>
            <a:r>
              <a:rPr lang="en-US" dirty="0"/>
              <a:t>Let’s try it!</a:t>
            </a:r>
          </a:p>
        </p:txBody>
      </p:sp>
      <p:sp>
        <p:nvSpPr>
          <p:cNvPr id="3" name="TextBox 2">
            <a:extLst>
              <a:ext uri="{FF2B5EF4-FFF2-40B4-BE49-F238E27FC236}">
                <a16:creationId xmlns:a16="http://schemas.microsoft.com/office/drawing/2014/main" id="{396D7AF8-2840-09A6-96D7-24C54DEBC637}"/>
              </a:ext>
            </a:extLst>
          </p:cNvPr>
          <p:cNvSpPr txBox="1"/>
          <p:nvPr/>
        </p:nvSpPr>
        <p:spPr>
          <a:xfrm>
            <a:off x="1175950" y="277968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sp>
        <p:nvSpPr>
          <p:cNvPr id="2" name="TextBox 1">
            <a:extLst>
              <a:ext uri="{FF2B5EF4-FFF2-40B4-BE49-F238E27FC236}">
                <a16:creationId xmlns:a16="http://schemas.microsoft.com/office/drawing/2014/main" id="{A28D0F35-9E40-3ADE-E110-DD48ED57766F}"/>
              </a:ext>
            </a:extLst>
          </p:cNvPr>
          <p:cNvSpPr txBox="1"/>
          <p:nvPr/>
        </p:nvSpPr>
        <p:spPr>
          <a:xfrm>
            <a:off x="988541" y="2084173"/>
            <a:ext cx="8118184" cy="369332"/>
          </a:xfrm>
          <a:prstGeom prst="rect">
            <a:avLst/>
          </a:prstGeom>
          <a:noFill/>
        </p:spPr>
        <p:txBody>
          <a:bodyPr wrap="none" rtlCol="0">
            <a:spAutoFit/>
          </a:bodyPr>
          <a:lstStyle/>
          <a:p>
            <a:r>
              <a:rPr lang="en-US" dirty="0"/>
              <a:t>Try running the following command! Do you see any changes to your command line?</a:t>
            </a:r>
          </a:p>
        </p:txBody>
      </p:sp>
      <p:pic>
        <p:nvPicPr>
          <p:cNvPr id="5" name="Picture 6" descr="coding Symbol mark in filled style 47628836 Vector Art at Vecteezy">
            <a:extLst>
              <a:ext uri="{FF2B5EF4-FFF2-40B4-BE49-F238E27FC236}">
                <a16:creationId xmlns:a16="http://schemas.microsoft.com/office/drawing/2014/main" id="{27D529D6-6844-BD60-96D9-7C8EC525843E}"/>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937686" y="548680"/>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29023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EBDF1-A321-EC93-6DFB-0F323A543F2E}"/>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5A34706B-9873-9C15-5E17-BBB9D89AC4C7}"/>
              </a:ext>
            </a:extLst>
          </p:cNvPr>
          <p:cNvPicPr>
            <a:picLocks noChangeAspect="1"/>
          </p:cNvPicPr>
          <p:nvPr/>
        </p:nvPicPr>
        <p:blipFill>
          <a:blip r:embed="rId3"/>
          <a:stretch>
            <a:fillRect/>
          </a:stretch>
        </p:blipFill>
        <p:spPr>
          <a:xfrm>
            <a:off x="5778761" y="1726212"/>
            <a:ext cx="5432936" cy="2933408"/>
          </a:xfrm>
          <a:prstGeom prst="rect">
            <a:avLst/>
          </a:prstGeom>
        </p:spPr>
      </p:pic>
      <p:sp>
        <p:nvSpPr>
          <p:cNvPr id="9" name="Title 1">
            <a:extLst>
              <a:ext uri="{FF2B5EF4-FFF2-40B4-BE49-F238E27FC236}">
                <a16:creationId xmlns:a16="http://schemas.microsoft.com/office/drawing/2014/main" id="{B0841BF9-15DB-09C4-E40C-0D36F5D4A2B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2411A7E0-B496-91B7-5A84-B6555CD54775}"/>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A01DE4-39DF-A97F-3CB3-56B779AE9643}"/>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9345ECB8-0933-4D9E-E457-9B93CD4B024E}"/>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318BE3F9-39C0-A7C8-ACAE-E5E01587CDE9}"/>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cxnSp>
        <p:nvCxnSpPr>
          <p:cNvPr id="7" name="Straight Connector 6">
            <a:extLst>
              <a:ext uri="{FF2B5EF4-FFF2-40B4-BE49-F238E27FC236}">
                <a16:creationId xmlns:a16="http://schemas.microsoft.com/office/drawing/2014/main" id="{53F57868-B6A5-802E-1F46-10D7F2413691}"/>
              </a:ext>
            </a:extLst>
          </p:cNvPr>
          <p:cNvCxnSpPr>
            <a:cxnSpLocks/>
          </p:cNvCxnSpPr>
          <p:nvPr/>
        </p:nvCxnSpPr>
        <p:spPr>
          <a:xfrm flipV="1">
            <a:off x="4289560" y="1729283"/>
            <a:ext cx="1509878" cy="12687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1495FDF-D157-041A-9B35-026B5EE892EB}"/>
              </a:ext>
            </a:extLst>
          </p:cNvPr>
          <p:cNvCxnSpPr>
            <a:cxnSpLocks/>
          </p:cNvCxnSpPr>
          <p:nvPr/>
        </p:nvCxnSpPr>
        <p:spPr>
          <a:xfrm>
            <a:off x="4289560" y="3824490"/>
            <a:ext cx="1509878" cy="82203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8DBA9D3-4710-1F95-5B2D-29687F7B4B4A}"/>
              </a:ext>
            </a:extLst>
          </p:cNvPr>
          <p:cNvSpPr/>
          <p:nvPr/>
        </p:nvSpPr>
        <p:spPr>
          <a:xfrm>
            <a:off x="5408140" y="1911809"/>
            <a:ext cx="4431957" cy="984167"/>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DCD198A-2D15-C80E-55FC-0F4520791BEA}"/>
              </a:ext>
            </a:extLst>
          </p:cNvPr>
          <p:cNvSpPr/>
          <p:nvPr/>
        </p:nvSpPr>
        <p:spPr>
          <a:xfrm>
            <a:off x="5778761" y="1600947"/>
            <a:ext cx="950901" cy="36933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C817B06-6057-8C19-8632-84F470C33F56}"/>
              </a:ext>
            </a:extLst>
          </p:cNvPr>
          <p:cNvSpPr txBox="1"/>
          <p:nvPr/>
        </p:nvSpPr>
        <p:spPr>
          <a:xfrm>
            <a:off x="6845643" y="1247251"/>
            <a:ext cx="4239559" cy="369332"/>
          </a:xfrm>
          <a:prstGeom prst="rect">
            <a:avLst/>
          </a:prstGeom>
          <a:noFill/>
        </p:spPr>
        <p:txBody>
          <a:bodyPr wrap="none" rtlCol="0">
            <a:spAutoFit/>
          </a:bodyPr>
          <a:lstStyle/>
          <a:p>
            <a:r>
              <a:rPr lang="en-US" dirty="0">
                <a:solidFill>
                  <a:schemeClr val="accent2">
                    <a:lumMod val="75000"/>
                  </a:schemeClr>
                </a:solidFill>
              </a:rPr>
              <a:t>shebang! – “computer use this interpreter”</a:t>
            </a:r>
          </a:p>
        </p:txBody>
      </p:sp>
      <p:sp>
        <p:nvSpPr>
          <p:cNvPr id="25" name="TextBox 24">
            <a:extLst>
              <a:ext uri="{FF2B5EF4-FFF2-40B4-BE49-F238E27FC236}">
                <a16:creationId xmlns:a16="http://schemas.microsoft.com/office/drawing/2014/main" id="{29CA82C3-1CCF-D2C2-5780-0BFFD3271D69}"/>
              </a:ext>
            </a:extLst>
          </p:cNvPr>
          <p:cNvSpPr txBox="1"/>
          <p:nvPr/>
        </p:nvSpPr>
        <p:spPr>
          <a:xfrm>
            <a:off x="9878358" y="2079765"/>
            <a:ext cx="2306722" cy="646331"/>
          </a:xfrm>
          <a:prstGeom prst="rect">
            <a:avLst/>
          </a:prstGeom>
          <a:noFill/>
        </p:spPr>
        <p:txBody>
          <a:bodyPr wrap="none" rtlCol="0">
            <a:spAutoFit/>
          </a:bodyPr>
          <a:lstStyle/>
          <a:p>
            <a:r>
              <a:rPr lang="en-US" dirty="0">
                <a:solidFill>
                  <a:schemeClr val="accent2">
                    <a:lumMod val="75000"/>
                  </a:schemeClr>
                </a:solidFill>
              </a:rPr>
              <a:t>Information about job </a:t>
            </a:r>
          </a:p>
          <a:p>
            <a:r>
              <a:rPr lang="en-US" dirty="0">
                <a:solidFill>
                  <a:schemeClr val="accent2">
                    <a:lumMod val="75000"/>
                  </a:schemeClr>
                </a:solidFill>
              </a:rPr>
              <a:t>(for future you)</a:t>
            </a:r>
          </a:p>
        </p:txBody>
      </p:sp>
      <p:sp>
        <p:nvSpPr>
          <p:cNvPr id="26" name="Oval 25">
            <a:extLst>
              <a:ext uri="{FF2B5EF4-FFF2-40B4-BE49-F238E27FC236}">
                <a16:creationId xmlns:a16="http://schemas.microsoft.com/office/drawing/2014/main" id="{F1C32AF8-BFF7-D579-FB5E-8651234494FE}"/>
              </a:ext>
            </a:extLst>
          </p:cNvPr>
          <p:cNvSpPr/>
          <p:nvPr/>
        </p:nvSpPr>
        <p:spPr>
          <a:xfrm>
            <a:off x="5547433" y="3117097"/>
            <a:ext cx="2249112" cy="1625814"/>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1B0C5F7-09E3-F575-E02B-3D93D6F8D047}"/>
              </a:ext>
            </a:extLst>
          </p:cNvPr>
          <p:cNvSpPr txBox="1"/>
          <p:nvPr/>
        </p:nvSpPr>
        <p:spPr>
          <a:xfrm>
            <a:off x="7258365" y="4594700"/>
            <a:ext cx="2581732" cy="369332"/>
          </a:xfrm>
          <a:prstGeom prst="rect">
            <a:avLst/>
          </a:prstGeom>
          <a:noFill/>
        </p:spPr>
        <p:txBody>
          <a:bodyPr wrap="none" rtlCol="0">
            <a:spAutoFit/>
          </a:bodyPr>
          <a:lstStyle/>
          <a:p>
            <a:r>
              <a:rPr lang="en-US" dirty="0">
                <a:solidFill>
                  <a:schemeClr val="accent2">
                    <a:lumMod val="75000"/>
                  </a:schemeClr>
                </a:solidFill>
              </a:rPr>
              <a:t>Instructions for scheduler</a:t>
            </a:r>
          </a:p>
        </p:txBody>
      </p:sp>
      <p:sp>
        <p:nvSpPr>
          <p:cNvPr id="28" name="TextBox 27">
            <a:extLst>
              <a:ext uri="{FF2B5EF4-FFF2-40B4-BE49-F238E27FC236}">
                <a16:creationId xmlns:a16="http://schemas.microsoft.com/office/drawing/2014/main" id="{5B9661C9-3E26-0DD9-DC9D-60F6EA4E2628}"/>
              </a:ext>
            </a:extLst>
          </p:cNvPr>
          <p:cNvSpPr txBox="1"/>
          <p:nvPr/>
        </p:nvSpPr>
        <p:spPr>
          <a:xfrm>
            <a:off x="5665988" y="5338445"/>
            <a:ext cx="4753353" cy="369332"/>
          </a:xfrm>
          <a:prstGeom prst="rect">
            <a:avLst/>
          </a:prstGeom>
          <a:noFill/>
        </p:spPr>
        <p:txBody>
          <a:bodyPr wrap="none" rtlCol="0">
            <a:spAutoFit/>
          </a:bodyPr>
          <a:lstStyle/>
          <a:p>
            <a:r>
              <a:rPr lang="en-US" dirty="0"/>
              <a:t>In LSF </a:t>
            </a:r>
            <a:r>
              <a:rPr lang="en-US" b="1" dirty="0">
                <a:solidFill>
                  <a:schemeClr val="accent2">
                    <a:lumMod val="75000"/>
                  </a:schemeClr>
                </a:solidFill>
              </a:rPr>
              <a:t>–R </a:t>
            </a:r>
            <a:r>
              <a:rPr lang="en-US" dirty="0"/>
              <a:t>(resource requirement) is </a:t>
            </a:r>
            <a:r>
              <a:rPr lang="en-US" dirty="0" err="1"/>
              <a:t>allpowerful</a:t>
            </a:r>
            <a:r>
              <a:rPr lang="en-US" dirty="0"/>
              <a:t>!</a:t>
            </a:r>
          </a:p>
        </p:txBody>
      </p:sp>
      <p:sp>
        <p:nvSpPr>
          <p:cNvPr id="30" name="TextBox 29">
            <a:extLst>
              <a:ext uri="{FF2B5EF4-FFF2-40B4-BE49-F238E27FC236}">
                <a16:creationId xmlns:a16="http://schemas.microsoft.com/office/drawing/2014/main" id="{D47527C9-6F03-8036-2B7E-3EF7AE16C32A}"/>
              </a:ext>
            </a:extLst>
          </p:cNvPr>
          <p:cNvSpPr txBox="1"/>
          <p:nvPr/>
        </p:nvSpPr>
        <p:spPr>
          <a:xfrm>
            <a:off x="5634681" y="5778319"/>
            <a:ext cx="6096000" cy="830997"/>
          </a:xfrm>
          <a:prstGeom prst="rect">
            <a:avLst/>
          </a:prstGeom>
          <a:noFill/>
        </p:spPr>
        <p:txBody>
          <a:bodyPr wrap="square">
            <a:spAutoFit/>
          </a:bodyPr>
          <a:lstStyle/>
          <a:p>
            <a:r>
              <a:rPr lang="en-US" sz="1200" dirty="0">
                <a:solidFill>
                  <a:srgbClr val="6E7687"/>
                </a:solidFill>
                <a:effectLst/>
              </a:rPr>
              <a:t>#BSUB -R "</a:t>
            </a:r>
            <a:r>
              <a:rPr lang="en-US" sz="1200" dirty="0" err="1">
                <a:solidFill>
                  <a:srgbClr val="6E7687"/>
                </a:solidFill>
                <a:effectLst/>
              </a:rPr>
              <a:t>rusage</a:t>
            </a:r>
            <a:r>
              <a:rPr lang="en-US" sz="1200" dirty="0">
                <a:solidFill>
                  <a:srgbClr val="6E7687"/>
                </a:solidFill>
                <a:effectLst/>
              </a:rPr>
              <a:t>[mem=16GB:duration=1]" 		# Memory usage</a:t>
            </a:r>
            <a:r>
              <a:rPr lang="en-US" sz="1200" dirty="0"/>
              <a:t> </a:t>
            </a:r>
          </a:p>
          <a:p>
            <a:r>
              <a:rPr lang="en-US" sz="1200" dirty="0">
                <a:solidFill>
                  <a:srgbClr val="6E7687"/>
                </a:solidFill>
                <a:effectLst/>
              </a:rPr>
              <a:t>#BSUB -R "span[hosts=1]" 			# Keep all slots on one node</a:t>
            </a:r>
            <a:r>
              <a:rPr lang="en-US" sz="1200" dirty="0"/>
              <a:t> </a:t>
            </a:r>
          </a:p>
          <a:p>
            <a:r>
              <a:rPr lang="en-US" sz="1200" dirty="0">
                <a:solidFill>
                  <a:srgbClr val="6E7687"/>
                </a:solidFill>
                <a:effectLst/>
              </a:rPr>
              <a:t>#BSUB -R "select[</a:t>
            </a:r>
            <a:r>
              <a:rPr lang="en-US" sz="1200" dirty="0" err="1">
                <a:solidFill>
                  <a:srgbClr val="6E7687"/>
                </a:solidFill>
                <a:effectLst/>
              </a:rPr>
              <a:t>hname</a:t>
            </a:r>
            <a:r>
              <a:rPr lang="en-US" sz="1200" dirty="0">
                <a:solidFill>
                  <a:srgbClr val="6E7687"/>
                </a:solidFill>
                <a:effectLst/>
              </a:rPr>
              <a:t>!=</a:t>
            </a:r>
            <a:r>
              <a:rPr lang="en-US" sz="1200" dirty="0" err="1">
                <a:solidFill>
                  <a:srgbClr val="6E7687"/>
                </a:solidFill>
                <a:effectLst/>
              </a:rPr>
              <a:t>badnode</a:t>
            </a:r>
            <a:r>
              <a:rPr lang="en-US" sz="1200" dirty="0">
                <a:solidFill>
                  <a:srgbClr val="6E7687"/>
                </a:solidFill>
                <a:effectLst/>
              </a:rPr>
              <a:t>]" 		# Exclude specific hosts</a:t>
            </a:r>
            <a:r>
              <a:rPr lang="en-US" sz="1200" dirty="0"/>
              <a:t> </a:t>
            </a:r>
          </a:p>
          <a:p>
            <a:r>
              <a:rPr lang="en-US" sz="1200" dirty="0">
                <a:solidFill>
                  <a:srgbClr val="6E7687"/>
                </a:solidFill>
                <a:effectLst/>
              </a:rPr>
              <a:t>#BSUB -R "span[</a:t>
            </a:r>
            <a:r>
              <a:rPr lang="en-US" sz="1200" dirty="0" err="1">
                <a:solidFill>
                  <a:srgbClr val="6E7687"/>
                </a:solidFill>
                <a:effectLst/>
              </a:rPr>
              <a:t>ptile</a:t>
            </a:r>
            <a:r>
              <a:rPr lang="en-US" sz="1200" dirty="0">
                <a:solidFill>
                  <a:srgbClr val="6E7687"/>
                </a:solidFill>
                <a:effectLst/>
              </a:rPr>
              <a:t>=8]" 			# 8 cores per node</a:t>
            </a:r>
            <a:endParaRPr lang="en-US" sz="1200" dirty="0"/>
          </a:p>
        </p:txBody>
      </p:sp>
    </p:spTree>
    <p:extLst>
      <p:ext uri="{BB962C8B-B14F-4D97-AF65-F5344CB8AC3E}">
        <p14:creationId xmlns:p14="http://schemas.microsoft.com/office/powerpoint/2010/main" val="147437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5" grpId="0"/>
      <p:bldP spid="26" grpId="0" animBg="1"/>
      <p:bldP spid="27" grpId="0"/>
      <p:bldP spid="28" grpId="0"/>
      <p:bldP spid="30"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D4200-D1FC-84F5-CF7E-332880CD310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5693AF2-18A2-90F4-814D-FFC010D3F24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84D1473A-E9A0-2815-A953-46846F51CA64}"/>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AD7436A-DC9E-C631-2063-BEA61793B5DF}"/>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E76D0E09-BE52-0119-3293-A67A8A6E001B}"/>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BA7CEBDC-33D6-A3DE-7901-B4A167DD6A01}"/>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sp>
        <p:nvSpPr>
          <p:cNvPr id="14" name="TextBox 13">
            <a:extLst>
              <a:ext uri="{FF2B5EF4-FFF2-40B4-BE49-F238E27FC236}">
                <a16:creationId xmlns:a16="http://schemas.microsoft.com/office/drawing/2014/main" id="{1E403139-246E-AE10-F3A2-6F23CCC9F8D3}"/>
              </a:ext>
            </a:extLst>
          </p:cNvPr>
          <p:cNvSpPr txBox="1"/>
          <p:nvPr/>
        </p:nvSpPr>
        <p:spPr>
          <a:xfrm>
            <a:off x="5832390" y="3736157"/>
            <a:ext cx="5296929" cy="2677656"/>
          </a:xfrm>
          <a:prstGeom prst="rect">
            <a:avLst/>
          </a:prstGeom>
          <a:solidFill>
            <a:schemeClr val="bg1">
              <a:lumMod val="95000"/>
            </a:schemeClr>
          </a:solidFill>
        </p:spPr>
        <p:txBody>
          <a:bodyPr wrap="square">
            <a:spAutoFit/>
          </a:bodyPr>
          <a:lstStyle/>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Load modules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module load python</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Execute commands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python </a:t>
            </a:r>
            <a:r>
              <a:rPr lang="en-US" sz="1200" dirty="0" err="1">
                <a:latin typeface="Menlo" panose="020B0609030804020204" pitchFamily="49" charset="0"/>
                <a:ea typeface="Menlo" panose="020B0609030804020204" pitchFamily="49" charset="0"/>
                <a:cs typeface="Menlo" panose="020B0609030804020204" pitchFamily="49" charset="0"/>
              </a:rPr>
              <a:t>hello.py</a:t>
            </a:r>
            <a:endParaRPr lang="en-US" sz="1200" dirty="0">
              <a:latin typeface="Menlo" panose="020B0609030804020204" pitchFamily="49" charset="0"/>
              <a:ea typeface="Menlo" panose="020B0609030804020204" pitchFamily="49" charset="0"/>
              <a:cs typeface="Menlo" panose="020B0609030804020204" pitchFamily="49" charset="0"/>
            </a:endParaRPr>
          </a:p>
        </p:txBody>
      </p:sp>
      <p:cxnSp>
        <p:nvCxnSpPr>
          <p:cNvPr id="16" name="Straight Connector 15">
            <a:extLst>
              <a:ext uri="{FF2B5EF4-FFF2-40B4-BE49-F238E27FC236}">
                <a16:creationId xmlns:a16="http://schemas.microsoft.com/office/drawing/2014/main" id="{A433E498-828A-F8BB-893A-B5085DBDBF63}"/>
              </a:ext>
            </a:extLst>
          </p:cNvPr>
          <p:cNvCxnSpPr>
            <a:cxnSpLocks/>
          </p:cNvCxnSpPr>
          <p:nvPr/>
        </p:nvCxnSpPr>
        <p:spPr>
          <a:xfrm flipV="1">
            <a:off x="4275010" y="3736157"/>
            <a:ext cx="1557380" cy="142032"/>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01DB35E-FACC-4E41-DCD6-832780F442BD}"/>
              </a:ext>
            </a:extLst>
          </p:cNvPr>
          <p:cNvCxnSpPr>
            <a:cxnSpLocks/>
          </p:cNvCxnSpPr>
          <p:nvPr/>
        </p:nvCxnSpPr>
        <p:spPr>
          <a:xfrm>
            <a:off x="4275010" y="6398703"/>
            <a:ext cx="1557380" cy="0"/>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EA55A3-6E79-0C23-A3AC-0573050652BF}"/>
              </a:ext>
            </a:extLst>
          </p:cNvPr>
          <p:cNvSpPr txBox="1"/>
          <p:nvPr/>
        </p:nvSpPr>
        <p:spPr>
          <a:xfrm>
            <a:off x="7447005" y="3251883"/>
            <a:ext cx="4277133" cy="369332"/>
          </a:xfrm>
          <a:prstGeom prst="rect">
            <a:avLst/>
          </a:prstGeom>
          <a:noFill/>
        </p:spPr>
        <p:txBody>
          <a:bodyPr wrap="none" rtlCol="0">
            <a:spAutoFit/>
          </a:bodyPr>
          <a:lstStyle/>
          <a:p>
            <a:r>
              <a:rPr lang="en-US" dirty="0">
                <a:solidFill>
                  <a:schemeClr val="accent6"/>
                </a:solidFill>
              </a:rPr>
              <a:t>Comments! To make it easier to understand</a:t>
            </a:r>
          </a:p>
        </p:txBody>
      </p:sp>
      <p:sp>
        <p:nvSpPr>
          <p:cNvPr id="24" name="Oval 23">
            <a:extLst>
              <a:ext uri="{FF2B5EF4-FFF2-40B4-BE49-F238E27FC236}">
                <a16:creationId xmlns:a16="http://schemas.microsoft.com/office/drawing/2014/main" id="{5A8EE1B9-FECA-6A33-B08A-476ADEA72BA3}"/>
              </a:ext>
            </a:extLst>
          </p:cNvPr>
          <p:cNvSpPr/>
          <p:nvPr/>
        </p:nvSpPr>
        <p:spPr>
          <a:xfrm>
            <a:off x="5947719" y="3591697"/>
            <a:ext cx="1907221"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583FD8B-1D74-FD41-F7CB-CB3A1A6B3F00}"/>
              </a:ext>
            </a:extLst>
          </p:cNvPr>
          <p:cNvSpPr/>
          <p:nvPr/>
        </p:nvSpPr>
        <p:spPr>
          <a:xfrm>
            <a:off x="5778681" y="5074985"/>
            <a:ext cx="2401492"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2FA4185-8F8B-0AC2-6B39-ABA4B4007614}"/>
              </a:ext>
            </a:extLst>
          </p:cNvPr>
          <p:cNvSpPr txBox="1"/>
          <p:nvPr/>
        </p:nvSpPr>
        <p:spPr>
          <a:xfrm>
            <a:off x="7854940" y="4583072"/>
            <a:ext cx="179331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a:t>
            </a:r>
          </a:p>
        </p:txBody>
      </p:sp>
      <p:sp>
        <p:nvSpPr>
          <p:cNvPr id="32" name="TextBox 31">
            <a:extLst>
              <a:ext uri="{FF2B5EF4-FFF2-40B4-BE49-F238E27FC236}">
                <a16:creationId xmlns:a16="http://schemas.microsoft.com/office/drawing/2014/main" id="{C8275144-58E1-97DE-29C9-C4DDE9CC8A55}"/>
              </a:ext>
            </a:extLst>
          </p:cNvPr>
          <p:cNvSpPr txBox="1"/>
          <p:nvPr/>
        </p:nvSpPr>
        <p:spPr>
          <a:xfrm>
            <a:off x="7712917" y="6058823"/>
            <a:ext cx="2071657"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Execute software</a:t>
            </a:r>
          </a:p>
        </p:txBody>
      </p:sp>
      <p:pic>
        <p:nvPicPr>
          <p:cNvPr id="34" name="Picture 33">
            <a:extLst>
              <a:ext uri="{FF2B5EF4-FFF2-40B4-BE49-F238E27FC236}">
                <a16:creationId xmlns:a16="http://schemas.microsoft.com/office/drawing/2014/main" id="{E699C93D-FE6D-EA48-9C94-FC6194793791}"/>
              </a:ext>
            </a:extLst>
          </p:cNvPr>
          <p:cNvPicPr>
            <a:picLocks noChangeAspect="1"/>
          </p:cNvPicPr>
          <p:nvPr/>
        </p:nvPicPr>
        <p:blipFill>
          <a:blip r:embed="rId3"/>
          <a:stretch>
            <a:fillRect/>
          </a:stretch>
        </p:blipFill>
        <p:spPr>
          <a:xfrm>
            <a:off x="6734836" y="1304235"/>
            <a:ext cx="4027817" cy="772905"/>
          </a:xfrm>
          <a:prstGeom prst="rect">
            <a:avLst/>
          </a:prstGeom>
        </p:spPr>
      </p:pic>
      <p:sp>
        <p:nvSpPr>
          <p:cNvPr id="35" name="TextBox 34">
            <a:extLst>
              <a:ext uri="{FF2B5EF4-FFF2-40B4-BE49-F238E27FC236}">
                <a16:creationId xmlns:a16="http://schemas.microsoft.com/office/drawing/2014/main" id="{A4A9E763-C9A1-18A6-C1D2-5837389854E3}"/>
              </a:ext>
            </a:extLst>
          </p:cNvPr>
          <p:cNvSpPr txBox="1"/>
          <p:nvPr/>
        </p:nvSpPr>
        <p:spPr>
          <a:xfrm>
            <a:off x="6652459" y="1004962"/>
            <a:ext cx="1043876" cy="307777"/>
          </a:xfrm>
          <a:prstGeom prst="rect">
            <a:avLst/>
          </a:prstGeom>
          <a:noFill/>
        </p:spPr>
        <p:txBody>
          <a:bodyPr wrap="none" rtlCol="0">
            <a:spAutoFit/>
          </a:bodyPr>
          <a:lstStyle/>
          <a:p>
            <a:r>
              <a:rPr lang="en-US" sz="1400" dirty="0" err="1">
                <a:latin typeface="Menlo" panose="020B0609030804020204" pitchFamily="49" charset="0"/>
                <a:ea typeface="Menlo" panose="020B0609030804020204" pitchFamily="49" charset="0"/>
                <a:cs typeface="Menlo" panose="020B0609030804020204" pitchFamily="49" charset="0"/>
              </a:rPr>
              <a:t>hello.py</a:t>
            </a:r>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36" name="TextBox 35">
            <a:extLst>
              <a:ext uri="{FF2B5EF4-FFF2-40B4-BE49-F238E27FC236}">
                <a16:creationId xmlns:a16="http://schemas.microsoft.com/office/drawing/2014/main" id="{638F080D-5E82-9A9E-E940-44AE2477819F}"/>
              </a:ext>
            </a:extLst>
          </p:cNvPr>
          <p:cNvSpPr txBox="1"/>
          <p:nvPr/>
        </p:nvSpPr>
        <p:spPr>
          <a:xfrm>
            <a:off x="6734836" y="2220302"/>
            <a:ext cx="4202048" cy="369332"/>
          </a:xfrm>
          <a:prstGeom prst="rect">
            <a:avLst/>
          </a:prstGeom>
          <a:noFill/>
        </p:spPr>
        <p:txBody>
          <a:bodyPr wrap="none" rtlCol="0">
            <a:spAutoFit/>
          </a:bodyPr>
          <a:lstStyle/>
          <a:p>
            <a:r>
              <a:rPr lang="en-US" dirty="0"/>
              <a:t>Where do you think this will be printed to?</a:t>
            </a:r>
          </a:p>
        </p:txBody>
      </p:sp>
      <p:pic>
        <p:nvPicPr>
          <p:cNvPr id="8194" name="Picture 2" descr="Punctuation of Life: Question Mark | by Christal Luster | Medium">
            <a:extLst>
              <a:ext uri="{FF2B5EF4-FFF2-40B4-BE49-F238E27FC236}">
                <a16:creationId xmlns:a16="http://schemas.microsoft.com/office/drawing/2014/main" id="{EDDC9123-F609-4E69-703D-D5365D20F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4442" y="2091150"/>
            <a:ext cx="540394" cy="53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17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P spid="29" grpId="0" animBg="1"/>
      <p:bldP spid="31" grpId="0"/>
      <p:bldP spid="32" grpId="0"/>
      <p:bldP spid="35" grpId="0"/>
      <p:bldP spid="3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CD2F-597F-2BB8-4249-BCFAA14371B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F91AAD-E567-7A14-8E3B-1D0CAB0A93F6}"/>
              </a:ext>
            </a:extLst>
          </p:cNvPr>
          <p:cNvSpPr txBox="1"/>
          <p:nvPr/>
        </p:nvSpPr>
        <p:spPr>
          <a:xfrm>
            <a:off x="492209" y="-1324105"/>
            <a:ext cx="7333735" cy="12110623"/>
          </a:xfrm>
          <a:prstGeom prst="rect">
            <a:avLst/>
          </a:prstGeom>
          <a:solidFill>
            <a:schemeClr val="tx1"/>
          </a:solidFill>
        </p:spPr>
        <p:txBody>
          <a:bodyPr wrap="square">
            <a:spAutoFit/>
          </a:bodyPr>
          <a:lstStyle/>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Load modules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module</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load</a:t>
            </a:r>
            <a:r>
              <a:rPr lang="en-US" sz="900" b="0" dirty="0">
                <a:solidFill>
                  <a:srgbClr val="CCCCCC"/>
                </a:solidFill>
                <a:effectLst/>
                <a:latin typeface="Menlo" panose="020B0609030804020204" pitchFamily="49" charset="0"/>
              </a:rPr>
              <a:t> </a:t>
            </a:r>
            <a:r>
              <a:rPr lang="en-US" sz="900" b="0" dirty="0" err="1">
                <a:solidFill>
                  <a:srgbClr val="CE9178"/>
                </a:solidFill>
                <a:effectLst/>
                <a:latin typeface="Menlo" panose="020B0609030804020204" pitchFamily="49" charset="0"/>
              </a:rPr>
              <a:t>apptainer</a:t>
            </a: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Execute commands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Print job start information</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started: $(</a:t>
            </a:r>
            <a:r>
              <a:rPr lang="en-US" sz="900" b="0" dirty="0">
                <a:solidFill>
                  <a:srgbClr val="DCDCAA"/>
                </a:solidFill>
                <a:effectLst/>
                <a:latin typeface="Menlo" panose="020B0609030804020204" pitchFamily="49" charset="0"/>
              </a:rPr>
              <a:t>date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ID: </a:t>
            </a:r>
            <a:r>
              <a:rPr lang="en-US" sz="900" b="0" dirty="0">
                <a:solidFill>
                  <a:srgbClr val="9CDCFE"/>
                </a:solidFill>
                <a:effectLst/>
                <a:latin typeface="Menlo" panose="020B0609030804020204" pitchFamily="49" charset="0"/>
              </a:rPr>
              <a:t>$LSB_JOBID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"Running on host: $(</a:t>
            </a:r>
            <a:r>
              <a:rPr lang="en-US" sz="900" b="0" dirty="0">
                <a:solidFill>
                  <a:srgbClr val="DCDCAA"/>
                </a:solidFill>
                <a:effectLst/>
                <a:latin typeface="Menlo" panose="020B0609030804020204" pitchFamily="49" charset="0"/>
              </a:rPr>
              <a:t>hostname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"Working directory: $(</a:t>
            </a:r>
            <a:r>
              <a:rPr lang="en-US" sz="900" b="0" dirty="0" err="1">
                <a:solidFill>
                  <a:srgbClr val="DCDCAA"/>
                </a:solidFill>
                <a:effectLst/>
                <a:latin typeface="Menlo" panose="020B0609030804020204" pitchFamily="49" charset="0"/>
              </a:rPr>
              <a:t>pwd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p>
          <a:p>
            <a:pPr>
              <a:lnSpc>
                <a:spcPts val="1350"/>
              </a:lnSpc>
              <a:buNone/>
            </a:pPr>
            <a:endParaRPr lang="en-US" sz="900" dirty="0">
              <a:solidFill>
                <a:srgbClr val="CE9178"/>
              </a:solidFill>
              <a:latin typeface="Menlo" panose="020B0609030804020204" pitchFamily="49" charset="0"/>
            </a:endParaRPr>
          </a:p>
          <a:p>
            <a:pPr>
              <a:lnSpc>
                <a:spcPts val="1350"/>
              </a:lnSpc>
              <a:buNone/>
            </a:pP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9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9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9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9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Validate inputs</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container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-f</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Container not found at ${</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input directory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-d</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Input directory not found at ${</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Execute FastQC</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"Running FastQC on sample: ${</a:t>
            </a:r>
            <a:r>
              <a:rPr lang="en-US" sz="900" dirty="0">
                <a:solidFill>
                  <a:srgbClr val="9CDCFE"/>
                </a:solidFill>
                <a:latin typeface="Menlo" panose="020B0609030804020204" pitchFamily="49" charset="0"/>
              </a:rPr>
              <a:t>SAMPLE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err="1">
                <a:solidFill>
                  <a:srgbClr val="DCDCAA"/>
                </a:solidFill>
                <a:latin typeface="Menlo" panose="020B0609030804020204" pitchFamily="49" charset="0"/>
              </a:rPr>
              <a:t>apptainer</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exec</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$BIND</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FASTQC_SIF</a:t>
            </a:r>
            <a:r>
              <a:rPr lang="en-US" sz="900" dirty="0">
                <a:solidFill>
                  <a:srgbClr val="CCCCCC"/>
                </a:solidFill>
                <a:latin typeface="Menlo" panose="020B0609030804020204" pitchFamily="49" charset="0"/>
              </a:rPr>
              <a:t>} </a:t>
            </a:r>
            <a:r>
              <a:rPr lang="en-US" sz="900" dirty="0" err="1">
                <a:solidFill>
                  <a:srgbClr val="CE9178"/>
                </a:solidFill>
                <a:latin typeface="Menlo" panose="020B0609030804020204" pitchFamily="49" charset="0"/>
              </a:rPr>
              <a:t>fastqc</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--threads</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$CPUS</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a:t>
            </a:r>
            <a:r>
              <a:rPr lang="en-US" sz="900" dirty="0" err="1">
                <a:solidFill>
                  <a:srgbClr val="569CD6"/>
                </a:solidFill>
                <a:latin typeface="Menlo" panose="020B0609030804020204" pitchFamily="49" charset="0"/>
              </a:rPr>
              <a:t>outdir</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OUT_DIR</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CCCCC"/>
                </a:solidFill>
                <a:latin typeface="Menlo" panose="020B0609030804020204" pitchFamily="49" charset="0"/>
              </a:rPr>
              <a:t>}</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SAMPLE</a:t>
            </a:r>
            <a:r>
              <a:rPr lang="en-US" sz="900" dirty="0">
                <a:solidFill>
                  <a:srgbClr val="CCCCCC"/>
                </a:solidFill>
                <a:latin typeface="Menlo" panose="020B0609030804020204" pitchFamily="49" charset="0"/>
              </a:rPr>
              <a:t>}</a:t>
            </a:r>
            <a:endParaRPr lang="en-US" sz="900" dirty="0">
              <a:solidFill>
                <a:srgbClr val="CE9178"/>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569CD6"/>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-eq</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0</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else</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FastQC failed with exit code </a:t>
            </a:r>
            <a:r>
              <a:rPr lang="en-US" sz="900" dirty="0">
                <a:solidFill>
                  <a:srgbClr val="569CD6"/>
                </a:solidFill>
                <a:latin typeface="Menlo" panose="020B0609030804020204" pitchFamily="49" charset="0"/>
              </a:rPr>
              <a:t>$?</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br>
              <a:rPr lang="en-US" sz="900" dirty="0">
                <a:solidFill>
                  <a:srgbClr val="CCCCCC"/>
                </a:solidFill>
                <a:latin typeface="Menlo" panose="020B0609030804020204" pitchFamily="49" charset="0"/>
              </a:rPr>
            </a:b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Job completion</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"Job completed: $(</a:t>
            </a:r>
            <a:r>
              <a:rPr lang="en-US" sz="900" dirty="0">
                <a:solidFill>
                  <a:srgbClr val="DCDCAA"/>
                </a:solidFill>
                <a:latin typeface="Menlo" panose="020B0609030804020204" pitchFamily="49" charset="0"/>
              </a:rPr>
              <a:t>date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"Results saved to: ${</a:t>
            </a:r>
            <a:r>
              <a:rPr lang="en-US" sz="900" dirty="0">
                <a:solidFill>
                  <a:srgbClr val="9CDCFE"/>
                </a:solidFill>
                <a:latin typeface="Menlo" panose="020B0609030804020204" pitchFamily="49" charset="0"/>
              </a:rPr>
              <a:t>OUT_DIR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pic>
        <p:nvPicPr>
          <p:cNvPr id="10242" name="Picture 2" descr="that escalated quickly | Slang | Dictionary.com">
            <a:extLst>
              <a:ext uri="{FF2B5EF4-FFF2-40B4-BE49-F238E27FC236}">
                <a16:creationId xmlns:a16="http://schemas.microsoft.com/office/drawing/2014/main" id="{B0F4EBE2-12D4-467F-1453-FA2DB5D36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9976" y="2681880"/>
            <a:ext cx="2683824" cy="2683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96597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949B-0716-23BC-733C-64B116D4DF6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DB00A7B0-3D39-1E98-306B-6A10ECE58D5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17E08DA-5F89-E039-2092-41F6D03155D2}"/>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520BA7AC-F39B-4AA2-E2F0-F5D5A2CE3EA9}"/>
              </a:ext>
            </a:extLst>
          </p:cNvPr>
          <p:cNvSpPr txBox="1"/>
          <p:nvPr/>
        </p:nvSpPr>
        <p:spPr>
          <a:xfrm>
            <a:off x="838200" y="1814511"/>
            <a:ext cx="6096000" cy="4390561"/>
          </a:xfrm>
          <a:prstGeom prst="rect">
            <a:avLst/>
          </a:prstGeom>
          <a:solidFill>
            <a:schemeClr val="tx1"/>
          </a:solidFill>
        </p:spPr>
        <p:txBody>
          <a:bodyPr wrap="square">
            <a:spAutoFit/>
          </a:bodyPr>
          <a:lstStyle/>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Load modules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module</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load</a:t>
            </a:r>
            <a:r>
              <a:rPr lang="en-US" sz="1100" b="0" dirty="0">
                <a:solidFill>
                  <a:srgbClr val="CCCCCC"/>
                </a:solidFill>
                <a:effectLst/>
                <a:latin typeface="Menlo" panose="020B0609030804020204" pitchFamily="49" charset="0"/>
              </a:rPr>
              <a:t> </a:t>
            </a:r>
            <a:r>
              <a:rPr lang="en-US" sz="1100" b="0" dirty="0" err="1">
                <a:solidFill>
                  <a:srgbClr val="CE9178"/>
                </a:solidFill>
                <a:effectLst/>
                <a:latin typeface="Menlo" panose="020B0609030804020204" pitchFamily="49" charset="0"/>
              </a:rPr>
              <a:t>apptainer</a:t>
            </a:r>
            <a:endParaRPr lang="en-US" sz="1100" b="0" dirty="0">
              <a:solidFill>
                <a:srgbClr val="CCCCCC"/>
              </a:solidFill>
              <a:effectLst/>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Execute commands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Print job start information</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started: $(</a:t>
            </a:r>
            <a:r>
              <a:rPr lang="en-US" sz="1100" b="0" dirty="0">
                <a:solidFill>
                  <a:srgbClr val="DCDCAA"/>
                </a:solidFill>
                <a:effectLst/>
                <a:latin typeface="Menlo" panose="020B0609030804020204" pitchFamily="49" charset="0"/>
              </a:rPr>
              <a:t>date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ID: </a:t>
            </a:r>
            <a:r>
              <a:rPr lang="en-US" sz="1100" b="0" dirty="0">
                <a:solidFill>
                  <a:srgbClr val="9CDCFE"/>
                </a:solidFill>
                <a:effectLst/>
                <a:latin typeface="Menlo" panose="020B0609030804020204" pitchFamily="49" charset="0"/>
              </a:rPr>
              <a:t>$LSB_JOBID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"Running on host: $(</a:t>
            </a:r>
            <a:r>
              <a:rPr lang="en-US" sz="1100" b="0" dirty="0">
                <a:solidFill>
                  <a:srgbClr val="DCDCAA"/>
                </a:solidFill>
                <a:effectLst/>
                <a:latin typeface="Menlo" panose="020B0609030804020204" pitchFamily="49" charset="0"/>
              </a:rPr>
              <a:t>hostname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"Working directory: $(</a:t>
            </a:r>
            <a:r>
              <a:rPr lang="en-US" sz="1100" b="0" dirty="0" err="1">
                <a:solidFill>
                  <a:srgbClr val="DCDCAA"/>
                </a:solidFill>
                <a:effectLst/>
                <a:latin typeface="Menlo" panose="020B0609030804020204" pitchFamily="49" charset="0"/>
              </a:rPr>
              <a:t>pwd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p>
          <a:p>
            <a:pPr>
              <a:lnSpc>
                <a:spcPts val="1350"/>
              </a:lnSpc>
              <a:buNone/>
            </a:pPr>
            <a:endParaRPr lang="en-US" sz="1100" dirty="0">
              <a:solidFill>
                <a:srgbClr val="CE9178"/>
              </a:solidFill>
              <a:latin typeface="Menlo" panose="020B0609030804020204" pitchFamily="49" charset="0"/>
            </a:endParaRPr>
          </a:p>
          <a:p>
            <a:pPr>
              <a:lnSpc>
                <a:spcPts val="1350"/>
              </a:lnSpc>
              <a:buNone/>
            </a:pP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11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11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11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11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B5861578-899A-199D-56DF-5A9ADD76F729}"/>
              </a:ext>
            </a:extLst>
          </p:cNvPr>
          <p:cNvSpPr txBox="1"/>
          <p:nvPr/>
        </p:nvSpPr>
        <p:spPr>
          <a:xfrm>
            <a:off x="7204151" y="2317666"/>
            <a:ext cx="376263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 (container manager)</a:t>
            </a:r>
          </a:p>
        </p:txBody>
      </p:sp>
      <p:sp>
        <p:nvSpPr>
          <p:cNvPr id="4" name="TextBox 3">
            <a:extLst>
              <a:ext uri="{FF2B5EF4-FFF2-40B4-BE49-F238E27FC236}">
                <a16:creationId xmlns:a16="http://schemas.microsoft.com/office/drawing/2014/main" id="{00A706A2-9881-7FEF-0BDB-DDDFC0B8AEBF}"/>
              </a:ext>
            </a:extLst>
          </p:cNvPr>
          <p:cNvSpPr txBox="1"/>
          <p:nvPr/>
        </p:nvSpPr>
        <p:spPr>
          <a:xfrm>
            <a:off x="7204151" y="3801671"/>
            <a:ext cx="328051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Info for me to monitor the job</a:t>
            </a:r>
          </a:p>
        </p:txBody>
      </p:sp>
      <p:sp>
        <p:nvSpPr>
          <p:cNvPr id="5" name="TextBox 4">
            <a:extLst>
              <a:ext uri="{FF2B5EF4-FFF2-40B4-BE49-F238E27FC236}">
                <a16:creationId xmlns:a16="http://schemas.microsoft.com/office/drawing/2014/main" id="{69A201C9-03FB-3377-22A0-B9B98C33B380}"/>
              </a:ext>
            </a:extLst>
          </p:cNvPr>
          <p:cNvSpPr txBox="1"/>
          <p:nvPr/>
        </p:nvSpPr>
        <p:spPr>
          <a:xfrm>
            <a:off x="7190753" y="5101010"/>
            <a:ext cx="4151778"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Creating variables with the info needed</a:t>
            </a:r>
            <a:endParaRPr lang="en-US" dirty="0">
              <a:solidFill>
                <a:schemeClr val="accent6">
                  <a:lumMod val="75000"/>
                </a:schemeClr>
              </a:solidFill>
            </a:endParaRPr>
          </a:p>
        </p:txBody>
      </p:sp>
    </p:spTree>
    <p:extLst>
      <p:ext uri="{BB962C8B-B14F-4D97-AF65-F5344CB8AC3E}">
        <p14:creationId xmlns:p14="http://schemas.microsoft.com/office/powerpoint/2010/main" val="455689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ADBA-F6F8-7D30-9B3A-D713A216EA1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63E88C7-09E2-AF5F-794E-084825DAE410}"/>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761F26C-ACE7-57F3-DB4D-34E3716C4BB1}"/>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ADE6BAED-746A-266B-7B4A-4A12D2D28D27}"/>
              </a:ext>
            </a:extLst>
          </p:cNvPr>
          <p:cNvSpPr txBox="1"/>
          <p:nvPr/>
        </p:nvSpPr>
        <p:spPr>
          <a:xfrm>
            <a:off x="838200" y="1951865"/>
            <a:ext cx="6096000" cy="2774734"/>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Validate inputs</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container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-f</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Container not found at ${</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input directory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-d</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Input directory not found at ${</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58E74479-8F97-6D43-12E1-002E38C494A1}"/>
              </a:ext>
            </a:extLst>
          </p:cNvPr>
          <p:cNvSpPr txBox="1"/>
          <p:nvPr/>
        </p:nvSpPr>
        <p:spPr>
          <a:xfrm>
            <a:off x="7314321" y="3154566"/>
            <a:ext cx="466916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Making sure everything is where it should be</a:t>
            </a:r>
            <a:endParaRPr lang="en-US" dirty="0">
              <a:solidFill>
                <a:schemeClr val="accent6">
                  <a:lumMod val="75000"/>
                </a:schemeClr>
              </a:solidFill>
            </a:endParaRPr>
          </a:p>
        </p:txBody>
      </p:sp>
    </p:spTree>
    <p:extLst>
      <p:ext uri="{BB962C8B-B14F-4D97-AF65-F5344CB8AC3E}">
        <p14:creationId xmlns:p14="http://schemas.microsoft.com/office/powerpoint/2010/main" val="159398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1497-B769-E591-A7D8-12A6004EF7F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54DD196-307E-44F3-671E-5CEAD3701AC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2E78DB04-4FF0-24B1-7BE3-699162579345}"/>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3B941D03-DAEB-F44A-A87F-2800BE2F77A2}"/>
              </a:ext>
            </a:extLst>
          </p:cNvPr>
          <p:cNvSpPr txBox="1"/>
          <p:nvPr/>
        </p:nvSpPr>
        <p:spPr>
          <a:xfrm>
            <a:off x="838200" y="1740370"/>
            <a:ext cx="6096000" cy="4929170"/>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Execute FastQC</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"Running FastQC on sample: ${</a:t>
            </a:r>
            <a:r>
              <a:rPr lang="en-US" sz="1100" dirty="0">
                <a:solidFill>
                  <a:srgbClr val="9CDCFE"/>
                </a:solidFill>
                <a:latin typeface="Menlo" panose="020B0609030804020204" pitchFamily="49" charset="0"/>
              </a:rPr>
              <a:t>SAMPLE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err="1">
                <a:solidFill>
                  <a:srgbClr val="DCDCAA"/>
                </a:solidFill>
                <a:latin typeface="Menlo" panose="020B0609030804020204" pitchFamily="49" charset="0"/>
              </a:rPr>
              <a:t>apptainer</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exec</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$BIND</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FASTQC_SIF</a:t>
            </a:r>
            <a:r>
              <a:rPr lang="en-US" sz="1100" dirty="0">
                <a:solidFill>
                  <a:srgbClr val="CCCCCC"/>
                </a:solidFill>
                <a:latin typeface="Menlo" panose="020B0609030804020204" pitchFamily="49" charset="0"/>
              </a:rPr>
              <a:t>} </a:t>
            </a:r>
            <a:r>
              <a:rPr lang="en-US" sz="1100" dirty="0" err="1">
                <a:solidFill>
                  <a:srgbClr val="CE9178"/>
                </a:solidFill>
                <a:latin typeface="Menlo" panose="020B0609030804020204" pitchFamily="49" charset="0"/>
              </a:rPr>
              <a:t>fastqc</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--threads</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$CPUS</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a:t>
            </a:r>
            <a:r>
              <a:rPr lang="en-US" sz="1100" dirty="0" err="1">
                <a:solidFill>
                  <a:srgbClr val="569CD6"/>
                </a:solidFill>
                <a:latin typeface="Menlo" panose="020B0609030804020204" pitchFamily="49" charset="0"/>
              </a:rPr>
              <a:t>outdir</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OUT_DIR</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pP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SAMPLE</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_*.</a:t>
            </a:r>
            <a:r>
              <a:rPr lang="en-US" sz="1100" dirty="0" err="1">
                <a:solidFill>
                  <a:srgbClr val="CE9178"/>
                </a:solidFill>
                <a:latin typeface="Menlo" panose="020B0609030804020204" pitchFamily="49" charset="0"/>
              </a:rPr>
              <a:t>fastq</a:t>
            </a:r>
            <a:r>
              <a:rPr lang="en-US" sz="1100" dirty="0">
                <a:solidFill>
                  <a:srgbClr val="CE9178"/>
                </a:solidFill>
                <a:latin typeface="Menlo" panose="020B0609030804020204" pitchFamily="49" charset="0"/>
              </a:rPr>
              <a:t>*</a:t>
            </a:r>
          </a:p>
          <a:p>
            <a:pPr>
              <a:lnSpc>
                <a:spcPts val="1350"/>
              </a:lnSpc>
            </a:pPr>
            <a:endParaRPr lang="en-US" sz="1100" dirty="0">
              <a:solidFill>
                <a:srgbClr val="CE9178"/>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569CD6"/>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-eq</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0</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else</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FastQC failed with exit code </a:t>
            </a:r>
            <a:r>
              <a:rPr lang="en-US" sz="1100" dirty="0">
                <a:solidFill>
                  <a:srgbClr val="569CD6"/>
                </a:solidFill>
                <a:latin typeface="Menlo" panose="020B0609030804020204" pitchFamily="49" charset="0"/>
              </a:rPr>
              <a:t>$?</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br>
              <a:rPr lang="en-US" sz="1100" dirty="0">
                <a:solidFill>
                  <a:srgbClr val="CCCCCC"/>
                </a:solidFill>
                <a:latin typeface="Menlo" panose="020B0609030804020204" pitchFamily="49" charset="0"/>
              </a:rPr>
            </a:b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Job completion</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"Job completed: $(</a:t>
            </a:r>
            <a:r>
              <a:rPr lang="en-US" sz="1100" dirty="0">
                <a:solidFill>
                  <a:srgbClr val="DCDCAA"/>
                </a:solidFill>
                <a:latin typeface="Menlo" panose="020B0609030804020204" pitchFamily="49" charset="0"/>
              </a:rPr>
              <a:t>date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"Results saved to: ${</a:t>
            </a:r>
            <a:r>
              <a:rPr lang="en-US" sz="1100" dirty="0">
                <a:solidFill>
                  <a:srgbClr val="9CDCFE"/>
                </a:solidFill>
                <a:latin typeface="Menlo" panose="020B0609030804020204" pitchFamily="49" charset="0"/>
              </a:rPr>
              <a:t>OUT_DIR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p:txBody>
      </p:sp>
      <p:sp>
        <p:nvSpPr>
          <p:cNvPr id="2" name="TextBox 1">
            <a:extLst>
              <a:ext uri="{FF2B5EF4-FFF2-40B4-BE49-F238E27FC236}">
                <a16:creationId xmlns:a16="http://schemas.microsoft.com/office/drawing/2014/main" id="{3C74E445-1218-E0FD-A9CC-D00815EC98E2}"/>
              </a:ext>
            </a:extLst>
          </p:cNvPr>
          <p:cNvSpPr txBox="1"/>
          <p:nvPr/>
        </p:nvSpPr>
        <p:spPr>
          <a:xfrm>
            <a:off x="7108375" y="2802653"/>
            <a:ext cx="197554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Executing </a:t>
            </a:r>
            <a:r>
              <a:rPr lang="en-US" dirty="0" err="1">
                <a:solidFill>
                  <a:schemeClr val="accent6">
                    <a:lumMod val="75000"/>
                  </a:schemeClr>
                </a:solidFill>
                <a:sym typeface="Wingdings" pitchFamily="2" charset="2"/>
              </a:rPr>
              <a:t>fastqc</a:t>
            </a:r>
            <a:endParaRPr lang="en-US" dirty="0">
              <a:solidFill>
                <a:schemeClr val="accent6">
                  <a:lumMod val="75000"/>
                </a:schemeClr>
              </a:solidFill>
            </a:endParaRPr>
          </a:p>
        </p:txBody>
      </p:sp>
      <p:sp>
        <p:nvSpPr>
          <p:cNvPr id="4" name="TextBox 3">
            <a:extLst>
              <a:ext uri="{FF2B5EF4-FFF2-40B4-BE49-F238E27FC236}">
                <a16:creationId xmlns:a16="http://schemas.microsoft.com/office/drawing/2014/main" id="{58450522-A0AB-100B-7738-55E67F9F7557}"/>
              </a:ext>
            </a:extLst>
          </p:cNvPr>
          <p:cNvSpPr txBox="1"/>
          <p:nvPr/>
        </p:nvSpPr>
        <p:spPr>
          <a:xfrm>
            <a:off x="7108375" y="4204955"/>
            <a:ext cx="242733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Checking completion</a:t>
            </a:r>
            <a:endParaRPr lang="en-US" dirty="0">
              <a:solidFill>
                <a:schemeClr val="accent6">
                  <a:lumMod val="75000"/>
                </a:schemeClr>
              </a:solidFill>
            </a:endParaRPr>
          </a:p>
        </p:txBody>
      </p:sp>
      <p:sp>
        <p:nvSpPr>
          <p:cNvPr id="5" name="TextBox 4">
            <a:extLst>
              <a:ext uri="{FF2B5EF4-FFF2-40B4-BE49-F238E27FC236}">
                <a16:creationId xmlns:a16="http://schemas.microsoft.com/office/drawing/2014/main" id="{2854E549-F846-FD04-7F9C-F40B58118702}"/>
              </a:ext>
            </a:extLst>
          </p:cNvPr>
          <p:cNvSpPr txBox="1"/>
          <p:nvPr/>
        </p:nvSpPr>
        <p:spPr>
          <a:xfrm>
            <a:off x="7108374" y="5864879"/>
            <a:ext cx="385477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Last piece of info about job finishing</a:t>
            </a:r>
            <a:endParaRPr lang="en-US" dirty="0">
              <a:solidFill>
                <a:schemeClr val="accent6">
                  <a:lumMod val="75000"/>
                </a:schemeClr>
              </a:solidFill>
            </a:endParaRPr>
          </a:p>
        </p:txBody>
      </p:sp>
    </p:spTree>
    <p:extLst>
      <p:ext uri="{BB962C8B-B14F-4D97-AF65-F5344CB8AC3E}">
        <p14:creationId xmlns:p14="http://schemas.microsoft.com/office/powerpoint/2010/main" val="271137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D8ECB-FB4D-37F3-8A7B-5E852E4E558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B1DA2C5-64DC-0D69-C8D6-37D83EEDA979}"/>
              </a:ext>
            </a:extLst>
          </p:cNvPr>
          <p:cNvSpPr>
            <a:spLocks noGrp="1"/>
          </p:cNvSpPr>
          <p:nvPr>
            <p:ph type="title"/>
          </p:nvPr>
        </p:nvSpPr>
        <p:spPr>
          <a:xfrm>
            <a:off x="838200" y="365125"/>
            <a:ext cx="10515600" cy="1325563"/>
          </a:xfrm>
        </p:spPr>
        <p:txBody>
          <a:bodyPr/>
          <a:lstStyle/>
          <a:p>
            <a:r>
              <a:rPr lang="en-US" dirty="0"/>
              <a:t>Monitoring jobs</a:t>
            </a:r>
          </a:p>
        </p:txBody>
      </p:sp>
      <p:graphicFrame>
        <p:nvGraphicFramePr>
          <p:cNvPr id="6" name="Table 5">
            <a:extLst>
              <a:ext uri="{FF2B5EF4-FFF2-40B4-BE49-F238E27FC236}">
                <a16:creationId xmlns:a16="http://schemas.microsoft.com/office/drawing/2014/main" id="{6233BCAE-DB0A-09FB-83F4-09421FE686E3}"/>
              </a:ext>
            </a:extLst>
          </p:cNvPr>
          <p:cNvGraphicFramePr>
            <a:graphicFrameLocks noGrp="1"/>
          </p:cNvGraphicFramePr>
          <p:nvPr>
            <p:extLst>
              <p:ext uri="{D42A27DB-BD31-4B8C-83A1-F6EECF244321}">
                <p14:modId xmlns:p14="http://schemas.microsoft.com/office/powerpoint/2010/main" val="10081048"/>
              </p:ext>
            </p:extLst>
          </p:nvPr>
        </p:nvGraphicFramePr>
        <p:xfrm>
          <a:off x="1471222" y="1752657"/>
          <a:ext cx="9511875" cy="4414652"/>
        </p:xfrm>
        <a:graphic>
          <a:graphicData uri="http://schemas.openxmlformats.org/drawingml/2006/table">
            <a:tbl>
              <a:tblPr>
                <a:tableStyleId>{5940675A-B579-460E-94D1-54222C63F5DA}</a:tableStyleId>
              </a:tblPr>
              <a:tblGrid>
                <a:gridCol w="2449989">
                  <a:extLst>
                    <a:ext uri="{9D8B030D-6E8A-4147-A177-3AD203B41FA5}">
                      <a16:colId xmlns:a16="http://schemas.microsoft.com/office/drawing/2014/main" val="781737231"/>
                    </a:ext>
                  </a:extLst>
                </a:gridCol>
                <a:gridCol w="2133600">
                  <a:extLst>
                    <a:ext uri="{9D8B030D-6E8A-4147-A177-3AD203B41FA5}">
                      <a16:colId xmlns:a16="http://schemas.microsoft.com/office/drawing/2014/main" val="2929326273"/>
                    </a:ext>
                  </a:extLst>
                </a:gridCol>
                <a:gridCol w="4928286">
                  <a:extLst>
                    <a:ext uri="{9D8B030D-6E8A-4147-A177-3AD203B41FA5}">
                      <a16:colId xmlns:a16="http://schemas.microsoft.com/office/drawing/2014/main" val="1393478982"/>
                    </a:ext>
                  </a:extLst>
                </a:gridCol>
              </a:tblGrid>
              <a:tr h="200061">
                <a:tc>
                  <a:txBody>
                    <a:bodyPr/>
                    <a:lstStyle/>
                    <a:p>
                      <a:pPr algn="l">
                        <a:buNone/>
                      </a:pPr>
                      <a:r>
                        <a:rPr lang="en-US" sz="1400" b="1">
                          <a:effectLst/>
                        </a:rPr>
                        <a:t>Command Category</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a:effectLst/>
                        </a:rPr>
                        <a:t>Command Syntax</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dirty="0">
                          <a:effectLst/>
                        </a:rPr>
                        <a:t>Description</a:t>
                      </a:r>
                      <a:endParaRPr lang="en-US" sz="1400" b="1" dirty="0">
                        <a:effectLst/>
                        <a:latin typeface="+mn-lt"/>
                      </a:endParaRPr>
                    </a:p>
                  </a:txBody>
                  <a:tcPr marL="50015" marR="50015" marT="25008" marB="25008">
                    <a:solidFill>
                      <a:schemeClr val="bg1">
                        <a:lumMod val="95000"/>
                      </a:schemeClr>
                    </a:solidFill>
                  </a:tcPr>
                </a:tc>
                <a:extLst>
                  <a:ext uri="{0D108BD9-81ED-4DB2-BD59-A6C34878D82A}">
                    <a16:rowId xmlns:a16="http://schemas.microsoft.com/office/drawing/2014/main" val="1939979122"/>
                  </a:ext>
                </a:extLst>
              </a:tr>
              <a:tr h="950292">
                <a:tc>
                  <a:txBody>
                    <a:bodyPr/>
                    <a:lstStyle/>
                    <a:p>
                      <a:pPr algn="l">
                        <a:buNone/>
                      </a:pPr>
                      <a:r>
                        <a:rPr lang="en-US" sz="1400" b="0">
                          <a:effectLst/>
                        </a:rPr>
                        <a:t>Submission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bsub &lt; yourjob.sh</a:t>
                      </a:r>
                      <a:endParaRPr lang="en-US" sz="1400">
                        <a:effectLst/>
                        <a:latin typeface="+mn-lt"/>
                      </a:endParaRPr>
                    </a:p>
                  </a:txBody>
                  <a:tcPr marL="50015" marR="50015" marT="25008" marB="25008"/>
                </a:tc>
                <a:tc>
                  <a:txBody>
                    <a:bodyPr/>
                    <a:lstStyle/>
                    <a:p>
                      <a:pPr algn="l">
                        <a:buNone/>
                      </a:pPr>
                      <a:r>
                        <a:rPr lang="en-US" sz="1400" b="1" dirty="0">
                          <a:effectLst/>
                        </a:rPr>
                        <a:t>Submits</a:t>
                      </a:r>
                      <a:r>
                        <a:rPr lang="en-US" sz="1400" dirty="0">
                          <a:effectLst/>
                        </a:rPr>
                        <a:t> the job script (</a:t>
                      </a:r>
                      <a:r>
                        <a:rPr lang="en-US" sz="1400" b="0" dirty="0" err="1">
                          <a:solidFill>
                            <a:srgbClr val="7D12BA"/>
                          </a:solidFill>
                          <a:effectLst/>
                        </a:rPr>
                        <a:t>yourjob.sh</a:t>
                      </a:r>
                      <a:r>
                        <a:rPr lang="en-US" sz="1400" dirty="0">
                          <a:effectLst/>
                        </a:rPr>
                        <a:t>) to the LSF scheduler. The scheduler processes the </a:t>
                      </a:r>
                      <a:r>
                        <a:rPr lang="en-US" sz="1400" b="0" dirty="0">
                          <a:solidFill>
                            <a:srgbClr val="7D12BA"/>
                          </a:solidFill>
                          <a:effectLst/>
                        </a:rPr>
                        <a:t>#BSUB</a:t>
                      </a:r>
                      <a:r>
                        <a:rPr lang="en-US" sz="1400" dirty="0">
                          <a:effectLst/>
                        </a:rPr>
                        <a:t> directives within the script.</a:t>
                      </a:r>
                      <a:endParaRPr lang="en-US" sz="1400" dirty="0">
                        <a:effectLst/>
                        <a:latin typeface="+mn-lt"/>
                      </a:endParaRPr>
                    </a:p>
                  </a:txBody>
                  <a:tcPr marL="50015" marR="50015" marT="25008" marB="25008"/>
                </a:tc>
                <a:extLst>
                  <a:ext uri="{0D108BD9-81ED-4DB2-BD59-A6C34878D82A}">
                    <a16:rowId xmlns:a16="http://schemas.microsoft.com/office/drawing/2014/main" val="2217222555"/>
                  </a:ext>
                </a:extLst>
              </a:tr>
              <a:tr h="650200">
                <a:tc>
                  <a:txBody>
                    <a:bodyPr/>
                    <a:lstStyle/>
                    <a:p>
                      <a:pPr algn="l">
                        <a:buNone/>
                      </a:pPr>
                      <a:r>
                        <a:rPr lang="en-US" sz="1400" b="0">
                          <a:effectLst/>
                        </a:rPr>
                        <a:t>Status Check</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a:t>
                      </a:r>
                      <a:endParaRPr lang="en-US" sz="1400">
                        <a:effectLst/>
                        <a:latin typeface="+mn-lt"/>
                      </a:endParaRPr>
                    </a:p>
                  </a:txBody>
                  <a:tcPr marL="50015" marR="50015" marT="25008" marB="25008"/>
                </a:tc>
                <a:tc>
                  <a:txBody>
                    <a:bodyPr/>
                    <a:lstStyle/>
                    <a:p>
                      <a:pPr algn="l">
                        <a:buNone/>
                      </a:pPr>
                      <a:r>
                        <a:rPr lang="en-US" sz="1400">
                          <a:effectLst/>
                        </a:rPr>
                        <a:t>Displays a list of </a:t>
                      </a:r>
                      <a:r>
                        <a:rPr lang="en-US" sz="1400" b="1">
                          <a:effectLst/>
                        </a:rPr>
                        <a:t>all your jobs</a:t>
                      </a:r>
                      <a:r>
                        <a:rPr lang="en-US" sz="1400">
                          <a:effectLst/>
                        </a:rPr>
                        <a:t> (running, pending, suspended, etc.) and their current status.</a:t>
                      </a:r>
                      <a:endParaRPr lang="en-US" sz="1400">
                        <a:effectLst/>
                        <a:latin typeface="+mn-lt"/>
                      </a:endParaRPr>
                    </a:p>
                  </a:txBody>
                  <a:tcPr marL="50015" marR="50015" marT="25008" marB="25008"/>
                </a:tc>
                <a:extLst>
                  <a:ext uri="{0D108BD9-81ED-4DB2-BD59-A6C34878D82A}">
                    <a16:rowId xmlns:a16="http://schemas.microsoft.com/office/drawing/2014/main" val="186152943"/>
                  </a:ext>
                </a:extLst>
              </a:tr>
              <a:tr h="950292">
                <a:tc>
                  <a:txBody>
                    <a:bodyPr/>
                    <a:lstStyle/>
                    <a:p>
                      <a:pPr algn="l">
                        <a:buNone/>
                      </a:pPr>
                      <a:r>
                        <a:rPr lang="en-US" sz="1400" b="0">
                          <a:effectLst/>
                        </a:rPr>
                        <a:t>Detailed Status</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 -l [JOBID]</a:t>
                      </a:r>
                      <a:endParaRPr lang="en-US" sz="1400">
                        <a:effectLst/>
                        <a:latin typeface="+mn-lt"/>
                      </a:endParaRPr>
                    </a:p>
                  </a:txBody>
                  <a:tcPr marL="50015" marR="50015" marT="25008" marB="25008"/>
                </a:tc>
                <a:tc>
                  <a:txBody>
                    <a:bodyPr/>
                    <a:lstStyle/>
                    <a:p>
                      <a:pPr algn="l">
                        <a:buNone/>
                      </a:pPr>
                      <a:r>
                        <a:rPr lang="en-US" sz="1400">
                          <a:effectLst/>
                        </a:rPr>
                        <a:t>Provides a </a:t>
                      </a:r>
                      <a:r>
                        <a:rPr lang="en-US" sz="1400" b="1">
                          <a:effectLst/>
                        </a:rPr>
                        <a:t>detailed report</a:t>
                      </a:r>
                      <a:r>
                        <a:rPr lang="en-US" sz="1400">
                          <a:effectLst/>
                        </a:rPr>
                        <a:t> on a specific job, including the execution host, resource usage, and waiting reasons (if pending).</a:t>
                      </a:r>
                      <a:endParaRPr lang="en-US" sz="1400">
                        <a:effectLst/>
                        <a:latin typeface="+mn-lt"/>
                      </a:endParaRPr>
                    </a:p>
                  </a:txBody>
                  <a:tcPr marL="50015" marR="50015" marT="25008" marB="25008"/>
                </a:tc>
                <a:extLst>
                  <a:ext uri="{0D108BD9-81ED-4DB2-BD59-A6C34878D82A}">
                    <a16:rowId xmlns:a16="http://schemas.microsoft.com/office/drawing/2014/main" val="653568873"/>
                  </a:ext>
                </a:extLst>
              </a:tr>
              <a:tr h="800246">
                <a:tc>
                  <a:txBody>
                    <a:bodyPr/>
                    <a:lstStyle/>
                    <a:p>
                      <a:pPr algn="l">
                        <a:buNone/>
                      </a:pPr>
                      <a:r>
                        <a:rPr lang="en-US" sz="1400" b="0">
                          <a:effectLst/>
                        </a:rPr>
                        <a:t>Termination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bkill [JOBID]</a:t>
                      </a:r>
                      <a:endParaRPr lang="en-US" sz="1400">
                        <a:effectLst/>
                        <a:latin typeface="+mn-lt"/>
                      </a:endParaRPr>
                    </a:p>
                  </a:txBody>
                  <a:tcPr marL="50015" marR="50015" marT="25008" marB="25008"/>
                </a:tc>
                <a:tc>
                  <a:txBody>
                    <a:bodyPr/>
                    <a:lstStyle/>
                    <a:p>
                      <a:pPr algn="l">
                        <a:buNone/>
                      </a:pPr>
                      <a:r>
                        <a:rPr lang="en-US" sz="1400" b="1">
                          <a:effectLst/>
                        </a:rPr>
                        <a:t>Terminates</a:t>
                      </a:r>
                      <a:r>
                        <a:rPr lang="en-US" sz="1400">
                          <a:effectLst/>
                        </a:rPr>
                        <a:t> (kills) a running or pending job instantly. Use this if your job is faulty or you no longer need the results.</a:t>
                      </a:r>
                      <a:endParaRPr lang="en-US" sz="1400">
                        <a:effectLst/>
                        <a:latin typeface="+mn-lt"/>
                      </a:endParaRPr>
                    </a:p>
                  </a:txBody>
                  <a:tcPr marL="50015" marR="50015" marT="25008" marB="25008"/>
                </a:tc>
                <a:extLst>
                  <a:ext uri="{0D108BD9-81ED-4DB2-BD59-A6C34878D82A}">
                    <a16:rowId xmlns:a16="http://schemas.microsoft.com/office/drawing/2014/main" val="1323761484"/>
                  </a:ext>
                </a:extLst>
              </a:tr>
              <a:tr h="800246">
                <a:tc>
                  <a:txBody>
                    <a:bodyPr/>
                    <a:lstStyle/>
                    <a:p>
                      <a:pPr algn="l">
                        <a:buNone/>
                      </a:pPr>
                      <a:r>
                        <a:rPr lang="en-US" sz="1400" b="0" dirty="0">
                          <a:effectLst/>
                        </a:rPr>
                        <a:t>Resource Inquiry</a:t>
                      </a:r>
                      <a:endParaRPr lang="en-US" sz="1400" b="0" dirty="0">
                        <a:effectLst/>
                        <a:latin typeface="+mn-lt"/>
                      </a:endParaRPr>
                    </a:p>
                  </a:txBody>
                  <a:tcPr marL="50015" marR="50015" marT="25008" marB="25008"/>
                </a:tc>
                <a:tc>
                  <a:txBody>
                    <a:bodyPr/>
                    <a:lstStyle/>
                    <a:p>
                      <a:pPr algn="l">
                        <a:buNone/>
                      </a:pPr>
                      <a:r>
                        <a:rPr lang="en-US" sz="1400" b="0">
                          <a:solidFill>
                            <a:srgbClr val="7D12BA"/>
                          </a:solidFill>
                          <a:effectLst/>
                        </a:rPr>
                        <a:t>bhosts</a:t>
                      </a:r>
                      <a:endParaRPr lang="en-US" sz="1400">
                        <a:effectLst/>
                        <a:latin typeface="+mn-lt"/>
                      </a:endParaRPr>
                    </a:p>
                  </a:txBody>
                  <a:tcPr marL="50015" marR="50015" marT="25008" marB="25008"/>
                </a:tc>
                <a:tc>
                  <a:txBody>
                    <a:bodyPr/>
                    <a:lstStyle/>
                    <a:p>
                      <a:pPr algn="l">
                        <a:buNone/>
                      </a:pPr>
                      <a:r>
                        <a:rPr lang="en-US" sz="1400" dirty="0">
                          <a:effectLst/>
                        </a:rPr>
                        <a:t>Shows the </a:t>
                      </a:r>
                      <a:r>
                        <a:rPr lang="en-US" sz="1400" b="1" dirty="0">
                          <a:effectLst/>
                        </a:rPr>
                        <a:t>status of the compute nodes</a:t>
                      </a:r>
                      <a:r>
                        <a:rPr lang="en-US" sz="1400" dirty="0">
                          <a:effectLst/>
                        </a:rPr>
                        <a:t> in the cluster, indicating which are available, busy, or otherwise unavailable.</a:t>
                      </a:r>
                      <a:endParaRPr lang="en-US" sz="1400" dirty="0">
                        <a:effectLst/>
                        <a:latin typeface="+mn-lt"/>
                      </a:endParaRPr>
                    </a:p>
                  </a:txBody>
                  <a:tcPr marL="50015" marR="50015" marT="25008" marB="25008"/>
                </a:tc>
                <a:extLst>
                  <a:ext uri="{0D108BD9-81ED-4DB2-BD59-A6C34878D82A}">
                    <a16:rowId xmlns:a16="http://schemas.microsoft.com/office/drawing/2014/main" val="2845520113"/>
                  </a:ext>
                </a:extLst>
              </a:tr>
            </a:tbl>
          </a:graphicData>
        </a:graphic>
      </p:graphicFrame>
    </p:spTree>
    <p:extLst>
      <p:ext uri="{BB962C8B-B14F-4D97-AF65-F5344CB8AC3E}">
        <p14:creationId xmlns:p14="http://schemas.microsoft.com/office/powerpoint/2010/main" val="16938799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BC08F-7471-5381-1F2F-2D002CE9911B}"/>
              </a:ext>
            </a:extLst>
          </p:cNvPr>
          <p:cNvSpPr>
            <a:spLocks noGrp="1"/>
          </p:cNvSpPr>
          <p:nvPr>
            <p:ph idx="1"/>
          </p:nvPr>
        </p:nvSpPr>
        <p:spPr/>
        <p:txBody>
          <a:bodyPr/>
          <a:lstStyle/>
          <a:p>
            <a:r>
              <a:rPr lang="en-US" dirty="0"/>
              <a:t>Write a job script </a:t>
            </a:r>
            <a:r>
              <a:rPr lang="en-US" i="1" dirty="0">
                <a:solidFill>
                  <a:schemeClr val="bg1">
                    <a:lumMod val="65000"/>
                  </a:schemeClr>
                </a:solidFill>
              </a:rPr>
              <a:t>(it can do anything, make a directory, move something, remove something, doesn’t matter)</a:t>
            </a:r>
          </a:p>
          <a:p>
            <a:r>
              <a:rPr lang="en-US" dirty="0"/>
              <a:t>Submit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&lt;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jobname.lsf</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Explore the standard error and output</a:t>
            </a:r>
          </a:p>
          <a:p>
            <a:r>
              <a:rPr lang="en-US" dirty="0"/>
              <a:t>“Babysit”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bjobs</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If it is not done cancel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bkill</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[JOBID]</a:t>
            </a:r>
            <a:endParaRPr lang="en-US" dirty="0">
              <a:solidFill>
                <a:schemeClr val="accent6"/>
              </a:solidFill>
              <a:latin typeface="Menlo" panose="020B0609030804020204" pitchFamily="49" charset="0"/>
              <a:ea typeface="Menlo" panose="020B0609030804020204" pitchFamily="49" charset="0"/>
              <a:cs typeface="Menlo" panose="020B0609030804020204" pitchFamily="49" charset="0"/>
            </a:endParaRPr>
          </a:p>
        </p:txBody>
      </p:sp>
      <p:sp>
        <p:nvSpPr>
          <p:cNvPr id="4" name="Title 1">
            <a:extLst>
              <a:ext uri="{FF2B5EF4-FFF2-40B4-BE49-F238E27FC236}">
                <a16:creationId xmlns:a16="http://schemas.microsoft.com/office/drawing/2014/main" id="{ECB8D682-E264-0FB3-69A8-A207DD6418E3}"/>
              </a:ext>
            </a:extLst>
          </p:cNvPr>
          <p:cNvSpPr>
            <a:spLocks noGrp="1"/>
          </p:cNvSpPr>
          <p:nvPr>
            <p:ph type="title"/>
          </p:nvPr>
        </p:nvSpPr>
        <p:spPr>
          <a:xfrm>
            <a:off x="838200" y="365125"/>
            <a:ext cx="10515600" cy="1325563"/>
          </a:xfrm>
        </p:spPr>
        <p:txBody>
          <a:bodyPr/>
          <a:lstStyle/>
          <a:p>
            <a:r>
              <a:rPr lang="en-US" dirty="0"/>
              <a:t>Activity</a:t>
            </a:r>
          </a:p>
        </p:txBody>
      </p:sp>
      <p:pic>
        <p:nvPicPr>
          <p:cNvPr id="5" name="Picture 6" descr="coding Symbol mark in filled style 47628836 Vector Art at Vecteezy">
            <a:extLst>
              <a:ext uri="{FF2B5EF4-FFF2-40B4-BE49-F238E27FC236}">
                <a16:creationId xmlns:a16="http://schemas.microsoft.com/office/drawing/2014/main" id="{8684A2B2-1D5B-3B43-D72A-343A8DA2F344}"/>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459892" y="441589"/>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584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1F5B-F957-1AF8-B272-6F5807735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F7DFD-2DE2-D43B-7B8C-BD8523AC3996}"/>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74D9CF72-7E75-12CA-E4A2-A7440DF33B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B60CE9F-0A82-CED1-F0B9-47E2658F2A1C}"/>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E3AA0FEB-409C-0180-0435-8BB66F1464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8EFF3F8F-5D58-FCF2-5101-C105ADF6FCEA}"/>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40219838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2230</TotalTime>
  <Words>6281</Words>
  <Application>Microsoft Macintosh PowerPoint</Application>
  <PresentationFormat>Widescreen</PresentationFormat>
  <Paragraphs>852</Paragraphs>
  <Slides>57</Slides>
  <Notes>24</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57</vt:i4>
      </vt:variant>
    </vt:vector>
  </HeadingPairs>
  <TitlesOfParts>
    <vt:vector size="68" baseType="lpstr">
      <vt:lpstr>Arial</vt:lpstr>
      <vt:lpstr>Calibri</vt:lpstr>
      <vt:lpstr>Calibri Light</vt:lpstr>
      <vt:lpstr>Helvetica</vt:lpstr>
      <vt:lpstr>Helvetica Light</vt:lpstr>
      <vt:lpstr>Helvetica Light Oblique</vt:lpstr>
      <vt:lpstr>Menlo</vt:lpstr>
      <vt:lpstr>SFMono-Regular</vt:lpstr>
      <vt:lpstr>system-ui</vt:lpstr>
      <vt:lpstr>Wingdings</vt:lpstr>
      <vt:lpstr>Office Theme</vt:lpstr>
      <vt:lpstr>BRC workshops: Hazel HPC</vt:lpstr>
      <vt:lpstr>About us</vt:lpstr>
      <vt:lpstr>Leave us your feedback!</vt:lpstr>
      <vt:lpstr>Workshop logistics</vt:lpstr>
      <vt:lpstr>Workshop Structure</vt:lpstr>
      <vt:lpstr>Today…</vt:lpstr>
      <vt:lpstr>PowerPoint Presentation</vt:lpstr>
      <vt:lpstr>The bioinformatics data challenge</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PowerPoint Presentation</vt:lpstr>
      <vt:lpstr>What is a job</vt:lpstr>
      <vt:lpstr>Job scheduler (LSF)</vt:lpstr>
      <vt:lpstr>Interactive jobs</vt:lpstr>
      <vt:lpstr>Let’s try it!</vt:lpstr>
      <vt:lpstr>Anatomy of a job script</vt:lpstr>
      <vt:lpstr>Anatomy of a job script</vt:lpstr>
      <vt:lpstr>PowerPoint Presentation</vt:lpstr>
      <vt:lpstr>Anatomy of a job script</vt:lpstr>
      <vt:lpstr>Anatomy of a job script</vt:lpstr>
      <vt:lpstr>Anatomy of a job script</vt:lpstr>
      <vt:lpstr>Monitoring jobs</vt:lpstr>
      <vt:lpstr>Activity</vt:lpstr>
      <vt:lpstr>PowerPoint Presentation</vt:lpstr>
      <vt:lpstr>Leave us your feedback!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42</cp:revision>
  <dcterms:created xsi:type="dcterms:W3CDTF">2025-10-27T16:12:08Z</dcterms:created>
  <dcterms:modified xsi:type="dcterms:W3CDTF">2026-05-11T20:38:38Z</dcterms:modified>
</cp:coreProperties>
</file>