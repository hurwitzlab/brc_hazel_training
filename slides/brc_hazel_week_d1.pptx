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8"/>
  </p:notesMasterIdLst>
  <p:sldIdLst>
    <p:sldId id="256" r:id="rId2"/>
    <p:sldId id="259" r:id="rId3"/>
    <p:sldId id="258" r:id="rId4"/>
    <p:sldId id="301" r:id="rId5"/>
    <p:sldId id="291" r:id="rId6"/>
    <p:sldId id="296" r:id="rId7"/>
    <p:sldId id="260" r:id="rId8"/>
    <p:sldId id="261" r:id="rId9"/>
    <p:sldId id="262" r:id="rId10"/>
    <p:sldId id="263" r:id="rId11"/>
    <p:sldId id="264" r:id="rId12"/>
    <p:sldId id="272" r:id="rId13"/>
    <p:sldId id="274" r:id="rId14"/>
    <p:sldId id="265" r:id="rId15"/>
    <p:sldId id="273" r:id="rId16"/>
    <p:sldId id="266" r:id="rId17"/>
    <p:sldId id="298" r:id="rId18"/>
    <p:sldId id="299" r:id="rId19"/>
    <p:sldId id="267" r:id="rId20"/>
    <p:sldId id="275" r:id="rId21"/>
    <p:sldId id="268" r:id="rId22"/>
    <p:sldId id="276" r:id="rId23"/>
    <p:sldId id="277" r:id="rId24"/>
    <p:sldId id="278" r:id="rId25"/>
    <p:sldId id="269" r:id="rId26"/>
    <p:sldId id="270" r:id="rId27"/>
    <p:sldId id="271" r:id="rId28"/>
    <p:sldId id="279" r:id="rId29"/>
    <p:sldId id="280" r:id="rId30"/>
    <p:sldId id="281" r:id="rId31"/>
    <p:sldId id="282" r:id="rId32"/>
    <p:sldId id="283" r:id="rId33"/>
    <p:sldId id="284" r:id="rId34"/>
    <p:sldId id="285" r:id="rId35"/>
    <p:sldId id="286" r:id="rId36"/>
    <p:sldId id="300" r:id="rId37"/>
    <p:sldId id="287" r:id="rId38"/>
    <p:sldId id="288" r:id="rId39"/>
    <p:sldId id="289" r:id="rId40"/>
    <p:sldId id="290" r:id="rId41"/>
    <p:sldId id="292" r:id="rId42"/>
    <p:sldId id="306" r:id="rId43"/>
    <p:sldId id="318" r:id="rId44"/>
    <p:sldId id="319" r:id="rId45"/>
    <p:sldId id="320" r:id="rId46"/>
    <p:sldId id="321" r:id="rId47"/>
    <p:sldId id="322" r:id="rId48"/>
    <p:sldId id="323" r:id="rId49"/>
    <p:sldId id="324" r:id="rId50"/>
    <p:sldId id="327" r:id="rId51"/>
    <p:sldId id="325" r:id="rId52"/>
    <p:sldId id="326" r:id="rId53"/>
    <p:sldId id="328" r:id="rId54"/>
    <p:sldId id="329" r:id="rId55"/>
    <p:sldId id="293" r:id="rId56"/>
    <p:sldId id="317"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E9178"/>
    <a:srgbClr val="DCDDAA"/>
    <a:srgbClr val="9DDDFE"/>
    <a:srgbClr val="7030A0"/>
    <a:srgbClr val="D8000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370"/>
    <p:restoredTop sz="94798"/>
  </p:normalViewPr>
  <p:slideViewPr>
    <p:cSldViewPr snapToGrid="0">
      <p:cViewPr>
        <p:scale>
          <a:sx n="106" d="100"/>
          <a:sy n="106" d="100"/>
        </p:scale>
        <p:origin x="1592" y="3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27B1BB-B1A5-EC45-BF3A-DF1134B2DC02}" type="datetimeFigureOut">
              <a:rPr lang="en-US" smtClean="0"/>
              <a:t>5/4/26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FC26C8-C37B-D543-9AB9-4FE91B5DFE38}" type="slidenum">
              <a:rPr lang="en-US" smtClean="0"/>
              <a:t>‹#›</a:t>
            </a:fld>
            <a:endParaRPr lang="en-US"/>
          </a:p>
        </p:txBody>
      </p:sp>
    </p:spTree>
    <p:extLst>
      <p:ext uri="{BB962C8B-B14F-4D97-AF65-F5344CB8AC3E}">
        <p14:creationId xmlns:p14="http://schemas.microsoft.com/office/powerpoint/2010/main" val="1254257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3</a:t>
            </a:fld>
            <a:endParaRPr lang="en-US"/>
          </a:p>
        </p:txBody>
      </p:sp>
    </p:spTree>
    <p:extLst>
      <p:ext uri="{BB962C8B-B14F-4D97-AF65-F5344CB8AC3E}">
        <p14:creationId xmlns:p14="http://schemas.microsoft.com/office/powerpoint/2010/main" val="9355845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5</a:t>
            </a:fld>
            <a:endParaRPr lang="en-US"/>
          </a:p>
        </p:txBody>
      </p:sp>
    </p:spTree>
    <p:extLst>
      <p:ext uri="{BB962C8B-B14F-4D97-AF65-F5344CB8AC3E}">
        <p14:creationId xmlns:p14="http://schemas.microsoft.com/office/powerpoint/2010/main" val="13970086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20</a:t>
            </a:fld>
            <a:endParaRPr lang="en-US"/>
          </a:p>
        </p:txBody>
      </p:sp>
    </p:spTree>
    <p:extLst>
      <p:ext uri="{BB962C8B-B14F-4D97-AF65-F5344CB8AC3E}">
        <p14:creationId xmlns:p14="http://schemas.microsoft.com/office/powerpoint/2010/main" val="378576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26</a:t>
            </a:fld>
            <a:endParaRPr lang="en-US"/>
          </a:p>
        </p:txBody>
      </p:sp>
    </p:spTree>
    <p:extLst>
      <p:ext uri="{BB962C8B-B14F-4D97-AF65-F5344CB8AC3E}">
        <p14:creationId xmlns:p14="http://schemas.microsoft.com/office/powerpoint/2010/main" val="26653566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AFF41-CC3F-5A0E-418C-1D40D7AE19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A67B53-6DF2-B104-2BD0-930901CF29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9DD57C-C4C4-9EAE-E160-B526DB1FD7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C1B777-880E-7E79-34BA-0435F7700F41}"/>
              </a:ext>
            </a:extLst>
          </p:cNvPr>
          <p:cNvSpPr>
            <a:spLocks noGrp="1"/>
          </p:cNvSpPr>
          <p:nvPr>
            <p:ph type="sldNum" sz="quarter" idx="5"/>
          </p:nvPr>
        </p:nvSpPr>
        <p:spPr/>
        <p:txBody>
          <a:bodyPr/>
          <a:lstStyle/>
          <a:p>
            <a:fld id="{13FC26C8-C37B-D543-9AB9-4FE91B5DFE38}" type="slidenum">
              <a:rPr lang="en-US" smtClean="0"/>
              <a:t>27</a:t>
            </a:fld>
            <a:endParaRPr lang="en-US"/>
          </a:p>
        </p:txBody>
      </p:sp>
    </p:spTree>
    <p:extLst>
      <p:ext uri="{BB962C8B-B14F-4D97-AF65-F5344CB8AC3E}">
        <p14:creationId xmlns:p14="http://schemas.microsoft.com/office/powerpoint/2010/main" val="1896466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62632-F0A1-B2AD-69EE-842C8139D0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9173C9-DFBF-411B-3B20-D7F3D900C9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364C56-706C-85FF-1B61-3AC725E041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AF1565-7A23-778A-7899-08591CDB8455}"/>
              </a:ext>
            </a:extLst>
          </p:cNvPr>
          <p:cNvSpPr>
            <a:spLocks noGrp="1"/>
          </p:cNvSpPr>
          <p:nvPr>
            <p:ph type="sldNum" sz="quarter" idx="5"/>
          </p:nvPr>
        </p:nvSpPr>
        <p:spPr/>
        <p:txBody>
          <a:bodyPr/>
          <a:lstStyle/>
          <a:p>
            <a:fld id="{13FC26C8-C37B-D543-9AB9-4FE91B5DFE38}" type="slidenum">
              <a:rPr lang="en-US" smtClean="0"/>
              <a:t>28</a:t>
            </a:fld>
            <a:endParaRPr lang="en-US"/>
          </a:p>
        </p:txBody>
      </p:sp>
    </p:spTree>
    <p:extLst>
      <p:ext uri="{BB962C8B-B14F-4D97-AF65-F5344CB8AC3E}">
        <p14:creationId xmlns:p14="http://schemas.microsoft.com/office/powerpoint/2010/main" val="15695211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D0E64-4E60-910B-346F-6E23E043CC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33484C-9AE3-F43E-F047-E13DF66C5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295CCF-42D6-E97B-61FC-5BF064CC7FF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C5EEB0-829E-B962-EB57-BD725EBA0D42}"/>
              </a:ext>
            </a:extLst>
          </p:cNvPr>
          <p:cNvSpPr>
            <a:spLocks noGrp="1"/>
          </p:cNvSpPr>
          <p:nvPr>
            <p:ph type="sldNum" sz="quarter" idx="5"/>
          </p:nvPr>
        </p:nvSpPr>
        <p:spPr/>
        <p:txBody>
          <a:bodyPr/>
          <a:lstStyle/>
          <a:p>
            <a:fld id="{13FC26C8-C37B-D543-9AB9-4FE91B5DFE38}" type="slidenum">
              <a:rPr lang="en-US" smtClean="0"/>
              <a:t>29</a:t>
            </a:fld>
            <a:endParaRPr lang="en-US"/>
          </a:p>
        </p:txBody>
      </p:sp>
    </p:spTree>
    <p:extLst>
      <p:ext uri="{BB962C8B-B14F-4D97-AF65-F5344CB8AC3E}">
        <p14:creationId xmlns:p14="http://schemas.microsoft.com/office/powerpoint/2010/main" val="2084464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224E9-A020-6FBB-227A-E67CE5D381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B10D1F-A13B-E125-2E6E-F1179C2648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D52916-25CE-ADBA-EF05-4CE4EE77EA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46E800-1537-9A3F-C385-AA8E64D1B5EB}"/>
              </a:ext>
            </a:extLst>
          </p:cNvPr>
          <p:cNvSpPr>
            <a:spLocks noGrp="1"/>
          </p:cNvSpPr>
          <p:nvPr>
            <p:ph type="sldNum" sz="quarter" idx="5"/>
          </p:nvPr>
        </p:nvSpPr>
        <p:spPr/>
        <p:txBody>
          <a:bodyPr/>
          <a:lstStyle/>
          <a:p>
            <a:fld id="{13FC26C8-C37B-D543-9AB9-4FE91B5DFE38}" type="slidenum">
              <a:rPr lang="en-US" smtClean="0"/>
              <a:t>30</a:t>
            </a:fld>
            <a:endParaRPr lang="en-US"/>
          </a:p>
        </p:txBody>
      </p:sp>
    </p:spTree>
    <p:extLst>
      <p:ext uri="{BB962C8B-B14F-4D97-AF65-F5344CB8AC3E}">
        <p14:creationId xmlns:p14="http://schemas.microsoft.com/office/powerpoint/2010/main" val="11712496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23206-8EFF-D14D-D547-963ADB57E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38ABD-C7C0-E137-6450-36F8A9B3D8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25BCB7-1969-311C-782C-5EA0A0C6C3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3677AE-4555-8F0F-7CEE-A30CEF2E8E7F}"/>
              </a:ext>
            </a:extLst>
          </p:cNvPr>
          <p:cNvSpPr>
            <a:spLocks noGrp="1"/>
          </p:cNvSpPr>
          <p:nvPr>
            <p:ph type="sldNum" sz="quarter" idx="5"/>
          </p:nvPr>
        </p:nvSpPr>
        <p:spPr/>
        <p:txBody>
          <a:bodyPr/>
          <a:lstStyle/>
          <a:p>
            <a:fld id="{13FC26C8-C37B-D543-9AB9-4FE91B5DFE38}" type="slidenum">
              <a:rPr lang="en-US" smtClean="0"/>
              <a:t>31</a:t>
            </a:fld>
            <a:endParaRPr lang="en-US"/>
          </a:p>
        </p:txBody>
      </p:sp>
    </p:spTree>
    <p:extLst>
      <p:ext uri="{BB962C8B-B14F-4D97-AF65-F5344CB8AC3E}">
        <p14:creationId xmlns:p14="http://schemas.microsoft.com/office/powerpoint/2010/main" val="15313908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CFEBC-BCD4-7844-A59C-5909EF3587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51DA7F-A43D-29D3-BD13-28F6462C82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152BD-2EEF-514D-95F8-E7BC8E3984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57DF49-D5B8-7B7E-39F0-B0D6C1A0D697}"/>
              </a:ext>
            </a:extLst>
          </p:cNvPr>
          <p:cNvSpPr>
            <a:spLocks noGrp="1"/>
          </p:cNvSpPr>
          <p:nvPr>
            <p:ph type="sldNum" sz="quarter" idx="5"/>
          </p:nvPr>
        </p:nvSpPr>
        <p:spPr/>
        <p:txBody>
          <a:bodyPr/>
          <a:lstStyle/>
          <a:p>
            <a:fld id="{13FC26C8-C37B-D543-9AB9-4FE91B5DFE38}" type="slidenum">
              <a:rPr lang="en-US" smtClean="0"/>
              <a:t>32</a:t>
            </a:fld>
            <a:endParaRPr lang="en-US"/>
          </a:p>
        </p:txBody>
      </p:sp>
    </p:spTree>
    <p:extLst>
      <p:ext uri="{BB962C8B-B14F-4D97-AF65-F5344CB8AC3E}">
        <p14:creationId xmlns:p14="http://schemas.microsoft.com/office/powerpoint/2010/main" val="36160823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C4602-573C-E7B2-144B-CC99687A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771D4-87E8-C940-DC8A-40D048CE6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9F1E72-B414-5AF4-6E93-E17BA3F34C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31FE67-91B6-7C7F-A77B-9A45D1D24008}"/>
              </a:ext>
            </a:extLst>
          </p:cNvPr>
          <p:cNvSpPr>
            <a:spLocks noGrp="1"/>
          </p:cNvSpPr>
          <p:nvPr>
            <p:ph type="sldNum" sz="quarter" idx="5"/>
          </p:nvPr>
        </p:nvSpPr>
        <p:spPr/>
        <p:txBody>
          <a:bodyPr/>
          <a:lstStyle/>
          <a:p>
            <a:fld id="{13FC26C8-C37B-D543-9AB9-4FE91B5DFE38}" type="slidenum">
              <a:rPr lang="en-US" smtClean="0"/>
              <a:t>33</a:t>
            </a:fld>
            <a:endParaRPr lang="en-US"/>
          </a:p>
        </p:txBody>
      </p:sp>
    </p:spTree>
    <p:extLst>
      <p:ext uri="{BB962C8B-B14F-4D97-AF65-F5344CB8AC3E}">
        <p14:creationId xmlns:p14="http://schemas.microsoft.com/office/powerpoint/2010/main" val="336454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8FFE3-9ECC-6C12-5900-C8FA0CBF2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DB182-C5A0-6356-19F4-BCDFE7913E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C66B04-332C-53F7-B8AD-FAD5E85CB0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7425FC-BA0A-0997-4984-29BD8F2D7D67}"/>
              </a:ext>
            </a:extLst>
          </p:cNvPr>
          <p:cNvSpPr>
            <a:spLocks noGrp="1"/>
          </p:cNvSpPr>
          <p:nvPr>
            <p:ph type="sldNum" sz="quarter" idx="5"/>
          </p:nvPr>
        </p:nvSpPr>
        <p:spPr/>
        <p:txBody>
          <a:bodyPr/>
          <a:lstStyle/>
          <a:p>
            <a:fld id="{13FC26C8-C37B-D543-9AB9-4FE91B5DFE38}" type="slidenum">
              <a:rPr lang="en-US" smtClean="0"/>
              <a:t>34</a:t>
            </a:fld>
            <a:endParaRPr lang="en-US"/>
          </a:p>
        </p:txBody>
      </p:sp>
    </p:spTree>
    <p:extLst>
      <p:ext uri="{BB962C8B-B14F-4D97-AF65-F5344CB8AC3E}">
        <p14:creationId xmlns:p14="http://schemas.microsoft.com/office/powerpoint/2010/main" val="34866934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10FCB-5535-354B-34DB-2367F90829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9A893F-448F-5CBE-86C7-2E47DB600B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17129E-9789-D93E-01AC-0FF9A601D7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7FFD77-8873-BAC2-A318-1DE079FEBADD}"/>
              </a:ext>
            </a:extLst>
          </p:cNvPr>
          <p:cNvSpPr>
            <a:spLocks noGrp="1"/>
          </p:cNvSpPr>
          <p:nvPr>
            <p:ph type="sldNum" sz="quarter" idx="5"/>
          </p:nvPr>
        </p:nvSpPr>
        <p:spPr/>
        <p:txBody>
          <a:bodyPr/>
          <a:lstStyle/>
          <a:p>
            <a:fld id="{13FC26C8-C37B-D543-9AB9-4FE91B5DFE38}" type="slidenum">
              <a:rPr lang="en-US" smtClean="0"/>
              <a:t>35</a:t>
            </a:fld>
            <a:endParaRPr lang="en-US"/>
          </a:p>
        </p:txBody>
      </p:sp>
    </p:spTree>
    <p:extLst>
      <p:ext uri="{BB962C8B-B14F-4D97-AF65-F5344CB8AC3E}">
        <p14:creationId xmlns:p14="http://schemas.microsoft.com/office/powerpoint/2010/main" val="36622640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91D32-EFC4-2E06-9C26-4E671E11B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4B2999-F979-637F-2241-980CB44FF7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EC6D76-EE55-0DAE-0F2F-8A911709E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CF3F58-6256-DB9D-E358-955DCFB45270}"/>
              </a:ext>
            </a:extLst>
          </p:cNvPr>
          <p:cNvSpPr>
            <a:spLocks noGrp="1"/>
          </p:cNvSpPr>
          <p:nvPr>
            <p:ph type="sldNum" sz="quarter" idx="5"/>
          </p:nvPr>
        </p:nvSpPr>
        <p:spPr/>
        <p:txBody>
          <a:bodyPr/>
          <a:lstStyle/>
          <a:p>
            <a:fld id="{13FC26C8-C37B-D543-9AB9-4FE91B5DFE38}" type="slidenum">
              <a:rPr lang="en-US" smtClean="0"/>
              <a:t>36</a:t>
            </a:fld>
            <a:endParaRPr lang="en-US"/>
          </a:p>
        </p:txBody>
      </p:sp>
    </p:spTree>
    <p:extLst>
      <p:ext uri="{BB962C8B-B14F-4D97-AF65-F5344CB8AC3E}">
        <p14:creationId xmlns:p14="http://schemas.microsoft.com/office/powerpoint/2010/main" val="12254297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79A51-9F81-CAC4-AD4E-68E7B7D705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5DA96D-F14E-A720-70C2-316117BF9B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CD6023-2214-CC73-C82A-3CE61A49F9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93839E-BA1D-E893-1442-62F3E66091C7}"/>
              </a:ext>
            </a:extLst>
          </p:cNvPr>
          <p:cNvSpPr>
            <a:spLocks noGrp="1"/>
          </p:cNvSpPr>
          <p:nvPr>
            <p:ph type="sldNum" sz="quarter" idx="5"/>
          </p:nvPr>
        </p:nvSpPr>
        <p:spPr/>
        <p:txBody>
          <a:bodyPr/>
          <a:lstStyle/>
          <a:p>
            <a:fld id="{13FC26C8-C37B-D543-9AB9-4FE91B5DFE38}" type="slidenum">
              <a:rPr lang="en-US" smtClean="0"/>
              <a:t>37</a:t>
            </a:fld>
            <a:endParaRPr lang="en-US"/>
          </a:p>
        </p:txBody>
      </p:sp>
    </p:spTree>
    <p:extLst>
      <p:ext uri="{BB962C8B-B14F-4D97-AF65-F5344CB8AC3E}">
        <p14:creationId xmlns:p14="http://schemas.microsoft.com/office/powerpoint/2010/main" val="34717227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7D46F-EF91-7E45-4462-1663E30E3E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F0991-3D99-A1A8-839E-4A3652CD9A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28F57-5C77-EDAA-6454-79C0147D92E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F0A452B4-3C2B-8301-8040-4498B0C862EE}"/>
              </a:ext>
            </a:extLst>
          </p:cNvPr>
          <p:cNvSpPr>
            <a:spLocks noGrp="1"/>
          </p:cNvSpPr>
          <p:nvPr>
            <p:ph type="sldNum" sz="quarter" idx="5"/>
          </p:nvPr>
        </p:nvSpPr>
        <p:spPr/>
        <p:txBody>
          <a:bodyPr/>
          <a:lstStyle/>
          <a:p>
            <a:fld id="{13FC26C8-C37B-D543-9AB9-4FE91B5DFE38}" type="slidenum">
              <a:rPr lang="en-US" smtClean="0"/>
              <a:t>39</a:t>
            </a:fld>
            <a:endParaRPr lang="en-US"/>
          </a:p>
        </p:txBody>
      </p:sp>
    </p:spTree>
    <p:extLst>
      <p:ext uri="{BB962C8B-B14F-4D97-AF65-F5344CB8AC3E}">
        <p14:creationId xmlns:p14="http://schemas.microsoft.com/office/powerpoint/2010/main" val="1885603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DBFB5-B661-BBF7-C29F-F07C5A4A4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62DC1-549C-F5E6-9508-8C72400C3D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548FBA-B7F5-EEAF-E254-525BEAE1A85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98B631FA-388B-BA7B-0064-C2C85956084B}"/>
              </a:ext>
            </a:extLst>
          </p:cNvPr>
          <p:cNvSpPr>
            <a:spLocks noGrp="1"/>
          </p:cNvSpPr>
          <p:nvPr>
            <p:ph type="sldNum" sz="quarter" idx="5"/>
          </p:nvPr>
        </p:nvSpPr>
        <p:spPr/>
        <p:txBody>
          <a:bodyPr/>
          <a:lstStyle/>
          <a:p>
            <a:fld id="{13FC26C8-C37B-D543-9AB9-4FE91B5DFE38}" type="slidenum">
              <a:rPr lang="en-US" smtClean="0"/>
              <a:t>40</a:t>
            </a:fld>
            <a:endParaRPr lang="en-US"/>
          </a:p>
        </p:txBody>
      </p:sp>
    </p:spTree>
    <p:extLst>
      <p:ext uri="{BB962C8B-B14F-4D97-AF65-F5344CB8AC3E}">
        <p14:creationId xmlns:p14="http://schemas.microsoft.com/office/powerpoint/2010/main" val="5807043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47</a:t>
            </a:fld>
            <a:endParaRPr lang="en-US"/>
          </a:p>
        </p:txBody>
      </p:sp>
    </p:spTree>
    <p:extLst>
      <p:ext uri="{BB962C8B-B14F-4D97-AF65-F5344CB8AC3E}">
        <p14:creationId xmlns:p14="http://schemas.microsoft.com/office/powerpoint/2010/main" val="34201848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50996-4000-ECCE-F980-92BE78CB94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179178-B2A5-724A-59EC-0FEDD4BB6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5536E5-2427-73D8-F01F-CC5A330E25F6}"/>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A3167574-C57B-9D99-1823-42BFB7BF4736}"/>
              </a:ext>
            </a:extLst>
          </p:cNvPr>
          <p:cNvSpPr>
            <a:spLocks noGrp="1"/>
          </p:cNvSpPr>
          <p:nvPr>
            <p:ph type="sldNum" sz="quarter" idx="5"/>
          </p:nvPr>
        </p:nvSpPr>
        <p:spPr/>
        <p:txBody>
          <a:bodyPr/>
          <a:lstStyle/>
          <a:p>
            <a:fld id="{13FC26C8-C37B-D543-9AB9-4FE91B5DFE38}" type="slidenum">
              <a:rPr lang="en-US" smtClean="0"/>
              <a:t>48</a:t>
            </a:fld>
            <a:endParaRPr lang="en-US"/>
          </a:p>
        </p:txBody>
      </p:sp>
    </p:spTree>
    <p:extLst>
      <p:ext uri="{BB962C8B-B14F-4D97-AF65-F5344CB8AC3E}">
        <p14:creationId xmlns:p14="http://schemas.microsoft.com/office/powerpoint/2010/main" val="13613020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DC2F9-B183-9277-B697-1C88305252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26DD94-D5A3-55C7-9676-8A534B30D8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787D1-91A8-A2CF-CC46-E6A2160D89F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326C1A7A-B291-4EAB-BDD7-4E260F702B0B}"/>
              </a:ext>
            </a:extLst>
          </p:cNvPr>
          <p:cNvSpPr>
            <a:spLocks noGrp="1"/>
          </p:cNvSpPr>
          <p:nvPr>
            <p:ph type="sldNum" sz="quarter" idx="5"/>
          </p:nvPr>
        </p:nvSpPr>
        <p:spPr/>
        <p:txBody>
          <a:bodyPr/>
          <a:lstStyle/>
          <a:p>
            <a:fld id="{13FC26C8-C37B-D543-9AB9-4FE91B5DFE38}" type="slidenum">
              <a:rPr lang="en-US" smtClean="0"/>
              <a:t>49</a:t>
            </a:fld>
            <a:endParaRPr lang="en-US"/>
          </a:p>
        </p:txBody>
      </p:sp>
    </p:spTree>
    <p:extLst>
      <p:ext uri="{BB962C8B-B14F-4D97-AF65-F5344CB8AC3E}">
        <p14:creationId xmlns:p14="http://schemas.microsoft.com/office/powerpoint/2010/main" val="39170227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2107D-4AAE-0664-B7E0-803D0E2AC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24E6EB-C839-2ABE-93A2-986E261F4C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EEF0CE-7AF5-5715-6F13-D89E39461D20}"/>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5F5600F9-4C52-2E09-4234-C913F3498835}"/>
              </a:ext>
            </a:extLst>
          </p:cNvPr>
          <p:cNvSpPr>
            <a:spLocks noGrp="1"/>
          </p:cNvSpPr>
          <p:nvPr>
            <p:ph type="sldNum" sz="quarter" idx="5"/>
          </p:nvPr>
        </p:nvSpPr>
        <p:spPr/>
        <p:txBody>
          <a:bodyPr/>
          <a:lstStyle/>
          <a:p>
            <a:fld id="{13FC26C8-C37B-D543-9AB9-4FE91B5DFE38}" type="slidenum">
              <a:rPr lang="en-US" smtClean="0"/>
              <a:t>50</a:t>
            </a:fld>
            <a:endParaRPr lang="en-US"/>
          </a:p>
        </p:txBody>
      </p:sp>
    </p:spTree>
    <p:extLst>
      <p:ext uri="{BB962C8B-B14F-4D97-AF65-F5344CB8AC3E}">
        <p14:creationId xmlns:p14="http://schemas.microsoft.com/office/powerpoint/2010/main" val="40119651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F96E6-6032-0F98-AD89-A1DDA396BC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B41AE6-0944-B2CB-EC23-0D863F880B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A793AA-B7EE-9C8D-3ABC-62D463FEEA38}"/>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53C87FE7-6163-F664-20B2-350D00688DF9}"/>
              </a:ext>
            </a:extLst>
          </p:cNvPr>
          <p:cNvSpPr>
            <a:spLocks noGrp="1"/>
          </p:cNvSpPr>
          <p:nvPr>
            <p:ph type="sldNum" sz="quarter" idx="5"/>
          </p:nvPr>
        </p:nvSpPr>
        <p:spPr/>
        <p:txBody>
          <a:bodyPr/>
          <a:lstStyle/>
          <a:p>
            <a:fld id="{13FC26C8-C37B-D543-9AB9-4FE91B5DFE38}" type="slidenum">
              <a:rPr lang="en-US" smtClean="0"/>
              <a:t>51</a:t>
            </a:fld>
            <a:endParaRPr lang="en-US"/>
          </a:p>
        </p:txBody>
      </p:sp>
    </p:spTree>
    <p:extLst>
      <p:ext uri="{BB962C8B-B14F-4D97-AF65-F5344CB8AC3E}">
        <p14:creationId xmlns:p14="http://schemas.microsoft.com/office/powerpoint/2010/main" val="15237752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1C040-D9D4-FA0B-0937-71595BD692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D24090-203A-04D2-B5EE-7A09E7F905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212338-F8D4-3926-BEBF-094AE0CC598B}"/>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0AD6F7F4-D8F6-AD07-047B-4C306A20CD35}"/>
              </a:ext>
            </a:extLst>
          </p:cNvPr>
          <p:cNvSpPr>
            <a:spLocks noGrp="1"/>
          </p:cNvSpPr>
          <p:nvPr>
            <p:ph type="sldNum" sz="quarter" idx="5"/>
          </p:nvPr>
        </p:nvSpPr>
        <p:spPr/>
        <p:txBody>
          <a:bodyPr/>
          <a:lstStyle/>
          <a:p>
            <a:fld id="{13FC26C8-C37B-D543-9AB9-4FE91B5DFE38}" type="slidenum">
              <a:rPr lang="en-US" smtClean="0"/>
              <a:t>52</a:t>
            </a:fld>
            <a:endParaRPr lang="en-US"/>
          </a:p>
        </p:txBody>
      </p:sp>
    </p:spTree>
    <p:extLst>
      <p:ext uri="{BB962C8B-B14F-4D97-AF65-F5344CB8AC3E}">
        <p14:creationId xmlns:p14="http://schemas.microsoft.com/office/powerpoint/2010/main" val="23601466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E3E413-1BD6-554D-1629-5C00BC543C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6F5766-3FEC-4BDB-4194-70FADDE620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74D663-1975-432F-863C-EDACF97A364F}"/>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shebang (#!) is the first line in a script, acting as a directive to the Unix-like operating system to use a specific interpreter (e.g., /bin/bash or /</a:t>
            </a:r>
            <a:r>
              <a:rPr lang="en-US" sz="1200" b="0" i="0" kern="1200" dirty="0" err="1">
                <a:solidFill>
                  <a:schemeClr val="tx1"/>
                </a:solidFill>
                <a:effectLst/>
                <a:latin typeface="+mn-lt"/>
                <a:ea typeface="+mn-ea"/>
                <a:cs typeface="+mn-cs"/>
              </a:rPr>
              <a:t>usr</a:t>
            </a:r>
            <a:r>
              <a:rPr lang="en-US" sz="1200" b="0" i="0" kern="1200" dirty="0">
                <a:solidFill>
                  <a:schemeClr val="tx1"/>
                </a:solidFill>
                <a:effectLst/>
                <a:latin typeface="+mn-lt"/>
                <a:ea typeface="+mn-ea"/>
                <a:cs typeface="+mn-cs"/>
              </a:rPr>
              <a:t>/bin/python3) to execute the code.</a:t>
            </a:r>
            <a:endParaRPr lang="en-US" dirty="0"/>
          </a:p>
        </p:txBody>
      </p:sp>
      <p:sp>
        <p:nvSpPr>
          <p:cNvPr id="4" name="Slide Number Placeholder 3">
            <a:extLst>
              <a:ext uri="{FF2B5EF4-FFF2-40B4-BE49-F238E27FC236}">
                <a16:creationId xmlns:a16="http://schemas.microsoft.com/office/drawing/2014/main" id="{5B8EEC18-972B-D122-968C-559953E9163A}"/>
              </a:ext>
            </a:extLst>
          </p:cNvPr>
          <p:cNvSpPr>
            <a:spLocks noGrp="1"/>
          </p:cNvSpPr>
          <p:nvPr>
            <p:ph type="sldNum" sz="quarter" idx="5"/>
          </p:nvPr>
        </p:nvSpPr>
        <p:spPr/>
        <p:txBody>
          <a:bodyPr/>
          <a:lstStyle/>
          <a:p>
            <a:fld id="{13FC26C8-C37B-D543-9AB9-4FE91B5DFE38}" type="slidenum">
              <a:rPr lang="en-US" smtClean="0"/>
              <a:t>53</a:t>
            </a:fld>
            <a:endParaRPr lang="en-US"/>
          </a:p>
        </p:txBody>
      </p:sp>
    </p:spTree>
    <p:extLst>
      <p:ext uri="{BB962C8B-B14F-4D97-AF65-F5344CB8AC3E}">
        <p14:creationId xmlns:p14="http://schemas.microsoft.com/office/powerpoint/2010/main" val="40002808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0DCA4-D69C-733A-6765-F8A922AD9E7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F483B57-BAF9-96FD-898F-0B50997590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51506B7-FDAF-8B42-302D-057C9108D574}"/>
              </a:ext>
            </a:extLst>
          </p:cNvPr>
          <p:cNvSpPr>
            <a:spLocks noGrp="1"/>
          </p:cNvSpPr>
          <p:nvPr>
            <p:ph type="dt" sz="half" idx="10"/>
          </p:nvPr>
        </p:nvSpPr>
        <p:spPr/>
        <p:txBody>
          <a:bodyPr/>
          <a:lstStyle/>
          <a:p>
            <a:fld id="{32B7B50D-1189-A04C-A064-8D66602DAC23}" type="datetimeFigureOut">
              <a:rPr lang="en-US" smtClean="0"/>
              <a:t>5/4/26</a:t>
            </a:fld>
            <a:endParaRPr lang="en-US"/>
          </a:p>
        </p:txBody>
      </p:sp>
      <p:sp>
        <p:nvSpPr>
          <p:cNvPr id="5" name="Footer Placeholder 4">
            <a:extLst>
              <a:ext uri="{FF2B5EF4-FFF2-40B4-BE49-F238E27FC236}">
                <a16:creationId xmlns:a16="http://schemas.microsoft.com/office/drawing/2014/main" id="{83437A50-65A1-6AC3-5C78-F8FC4DD8F0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3987CE-D3E6-0CB4-B324-3B5949375E40}"/>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1919157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66BCB-B749-7C85-E5DD-8F91234CD03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4AF7EA-6A50-2705-214C-51640FC3A4E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1EE829-65E4-22B2-F105-924F2073EDDA}"/>
              </a:ext>
            </a:extLst>
          </p:cNvPr>
          <p:cNvSpPr>
            <a:spLocks noGrp="1"/>
          </p:cNvSpPr>
          <p:nvPr>
            <p:ph type="dt" sz="half" idx="10"/>
          </p:nvPr>
        </p:nvSpPr>
        <p:spPr/>
        <p:txBody>
          <a:bodyPr/>
          <a:lstStyle/>
          <a:p>
            <a:fld id="{32B7B50D-1189-A04C-A064-8D66602DAC23}" type="datetimeFigureOut">
              <a:rPr lang="en-US" smtClean="0"/>
              <a:t>5/4/26</a:t>
            </a:fld>
            <a:endParaRPr lang="en-US"/>
          </a:p>
        </p:txBody>
      </p:sp>
      <p:sp>
        <p:nvSpPr>
          <p:cNvPr id="5" name="Footer Placeholder 4">
            <a:extLst>
              <a:ext uri="{FF2B5EF4-FFF2-40B4-BE49-F238E27FC236}">
                <a16:creationId xmlns:a16="http://schemas.microsoft.com/office/drawing/2014/main" id="{9ED4C970-E335-E488-081E-736CB23864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4EC2DB-AE0A-C896-BD7B-62AED0FC834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31672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06D5B-1803-A599-E44B-1514EF35787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E1DABBA-F63B-FB70-C562-12C31F3E350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DA3A61-1470-39AC-7335-EB760751475E}"/>
              </a:ext>
            </a:extLst>
          </p:cNvPr>
          <p:cNvSpPr>
            <a:spLocks noGrp="1"/>
          </p:cNvSpPr>
          <p:nvPr>
            <p:ph type="dt" sz="half" idx="10"/>
          </p:nvPr>
        </p:nvSpPr>
        <p:spPr/>
        <p:txBody>
          <a:bodyPr/>
          <a:lstStyle/>
          <a:p>
            <a:fld id="{32B7B50D-1189-A04C-A064-8D66602DAC23}" type="datetimeFigureOut">
              <a:rPr lang="en-US" smtClean="0"/>
              <a:t>5/4/26</a:t>
            </a:fld>
            <a:endParaRPr lang="en-US"/>
          </a:p>
        </p:txBody>
      </p:sp>
      <p:sp>
        <p:nvSpPr>
          <p:cNvPr id="5" name="Footer Placeholder 4">
            <a:extLst>
              <a:ext uri="{FF2B5EF4-FFF2-40B4-BE49-F238E27FC236}">
                <a16:creationId xmlns:a16="http://schemas.microsoft.com/office/drawing/2014/main" id="{D6B96C5A-5578-4234-1B5B-BA1F95C402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A21843-6B10-8B5B-D8C5-E0E16787AF06}"/>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3554762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38EF6-6A5F-A30E-4465-6FA2398F3F1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0FFCFD-326D-0BA0-C02B-955328A652D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7856912-633A-870B-B588-7B03B73C12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D0E65A8-35EE-89F2-F539-54326B0BA869}"/>
              </a:ext>
            </a:extLst>
          </p:cNvPr>
          <p:cNvSpPr>
            <a:spLocks noGrp="1"/>
          </p:cNvSpPr>
          <p:nvPr>
            <p:ph type="dt" sz="half" idx="10"/>
          </p:nvPr>
        </p:nvSpPr>
        <p:spPr/>
        <p:txBody>
          <a:bodyPr/>
          <a:lstStyle/>
          <a:p>
            <a:fld id="{32B7B50D-1189-A04C-A064-8D66602DAC23}" type="datetimeFigureOut">
              <a:rPr lang="en-US" smtClean="0"/>
              <a:t>5/4/26</a:t>
            </a:fld>
            <a:endParaRPr lang="en-US"/>
          </a:p>
        </p:txBody>
      </p:sp>
      <p:sp>
        <p:nvSpPr>
          <p:cNvPr id="6" name="Footer Placeholder 5">
            <a:extLst>
              <a:ext uri="{FF2B5EF4-FFF2-40B4-BE49-F238E27FC236}">
                <a16:creationId xmlns:a16="http://schemas.microsoft.com/office/drawing/2014/main" id="{69432110-F0E3-5417-A69F-7C430922E6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0734EE-0B72-EBB8-99EA-E501EA06C9F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171938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C0E10-4A97-3176-B5D9-FCE17D8C100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5139328-FEC3-CEB7-E85C-42922502C1F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122EB1-DB19-E3EC-D9AB-6083BA3A3DB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ECAAC9C-35AD-B604-A5A0-251CBBFD2F4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9837EC8-25A9-BFB4-65FF-A5E7CB43B2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97FE671-07C5-F9A5-818B-59F0A331D6DA}"/>
              </a:ext>
            </a:extLst>
          </p:cNvPr>
          <p:cNvSpPr>
            <a:spLocks noGrp="1"/>
          </p:cNvSpPr>
          <p:nvPr>
            <p:ph type="dt" sz="half" idx="10"/>
          </p:nvPr>
        </p:nvSpPr>
        <p:spPr/>
        <p:txBody>
          <a:bodyPr/>
          <a:lstStyle/>
          <a:p>
            <a:fld id="{32B7B50D-1189-A04C-A064-8D66602DAC23}" type="datetimeFigureOut">
              <a:rPr lang="en-US" smtClean="0"/>
              <a:t>5/4/26</a:t>
            </a:fld>
            <a:endParaRPr lang="en-US"/>
          </a:p>
        </p:txBody>
      </p:sp>
      <p:sp>
        <p:nvSpPr>
          <p:cNvPr id="8" name="Footer Placeholder 7">
            <a:extLst>
              <a:ext uri="{FF2B5EF4-FFF2-40B4-BE49-F238E27FC236}">
                <a16:creationId xmlns:a16="http://schemas.microsoft.com/office/drawing/2014/main" id="{E70D4719-A8F1-5691-BB4E-75C20107F06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D9D6FE2-B56F-90BB-2EDE-D699BBF34C8D}"/>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409016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701A7-715A-25C3-5CF7-CC763E7E225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F21E9E-C079-9642-ED91-62385BC9B192}"/>
              </a:ext>
            </a:extLst>
          </p:cNvPr>
          <p:cNvSpPr>
            <a:spLocks noGrp="1"/>
          </p:cNvSpPr>
          <p:nvPr>
            <p:ph type="dt" sz="half" idx="10"/>
          </p:nvPr>
        </p:nvSpPr>
        <p:spPr/>
        <p:txBody>
          <a:bodyPr/>
          <a:lstStyle/>
          <a:p>
            <a:fld id="{32B7B50D-1189-A04C-A064-8D66602DAC23}" type="datetimeFigureOut">
              <a:rPr lang="en-US" smtClean="0"/>
              <a:t>5/4/26</a:t>
            </a:fld>
            <a:endParaRPr lang="en-US"/>
          </a:p>
        </p:txBody>
      </p:sp>
      <p:sp>
        <p:nvSpPr>
          <p:cNvPr id="4" name="Footer Placeholder 3">
            <a:extLst>
              <a:ext uri="{FF2B5EF4-FFF2-40B4-BE49-F238E27FC236}">
                <a16:creationId xmlns:a16="http://schemas.microsoft.com/office/drawing/2014/main" id="{007A3446-18EF-AB43-16D2-9F673C8A49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3DB57B4-4539-78E3-C728-C92A8ADA4BB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715511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886BF2E-BBA5-8ADA-9F81-2EAE08DE7126}"/>
              </a:ext>
            </a:extLst>
          </p:cNvPr>
          <p:cNvSpPr>
            <a:spLocks noGrp="1"/>
          </p:cNvSpPr>
          <p:nvPr>
            <p:ph type="dt" sz="half" idx="10"/>
          </p:nvPr>
        </p:nvSpPr>
        <p:spPr/>
        <p:txBody>
          <a:bodyPr/>
          <a:lstStyle/>
          <a:p>
            <a:fld id="{32B7B50D-1189-A04C-A064-8D66602DAC23}" type="datetimeFigureOut">
              <a:rPr lang="en-US" smtClean="0"/>
              <a:t>5/4/26</a:t>
            </a:fld>
            <a:endParaRPr lang="en-US"/>
          </a:p>
        </p:txBody>
      </p:sp>
      <p:sp>
        <p:nvSpPr>
          <p:cNvPr id="3" name="Footer Placeholder 2">
            <a:extLst>
              <a:ext uri="{FF2B5EF4-FFF2-40B4-BE49-F238E27FC236}">
                <a16:creationId xmlns:a16="http://schemas.microsoft.com/office/drawing/2014/main" id="{D8EDA15F-2333-DD73-10EB-1BBF60147B7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A8C964B-5591-424B-C41E-37241B72481A}"/>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5011135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03A02-D73B-F845-F148-1B9202A477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5C155C-924C-551B-BB1D-2F0D9FECDF7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DA3D932-BE38-F8D0-CCFE-153AFA1BC2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586B00-749E-2A92-1C08-FD35B3064868}"/>
              </a:ext>
            </a:extLst>
          </p:cNvPr>
          <p:cNvSpPr>
            <a:spLocks noGrp="1"/>
          </p:cNvSpPr>
          <p:nvPr>
            <p:ph type="dt" sz="half" idx="10"/>
          </p:nvPr>
        </p:nvSpPr>
        <p:spPr/>
        <p:txBody>
          <a:bodyPr/>
          <a:lstStyle/>
          <a:p>
            <a:fld id="{32B7B50D-1189-A04C-A064-8D66602DAC23}" type="datetimeFigureOut">
              <a:rPr lang="en-US" smtClean="0"/>
              <a:t>5/4/26</a:t>
            </a:fld>
            <a:endParaRPr lang="en-US"/>
          </a:p>
        </p:txBody>
      </p:sp>
      <p:sp>
        <p:nvSpPr>
          <p:cNvPr id="6" name="Footer Placeholder 5">
            <a:extLst>
              <a:ext uri="{FF2B5EF4-FFF2-40B4-BE49-F238E27FC236}">
                <a16:creationId xmlns:a16="http://schemas.microsoft.com/office/drawing/2014/main" id="{0EA5AC2F-CE02-FBB0-3C34-48EA0189E3C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303969-F328-BAF7-7A44-07F24E368C59}"/>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1441031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4B373-D9C7-9750-69C6-C17E3BEBB2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E612547-2DA5-B4B5-9784-11E7AB4A26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A79D8E2-B775-B393-7821-A33B78CCEB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7F2922E-B6F2-5E32-FD1A-796A4BE70B97}"/>
              </a:ext>
            </a:extLst>
          </p:cNvPr>
          <p:cNvSpPr>
            <a:spLocks noGrp="1"/>
          </p:cNvSpPr>
          <p:nvPr>
            <p:ph type="dt" sz="half" idx="10"/>
          </p:nvPr>
        </p:nvSpPr>
        <p:spPr/>
        <p:txBody>
          <a:bodyPr/>
          <a:lstStyle/>
          <a:p>
            <a:fld id="{32B7B50D-1189-A04C-A064-8D66602DAC23}" type="datetimeFigureOut">
              <a:rPr lang="en-US" smtClean="0"/>
              <a:t>5/4/26</a:t>
            </a:fld>
            <a:endParaRPr lang="en-US"/>
          </a:p>
        </p:txBody>
      </p:sp>
      <p:sp>
        <p:nvSpPr>
          <p:cNvPr id="6" name="Footer Placeholder 5">
            <a:extLst>
              <a:ext uri="{FF2B5EF4-FFF2-40B4-BE49-F238E27FC236}">
                <a16:creationId xmlns:a16="http://schemas.microsoft.com/office/drawing/2014/main" id="{B3B11430-C37F-38EA-17D4-39F36108F6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A7E71E-450F-C2BD-4736-86702A67D648}"/>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8859107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499A4-6D27-17A5-D21E-8EF758A7276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780B756-FECF-9A85-8A32-69E92C78A1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D11F35-027B-CACF-61C3-9E12FC807300}"/>
              </a:ext>
            </a:extLst>
          </p:cNvPr>
          <p:cNvSpPr>
            <a:spLocks noGrp="1"/>
          </p:cNvSpPr>
          <p:nvPr>
            <p:ph type="dt" sz="half" idx="10"/>
          </p:nvPr>
        </p:nvSpPr>
        <p:spPr/>
        <p:txBody>
          <a:bodyPr/>
          <a:lstStyle/>
          <a:p>
            <a:fld id="{32B7B50D-1189-A04C-A064-8D66602DAC23}" type="datetimeFigureOut">
              <a:rPr lang="en-US" smtClean="0"/>
              <a:t>5/4/26</a:t>
            </a:fld>
            <a:endParaRPr lang="en-US"/>
          </a:p>
        </p:txBody>
      </p:sp>
      <p:sp>
        <p:nvSpPr>
          <p:cNvPr id="5" name="Footer Placeholder 4">
            <a:extLst>
              <a:ext uri="{FF2B5EF4-FFF2-40B4-BE49-F238E27FC236}">
                <a16:creationId xmlns:a16="http://schemas.microsoft.com/office/drawing/2014/main" id="{2625DB7D-F335-1BE5-552B-843D3647DA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977FA1-D1AC-50B7-3F41-1F022CF96D1B}"/>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213078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5DD0BD-A7DF-8C1A-3130-9CCB7C33AC1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D087075-ED1A-1DAC-057C-B218889BD10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64CED7-CD35-8CEF-1C3D-C2A70558EF90}"/>
              </a:ext>
            </a:extLst>
          </p:cNvPr>
          <p:cNvSpPr>
            <a:spLocks noGrp="1"/>
          </p:cNvSpPr>
          <p:nvPr>
            <p:ph type="dt" sz="half" idx="10"/>
          </p:nvPr>
        </p:nvSpPr>
        <p:spPr/>
        <p:txBody>
          <a:bodyPr/>
          <a:lstStyle/>
          <a:p>
            <a:fld id="{32B7B50D-1189-A04C-A064-8D66602DAC23}" type="datetimeFigureOut">
              <a:rPr lang="en-US" smtClean="0"/>
              <a:t>5/4/26</a:t>
            </a:fld>
            <a:endParaRPr lang="en-US"/>
          </a:p>
        </p:txBody>
      </p:sp>
      <p:sp>
        <p:nvSpPr>
          <p:cNvPr id="5" name="Footer Placeholder 4">
            <a:extLst>
              <a:ext uri="{FF2B5EF4-FFF2-40B4-BE49-F238E27FC236}">
                <a16:creationId xmlns:a16="http://schemas.microsoft.com/office/drawing/2014/main" id="{47CEA3CF-38CD-8B00-1642-5481EFD5B7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D83E9B-8103-B8E8-2329-AB801D9513A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2133919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50D847-CBEB-7C60-4F79-2EF28BD268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6E6717-BA0B-5C3C-F73F-D4DD6F0D20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3E1A8E-A61F-C460-8DF1-7F28818B6A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2B7B50D-1189-A04C-A064-8D66602DAC23}" type="datetimeFigureOut">
              <a:rPr lang="en-US" smtClean="0"/>
              <a:t>5/4/26</a:t>
            </a:fld>
            <a:endParaRPr lang="en-US"/>
          </a:p>
        </p:txBody>
      </p:sp>
      <p:sp>
        <p:nvSpPr>
          <p:cNvPr id="5" name="Footer Placeholder 4">
            <a:extLst>
              <a:ext uri="{FF2B5EF4-FFF2-40B4-BE49-F238E27FC236}">
                <a16:creationId xmlns:a16="http://schemas.microsoft.com/office/drawing/2014/main" id="{A15D0B72-231B-784E-E7A3-E52B66E9EE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6BF07C-1891-2823-975B-F12033BD2B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148A915-4B44-3C45-8157-44CA11514BFE}" type="slidenum">
              <a:rPr lang="en-US" smtClean="0"/>
              <a:t>‹#›</a:t>
            </a:fld>
            <a:endParaRPr lang="en-US"/>
          </a:p>
        </p:txBody>
      </p:sp>
    </p:spTree>
    <p:extLst>
      <p:ext uri="{BB962C8B-B14F-4D97-AF65-F5344CB8AC3E}">
        <p14:creationId xmlns:p14="http://schemas.microsoft.com/office/powerpoint/2010/main" val="41638560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e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2.jpeg"/><Relationship Id="rId1" Type="http://schemas.openxmlformats.org/officeDocument/2006/relationships/slideLayout" Target="../slideLayouts/slideLayout2.xml"/><Relationship Id="rId4" Type="http://schemas.openxmlformats.org/officeDocument/2006/relationships/image" Target="../media/image22.jpeg"/></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5.jpeg"/></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2.jpeg"/><Relationship Id="rId1" Type="http://schemas.openxmlformats.org/officeDocument/2006/relationships/slideLayout" Target="../slideLayouts/slideLayout2.xml"/><Relationship Id="rId4" Type="http://schemas.openxmlformats.org/officeDocument/2006/relationships/image" Target="../media/image22.jpeg"/></Relationships>
</file>

<file path=ppt/slides/_rels/slide39.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9.jpe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9.jpeg"/><Relationship Id="rId5" Type="http://schemas.openxmlformats.org/officeDocument/2006/relationships/image" Target="../media/image28.jpeg"/><Relationship Id="rId4" Type="http://schemas.openxmlformats.org/officeDocument/2006/relationships/image" Target="../media/image27.png"/></Relationships>
</file>

<file path=ppt/slides/_rels/slide40.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9.jpe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8.jpeg"/><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2.jpeg"/><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4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sv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8.jpeg"/></Relationships>
</file>

<file path=ppt/slides/_rels/slide49.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267C0-23A6-8F2C-1689-D8BD4A6495AC}"/>
              </a:ext>
            </a:extLst>
          </p:cNvPr>
          <p:cNvSpPr>
            <a:spLocks noGrp="1"/>
          </p:cNvSpPr>
          <p:nvPr>
            <p:ph type="ctrTitle"/>
          </p:nvPr>
        </p:nvSpPr>
        <p:spPr>
          <a:xfrm>
            <a:off x="1756446" y="-317832"/>
            <a:ext cx="9144000" cy="2387600"/>
          </a:xfrm>
        </p:spPr>
        <p:txBody>
          <a:bodyPr>
            <a:normAutofit/>
          </a:bodyPr>
          <a:lstStyle/>
          <a:p>
            <a:r>
              <a:rPr lang="en-US" sz="5400" dirty="0">
                <a:latin typeface="Helvetica" pitchFamily="2" charset="0"/>
              </a:rPr>
              <a:t>BRC workshops: Hazel HPC</a:t>
            </a:r>
          </a:p>
        </p:txBody>
      </p:sp>
      <p:sp>
        <p:nvSpPr>
          <p:cNvPr id="3" name="Subtitle 2">
            <a:extLst>
              <a:ext uri="{FF2B5EF4-FFF2-40B4-BE49-F238E27FC236}">
                <a16:creationId xmlns:a16="http://schemas.microsoft.com/office/drawing/2014/main" id="{57475B53-3C78-14C7-0A86-007CDFBEE55B}"/>
              </a:ext>
            </a:extLst>
          </p:cNvPr>
          <p:cNvSpPr>
            <a:spLocks noGrp="1"/>
          </p:cNvSpPr>
          <p:nvPr>
            <p:ph type="subTitle" idx="1"/>
          </p:nvPr>
        </p:nvSpPr>
        <p:spPr>
          <a:xfrm>
            <a:off x="796304" y="5083907"/>
            <a:ext cx="4571707" cy="1655762"/>
          </a:xfrm>
        </p:spPr>
        <p:txBody>
          <a:bodyPr/>
          <a:lstStyle/>
          <a:p>
            <a:pPr algn="l"/>
            <a:r>
              <a:rPr lang="en-US" sz="1800" dirty="0">
                <a:latin typeface="Helvetica" pitchFamily="2" charset="0"/>
              </a:rPr>
              <a:t>María (Mery) Touceda-Suárez, PhD</a:t>
            </a:r>
          </a:p>
          <a:p>
            <a:pPr algn="l"/>
            <a:r>
              <a:rPr lang="en-US" sz="1800" dirty="0">
                <a:latin typeface="Helvetica" pitchFamily="2" charset="0"/>
              </a:rPr>
              <a:t>Bonnie Hurwitz, PhD</a:t>
            </a:r>
          </a:p>
          <a:p>
            <a:pPr algn="l"/>
            <a:r>
              <a:rPr lang="en-US" sz="1800" dirty="0">
                <a:latin typeface="Helvetica" pitchFamily="2" charset="0"/>
              </a:rPr>
              <a:t>February 4</a:t>
            </a:r>
            <a:r>
              <a:rPr lang="en-US" sz="1800" baseline="30000" dirty="0">
                <a:latin typeface="Helvetica" pitchFamily="2" charset="0"/>
              </a:rPr>
              <a:t>th</a:t>
            </a:r>
            <a:r>
              <a:rPr lang="en-US" sz="1800" dirty="0">
                <a:latin typeface="Helvetica" pitchFamily="2" charset="0"/>
              </a:rPr>
              <a:t> 2025</a:t>
            </a:r>
          </a:p>
          <a:p>
            <a:pPr algn="l"/>
            <a:endParaRPr lang="en-US" sz="1800" dirty="0">
              <a:latin typeface="Helvetica" pitchFamily="2" charset="0"/>
            </a:endParaRPr>
          </a:p>
          <a:p>
            <a:pPr algn="l"/>
            <a:endParaRPr lang="en-US" dirty="0">
              <a:latin typeface="Helvetica" pitchFamily="2" charset="0"/>
            </a:endParaRPr>
          </a:p>
        </p:txBody>
      </p:sp>
      <p:pic>
        <p:nvPicPr>
          <p:cNvPr id="5" name="Picture 4">
            <a:extLst>
              <a:ext uri="{FF2B5EF4-FFF2-40B4-BE49-F238E27FC236}">
                <a16:creationId xmlns:a16="http://schemas.microsoft.com/office/drawing/2014/main" id="{B8F7AC2D-444B-731B-DFF6-6109D5E95FE6}"/>
              </a:ext>
            </a:extLst>
          </p:cNvPr>
          <p:cNvPicPr>
            <a:picLocks noChangeAspect="1"/>
          </p:cNvPicPr>
          <p:nvPr/>
        </p:nvPicPr>
        <p:blipFill>
          <a:blip r:embed="rId2"/>
          <a:stretch>
            <a:fillRect/>
          </a:stretch>
        </p:blipFill>
        <p:spPr>
          <a:xfrm>
            <a:off x="796304" y="1083584"/>
            <a:ext cx="990499" cy="986184"/>
          </a:xfrm>
          <a:prstGeom prst="rect">
            <a:avLst/>
          </a:prstGeom>
        </p:spPr>
      </p:pic>
      <p:pic>
        <p:nvPicPr>
          <p:cNvPr id="1028" name="Picture 4" descr="MareNostrum | BSC-CNS">
            <a:extLst>
              <a:ext uri="{FF2B5EF4-FFF2-40B4-BE49-F238E27FC236}">
                <a16:creationId xmlns:a16="http://schemas.microsoft.com/office/drawing/2014/main" id="{EF184E16-8F51-53FC-F99E-1F365F6BB9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95930" y="2331378"/>
            <a:ext cx="5682192" cy="37822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A184E01-97E4-E0D9-7385-12F68039586B}"/>
              </a:ext>
            </a:extLst>
          </p:cNvPr>
          <p:cNvSpPr txBox="1"/>
          <p:nvPr/>
        </p:nvSpPr>
        <p:spPr>
          <a:xfrm>
            <a:off x="8591678" y="6113669"/>
            <a:ext cx="2799164" cy="261610"/>
          </a:xfrm>
          <a:prstGeom prst="rect">
            <a:avLst/>
          </a:prstGeom>
          <a:noFill/>
        </p:spPr>
        <p:txBody>
          <a:bodyPr wrap="none" rtlCol="0">
            <a:spAutoFit/>
          </a:bodyPr>
          <a:lstStyle/>
          <a:p>
            <a:r>
              <a:rPr lang="en-US" sz="1100" dirty="0">
                <a:solidFill>
                  <a:schemeClr val="bg1">
                    <a:lumMod val="50000"/>
                  </a:schemeClr>
                </a:solidFill>
                <a:latin typeface="Helvetica Light" panose="020B0403020202020204" pitchFamily="34" charset="0"/>
              </a:rPr>
              <a:t>Mare Nostrum supercomputer, Barcelona</a:t>
            </a:r>
          </a:p>
        </p:txBody>
      </p:sp>
    </p:spTree>
    <p:extLst>
      <p:ext uri="{BB962C8B-B14F-4D97-AF65-F5344CB8AC3E}">
        <p14:creationId xmlns:p14="http://schemas.microsoft.com/office/powerpoint/2010/main" val="1315758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7115B-56F2-431D-EC5E-9C5E8026EE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BCB7A4-535B-7C22-1141-79956B1BA947}"/>
              </a:ext>
            </a:extLst>
          </p:cNvPr>
          <p:cNvSpPr>
            <a:spLocks noGrp="1"/>
          </p:cNvSpPr>
          <p:nvPr>
            <p:ph type="title"/>
          </p:nvPr>
        </p:nvSpPr>
        <p:spPr/>
        <p:txBody>
          <a:bodyPr>
            <a:normAutofit/>
          </a:bodyPr>
          <a:lstStyle/>
          <a:p>
            <a:r>
              <a:rPr lang="en-US" sz="4000" dirty="0">
                <a:latin typeface="Helvetica" pitchFamily="2" charset="0"/>
              </a:rPr>
              <a:t>The bioinformatics data challenge</a:t>
            </a:r>
          </a:p>
        </p:txBody>
      </p:sp>
      <p:pic>
        <p:nvPicPr>
          <p:cNvPr id="2050" name="Picture 2" descr="6+ Thousand High Performance Computing Icon Royalty-Free Images, Stock  Photos &amp; Pictures | Shutterstock">
            <a:extLst>
              <a:ext uri="{FF2B5EF4-FFF2-40B4-BE49-F238E27FC236}">
                <a16:creationId xmlns:a16="http://schemas.microsoft.com/office/drawing/2014/main" id="{8321E816-0E81-944C-9C2E-8E55CE06DEF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3888"/>
          <a:stretch>
            <a:fillRect/>
          </a:stretch>
        </p:blipFill>
        <p:spPr bwMode="auto">
          <a:xfrm>
            <a:off x="3604273" y="4007742"/>
            <a:ext cx="1899431" cy="1761460"/>
          </a:xfrm>
          <a:prstGeom prst="rect">
            <a:avLst/>
          </a:prstGeom>
          <a:noFill/>
          <a:extLst>
            <a:ext uri="{909E8E84-426E-40DD-AFC4-6F175D3DCCD1}">
              <a14:hiddenFill xmlns:a14="http://schemas.microsoft.com/office/drawing/2010/main">
                <a:solidFill>
                  <a:srgbClr val="FFFFFF"/>
                </a:solidFill>
              </a14:hiddenFill>
            </a:ext>
          </a:extLst>
        </p:spPr>
      </p:pic>
      <p:pic>
        <p:nvPicPr>
          <p:cNvPr id="11" name="Graphic 10" descr="Laptop with solid fill">
            <a:extLst>
              <a:ext uri="{FF2B5EF4-FFF2-40B4-BE49-F238E27FC236}">
                <a16:creationId xmlns:a16="http://schemas.microsoft.com/office/drawing/2014/main" id="{1E9A05F3-4BAF-85D5-1F04-094067FBAF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88694" y="1962472"/>
            <a:ext cx="1325563" cy="1325563"/>
          </a:xfrm>
          <a:prstGeom prst="rect">
            <a:avLst/>
          </a:prstGeom>
        </p:spPr>
      </p:pic>
      <p:pic>
        <p:nvPicPr>
          <p:cNvPr id="2052" name="Picture 4" descr="Sequencing - Free computer icons">
            <a:extLst>
              <a:ext uri="{FF2B5EF4-FFF2-40B4-BE49-F238E27FC236}">
                <a16:creationId xmlns:a16="http://schemas.microsoft.com/office/drawing/2014/main" id="{7434EDCC-59AA-1009-6ECB-08CBAE46938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5991" y="2113500"/>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13" name="Straight Arrow Connector 12">
            <a:extLst>
              <a:ext uri="{FF2B5EF4-FFF2-40B4-BE49-F238E27FC236}">
                <a16:creationId xmlns:a16="http://schemas.microsoft.com/office/drawing/2014/main" id="{AC799773-25D0-B572-7622-B2D77B0BF7E3}"/>
              </a:ext>
            </a:extLst>
          </p:cNvPr>
          <p:cNvCxnSpPr>
            <a:cxnSpLocks/>
          </p:cNvCxnSpPr>
          <p:nvPr/>
        </p:nvCxnSpPr>
        <p:spPr>
          <a:xfrm>
            <a:off x="2398023" y="2625254"/>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1A31D8C8-CD3C-51C9-3B8D-6DD508A5C30E}"/>
              </a:ext>
            </a:extLst>
          </p:cNvPr>
          <p:cNvSpPr txBox="1"/>
          <p:nvPr/>
        </p:nvSpPr>
        <p:spPr>
          <a:xfrm>
            <a:off x="8596221" y="1690688"/>
            <a:ext cx="2842805" cy="1569660"/>
          </a:xfrm>
          <a:prstGeom prst="rect">
            <a:avLst/>
          </a:prstGeom>
          <a:noFill/>
        </p:spPr>
        <p:txBody>
          <a:bodyPr wrap="square">
            <a:spAutoFit/>
          </a:bodyPr>
          <a:lstStyle/>
          <a:p>
            <a:r>
              <a:rPr lang="en-US" sz="1600" b="1" dirty="0">
                <a:solidFill>
                  <a:srgbClr val="FF0000"/>
                </a:solidFill>
                <a:latin typeface="Helvetica" pitchFamily="2" charset="0"/>
              </a:rPr>
              <a:t>Problem:</a:t>
            </a:r>
            <a:r>
              <a:rPr lang="en-US" sz="1600" dirty="0">
                <a:solidFill>
                  <a:srgbClr val="FF0000"/>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Computation takes too long</a:t>
            </a:r>
          </a:p>
          <a:p>
            <a:pPr marL="285750" indent="-285750" fontAlgn="base">
              <a:buFont typeface="Arial" panose="020B0604020202020204" pitchFamily="34" charset="0"/>
              <a:buChar char="•"/>
            </a:pPr>
            <a:r>
              <a:rPr lang="en-US" sz="1600" dirty="0">
                <a:latin typeface="Helvetica" pitchFamily="2" charset="0"/>
              </a:rPr>
              <a:t>Modern datasets are too big </a:t>
            </a:r>
          </a:p>
          <a:p>
            <a:pPr marL="285750" indent="-285750" fontAlgn="base">
              <a:buFont typeface="Arial" panose="020B0604020202020204" pitchFamily="34" charset="0"/>
              <a:buChar char="•"/>
            </a:pPr>
            <a:r>
              <a:rPr lang="en-US" sz="1600" dirty="0">
                <a:latin typeface="Helvetica" pitchFamily="2" charset="0"/>
              </a:rPr>
              <a:t>Too many calculations</a:t>
            </a:r>
          </a:p>
        </p:txBody>
      </p:sp>
      <p:cxnSp>
        <p:nvCxnSpPr>
          <p:cNvPr id="18" name="Straight Arrow Connector 17">
            <a:extLst>
              <a:ext uri="{FF2B5EF4-FFF2-40B4-BE49-F238E27FC236}">
                <a16:creationId xmlns:a16="http://schemas.microsoft.com/office/drawing/2014/main" id="{1AFFF3F8-814B-1ADA-8A9B-8304BC8EB2B3}"/>
              </a:ext>
            </a:extLst>
          </p:cNvPr>
          <p:cNvCxnSpPr>
            <a:cxnSpLocks/>
          </p:cNvCxnSpPr>
          <p:nvPr/>
        </p:nvCxnSpPr>
        <p:spPr>
          <a:xfrm>
            <a:off x="5672447" y="2639700"/>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9" name="Picture 4" descr="Sequencing - Free computer icons">
            <a:extLst>
              <a:ext uri="{FF2B5EF4-FFF2-40B4-BE49-F238E27FC236}">
                <a16:creationId xmlns:a16="http://schemas.microsoft.com/office/drawing/2014/main" id="{273EF8EA-52C8-2CCA-F347-3DC63103ED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5991" y="4565473"/>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Straight Arrow Connector 19">
            <a:extLst>
              <a:ext uri="{FF2B5EF4-FFF2-40B4-BE49-F238E27FC236}">
                <a16:creationId xmlns:a16="http://schemas.microsoft.com/office/drawing/2014/main" id="{54ECFA63-1278-21A0-2395-C747195095A0}"/>
              </a:ext>
            </a:extLst>
          </p:cNvPr>
          <p:cNvCxnSpPr>
            <a:cxnSpLocks/>
          </p:cNvCxnSpPr>
          <p:nvPr/>
        </p:nvCxnSpPr>
        <p:spPr>
          <a:xfrm>
            <a:off x="2398023"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285422D-3B0A-47F8-B15C-DE5388034B98}"/>
              </a:ext>
            </a:extLst>
          </p:cNvPr>
          <p:cNvCxnSpPr>
            <a:cxnSpLocks/>
          </p:cNvCxnSpPr>
          <p:nvPr/>
        </p:nvCxnSpPr>
        <p:spPr>
          <a:xfrm>
            <a:off x="5672447"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56" name="Picture 8" descr="6+ Thousand Success Fail Icon Royalty-Free Images, Stock Photos &amp; Pictures  | Shutterstock">
            <a:extLst>
              <a:ext uri="{FF2B5EF4-FFF2-40B4-BE49-F238E27FC236}">
                <a16:creationId xmlns:a16="http://schemas.microsoft.com/office/drawing/2014/main" id="{36CC3D8C-101C-AA22-4B44-29624E99DC5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r="44956" b="17466"/>
          <a:stretch>
            <a:fillRect/>
          </a:stretch>
        </p:blipFill>
        <p:spPr bwMode="auto">
          <a:xfrm>
            <a:off x="6782252" y="4390999"/>
            <a:ext cx="1342845" cy="1084175"/>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8" descr="6+ Thousand Success Fail Icon Royalty-Free Images, Stock Photos &amp; Pictures  | Shutterstock">
            <a:extLst>
              <a:ext uri="{FF2B5EF4-FFF2-40B4-BE49-F238E27FC236}">
                <a16:creationId xmlns:a16="http://schemas.microsoft.com/office/drawing/2014/main" id="{CD28C392-5F34-FC20-939D-C5858F52564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2320" b="13714"/>
          <a:stretch>
            <a:fillRect/>
          </a:stretch>
        </p:blipFill>
        <p:spPr bwMode="auto">
          <a:xfrm>
            <a:off x="7034348" y="2032437"/>
            <a:ext cx="1163185" cy="1133464"/>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CA786265-1BB3-89DF-E9C0-2059FD6C1528}"/>
              </a:ext>
            </a:extLst>
          </p:cNvPr>
          <p:cNvSpPr txBox="1"/>
          <p:nvPr/>
        </p:nvSpPr>
        <p:spPr>
          <a:xfrm>
            <a:off x="8596221" y="3917423"/>
            <a:ext cx="3160351" cy="1815882"/>
          </a:xfrm>
          <a:prstGeom prst="rect">
            <a:avLst/>
          </a:prstGeom>
          <a:noFill/>
        </p:spPr>
        <p:txBody>
          <a:bodyPr wrap="square">
            <a:spAutoFit/>
          </a:bodyPr>
          <a:lstStyle/>
          <a:p>
            <a:r>
              <a:rPr lang="en-US" sz="1600" b="1" dirty="0">
                <a:solidFill>
                  <a:schemeClr val="accent6"/>
                </a:solidFill>
                <a:latin typeface="Helvetica" pitchFamily="2" charset="0"/>
              </a:rPr>
              <a:t>Solution:</a:t>
            </a:r>
            <a:r>
              <a:rPr lang="en-US" sz="1600" dirty="0">
                <a:solidFill>
                  <a:schemeClr val="accent6"/>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Get a computer for exclusive use</a:t>
            </a:r>
          </a:p>
          <a:p>
            <a:pPr marL="285750" indent="-285750" fontAlgn="base">
              <a:buFont typeface="Arial" panose="020B0604020202020204" pitchFamily="34" charset="0"/>
              <a:buChar char="•"/>
            </a:pPr>
            <a:r>
              <a:rPr lang="en-US" sz="1600" dirty="0">
                <a:latin typeface="Helvetica" pitchFamily="2" charset="0"/>
              </a:rPr>
              <a:t>Divide tasks between many computers</a:t>
            </a:r>
          </a:p>
          <a:p>
            <a:pPr marL="285750" indent="-285750" fontAlgn="base">
              <a:buFont typeface="Arial" panose="020B0604020202020204" pitchFamily="34" charset="0"/>
              <a:buChar char="•"/>
            </a:pPr>
            <a:r>
              <a:rPr lang="en-US" sz="1600" dirty="0">
                <a:latin typeface="Helvetica" pitchFamily="2" charset="0"/>
              </a:rPr>
              <a:t>Use lots of computers simultaneously</a:t>
            </a:r>
          </a:p>
        </p:txBody>
      </p:sp>
      <p:sp>
        <p:nvSpPr>
          <p:cNvPr id="27" name="TextBox 26">
            <a:extLst>
              <a:ext uri="{FF2B5EF4-FFF2-40B4-BE49-F238E27FC236}">
                <a16:creationId xmlns:a16="http://schemas.microsoft.com/office/drawing/2014/main" id="{46571F5D-E344-BB2D-57F1-218741FAA9C2}"/>
              </a:ext>
            </a:extLst>
          </p:cNvPr>
          <p:cNvSpPr txBox="1"/>
          <p:nvPr/>
        </p:nvSpPr>
        <p:spPr>
          <a:xfrm>
            <a:off x="797166" y="3291125"/>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8" name="TextBox 27">
            <a:extLst>
              <a:ext uri="{FF2B5EF4-FFF2-40B4-BE49-F238E27FC236}">
                <a16:creationId xmlns:a16="http://schemas.microsoft.com/office/drawing/2014/main" id="{09E1652E-04D0-65AA-2CC5-708E7A856AF2}"/>
              </a:ext>
            </a:extLst>
          </p:cNvPr>
          <p:cNvSpPr txBox="1"/>
          <p:nvPr/>
        </p:nvSpPr>
        <p:spPr>
          <a:xfrm>
            <a:off x="797166" y="5659928"/>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9" name="TextBox 28">
            <a:extLst>
              <a:ext uri="{FF2B5EF4-FFF2-40B4-BE49-F238E27FC236}">
                <a16:creationId xmlns:a16="http://schemas.microsoft.com/office/drawing/2014/main" id="{F97DF58E-2314-ED4E-8E0F-9240637FBB70}"/>
              </a:ext>
            </a:extLst>
          </p:cNvPr>
          <p:cNvSpPr txBox="1"/>
          <p:nvPr/>
        </p:nvSpPr>
        <p:spPr>
          <a:xfrm>
            <a:off x="3708135" y="3291125"/>
            <a:ext cx="168668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Personal computer</a:t>
            </a:r>
          </a:p>
        </p:txBody>
      </p:sp>
      <p:sp>
        <p:nvSpPr>
          <p:cNvPr id="30" name="TextBox 29">
            <a:extLst>
              <a:ext uri="{FF2B5EF4-FFF2-40B4-BE49-F238E27FC236}">
                <a16:creationId xmlns:a16="http://schemas.microsoft.com/office/drawing/2014/main" id="{B34146DC-DCE8-7F8A-4FCC-98B253B1295B}"/>
              </a:ext>
            </a:extLst>
          </p:cNvPr>
          <p:cNvSpPr txBox="1"/>
          <p:nvPr/>
        </p:nvSpPr>
        <p:spPr>
          <a:xfrm>
            <a:off x="3257465" y="5659928"/>
            <a:ext cx="2731838"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High performance cluster (HPC)</a:t>
            </a:r>
          </a:p>
        </p:txBody>
      </p:sp>
    </p:spTree>
    <p:extLst>
      <p:ext uri="{BB962C8B-B14F-4D97-AF65-F5344CB8AC3E}">
        <p14:creationId xmlns:p14="http://schemas.microsoft.com/office/powerpoint/2010/main" val="8468489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488E0-0485-9661-4A27-6423D1D98D68}"/>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4" name="Table 3">
            <a:extLst>
              <a:ext uri="{FF2B5EF4-FFF2-40B4-BE49-F238E27FC236}">
                <a16:creationId xmlns:a16="http://schemas.microsoft.com/office/drawing/2014/main" id="{0AC10CA1-46F0-A2BF-0272-C7AE93EEBB36}"/>
              </a:ext>
            </a:extLst>
          </p:cNvPr>
          <p:cNvGraphicFramePr>
            <a:graphicFrameLocks noGrp="1"/>
          </p:cNvGraphicFramePr>
          <p:nvPr>
            <p:extLst>
              <p:ext uri="{D42A27DB-BD31-4B8C-83A1-F6EECF244321}">
                <p14:modId xmlns:p14="http://schemas.microsoft.com/office/powerpoint/2010/main" val="1463162684"/>
              </p:ext>
            </p:extLst>
          </p:nvPr>
        </p:nvGraphicFramePr>
        <p:xfrm>
          <a:off x="838200" y="1647725"/>
          <a:ext cx="10366169" cy="4618153"/>
        </p:xfrm>
        <a:graphic>
          <a:graphicData uri="http://schemas.openxmlformats.org/drawingml/2006/table">
            <a:tbl>
              <a:tblPr firstRow="1" bandRow="1">
                <a:tableStyleId>{5940675A-B579-460E-94D1-54222C63F5DA}</a:tableStyleId>
              </a:tblPr>
              <a:tblGrid>
                <a:gridCol w="1600455">
                  <a:extLst>
                    <a:ext uri="{9D8B030D-6E8A-4147-A177-3AD203B41FA5}">
                      <a16:colId xmlns:a16="http://schemas.microsoft.com/office/drawing/2014/main" val="3588077064"/>
                    </a:ext>
                  </a:extLst>
                </a:gridCol>
                <a:gridCol w="1553775">
                  <a:extLst>
                    <a:ext uri="{9D8B030D-6E8A-4147-A177-3AD203B41FA5}">
                      <a16:colId xmlns:a16="http://schemas.microsoft.com/office/drawing/2014/main" val="2921729674"/>
                    </a:ext>
                  </a:extLst>
                </a:gridCol>
                <a:gridCol w="1494395">
                  <a:extLst>
                    <a:ext uri="{9D8B030D-6E8A-4147-A177-3AD203B41FA5}">
                      <a16:colId xmlns:a16="http://schemas.microsoft.com/office/drawing/2014/main" val="3051897964"/>
                    </a:ext>
                  </a:extLst>
                </a:gridCol>
                <a:gridCol w="1393727">
                  <a:extLst>
                    <a:ext uri="{9D8B030D-6E8A-4147-A177-3AD203B41FA5}">
                      <a16:colId xmlns:a16="http://schemas.microsoft.com/office/drawing/2014/main" val="2317395656"/>
                    </a:ext>
                  </a:extLst>
                </a:gridCol>
                <a:gridCol w="1393727">
                  <a:extLst>
                    <a:ext uri="{9D8B030D-6E8A-4147-A177-3AD203B41FA5}">
                      <a16:colId xmlns:a16="http://schemas.microsoft.com/office/drawing/2014/main" val="4058881113"/>
                    </a:ext>
                  </a:extLst>
                </a:gridCol>
                <a:gridCol w="1467082">
                  <a:extLst>
                    <a:ext uri="{9D8B030D-6E8A-4147-A177-3AD203B41FA5}">
                      <a16:colId xmlns:a16="http://schemas.microsoft.com/office/drawing/2014/main" val="1121361333"/>
                    </a:ext>
                  </a:extLst>
                </a:gridCol>
                <a:gridCol w="1463008">
                  <a:extLst>
                    <a:ext uri="{9D8B030D-6E8A-4147-A177-3AD203B41FA5}">
                      <a16:colId xmlns:a16="http://schemas.microsoft.com/office/drawing/2014/main" val="3820744059"/>
                    </a:ext>
                  </a:extLst>
                </a:gridCol>
              </a:tblGrid>
              <a:tr h="277386">
                <a:tc gridSpan="2">
                  <a:txBody>
                    <a:bodyPr/>
                    <a:lstStyle/>
                    <a:p>
                      <a:pPr algn="ctr"/>
                      <a:r>
                        <a:rPr lang="en-US" sz="1200" b="1" dirty="0">
                          <a:latin typeface="Helvetica" pitchFamily="2" charset="0"/>
                        </a:rPr>
                        <a:t>Day 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Day 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gridSpan="2">
                  <a:txBody>
                    <a:bodyPr/>
                    <a:lstStyle/>
                    <a:p>
                      <a:pPr algn="ctr"/>
                      <a:r>
                        <a:rPr lang="en-US" sz="1200" b="1" dirty="0">
                          <a:latin typeface="Helvetica" pitchFamily="2" charset="0"/>
                        </a:rPr>
                        <a:t>Day 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gridSpan="2">
                  <a:txBody>
                    <a:bodyPr/>
                    <a:lstStyle/>
                    <a:p>
                      <a:pPr algn="ctr"/>
                      <a:r>
                        <a:rPr lang="en-US" sz="1200" b="1" dirty="0">
                          <a:latin typeface="Helvetica" pitchFamily="2" charset="0"/>
                        </a:rPr>
                        <a:t>Day 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1386561491"/>
                  </a:ext>
                </a:extLst>
              </a:tr>
              <a:tr h="888907">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3.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4.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algn="ctr"/>
                      <a:r>
                        <a:rPr lang="en-US" sz="1200" b="1" dirty="0">
                          <a:latin typeface="Helvetica" pitchFamily="2" charset="0"/>
                        </a:rPr>
                        <a:t>5.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algn="ctr"/>
                      <a:r>
                        <a:rPr lang="en-US" sz="1200" b="1" dirty="0">
                          <a:latin typeface="Helvetica" pitchFamily="2" charset="0"/>
                        </a:rPr>
                        <a:t>6.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pPr algn="ctr"/>
                      <a:r>
                        <a:rPr lang="en-US" sz="1200" b="1" dirty="0">
                          <a:latin typeface="Helvetica" pitchFamily="2" charset="0"/>
                        </a:rPr>
                        <a:t>7. Data management + Globus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405070096"/>
                  </a:ext>
                </a:extLst>
              </a:tr>
              <a:tr h="3402714">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p>
                      <a:pPr marL="171450" indent="-171450">
                        <a:buFont typeface="Arial" panose="020B0604020202020204" pitchFamily="34" charset="0"/>
                        <a:buChar char="•"/>
                      </a:pPr>
                      <a:r>
                        <a:rPr lang="en-US" sz="1050" dirty="0">
                          <a:latin typeface="Helvetica" pitchFamily="2" charset="0"/>
                        </a:rPr>
                        <a:t>Create a job array and submit it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Introduction to modules</a:t>
                      </a:r>
                    </a:p>
                    <a:p>
                      <a:pPr marL="171450" indent="-171450">
                        <a:buFont typeface="Arial" panose="020B0604020202020204" pitchFamily="34" charset="0"/>
                        <a:buChar char="•"/>
                      </a:pPr>
                      <a:r>
                        <a:rPr lang="en-US" sz="1050" dirty="0">
                          <a:latin typeface="Helvetica" pitchFamily="2" charset="0"/>
                        </a:rPr>
                        <a:t>Introduction to virtual environments</a:t>
                      </a:r>
                    </a:p>
                    <a:p>
                      <a:pPr marL="171450" indent="-171450">
                        <a:buFont typeface="Arial" panose="020B0604020202020204" pitchFamily="34" charset="0"/>
                        <a:buChar char="•"/>
                      </a:pPr>
                      <a:r>
                        <a:rPr lang="en-US" sz="1050" dirty="0">
                          <a:latin typeface="Helvetica" pitchFamily="2" charset="0"/>
                        </a:rPr>
                        <a:t>Introduction to containers</a:t>
                      </a:r>
                    </a:p>
                    <a:p>
                      <a:pPr marL="171450" indent="-171450">
                        <a:buFont typeface="Arial" panose="020B0604020202020204" pitchFamily="34" charset="0"/>
                        <a:buChar char="•"/>
                      </a:pPr>
                      <a:r>
                        <a:rPr lang="en-US" sz="1050" dirty="0">
                          <a:latin typeface="Helvetica" pitchFamily="2" charset="0"/>
                        </a:rPr>
                        <a:t>Learn how to load software using modules, </a:t>
                      </a:r>
                      <a:r>
                        <a:rPr lang="en-US" sz="1050" dirty="0" err="1">
                          <a:latin typeface="Helvetica" pitchFamily="2" charset="0"/>
                        </a:rPr>
                        <a:t>conda</a:t>
                      </a:r>
                      <a:r>
                        <a:rPr lang="en-US" sz="1050" dirty="0">
                          <a:latin typeface="Helvetica" pitchFamily="2" charset="0"/>
                        </a:rPr>
                        <a:t>, containers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marL="0" indent="0">
                        <a:buFontTx/>
                        <a:buNone/>
                      </a:pPr>
                      <a:r>
                        <a:rPr lang="en-US" sz="1050" dirty="0">
                          <a:latin typeface="Helvetica" pitchFamily="2" charset="0"/>
                        </a:rPr>
                        <a:t>Manage data across the Hazel storage system.</a:t>
                      </a:r>
                    </a:p>
                    <a:p>
                      <a:r>
                        <a:rPr lang="en-US" sz="1050" dirty="0">
                          <a:latin typeface="Helvetica" pitchFamily="2" charset="0"/>
                        </a:rPr>
                        <a:t>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p>
                      <a:pPr marL="0" indent="0">
                        <a:buFontTx/>
                        <a:buNone/>
                      </a:pPr>
                      <a:endParaRPr lang="en-US" sz="1050" dirty="0">
                        <a:latin typeface="Helvetica" pitchFamily="2" charset="0"/>
                      </a:endParaRPr>
                    </a:p>
                    <a:p>
                      <a:pPr marL="0" indent="0">
                        <a:buFontTx/>
                        <a:buNone/>
                      </a:pPr>
                      <a:r>
                        <a:rPr lang="en-US" sz="1050" dirty="0">
                          <a:latin typeface="Helvetica" pitchFamily="2" charset="0"/>
                        </a:rPr>
                        <a:t>Globus:</a:t>
                      </a:r>
                    </a:p>
                    <a:p>
                      <a:pPr marL="171450" indent="-171450">
                        <a:buFont typeface="Arial" panose="020B0604020202020204" pitchFamily="34" charset="0"/>
                        <a:buChar char="•"/>
                      </a:pPr>
                      <a:r>
                        <a:rPr lang="en-US" sz="1050" dirty="0">
                          <a:latin typeface="Helvetica" pitchFamily="2" charset="0"/>
                        </a:rPr>
                        <a:t>Understand endpoints and transfers. </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transfers with HPC</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203831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49598-BD4D-70E9-70C2-7215FDC05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F1D083-096E-849D-8015-B191ED5D6A34}"/>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5020596A-D3B5-18D2-1D37-3B88E5CD78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C98279-5765-9BFA-2B15-04A8FEDAA130}"/>
              </a:ext>
            </a:extLst>
          </p:cNvPr>
          <p:cNvSpPr txBox="1"/>
          <p:nvPr/>
        </p:nvSpPr>
        <p:spPr>
          <a:xfrm>
            <a:off x="1794669" y="2206232"/>
            <a:ext cx="6591506" cy="1754326"/>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0DEEB3E2-D200-94F1-EB2C-1F94DD52C3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84383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218B2-E135-26F1-97D0-87DC45D109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1CB91C-E5B1-61D6-1379-EC11B99949F9}"/>
              </a:ext>
            </a:extLst>
          </p:cNvPr>
          <p:cNvSpPr>
            <a:spLocks noGrp="1"/>
          </p:cNvSpPr>
          <p:nvPr>
            <p:ph type="title"/>
          </p:nvPr>
        </p:nvSpPr>
        <p:spPr/>
        <p:txBody>
          <a:bodyPr>
            <a:normAutofit/>
          </a:bodyPr>
          <a:lstStyle/>
          <a:p>
            <a:r>
              <a:rPr lang="en-US" sz="4000" dirty="0">
                <a:latin typeface="Helvetica" pitchFamily="2" charset="0"/>
              </a:rPr>
              <a:t>Workshop logistics</a:t>
            </a:r>
          </a:p>
        </p:txBody>
      </p:sp>
      <p:pic>
        <p:nvPicPr>
          <p:cNvPr id="3" name="Picture 6" descr="coding Symbol mark in filled style 47628836 Vector Art at Vecteezy">
            <a:extLst>
              <a:ext uri="{FF2B5EF4-FFF2-40B4-BE49-F238E27FC236}">
                <a16:creationId xmlns:a16="http://schemas.microsoft.com/office/drawing/2014/main" id="{19CA38BF-6D4D-305D-CA49-7AAEFA69C0A2}"/>
              </a:ext>
            </a:extLst>
          </p:cNvPr>
          <p:cNvPicPr>
            <a:picLocks noChangeAspect="1" noChangeArrowheads="1"/>
          </p:cNvPicPr>
          <p:nvPr/>
        </p:nvPicPr>
        <p:blipFill>
          <a:blip r:embed="rId3">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057656" y="2825379"/>
            <a:ext cx="699383" cy="6993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93A7186-A969-4CE3-8915-88EBF41466B8}"/>
              </a:ext>
            </a:extLst>
          </p:cNvPr>
          <p:cNvSpPr txBox="1"/>
          <p:nvPr/>
        </p:nvSpPr>
        <p:spPr>
          <a:xfrm>
            <a:off x="1912487" y="2990404"/>
            <a:ext cx="4696670" cy="369332"/>
          </a:xfrm>
          <a:prstGeom prst="rect">
            <a:avLst/>
          </a:prstGeom>
          <a:noFill/>
        </p:spPr>
        <p:txBody>
          <a:bodyPr wrap="none" rtlCol="0">
            <a:spAutoFit/>
          </a:bodyPr>
          <a:lstStyle/>
          <a:p>
            <a:r>
              <a:rPr lang="en-US" dirty="0">
                <a:latin typeface="Helvetica" pitchFamily="2" charset="0"/>
              </a:rPr>
              <a:t>=   </a:t>
            </a:r>
            <a:r>
              <a:rPr lang="en-US" b="1" dirty="0">
                <a:latin typeface="Helvetica" pitchFamily="2" charset="0"/>
              </a:rPr>
              <a:t>Hands On Activity </a:t>
            </a:r>
            <a:r>
              <a:rPr lang="en-US" dirty="0">
                <a:latin typeface="Helvetica" pitchFamily="2" charset="0"/>
              </a:rPr>
              <a:t>(please follow along)</a:t>
            </a:r>
          </a:p>
        </p:txBody>
      </p:sp>
      <p:sp>
        <p:nvSpPr>
          <p:cNvPr id="6" name="TextBox 5">
            <a:extLst>
              <a:ext uri="{FF2B5EF4-FFF2-40B4-BE49-F238E27FC236}">
                <a16:creationId xmlns:a16="http://schemas.microsoft.com/office/drawing/2014/main" id="{409EEDC1-05C9-D5EF-8B52-119DC4CED4E0}"/>
              </a:ext>
            </a:extLst>
          </p:cNvPr>
          <p:cNvSpPr txBox="1"/>
          <p:nvPr/>
        </p:nvSpPr>
        <p:spPr>
          <a:xfrm>
            <a:off x="875270" y="3783957"/>
            <a:ext cx="4758180" cy="2272545"/>
          </a:xfrm>
          <a:prstGeom prst="rect">
            <a:avLst/>
          </a:prstGeom>
          <a:noFill/>
        </p:spPr>
        <p:txBody>
          <a:bodyPr wrap="square" rtlCol="0">
            <a:spAutoFit/>
          </a:bodyPr>
          <a:lstStyle/>
          <a:p>
            <a:pPr>
              <a:lnSpc>
                <a:spcPct val="150000"/>
              </a:lnSpc>
            </a:pPr>
            <a:r>
              <a:rPr lang="en-US" sz="1600" b="1" dirty="0">
                <a:latin typeface="Helvetica" pitchFamily="2" charset="0"/>
              </a:rPr>
              <a:t>Essential Prerequisites (Must-Haves)</a:t>
            </a:r>
          </a:p>
          <a:p>
            <a:pPr marL="285750" indent="-285750">
              <a:lnSpc>
                <a:spcPct val="150000"/>
              </a:lnSpc>
              <a:buFont typeface="Arial" panose="020B0604020202020204" pitchFamily="34" charset="0"/>
              <a:buChar char="•"/>
            </a:pPr>
            <a:r>
              <a:rPr lang="en-US" sz="1600" dirty="0" err="1">
                <a:latin typeface="Helvetica" pitchFamily="2" charset="0"/>
              </a:rPr>
              <a:t>UnityID</a:t>
            </a:r>
            <a:r>
              <a:rPr lang="en-US" sz="1600" dirty="0">
                <a:latin typeface="Helvetica" pitchFamily="2" charset="0"/>
              </a:rPr>
              <a:t> Credentials (Your Hazel Login)</a:t>
            </a:r>
          </a:p>
          <a:p>
            <a:pPr marL="285750" indent="-285750">
              <a:lnSpc>
                <a:spcPct val="150000"/>
              </a:lnSpc>
              <a:buFont typeface="Arial" panose="020B0604020202020204" pitchFamily="34" charset="0"/>
              <a:buChar char="•"/>
            </a:pPr>
            <a:r>
              <a:rPr lang="en-US" sz="1600" dirty="0">
                <a:latin typeface="Helvetica" pitchFamily="2" charset="0"/>
              </a:rPr>
              <a:t>Access to a Hazel-HPC Group (Ask your PI or Dr. Hurwitz)</a:t>
            </a:r>
          </a:p>
          <a:p>
            <a:pPr marL="285750" indent="-285750">
              <a:lnSpc>
                <a:spcPct val="150000"/>
              </a:lnSpc>
              <a:buFont typeface="Arial" panose="020B0604020202020204" pitchFamily="34" charset="0"/>
              <a:buChar char="•"/>
            </a:pPr>
            <a:r>
              <a:rPr lang="en-US" sz="1600" dirty="0">
                <a:latin typeface="Helvetica" pitchFamily="2" charset="0"/>
              </a:rPr>
              <a:t>A GitHub Account (Needed for cloning materials and pipelines)</a:t>
            </a:r>
          </a:p>
        </p:txBody>
      </p:sp>
      <p:sp>
        <p:nvSpPr>
          <p:cNvPr id="4" name="TextBox 3">
            <a:extLst>
              <a:ext uri="{FF2B5EF4-FFF2-40B4-BE49-F238E27FC236}">
                <a16:creationId xmlns:a16="http://schemas.microsoft.com/office/drawing/2014/main" id="{896C092A-532A-4E65-7A2F-11C3D9DBE157}"/>
              </a:ext>
            </a:extLst>
          </p:cNvPr>
          <p:cNvSpPr txBox="1"/>
          <p:nvPr/>
        </p:nvSpPr>
        <p:spPr>
          <a:xfrm>
            <a:off x="1029867" y="1556521"/>
            <a:ext cx="6800260" cy="369332"/>
          </a:xfrm>
          <a:prstGeom prst="rect">
            <a:avLst/>
          </a:prstGeom>
          <a:noFill/>
        </p:spPr>
        <p:txBody>
          <a:bodyPr wrap="none" rtlCol="0">
            <a:spAutoFit/>
          </a:bodyPr>
          <a:lstStyle/>
          <a:p>
            <a:r>
              <a:rPr lang="en-US" b="1" dirty="0">
                <a:latin typeface="Helvetica" pitchFamily="2" charset="0"/>
              </a:rPr>
              <a:t>⚠️ </a:t>
            </a:r>
            <a:r>
              <a:rPr lang="en-US" dirty="0">
                <a:latin typeface="Helvetica" pitchFamily="2" charset="0"/>
              </a:rPr>
              <a:t>These slides are a resource, don’t try to read all the text today!</a:t>
            </a:r>
          </a:p>
        </p:txBody>
      </p:sp>
      <p:pic>
        <p:nvPicPr>
          <p:cNvPr id="1026" name="Picture 2" descr="Online work Generic Detailed Outline icon | Freepik">
            <a:extLst>
              <a:ext uri="{FF2B5EF4-FFF2-40B4-BE49-F238E27FC236}">
                <a16:creationId xmlns:a16="http://schemas.microsoft.com/office/drawing/2014/main" id="{B5E20723-3BFD-6C4C-611A-D662B5F6662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7656" y="2083875"/>
            <a:ext cx="425460" cy="425460"/>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2A51A9E8-E9C2-3A81-5022-837FD92D72D6}"/>
              </a:ext>
            </a:extLst>
          </p:cNvPr>
          <p:cNvSpPr/>
          <p:nvPr/>
        </p:nvSpPr>
        <p:spPr>
          <a:xfrm>
            <a:off x="717705" y="3742096"/>
            <a:ext cx="5170476" cy="2795269"/>
          </a:xfrm>
          <a:prstGeom prst="rect">
            <a:avLst/>
          </a:prstGeom>
          <a:noFill/>
          <a:ln w="28575">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05524F7-7190-7722-0BE2-775F11E6D852}"/>
              </a:ext>
            </a:extLst>
          </p:cNvPr>
          <p:cNvSpPr txBox="1"/>
          <p:nvPr/>
        </p:nvSpPr>
        <p:spPr>
          <a:xfrm>
            <a:off x="2349802" y="2207599"/>
            <a:ext cx="1845377" cy="369332"/>
          </a:xfrm>
          <a:prstGeom prst="rect">
            <a:avLst/>
          </a:prstGeom>
          <a:noFill/>
        </p:spPr>
        <p:txBody>
          <a:bodyPr wrap="none" rtlCol="0">
            <a:spAutoFit/>
          </a:bodyPr>
          <a:lstStyle/>
          <a:p>
            <a:r>
              <a:rPr lang="en-US" dirty="0">
                <a:latin typeface="Helvetica" pitchFamily="2" charset="0"/>
              </a:rPr>
              <a:t>2h work + social</a:t>
            </a:r>
          </a:p>
        </p:txBody>
      </p:sp>
      <p:pic>
        <p:nvPicPr>
          <p:cNvPr id="1028" name="Picture 4" descr="Drinking - Free people icons">
            <a:extLst>
              <a:ext uri="{FF2B5EF4-FFF2-40B4-BE49-F238E27FC236}">
                <a16:creationId xmlns:a16="http://schemas.microsoft.com/office/drawing/2014/main" id="{1767A7D1-2AF2-592F-0CFA-BDE7964660B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39326" y="2140209"/>
            <a:ext cx="369332" cy="36933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F6291B33-709B-1C11-57F6-8734CABD62EC}"/>
              </a:ext>
            </a:extLst>
          </p:cNvPr>
          <p:cNvSpPr txBox="1"/>
          <p:nvPr/>
        </p:nvSpPr>
        <p:spPr>
          <a:xfrm>
            <a:off x="1483116" y="2108034"/>
            <a:ext cx="300082"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9474072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DB88E-CF58-5216-E3DA-A70DE3B97C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52DEB1-B666-14B3-CA8F-FBEED22D4D7F}"/>
              </a:ext>
            </a:extLst>
          </p:cNvPr>
          <p:cNvSpPr>
            <a:spLocks noGrp="1"/>
          </p:cNvSpPr>
          <p:nvPr>
            <p:ph type="title"/>
          </p:nvPr>
        </p:nvSpPr>
        <p:spPr>
          <a:xfrm>
            <a:off x="838200" y="382938"/>
            <a:ext cx="10515600" cy="1325563"/>
          </a:xfrm>
        </p:spPr>
        <p:txBody>
          <a:bodyPr>
            <a:normAutofit/>
          </a:bodyPr>
          <a:lstStyle/>
          <a:p>
            <a:r>
              <a:rPr lang="en-US" sz="4000" dirty="0">
                <a:latin typeface="Helvetica" pitchFamily="2" charset="0"/>
              </a:rPr>
              <a:t>Today…</a:t>
            </a:r>
          </a:p>
        </p:txBody>
      </p:sp>
      <p:graphicFrame>
        <p:nvGraphicFramePr>
          <p:cNvPr id="4" name="Table 3">
            <a:extLst>
              <a:ext uri="{FF2B5EF4-FFF2-40B4-BE49-F238E27FC236}">
                <a16:creationId xmlns:a16="http://schemas.microsoft.com/office/drawing/2014/main" id="{A1B0DB0E-462E-CAF9-CA6B-0784E6128C4B}"/>
              </a:ext>
            </a:extLst>
          </p:cNvPr>
          <p:cNvGraphicFramePr>
            <a:graphicFrameLocks noGrp="1"/>
          </p:cNvGraphicFramePr>
          <p:nvPr>
            <p:extLst>
              <p:ext uri="{D42A27DB-BD31-4B8C-83A1-F6EECF244321}">
                <p14:modId xmlns:p14="http://schemas.microsoft.com/office/powerpoint/2010/main" val="3621961756"/>
              </p:ext>
            </p:extLst>
          </p:nvPr>
        </p:nvGraphicFramePr>
        <p:xfrm>
          <a:off x="838200" y="1647725"/>
          <a:ext cx="10366169" cy="4618153"/>
        </p:xfrm>
        <a:graphic>
          <a:graphicData uri="http://schemas.openxmlformats.org/drawingml/2006/table">
            <a:tbl>
              <a:tblPr firstRow="1" bandRow="1">
                <a:tableStyleId>{5940675A-B579-460E-94D1-54222C63F5DA}</a:tableStyleId>
              </a:tblPr>
              <a:tblGrid>
                <a:gridCol w="1600455">
                  <a:extLst>
                    <a:ext uri="{9D8B030D-6E8A-4147-A177-3AD203B41FA5}">
                      <a16:colId xmlns:a16="http://schemas.microsoft.com/office/drawing/2014/main" val="3588077064"/>
                    </a:ext>
                  </a:extLst>
                </a:gridCol>
                <a:gridCol w="1553775">
                  <a:extLst>
                    <a:ext uri="{9D8B030D-6E8A-4147-A177-3AD203B41FA5}">
                      <a16:colId xmlns:a16="http://schemas.microsoft.com/office/drawing/2014/main" val="2921729674"/>
                    </a:ext>
                  </a:extLst>
                </a:gridCol>
                <a:gridCol w="1494395">
                  <a:extLst>
                    <a:ext uri="{9D8B030D-6E8A-4147-A177-3AD203B41FA5}">
                      <a16:colId xmlns:a16="http://schemas.microsoft.com/office/drawing/2014/main" val="3051897964"/>
                    </a:ext>
                  </a:extLst>
                </a:gridCol>
                <a:gridCol w="1393727">
                  <a:extLst>
                    <a:ext uri="{9D8B030D-6E8A-4147-A177-3AD203B41FA5}">
                      <a16:colId xmlns:a16="http://schemas.microsoft.com/office/drawing/2014/main" val="2317395656"/>
                    </a:ext>
                  </a:extLst>
                </a:gridCol>
                <a:gridCol w="1393727">
                  <a:extLst>
                    <a:ext uri="{9D8B030D-6E8A-4147-A177-3AD203B41FA5}">
                      <a16:colId xmlns:a16="http://schemas.microsoft.com/office/drawing/2014/main" val="4058881113"/>
                    </a:ext>
                  </a:extLst>
                </a:gridCol>
                <a:gridCol w="1467082">
                  <a:extLst>
                    <a:ext uri="{9D8B030D-6E8A-4147-A177-3AD203B41FA5}">
                      <a16:colId xmlns:a16="http://schemas.microsoft.com/office/drawing/2014/main" val="1121361333"/>
                    </a:ext>
                  </a:extLst>
                </a:gridCol>
                <a:gridCol w="1463008">
                  <a:extLst>
                    <a:ext uri="{9D8B030D-6E8A-4147-A177-3AD203B41FA5}">
                      <a16:colId xmlns:a16="http://schemas.microsoft.com/office/drawing/2014/main" val="3820744059"/>
                    </a:ext>
                  </a:extLst>
                </a:gridCol>
              </a:tblGrid>
              <a:tr h="277386">
                <a:tc gridSpan="2">
                  <a:txBody>
                    <a:bodyPr/>
                    <a:lstStyle/>
                    <a:p>
                      <a:pPr algn="ctr"/>
                      <a:r>
                        <a:rPr lang="en-US" sz="1200" b="1" dirty="0">
                          <a:latin typeface="Helvetica" pitchFamily="2" charset="0"/>
                        </a:rPr>
                        <a:t>Day 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Day 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gridSpan="2">
                  <a:txBody>
                    <a:bodyPr/>
                    <a:lstStyle/>
                    <a:p>
                      <a:pPr algn="ctr"/>
                      <a:r>
                        <a:rPr lang="en-US" sz="1200" b="1" dirty="0">
                          <a:latin typeface="Helvetica" pitchFamily="2" charset="0"/>
                        </a:rPr>
                        <a:t>Day 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gridSpan="2">
                  <a:txBody>
                    <a:bodyPr/>
                    <a:lstStyle/>
                    <a:p>
                      <a:pPr algn="ctr"/>
                      <a:r>
                        <a:rPr lang="en-US" sz="1200" b="1" dirty="0">
                          <a:latin typeface="Helvetica" pitchFamily="2" charset="0"/>
                        </a:rPr>
                        <a:t>Day 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1386561491"/>
                  </a:ext>
                </a:extLst>
              </a:tr>
              <a:tr h="888907">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3.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4.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5.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6.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7. Data management + Globus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5070096"/>
                  </a:ext>
                </a:extLst>
              </a:tr>
              <a:tr h="3402714">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p>
                      <a:pPr marL="171450" indent="-171450">
                        <a:buFont typeface="Arial" panose="020B0604020202020204" pitchFamily="34" charset="0"/>
                        <a:buChar char="•"/>
                      </a:pPr>
                      <a:r>
                        <a:rPr lang="en-US" sz="1050" dirty="0">
                          <a:latin typeface="Helvetica" pitchFamily="2" charset="0"/>
                        </a:rPr>
                        <a:t>Create a job array and submit it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Introduction to modules</a:t>
                      </a:r>
                    </a:p>
                    <a:p>
                      <a:pPr marL="171450" indent="-171450">
                        <a:buFont typeface="Arial" panose="020B0604020202020204" pitchFamily="34" charset="0"/>
                        <a:buChar char="•"/>
                      </a:pPr>
                      <a:r>
                        <a:rPr lang="en-US" sz="1050" dirty="0">
                          <a:latin typeface="Helvetica" pitchFamily="2" charset="0"/>
                        </a:rPr>
                        <a:t>Introduction to virtual environments</a:t>
                      </a:r>
                    </a:p>
                    <a:p>
                      <a:pPr marL="171450" indent="-171450">
                        <a:buFont typeface="Arial" panose="020B0604020202020204" pitchFamily="34" charset="0"/>
                        <a:buChar char="•"/>
                      </a:pPr>
                      <a:r>
                        <a:rPr lang="en-US" sz="1050" dirty="0">
                          <a:latin typeface="Helvetica" pitchFamily="2" charset="0"/>
                        </a:rPr>
                        <a:t>Introduction to containers</a:t>
                      </a:r>
                    </a:p>
                    <a:p>
                      <a:pPr marL="171450" indent="-171450">
                        <a:buFont typeface="Arial" panose="020B0604020202020204" pitchFamily="34" charset="0"/>
                        <a:buChar char="•"/>
                      </a:pPr>
                      <a:r>
                        <a:rPr lang="en-US" sz="1050" dirty="0">
                          <a:latin typeface="Helvetica" pitchFamily="2" charset="0"/>
                        </a:rPr>
                        <a:t>Learn how to load software using modules, </a:t>
                      </a:r>
                      <a:r>
                        <a:rPr lang="en-US" sz="1050" dirty="0" err="1">
                          <a:latin typeface="Helvetica" pitchFamily="2" charset="0"/>
                        </a:rPr>
                        <a:t>conda</a:t>
                      </a:r>
                      <a:r>
                        <a:rPr lang="en-US" sz="1050" dirty="0">
                          <a:latin typeface="Helvetica" pitchFamily="2" charset="0"/>
                        </a:rPr>
                        <a:t>, containers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indent="0">
                        <a:buFontTx/>
                        <a:buNone/>
                      </a:pPr>
                      <a:r>
                        <a:rPr lang="en-US" sz="1050" dirty="0">
                          <a:latin typeface="Helvetica" pitchFamily="2" charset="0"/>
                        </a:rPr>
                        <a:t>Manage data across the Hazel storage system.</a:t>
                      </a:r>
                    </a:p>
                    <a:p>
                      <a:r>
                        <a:rPr lang="en-US" sz="1050" dirty="0">
                          <a:latin typeface="Helvetica" pitchFamily="2" charset="0"/>
                        </a:rPr>
                        <a:t>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p>
                      <a:pPr marL="0" indent="0">
                        <a:buFontTx/>
                        <a:buNone/>
                      </a:pPr>
                      <a:endParaRPr lang="en-US" sz="1050" dirty="0">
                        <a:latin typeface="Helvetica" pitchFamily="2" charset="0"/>
                      </a:endParaRPr>
                    </a:p>
                    <a:p>
                      <a:pPr marL="0" indent="0">
                        <a:buFontTx/>
                        <a:buNone/>
                      </a:pPr>
                      <a:r>
                        <a:rPr lang="en-US" sz="1050" dirty="0">
                          <a:latin typeface="Helvetica" pitchFamily="2" charset="0"/>
                        </a:rPr>
                        <a:t>Globus:</a:t>
                      </a:r>
                    </a:p>
                    <a:p>
                      <a:pPr marL="171450" indent="-171450">
                        <a:buFont typeface="Arial" panose="020B0604020202020204" pitchFamily="34" charset="0"/>
                        <a:buChar char="•"/>
                      </a:pPr>
                      <a:r>
                        <a:rPr lang="en-US" sz="1050" dirty="0">
                          <a:latin typeface="Helvetica" pitchFamily="2" charset="0"/>
                        </a:rPr>
                        <a:t>Understand endpoints and transfers. </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transfers with HPC</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7321800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7E632-1B08-6D8A-3A25-87625934D7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DBFA83-B7A1-3974-0E7E-4C0F70E71604}"/>
              </a:ext>
            </a:extLst>
          </p:cNvPr>
          <p:cNvSpPr txBox="1">
            <a:spLocks/>
          </p:cNvSpPr>
          <p:nvPr/>
        </p:nvSpPr>
        <p:spPr>
          <a:xfrm>
            <a:off x="1646320"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1. HPC fundamentals</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9F1ED029-BF96-DB0C-CA25-0CBEF7F83AF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4000"/>
          <a:stretch>
            <a:fillRect/>
          </a:stretch>
        </p:blipFill>
        <p:spPr bwMode="auto">
          <a:xfrm>
            <a:off x="8683898" y="1887582"/>
            <a:ext cx="1861782" cy="17242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8263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381B9-A535-46D6-8D1F-FB28C8E97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408573-F8FD-0FA6-7F73-ECD08151652F}"/>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9379BE18-A732-C3EA-0967-B4349149A278}"/>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5122" name="Picture 2" descr="Graphical user interface&#10;&#10;Description automatically generated">
            <a:extLst>
              <a:ext uri="{FF2B5EF4-FFF2-40B4-BE49-F238E27FC236}">
                <a16:creationId xmlns:a16="http://schemas.microsoft.com/office/drawing/2014/main" id="{4071D3FF-8388-B734-EB7A-FC772230E9C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32" t="26476" r="2535" b="26762"/>
          <a:stretch>
            <a:fillRect/>
          </a:stretch>
        </p:blipFill>
        <p:spPr bwMode="auto">
          <a:xfrm>
            <a:off x="1881052" y="2809018"/>
            <a:ext cx="8255725" cy="3000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486895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C60F9-6E56-DEA6-E2D2-EBB155253C50}"/>
            </a:ext>
          </a:extLst>
        </p:cNvPr>
        <p:cNvGrpSpPr/>
        <p:nvPr/>
      </p:nvGrpSpPr>
      <p:grpSpPr>
        <a:xfrm>
          <a:off x="0" y="0"/>
          <a:ext cx="0" cy="0"/>
          <a:chOff x="0" y="0"/>
          <a:chExt cx="0" cy="0"/>
        </a:xfrm>
      </p:grpSpPr>
      <p:pic>
        <p:nvPicPr>
          <p:cNvPr id="7170" name="Picture 2" descr="Graphical user interface&#10;&#10;Description automatically generated">
            <a:extLst>
              <a:ext uri="{FF2B5EF4-FFF2-40B4-BE49-F238E27FC236}">
                <a16:creationId xmlns:a16="http://schemas.microsoft.com/office/drawing/2014/main" id="{508F6F86-8EC7-6D62-1437-2C43705369C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59" t="28571" r="2100" b="27678"/>
          <a:stretch>
            <a:fillRect/>
          </a:stretch>
        </p:blipFill>
        <p:spPr bwMode="auto">
          <a:xfrm>
            <a:off x="1815737" y="2869512"/>
            <a:ext cx="8495211" cy="287942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61E1C2B-5CA1-ACED-5C17-3CEC9222FC13}"/>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0A520AA3-9322-61B8-4551-E5F4D8040672}"/>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spTree>
    <p:extLst>
      <p:ext uri="{BB962C8B-B14F-4D97-AF65-F5344CB8AC3E}">
        <p14:creationId xmlns:p14="http://schemas.microsoft.com/office/powerpoint/2010/main" val="10934370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872EB-397D-9D9E-5D4A-406DCF4528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FCBF7-C404-517C-D712-1D1371DEEB38}"/>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1CE433F4-4BBE-906F-0A9D-7514686F17BD}"/>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9218" name="Picture 2">
            <a:extLst>
              <a:ext uri="{FF2B5EF4-FFF2-40B4-BE49-F238E27FC236}">
                <a16:creationId xmlns:a16="http://schemas.microsoft.com/office/drawing/2014/main" id="{8BFC1275-6A55-D69B-3BFA-365F79B42A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4328" y="2409377"/>
            <a:ext cx="6674439" cy="40834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85457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8812F-FD91-EF7F-A8B9-F15559D63E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0241E-7BD0-D5F3-80A4-1E63961F5888}"/>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EB60A4D9-2D50-1C28-1090-8EDF32EC99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36C110A-578E-CE85-9E54-83175489E54D}"/>
              </a:ext>
            </a:extLst>
          </p:cNvPr>
          <p:cNvSpPr txBox="1"/>
          <p:nvPr/>
        </p:nvSpPr>
        <p:spPr>
          <a:xfrm>
            <a:off x="642900" y="1690688"/>
            <a:ext cx="6097088" cy="2215991"/>
          </a:xfrm>
          <a:prstGeom prst="rect">
            <a:avLst/>
          </a:prstGeom>
          <a:noFill/>
        </p:spPr>
        <p:txBody>
          <a:bodyPr wrap="square">
            <a:spAutoFit/>
          </a:bodyPr>
          <a:lstStyle/>
          <a:p>
            <a:pPr marL="285750" indent="-285750">
              <a:buFont typeface="Arial" panose="020B0604020202020204" pitchFamily="34" charset="0"/>
              <a:buChar char="•"/>
            </a:pPr>
            <a:r>
              <a:rPr lang="en-US" b="1" dirty="0">
                <a:latin typeface="Helvetica" pitchFamily="2" charset="0"/>
              </a:rPr>
              <a:t>CPU  </a:t>
            </a:r>
            <a:r>
              <a:rPr lang="en-US" dirty="0">
                <a:latin typeface="Helvetica" pitchFamily="2" charset="0"/>
              </a:rPr>
              <a:t>(Central processing unit) </a:t>
            </a:r>
            <a:r>
              <a:rPr lang="en-US" b="1" dirty="0">
                <a:latin typeface="Helvetica" pitchFamily="2" charset="0"/>
              </a:rPr>
              <a:t>= Taskmaster:</a:t>
            </a:r>
            <a:r>
              <a:rPr lang="en-US" dirty="0">
                <a:latin typeface="Helvetica" pitchFamily="2" charset="0"/>
              </a:rPr>
              <a:t> General purpose, sequential work. 8-64 cores.</a:t>
            </a:r>
          </a:p>
          <a:p>
            <a:r>
              <a:rPr lang="en-US" sz="1400" i="1" dirty="0">
                <a:latin typeface="Helvetica Light Oblique" panose="020B0403020202020204" pitchFamily="34" charset="0"/>
              </a:rPr>
              <a:t>Think of a CPU as a small team of highly skilled experts. Each core can tackle complex, diverse tasks independently and make sophisticated decisions.</a:t>
            </a:r>
            <a:endParaRPr lang="en-US" dirty="0">
              <a:latin typeface="Helvetica" pitchFamily="2" charset="0"/>
            </a:endParaRPr>
          </a:p>
          <a:p>
            <a:pPr marL="742950" lvl="1" indent="-285750">
              <a:buFont typeface="Arial" panose="020B0604020202020204" pitchFamily="34" charset="0"/>
              <a:buChar char="•"/>
            </a:pPr>
            <a:r>
              <a:rPr lang="en-US" sz="1400" dirty="0">
                <a:latin typeface="Helvetica" pitchFamily="2" charset="0"/>
              </a:rPr>
              <a:t>Sequence alignment (BWA, Bowtie) </a:t>
            </a:r>
          </a:p>
          <a:p>
            <a:pPr marL="742950" lvl="1" indent="-285750">
              <a:buFont typeface="Arial" panose="020B0604020202020204" pitchFamily="34" charset="0"/>
              <a:buChar char="•"/>
            </a:pPr>
            <a:r>
              <a:rPr lang="en-US" sz="1400" dirty="0">
                <a:latin typeface="Helvetica" pitchFamily="2" charset="0"/>
              </a:rPr>
              <a:t>Variant calling (GATK), </a:t>
            </a:r>
          </a:p>
          <a:p>
            <a:pPr marL="742950" lvl="1" indent="-285750">
              <a:buFont typeface="Arial" panose="020B0604020202020204" pitchFamily="34" charset="0"/>
              <a:buChar char="•"/>
            </a:pPr>
            <a:r>
              <a:rPr lang="en-US" sz="1400" dirty="0">
                <a:latin typeface="Helvetica" pitchFamily="2" charset="0"/>
              </a:rPr>
              <a:t>Gene expression analysis (DESeq2)</a:t>
            </a:r>
          </a:p>
          <a:p>
            <a:endParaRPr lang="en-US" dirty="0">
              <a:latin typeface="Helvetica" pitchFamily="2" charset="0"/>
            </a:endParaRPr>
          </a:p>
        </p:txBody>
      </p:sp>
    </p:spTree>
    <p:extLst>
      <p:ext uri="{BB962C8B-B14F-4D97-AF65-F5344CB8AC3E}">
        <p14:creationId xmlns:p14="http://schemas.microsoft.com/office/powerpoint/2010/main" val="19262504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36302D-752C-DC45-2306-781B3D4F8A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1ECD0-5722-9778-284D-B12200C6BF9B}"/>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F8F7E9E6-AA9A-B767-D1F1-DEBD9A6542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6B948E3-ED56-AB76-B756-7935446AF413}"/>
              </a:ext>
            </a:extLst>
          </p:cNvPr>
          <p:cNvSpPr txBox="1"/>
          <p:nvPr/>
        </p:nvSpPr>
        <p:spPr>
          <a:xfrm>
            <a:off x="642900" y="1690688"/>
            <a:ext cx="6097088" cy="4124206"/>
          </a:xfrm>
          <a:prstGeom prst="rect">
            <a:avLst/>
          </a:prstGeom>
          <a:noFill/>
        </p:spPr>
        <p:txBody>
          <a:bodyPr wrap="square">
            <a:spAutoFit/>
          </a:bodyPr>
          <a:lstStyle/>
          <a:p>
            <a:pPr marL="285750" indent="-285750">
              <a:buFont typeface="Arial" panose="020B0604020202020204" pitchFamily="34" charset="0"/>
              <a:buChar char="•"/>
            </a:pPr>
            <a:r>
              <a:rPr lang="en-US" b="1" dirty="0">
                <a:solidFill>
                  <a:schemeClr val="bg1">
                    <a:lumMod val="50000"/>
                  </a:schemeClr>
                </a:solidFill>
                <a:latin typeface="Helvetica" pitchFamily="2" charset="0"/>
              </a:rPr>
              <a:t>CPU  </a:t>
            </a:r>
            <a:r>
              <a:rPr lang="en-US" dirty="0">
                <a:solidFill>
                  <a:schemeClr val="bg1">
                    <a:lumMod val="50000"/>
                  </a:schemeClr>
                </a:solidFill>
                <a:latin typeface="Helvetica" pitchFamily="2" charset="0"/>
              </a:rPr>
              <a:t>(Central processing unit) </a:t>
            </a:r>
            <a:r>
              <a:rPr lang="en-US" b="1" dirty="0">
                <a:solidFill>
                  <a:schemeClr val="bg1">
                    <a:lumMod val="50000"/>
                  </a:schemeClr>
                </a:solidFill>
                <a:latin typeface="Helvetica" pitchFamily="2" charset="0"/>
              </a:rPr>
              <a:t>= Taskmaster:</a:t>
            </a:r>
            <a:r>
              <a:rPr lang="en-US" dirty="0">
                <a:solidFill>
                  <a:schemeClr val="bg1">
                    <a:lumMod val="50000"/>
                  </a:schemeClr>
                </a:solidFill>
                <a:latin typeface="Helvetica" pitchFamily="2" charset="0"/>
              </a:rPr>
              <a:t> General purpose, sequential work. 8-64 cores.</a:t>
            </a:r>
          </a:p>
          <a:p>
            <a:r>
              <a:rPr lang="en-US" sz="1400" i="1" dirty="0">
                <a:solidFill>
                  <a:schemeClr val="bg1">
                    <a:lumMod val="50000"/>
                  </a:schemeClr>
                </a:solidFill>
                <a:latin typeface="Helvetica Light Oblique" panose="020B0403020202020204" pitchFamily="34" charset="0"/>
              </a:rPr>
              <a:t>Think of a CPU as a small team of highly skilled experts. Each core can tackle complex, diverse tasks independently and make sophisticated decisions.</a:t>
            </a:r>
            <a:endParaRPr lang="en-US" dirty="0">
              <a:solidFill>
                <a:schemeClr val="bg1">
                  <a:lumMod val="50000"/>
                </a:schemeClr>
              </a:solidFill>
              <a:latin typeface="Helvetica" pitchFamily="2" charset="0"/>
            </a:endParaRP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Sequence alignment (BWA, Bowtie)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Variant calling (GATK),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Gene expression analysis (DESeq2)</a:t>
            </a:r>
          </a:p>
          <a:p>
            <a:endParaRPr lang="en-US" dirty="0">
              <a:latin typeface="Helvetica" pitchFamily="2" charset="0"/>
            </a:endParaRPr>
          </a:p>
          <a:p>
            <a:pPr marL="285750" indent="-285750">
              <a:buFont typeface="Arial" panose="020B0604020202020204" pitchFamily="34" charset="0"/>
              <a:buChar char="•"/>
            </a:pPr>
            <a:r>
              <a:rPr lang="en-US" b="1" dirty="0">
                <a:latin typeface="Helvetica" pitchFamily="2" charset="0"/>
              </a:rPr>
              <a:t>GPU </a:t>
            </a:r>
            <a:r>
              <a:rPr lang="en-US" dirty="0">
                <a:latin typeface="Helvetica" pitchFamily="2" charset="0"/>
              </a:rPr>
              <a:t>(Graphic processing unit) </a:t>
            </a:r>
            <a:r>
              <a:rPr lang="en-US" b="1" dirty="0">
                <a:latin typeface="Helvetica" pitchFamily="2" charset="0"/>
              </a:rPr>
              <a:t>= Turbo-Boost:</a:t>
            </a:r>
            <a:r>
              <a:rPr lang="en-US" dirty="0">
                <a:latin typeface="Helvetica" pitchFamily="2" charset="0"/>
              </a:rPr>
              <a:t> Specialized, massive parallel work (Deep Learning, Protein Prediction). Thousands of cores.</a:t>
            </a:r>
          </a:p>
          <a:p>
            <a:r>
              <a:rPr lang="en-US" sz="1400" i="1" dirty="0">
                <a:latin typeface="Helvetica Light Oblique" panose="020B0403020202020204" pitchFamily="34" charset="0"/>
              </a:rPr>
              <a:t>A GPU is  like having thousands of workers who can all do the same simple task simultaneously.</a:t>
            </a:r>
          </a:p>
          <a:p>
            <a:pPr marL="742950" lvl="1" indent="-285750">
              <a:buFont typeface="Arial" panose="020B0604020202020204" pitchFamily="34" charset="0"/>
              <a:buChar char="•"/>
            </a:pPr>
            <a:r>
              <a:rPr lang="en-US" sz="1400" dirty="0">
                <a:latin typeface="Helvetica" pitchFamily="2" charset="0"/>
              </a:rPr>
              <a:t>Deep learning (AlphaFold, protein structure prediction)</a:t>
            </a:r>
          </a:p>
          <a:p>
            <a:pPr marL="742950" lvl="1" indent="-285750">
              <a:buFont typeface="Arial" panose="020B0604020202020204" pitchFamily="34" charset="0"/>
              <a:buChar char="•"/>
            </a:pPr>
            <a:r>
              <a:rPr lang="en-US" sz="1400" dirty="0">
                <a:latin typeface="Helvetica" pitchFamily="2" charset="0"/>
              </a:rPr>
              <a:t>Molecular dynamics simulations</a:t>
            </a:r>
          </a:p>
          <a:p>
            <a:pPr marL="742950" lvl="1" indent="-285750">
              <a:buFont typeface="Arial" panose="020B0604020202020204" pitchFamily="34" charset="0"/>
              <a:buChar char="•"/>
            </a:pPr>
            <a:r>
              <a:rPr lang="en-US" sz="1400" dirty="0">
                <a:latin typeface="Helvetica" pitchFamily="2" charset="0"/>
              </a:rPr>
              <a:t>Some genome assembly algorithms</a:t>
            </a:r>
            <a:endParaRPr lang="en-US" sz="1400" i="1" dirty="0">
              <a:latin typeface="Helvetica" pitchFamily="2" charset="0"/>
            </a:endParaRPr>
          </a:p>
        </p:txBody>
      </p:sp>
    </p:spTree>
    <p:extLst>
      <p:ext uri="{BB962C8B-B14F-4D97-AF65-F5344CB8AC3E}">
        <p14:creationId xmlns:p14="http://schemas.microsoft.com/office/powerpoint/2010/main" val="10279116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B7653-2B50-AEB2-747D-1C847DEF06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6A812-3C65-51A5-469E-4F5AA25BE7F8}"/>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7359E43-7C1E-361E-2264-53712D534B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248C0F-3164-DA58-071F-C6F698A4D10C}"/>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6856800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C7BAD-DC17-E664-89B0-29E816D015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B4C19D-DD0D-D938-F48E-78AE17E5C28F}"/>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0B9F0F9D-BB10-ED14-4F70-045461165C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575BAF5-DDD2-2F5F-AA14-55CDFD17116D}"/>
              </a:ext>
            </a:extLst>
          </p:cNvPr>
          <p:cNvSpPr txBox="1"/>
          <p:nvPr/>
        </p:nvSpPr>
        <p:spPr>
          <a:xfrm>
            <a:off x="632598" y="2118241"/>
            <a:ext cx="6159136" cy="2739211"/>
          </a:xfrm>
          <a:prstGeom prst="rect">
            <a:avLst/>
          </a:prstGeom>
          <a:noFill/>
        </p:spPr>
        <p:txBody>
          <a:bodyPr wrap="square" rtlCol="0">
            <a:spAutoFit/>
          </a:bodyPr>
          <a:lstStyle/>
          <a:p>
            <a:pPr marL="285750" indent="-285750">
              <a:buFont typeface="Arial" panose="020B0604020202020204" pitchFamily="34" charset="0"/>
              <a:buChar char="•"/>
            </a:pPr>
            <a:r>
              <a:rPr lang="en-US" b="1" dirty="0">
                <a:latin typeface="Helvetica" pitchFamily="2" charset="0"/>
              </a:rPr>
              <a:t>Node: </a:t>
            </a:r>
          </a:p>
          <a:p>
            <a:r>
              <a:rPr lang="en-US" sz="1400" dirty="0">
                <a:latin typeface="Helvetica" pitchFamily="2" charset="0"/>
              </a:rPr>
              <a:t>A node is </a:t>
            </a:r>
            <a:r>
              <a:rPr lang="en-US" sz="1400" b="1" dirty="0">
                <a:latin typeface="Helvetica" pitchFamily="2" charset="0"/>
              </a:rPr>
              <a:t>an entire computer </a:t>
            </a:r>
            <a:r>
              <a:rPr lang="en-US" sz="1400" dirty="0">
                <a:latin typeface="Helvetica" pitchFamily="2" charset="0"/>
              </a:rPr>
              <a:t>within the HPC cluster. </a:t>
            </a:r>
            <a:r>
              <a:rPr lang="en-US" sz="1400" i="1" dirty="0">
                <a:latin typeface="Helvetica" pitchFamily="2" charset="0"/>
              </a:rPr>
              <a:t>Think of a node as a complete office workspace with everything needed to function independently. </a:t>
            </a:r>
            <a:r>
              <a:rPr lang="en-US" sz="1400" dirty="0">
                <a:latin typeface="Helvetica" pitchFamily="2" charset="0"/>
              </a:rPr>
              <a:t>Each node contains:</a:t>
            </a:r>
          </a:p>
          <a:p>
            <a:pPr marL="742950" lvl="1" indent="-285750">
              <a:buFont typeface="Arial" panose="020B0604020202020204" pitchFamily="34" charset="0"/>
              <a:buChar char="•"/>
            </a:pPr>
            <a:r>
              <a:rPr lang="en-US" sz="1400" dirty="0">
                <a:latin typeface="Helvetica" pitchFamily="2" charset="0"/>
              </a:rPr>
              <a:t>One or more CPUs and/or GPUs (each with multiple cores)</a:t>
            </a:r>
          </a:p>
          <a:p>
            <a:pPr marL="742950" lvl="1" indent="-285750">
              <a:buFont typeface="Arial" panose="020B0604020202020204" pitchFamily="34" charset="0"/>
              <a:buChar char="•"/>
            </a:pPr>
            <a:r>
              <a:rPr lang="en-US" sz="1400" dirty="0">
                <a:latin typeface="Helvetica" pitchFamily="2" charset="0"/>
              </a:rPr>
              <a:t>Memory (RAM)</a:t>
            </a:r>
          </a:p>
          <a:p>
            <a:pPr marL="742950" lvl="1" indent="-285750">
              <a:buFont typeface="Arial" panose="020B0604020202020204" pitchFamily="34" charset="0"/>
              <a:buChar char="•"/>
            </a:pPr>
            <a:r>
              <a:rPr lang="en-US" sz="1400" dirty="0">
                <a:latin typeface="Helvetica" pitchFamily="2" charset="0"/>
              </a:rPr>
              <a:t>Storage connection</a:t>
            </a:r>
          </a:p>
          <a:p>
            <a:pPr marL="742950" lvl="1" indent="-285750">
              <a:buFont typeface="Arial" panose="020B0604020202020204" pitchFamily="34" charset="0"/>
              <a:buChar char="•"/>
            </a:pPr>
            <a:r>
              <a:rPr lang="en-US" sz="1400" dirty="0">
                <a:latin typeface="Helvetica" pitchFamily="2" charset="0"/>
              </a:rPr>
              <a:t>Network connection to other nodes </a:t>
            </a:r>
          </a:p>
          <a:p>
            <a:pPr marL="742950" lvl="1" indent="-285750">
              <a:buFont typeface="Arial" panose="020B0604020202020204" pitchFamily="34" charset="0"/>
              <a:buChar char="•"/>
            </a:pPr>
            <a:r>
              <a:rPr lang="en-US" sz="1400" dirty="0">
                <a:latin typeface="Helvetica" pitchFamily="2" charset="0"/>
              </a:rPr>
              <a:t>Note: in Hazel compute nodes do not have internet connection!</a:t>
            </a: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endParaRPr lang="en-US" sz="1400" dirty="0">
              <a:latin typeface="Helvetica" pitchFamily="2" charset="0"/>
            </a:endParaRPr>
          </a:p>
        </p:txBody>
      </p:sp>
      <p:sp>
        <p:nvSpPr>
          <p:cNvPr id="5" name="TextBox 4">
            <a:extLst>
              <a:ext uri="{FF2B5EF4-FFF2-40B4-BE49-F238E27FC236}">
                <a16:creationId xmlns:a16="http://schemas.microsoft.com/office/drawing/2014/main" id="{795EDF3B-86D3-BF09-3D4E-24A5FD628F57}"/>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pic>
        <p:nvPicPr>
          <p:cNvPr id="17" name="Picture 2">
            <a:extLst>
              <a:ext uri="{FF2B5EF4-FFF2-40B4-BE49-F238E27FC236}">
                <a16:creationId xmlns:a16="http://schemas.microsoft.com/office/drawing/2014/main" id="{25BE3D07-2DD4-B95C-D9FA-4A737D7E96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804" b="34535"/>
          <a:stretch>
            <a:fillRect/>
          </a:stretch>
        </p:blipFill>
        <p:spPr bwMode="auto">
          <a:xfrm>
            <a:off x="10444347" y="5282178"/>
            <a:ext cx="1668483" cy="1358382"/>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Arrow Connector 18">
            <a:extLst>
              <a:ext uri="{FF2B5EF4-FFF2-40B4-BE49-F238E27FC236}">
                <a16:creationId xmlns:a16="http://schemas.microsoft.com/office/drawing/2014/main" id="{B9DCF0F5-E2DE-7BEB-1CAC-600BF2CD5853}"/>
              </a:ext>
            </a:extLst>
          </p:cNvPr>
          <p:cNvCxnSpPr>
            <a:cxnSpLocks/>
          </p:cNvCxnSpPr>
          <p:nvPr/>
        </p:nvCxnSpPr>
        <p:spPr>
          <a:xfrm flipH="1" flipV="1">
            <a:off x="11780322" y="3877293"/>
            <a:ext cx="89065" cy="1638795"/>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67405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964B5-46AE-53A5-D2B1-8D5AAF0DAD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1DC1A8-643B-55FF-7774-9B6C51CCBFED}"/>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2F0CC91-2C95-9FD9-1234-5AF2C07F7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1D844C2-5CA9-8A6D-9E75-0027219067A2}"/>
              </a:ext>
            </a:extLst>
          </p:cNvPr>
          <p:cNvSpPr txBox="1"/>
          <p:nvPr/>
        </p:nvSpPr>
        <p:spPr>
          <a:xfrm>
            <a:off x="632598" y="2118241"/>
            <a:ext cx="6159136" cy="4739759"/>
          </a:xfrm>
          <a:prstGeom prst="rect">
            <a:avLst/>
          </a:prstGeom>
          <a:noFill/>
        </p:spPr>
        <p:txBody>
          <a:bodyPr wrap="square" rtlCol="0">
            <a:spAutoFit/>
          </a:bodyPr>
          <a:lstStyle/>
          <a:p>
            <a:pPr marL="285750" indent="-285750">
              <a:buFont typeface="Arial" panose="020B0604020202020204" pitchFamily="34" charset="0"/>
              <a:buChar char="•"/>
            </a:pPr>
            <a:r>
              <a:rPr lang="en-US" b="1" dirty="0">
                <a:solidFill>
                  <a:schemeClr val="bg1">
                    <a:lumMod val="65000"/>
                  </a:schemeClr>
                </a:solidFill>
                <a:latin typeface="Helvetica" pitchFamily="2" charset="0"/>
              </a:rPr>
              <a:t>Node: </a:t>
            </a:r>
          </a:p>
          <a:p>
            <a:r>
              <a:rPr lang="en-US" sz="1400" dirty="0">
                <a:solidFill>
                  <a:schemeClr val="bg1">
                    <a:lumMod val="65000"/>
                  </a:schemeClr>
                </a:solidFill>
                <a:latin typeface="Helvetica" pitchFamily="2" charset="0"/>
              </a:rPr>
              <a:t>A node is </a:t>
            </a:r>
            <a:r>
              <a:rPr lang="en-US" sz="1400" b="1" dirty="0">
                <a:solidFill>
                  <a:schemeClr val="bg1">
                    <a:lumMod val="65000"/>
                  </a:schemeClr>
                </a:solidFill>
                <a:latin typeface="Helvetica" pitchFamily="2" charset="0"/>
              </a:rPr>
              <a:t>an entire computer </a:t>
            </a:r>
            <a:r>
              <a:rPr lang="en-US" sz="1400" dirty="0">
                <a:solidFill>
                  <a:schemeClr val="bg1">
                    <a:lumMod val="65000"/>
                  </a:schemeClr>
                </a:solidFill>
                <a:latin typeface="Helvetica" pitchFamily="2" charset="0"/>
              </a:rPr>
              <a:t>within the HPC cluster. </a:t>
            </a:r>
            <a:r>
              <a:rPr lang="en-US" sz="1400" i="1" dirty="0">
                <a:solidFill>
                  <a:schemeClr val="bg1">
                    <a:lumMod val="65000"/>
                  </a:schemeClr>
                </a:solidFill>
                <a:latin typeface="Helvetica" pitchFamily="2" charset="0"/>
              </a:rPr>
              <a:t>Think of a node as a complete office workspace with everything needed to function independently. </a:t>
            </a:r>
            <a:r>
              <a:rPr lang="en-US" sz="1400" dirty="0">
                <a:solidFill>
                  <a:schemeClr val="bg1">
                    <a:lumMod val="65000"/>
                  </a:schemeClr>
                </a:solidFill>
                <a:latin typeface="Helvetica" pitchFamily="2" charset="0"/>
              </a:rPr>
              <a:t>Each node contains: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One or more CPUs and/or GPUs (each with multiple cores)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Memory (RAM)</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Storage connection</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Network connection to other nodes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Note: in Hazel compute nodes do not have internet connection!</a:t>
            </a:r>
            <a:endParaRPr lang="en-US" sz="1400" b="1" dirty="0">
              <a:solidFill>
                <a:schemeClr val="bg1">
                  <a:lumMod val="65000"/>
                </a:schemeClr>
              </a:solidFill>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r>
              <a:rPr lang="en-US" b="1" dirty="0">
                <a:latin typeface="Helvetica" pitchFamily="2" charset="0"/>
              </a:rPr>
              <a:t>Core: </a:t>
            </a:r>
          </a:p>
          <a:p>
            <a:r>
              <a:rPr lang="en-US" sz="1400" dirty="0">
                <a:latin typeface="Helvetica" pitchFamily="2" charset="0"/>
              </a:rPr>
              <a:t>A core is a</a:t>
            </a:r>
            <a:r>
              <a:rPr lang="en-US" sz="1400" b="1" dirty="0">
                <a:latin typeface="Helvetica" pitchFamily="2" charset="0"/>
              </a:rPr>
              <a:t> single processing unit </a:t>
            </a:r>
            <a:r>
              <a:rPr lang="en-US" sz="1400" dirty="0">
                <a:latin typeface="Helvetica" pitchFamily="2" charset="0"/>
              </a:rPr>
              <a:t>within a CPU. It's the fundamental unit that executes instructions. </a:t>
            </a:r>
            <a:r>
              <a:rPr lang="en-US" sz="1400" i="1" dirty="0">
                <a:latin typeface="Helvetica" pitchFamily="2" charset="0"/>
              </a:rPr>
              <a:t>Think of a core as one individual worker who can complete tasks.</a:t>
            </a:r>
          </a:p>
          <a:p>
            <a:pPr marL="742950" lvl="1" indent="-285750">
              <a:buFont typeface="Arial" panose="020B0604020202020204" pitchFamily="34" charset="0"/>
              <a:buChar char="•"/>
            </a:pPr>
            <a:r>
              <a:rPr lang="en-US" sz="1400" dirty="0">
                <a:latin typeface="Helvetica" pitchFamily="2" charset="0"/>
              </a:rPr>
              <a:t>Modern CPUs contain multiple cores (typically 8-64 cores per CPU)</a:t>
            </a:r>
          </a:p>
          <a:p>
            <a:pPr marL="742950" lvl="1" indent="-285750">
              <a:buFont typeface="Arial" panose="020B0604020202020204" pitchFamily="34" charset="0"/>
              <a:buChar char="•"/>
            </a:pPr>
            <a:r>
              <a:rPr lang="en-US" sz="1400" dirty="0">
                <a:latin typeface="Helvetica" pitchFamily="2" charset="0"/>
              </a:rPr>
              <a:t>Each core can run its own thread of execution independently</a:t>
            </a:r>
          </a:p>
          <a:p>
            <a:pPr marL="742950" lvl="1" indent="-285750">
              <a:buFont typeface="Arial" panose="020B0604020202020204" pitchFamily="34" charset="0"/>
              <a:buChar char="•"/>
            </a:pPr>
            <a:r>
              <a:rPr lang="en-US" sz="1400" dirty="0">
                <a:latin typeface="Helvetica" pitchFamily="2" charset="0"/>
              </a:rPr>
              <a:t>More cores = more tasks can run simultaneously</a:t>
            </a:r>
          </a:p>
          <a:p>
            <a:pPr marL="742950" lvl="1" indent="-285750">
              <a:buFont typeface="Arial" panose="020B0604020202020204" pitchFamily="34" charset="0"/>
              <a:buChar char="•"/>
            </a:pPr>
            <a:r>
              <a:rPr lang="en-US" sz="1400" dirty="0">
                <a:latin typeface="Helvetica" pitchFamily="2" charset="0"/>
              </a:rPr>
              <a:t>Example: A 32-core CPU can theoretically run 32 different calculations at the same time</a:t>
            </a:r>
          </a:p>
          <a:p>
            <a:endParaRPr lang="en-US" sz="1400" dirty="0">
              <a:latin typeface="Helvetica" pitchFamily="2" charset="0"/>
            </a:endParaRPr>
          </a:p>
        </p:txBody>
      </p:sp>
      <p:sp>
        <p:nvSpPr>
          <p:cNvPr id="5" name="TextBox 4">
            <a:extLst>
              <a:ext uri="{FF2B5EF4-FFF2-40B4-BE49-F238E27FC236}">
                <a16:creationId xmlns:a16="http://schemas.microsoft.com/office/drawing/2014/main" id="{26C0FA63-C607-4532-2BCA-4219E61B56F6}"/>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7730958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BA12A-EAC2-BEA2-A23B-E9DF2CE5F2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4AA2C3-ABB2-9B43-F1F6-839CB7037F46}"/>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7684A8EE-85A0-8F7A-E326-39B51E108337}"/>
              </a:ext>
            </a:extLst>
          </p:cNvPr>
          <p:cNvSpPr txBox="1"/>
          <p:nvPr/>
        </p:nvSpPr>
        <p:spPr>
          <a:xfrm>
            <a:off x="397466" y="1690688"/>
            <a:ext cx="6159136" cy="1877437"/>
          </a:xfrm>
          <a:prstGeom prst="rect">
            <a:avLst/>
          </a:prstGeom>
          <a:noFill/>
        </p:spPr>
        <p:txBody>
          <a:bodyPr wrap="square" rtlCol="0">
            <a:spAutoFit/>
          </a:bodyPr>
          <a:lstStyle/>
          <a:p>
            <a:r>
              <a:rPr lang="en-US" sz="1600" b="1" dirty="0">
                <a:latin typeface="Helvetica" pitchFamily="2" charset="0"/>
              </a:rPr>
              <a:t>Single-node jobs</a:t>
            </a:r>
            <a:r>
              <a:rPr lang="en-US" sz="1600" dirty="0">
                <a:latin typeface="Helvetica" pitchFamily="2" charset="0"/>
              </a:rPr>
              <a:t>: Your program uses multiple cores on ONE node </a:t>
            </a:r>
          </a:p>
          <a:p>
            <a:pPr marL="742950" lvl="1" indent="-285750">
              <a:buFont typeface="Arial" panose="020B0604020202020204" pitchFamily="34" charset="0"/>
              <a:buChar char="•"/>
            </a:pPr>
            <a:r>
              <a:rPr lang="en-US" sz="1400" dirty="0">
                <a:latin typeface="Helvetica" pitchFamily="2" charset="0"/>
              </a:rPr>
              <a:t>Faster communication between cores (they share memory)</a:t>
            </a:r>
          </a:p>
          <a:p>
            <a:pPr marL="742950" lvl="1" indent="-285750">
              <a:buFont typeface="Arial" panose="020B0604020202020204" pitchFamily="34" charset="0"/>
              <a:buChar char="•"/>
            </a:pPr>
            <a:r>
              <a:rPr lang="en-US" sz="1400" dirty="0">
                <a:latin typeface="Helvetica" pitchFamily="2" charset="0"/>
              </a:rPr>
              <a:t>Limited by one node's resources (if a node has 32 cores and 128GB RAM, that's your max)</a:t>
            </a:r>
          </a:p>
          <a:p>
            <a:pPr lvl="1"/>
            <a:r>
              <a:rPr lang="en-US" sz="1400" i="1" dirty="0">
                <a:latin typeface="Helvetica" pitchFamily="2" charset="0"/>
              </a:rPr>
              <a:t>Example: Most alignment tools (BWA, STAR) run on a single node</a:t>
            </a:r>
          </a:p>
          <a:p>
            <a:pPr lvl="1"/>
            <a:endParaRPr lang="en-US" sz="1400" i="1" dirty="0">
              <a:latin typeface="Helvetica" pitchFamily="2" charset="0"/>
            </a:endParaRPr>
          </a:p>
          <a:p>
            <a:endParaRPr lang="en-US" sz="1400" dirty="0">
              <a:latin typeface="Helvetica" pitchFamily="2" charset="0"/>
            </a:endParaRPr>
          </a:p>
        </p:txBody>
      </p:sp>
      <p:pic>
        <p:nvPicPr>
          <p:cNvPr id="7" name="Picture 2">
            <a:extLst>
              <a:ext uri="{FF2B5EF4-FFF2-40B4-BE49-F238E27FC236}">
                <a16:creationId xmlns:a16="http://schemas.microsoft.com/office/drawing/2014/main" id="{E627B80D-214D-15DF-9567-61B30B09931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104D6AC0-160F-1AF8-852E-3F15928EFB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9557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C2A9E-5935-7D8C-A638-D55C94E916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CDD537-C84E-5AFD-5F8A-9CF234BC0F35}"/>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4F856ABA-D7F4-48EE-B65C-3C5B3957FBBF}"/>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pic>
        <p:nvPicPr>
          <p:cNvPr id="13314" name="Picture 2" descr="MPI for Multi-node and Parallel Jobs — Sheffield HPC Documentation">
            <a:extLst>
              <a:ext uri="{FF2B5EF4-FFF2-40B4-BE49-F238E27FC236}">
                <a16:creationId xmlns:a16="http://schemas.microsoft.com/office/drawing/2014/main" id="{9A6EB347-2470-DA30-367E-B2D2D4B779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23C56612-3051-0631-7D9A-D7962AA46AD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15AC4FE9-71B6-B45B-1865-712A68DA84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2782F16E-EC1B-E5AA-6B47-060C20327F5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2B3507B4-558B-F434-2006-BB75F9EB38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39447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A058B-0E5C-5AE7-C7DB-9194E5316F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7FB30D-8516-CE98-0A62-78DCCAB2935D}"/>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15FCFC9C-B047-2C4F-A850-0B910793FF7A}"/>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sp>
        <p:nvSpPr>
          <p:cNvPr id="8" name="TextBox 7">
            <a:extLst>
              <a:ext uri="{FF2B5EF4-FFF2-40B4-BE49-F238E27FC236}">
                <a16:creationId xmlns:a16="http://schemas.microsoft.com/office/drawing/2014/main" id="{19715517-0F65-007E-BB70-AC12086D6A61}"/>
              </a:ext>
            </a:extLst>
          </p:cNvPr>
          <p:cNvSpPr txBox="1"/>
          <p:nvPr/>
        </p:nvSpPr>
        <p:spPr>
          <a:xfrm>
            <a:off x="397466" y="5476161"/>
            <a:ext cx="6459582" cy="1077218"/>
          </a:xfrm>
          <a:prstGeom prst="rect">
            <a:avLst/>
          </a:prstGeom>
          <a:solidFill>
            <a:schemeClr val="accent6">
              <a:lumMod val="20000"/>
              <a:lumOff val="80000"/>
            </a:schemeClr>
          </a:solidFill>
        </p:spPr>
        <p:txBody>
          <a:bodyPr wrap="square">
            <a:spAutoFit/>
          </a:bodyPr>
          <a:lstStyle/>
          <a:p>
            <a:r>
              <a:rPr lang="en-US" sz="1600" dirty="0">
                <a:latin typeface="Helvetica" pitchFamily="2" charset="0"/>
              </a:rPr>
              <a:t>Not all bioinformatics software can use multiple nodes! </a:t>
            </a:r>
            <a:r>
              <a:rPr lang="en-US" sz="1600" b="1" dirty="0">
                <a:latin typeface="Helvetica" pitchFamily="2" charset="0"/>
              </a:rPr>
              <a:t>Most tools are designed to use multiple cores on a single node</a:t>
            </a:r>
            <a:r>
              <a:rPr lang="en-US" sz="1600" dirty="0">
                <a:latin typeface="Helvetica" pitchFamily="2" charset="0"/>
              </a:rPr>
              <a:t>. Always check your software's documentation before requesting multi-node resources.</a:t>
            </a:r>
          </a:p>
        </p:txBody>
      </p:sp>
      <p:pic>
        <p:nvPicPr>
          <p:cNvPr id="13314" name="Picture 2" descr="MPI for Multi-node and Parallel Jobs — Sheffield HPC Documentation">
            <a:extLst>
              <a:ext uri="{FF2B5EF4-FFF2-40B4-BE49-F238E27FC236}">
                <a16:creationId xmlns:a16="http://schemas.microsoft.com/office/drawing/2014/main" id="{2BB4CEE0-7FE1-72A8-7A39-E96C363B8A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84863020-BDF1-1676-B401-82B7585025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F616E44D-CD95-6810-1713-C2772003E1A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99D0769C-BB9B-4302-8260-A5F76E9418B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4E709820-833B-C1C3-4617-116F0663E2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7797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B61DD-055F-56DF-FC5D-605571E5EF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E652C0-085C-6A1C-E223-BA5E8B94355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9BB185E2-CF0F-E9D3-8CE5-602CD6C1702F}"/>
              </a:ext>
            </a:extLst>
          </p:cNvPr>
          <p:cNvSpPr txBox="1"/>
          <p:nvPr/>
        </p:nvSpPr>
        <p:spPr>
          <a:xfrm>
            <a:off x="397466" y="1690688"/>
            <a:ext cx="6159136" cy="2492990"/>
          </a:xfrm>
          <a:prstGeom prst="rect">
            <a:avLst/>
          </a:prstGeom>
          <a:noFill/>
        </p:spPr>
        <p:txBody>
          <a:bodyPr wrap="square" rtlCol="0">
            <a:spAutoFit/>
          </a:bodyPr>
          <a:lstStyle/>
          <a:p>
            <a:r>
              <a:rPr lang="en-US" sz="1600" b="1" dirty="0">
                <a:latin typeface="Helvetica" pitchFamily="2" charset="0"/>
              </a:rPr>
              <a:t>Memory (RAM - Random Access Memory)</a:t>
            </a:r>
          </a:p>
          <a:p>
            <a:pPr marL="285750" indent="-285750">
              <a:buFont typeface="Arial" panose="020B0604020202020204" pitchFamily="34" charset="0"/>
              <a:buChar char="•"/>
            </a:pPr>
            <a:r>
              <a:rPr lang="en-US" sz="1400" b="1" dirty="0">
                <a:latin typeface="Helvetica" pitchFamily="2" charset="0"/>
              </a:rPr>
              <a:t>Small</a:t>
            </a:r>
            <a:r>
              <a:rPr lang="en-US" sz="1400" dirty="0">
                <a:latin typeface="Helvetica" pitchFamily="2" charset="0"/>
              </a:rPr>
              <a:t> - Typically 16-512 GB per node on HPC systems</a:t>
            </a:r>
          </a:p>
          <a:p>
            <a:pPr marL="285750" indent="-285750">
              <a:buFont typeface="Arial" panose="020B0604020202020204" pitchFamily="34" charset="0"/>
              <a:buChar char="•"/>
            </a:pPr>
            <a:r>
              <a:rPr lang="en-US" sz="1400" b="1" dirty="0">
                <a:latin typeface="Helvetica" pitchFamily="2" charset="0"/>
              </a:rPr>
              <a:t>Fast</a:t>
            </a:r>
            <a:r>
              <a:rPr lang="en-US" sz="1400" dirty="0">
                <a:latin typeface="Helvetica" pitchFamily="2" charset="0"/>
              </a:rPr>
              <a:t> - Nanosecond access times; data transfer at 100+ GB/second</a:t>
            </a:r>
          </a:p>
          <a:p>
            <a:pPr marL="285750" indent="-285750">
              <a:buFont typeface="Arial" panose="020B0604020202020204" pitchFamily="34" charset="0"/>
              <a:buChar char="•"/>
            </a:pPr>
            <a:r>
              <a:rPr lang="en-US" sz="1400" b="1" dirty="0">
                <a:latin typeface="Helvetica" pitchFamily="2" charset="0"/>
              </a:rPr>
              <a:t>Expensive</a:t>
            </a:r>
            <a:r>
              <a:rPr lang="en-US" sz="1400" dirty="0">
                <a:latin typeface="Helvetica" pitchFamily="2" charset="0"/>
              </a:rPr>
              <a:t> - Costs significantly more per GB than storage</a:t>
            </a:r>
          </a:p>
          <a:p>
            <a:pPr marL="285750" indent="-285750">
              <a:buFont typeface="Arial" panose="020B0604020202020204" pitchFamily="34" charset="0"/>
              <a:buChar char="•"/>
            </a:pPr>
            <a:r>
              <a:rPr lang="en-US" sz="1400" b="1" dirty="0">
                <a:latin typeface="Helvetica" pitchFamily="2" charset="0"/>
              </a:rPr>
              <a:t>Volatile</a:t>
            </a:r>
            <a:r>
              <a:rPr lang="en-US" sz="1400" dirty="0">
                <a:latin typeface="Helvetica" pitchFamily="2" charset="0"/>
              </a:rPr>
              <a:t> - All data is lost when the computer powers off or your job ends</a:t>
            </a:r>
          </a:p>
          <a:p>
            <a:r>
              <a:rPr lang="en-US" sz="1400" b="1" dirty="0">
                <a:latin typeface="Helvetica" pitchFamily="2" charset="0"/>
              </a:rPr>
              <a:t>Purpose:</a:t>
            </a:r>
            <a:r>
              <a:rPr lang="en-US" sz="1400" dirty="0">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p:txBody>
      </p:sp>
      <p:pic>
        <p:nvPicPr>
          <p:cNvPr id="15362" name="Picture 2" descr="Understanding RAM versus hard-drive space via an analogy - CNET">
            <a:extLst>
              <a:ext uri="{FF2B5EF4-FFF2-40B4-BE49-F238E27FC236}">
                <a16:creationId xmlns:a16="http://schemas.microsoft.com/office/drawing/2014/main" id="{91C596E3-AE90-E60A-2DA3-8DC37B6ABE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C64C22-3F41-2AC2-36DF-3FDCBE7AD289}"/>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Tree>
    <p:extLst>
      <p:ext uri="{BB962C8B-B14F-4D97-AF65-F5344CB8AC3E}">
        <p14:creationId xmlns:p14="http://schemas.microsoft.com/office/powerpoint/2010/main" val="32348838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42336-29DC-2203-B216-8F95146D3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5D6D4-E1A5-0B85-6274-30E0FA0D4C1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2FD4A457-5220-9906-3025-2B1AF83621B7}"/>
              </a:ext>
            </a:extLst>
          </p:cNvPr>
          <p:cNvSpPr txBox="1"/>
          <p:nvPr/>
        </p:nvSpPr>
        <p:spPr>
          <a:xfrm>
            <a:off x="397466" y="1690688"/>
            <a:ext cx="6159136" cy="4462760"/>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Memory (RAM - Random Access Memory)</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Small</a:t>
            </a:r>
            <a:r>
              <a:rPr lang="en-US" sz="1400" dirty="0">
                <a:solidFill>
                  <a:schemeClr val="bg1">
                    <a:lumMod val="50000"/>
                  </a:schemeClr>
                </a:solidFill>
                <a:latin typeface="Helvetica" pitchFamily="2" charset="0"/>
              </a:rPr>
              <a:t> - Typically 16-512 GB per node on HPC systems</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Fast</a:t>
            </a:r>
            <a:r>
              <a:rPr lang="en-US" sz="1400" dirty="0">
                <a:solidFill>
                  <a:schemeClr val="bg1">
                    <a:lumMod val="50000"/>
                  </a:schemeClr>
                </a:solidFill>
                <a:latin typeface="Helvetica" pitchFamily="2" charset="0"/>
              </a:rPr>
              <a:t> - Nanosecond access times; data transfer at 100+ GB/second</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Expensive</a:t>
            </a:r>
            <a:r>
              <a:rPr lang="en-US" sz="1400" dirty="0">
                <a:solidFill>
                  <a:schemeClr val="bg1">
                    <a:lumMod val="50000"/>
                  </a:schemeClr>
                </a:solidFill>
                <a:latin typeface="Helvetica" pitchFamily="2" charset="0"/>
              </a:rPr>
              <a:t> - Costs significantly more per GB than storage</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Volatile</a:t>
            </a:r>
            <a:r>
              <a:rPr lang="en-US" sz="1400" dirty="0">
                <a:solidFill>
                  <a:schemeClr val="bg1">
                    <a:lumMod val="50000"/>
                  </a:schemeClr>
                </a:solidFill>
                <a:latin typeface="Helvetica" pitchFamily="2" charset="0"/>
              </a:rPr>
              <a:t> - All data is lost when the computer powers off or your job ends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a:p>
            <a:r>
              <a:rPr lang="en-US" sz="1600" b="1" dirty="0">
                <a:latin typeface="Helvetica" pitchFamily="2" charset="0"/>
              </a:rPr>
              <a:t>Storage (Disk - Hard Drives or SSDs)</a:t>
            </a:r>
          </a:p>
          <a:p>
            <a:pPr marL="285750" indent="-285750">
              <a:buFont typeface="Arial" panose="020B0604020202020204" pitchFamily="34" charset="0"/>
              <a:buChar char="•"/>
            </a:pPr>
            <a:r>
              <a:rPr lang="en-US" sz="1400" b="1" dirty="0">
                <a:latin typeface="Helvetica" pitchFamily="2" charset="0"/>
              </a:rPr>
              <a:t>Large</a:t>
            </a:r>
            <a:r>
              <a:rPr lang="en-US" sz="1400" dirty="0">
                <a:latin typeface="Helvetica" pitchFamily="2" charset="0"/>
              </a:rPr>
              <a:t> - Terabytes to petabytes on HPC systems</a:t>
            </a:r>
          </a:p>
          <a:p>
            <a:pPr marL="285750" indent="-285750">
              <a:buFont typeface="Arial" panose="020B0604020202020204" pitchFamily="34" charset="0"/>
              <a:buChar char="•"/>
            </a:pPr>
            <a:r>
              <a:rPr lang="en-US" sz="1400" b="1" dirty="0">
                <a:latin typeface="Helvetica" pitchFamily="2" charset="0"/>
              </a:rPr>
              <a:t>Slower</a:t>
            </a:r>
            <a:r>
              <a:rPr lang="en-US" sz="1400" dirty="0">
                <a:latin typeface="Helvetica" pitchFamily="2" charset="0"/>
              </a:rPr>
              <a:t> - Millisecond access times; data transfer at 1-10 GB/second</a:t>
            </a:r>
          </a:p>
          <a:p>
            <a:pPr marL="285750" indent="-285750">
              <a:buFont typeface="Arial" panose="020B0604020202020204" pitchFamily="34" charset="0"/>
              <a:buChar char="•"/>
            </a:pPr>
            <a:r>
              <a:rPr lang="en-US" sz="1400" b="1" dirty="0">
                <a:latin typeface="Helvetica" pitchFamily="2" charset="0"/>
              </a:rPr>
              <a:t>Cheaper</a:t>
            </a:r>
            <a:r>
              <a:rPr lang="en-US" sz="1400" dirty="0">
                <a:latin typeface="Helvetica" pitchFamily="2" charset="0"/>
              </a:rPr>
              <a:t> - Costs much less per GB than memory</a:t>
            </a:r>
          </a:p>
          <a:p>
            <a:pPr marL="285750" indent="-285750">
              <a:buFont typeface="Arial" panose="020B0604020202020204" pitchFamily="34" charset="0"/>
              <a:buChar char="•"/>
            </a:pPr>
            <a:r>
              <a:rPr lang="en-US" sz="1400" b="1" dirty="0">
                <a:latin typeface="Helvetica" pitchFamily="2" charset="0"/>
              </a:rPr>
              <a:t>Non-volatile</a:t>
            </a:r>
            <a:r>
              <a:rPr lang="en-US" sz="1400" dirty="0">
                <a:latin typeface="Helvetica" pitchFamily="2" charset="0"/>
              </a:rPr>
              <a:t> - Data persists even when powered off</a:t>
            </a:r>
          </a:p>
          <a:p>
            <a:r>
              <a:rPr lang="en-US" sz="1400" b="1" dirty="0">
                <a:latin typeface="Helvetica" pitchFamily="2" charset="0"/>
              </a:rPr>
              <a:t>Purpose:</a:t>
            </a:r>
            <a:r>
              <a:rPr lang="en-US" sz="1400" dirty="0">
                <a:latin typeface="Helvetica" pitchFamily="2" charset="0"/>
              </a:rPr>
              <a:t> Storage is your filing cabinet. It holds all your data long-term: raw sequencing files, reference genomes, analysis results, scripts, and software. You can't work directly from storage—data must be copied into memory first.</a:t>
            </a:r>
          </a:p>
        </p:txBody>
      </p:sp>
      <p:pic>
        <p:nvPicPr>
          <p:cNvPr id="15362" name="Picture 2" descr="Understanding RAM versus hard-drive space via an analogy - CNET">
            <a:extLst>
              <a:ext uri="{FF2B5EF4-FFF2-40B4-BE49-F238E27FC236}">
                <a16:creationId xmlns:a16="http://schemas.microsoft.com/office/drawing/2014/main" id="{3A1689CB-2E12-E400-5AED-13A704A565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82F83B6-526C-3213-3350-A77B16534B2B}"/>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
        <p:nvSpPr>
          <p:cNvPr id="6" name="TextBox 5">
            <a:extLst>
              <a:ext uri="{FF2B5EF4-FFF2-40B4-BE49-F238E27FC236}">
                <a16:creationId xmlns:a16="http://schemas.microsoft.com/office/drawing/2014/main" id="{84C7B99F-B130-EB6B-D55C-1DC3D1EBA7B7}"/>
              </a:ext>
            </a:extLst>
          </p:cNvPr>
          <p:cNvSpPr txBox="1"/>
          <p:nvPr/>
        </p:nvSpPr>
        <p:spPr>
          <a:xfrm>
            <a:off x="8353698" y="5368101"/>
            <a:ext cx="3530134" cy="1384995"/>
          </a:xfrm>
          <a:prstGeom prst="rect">
            <a:avLst/>
          </a:prstGeom>
          <a:noFill/>
          <a:ln w="12700">
            <a:solidFill>
              <a:srgbClr val="D80003"/>
            </a:solidFill>
          </a:ln>
        </p:spPr>
        <p:txBody>
          <a:bodyPr wrap="none" rtlCol="0">
            <a:spAutoFit/>
          </a:bodyPr>
          <a:lstStyle/>
          <a:p>
            <a:r>
              <a:rPr lang="en-US" sz="1200" dirty="0">
                <a:latin typeface="Helvetica" pitchFamily="2" charset="0"/>
              </a:rPr>
              <a:t>What lives in </a:t>
            </a:r>
            <a:r>
              <a:rPr lang="en-US" sz="1200" b="1" dirty="0">
                <a:latin typeface="Helvetica" pitchFamily="2" charset="0"/>
              </a:rPr>
              <a:t>storage:</a:t>
            </a:r>
            <a:endParaRPr lang="en-US" sz="1200" dirty="0">
              <a:latin typeface="Helvetica" pitchFamily="2" charset="0"/>
            </a:endParaRPr>
          </a:p>
          <a:p>
            <a:r>
              <a:rPr lang="en-US" sz="1200" dirty="0">
                <a:latin typeface="Helvetica" pitchFamily="2" charset="0"/>
              </a:rPr>
              <a:t>Raw data files (FASTQ, FASTA)</a:t>
            </a:r>
          </a:p>
          <a:p>
            <a:r>
              <a:rPr lang="en-US" sz="1200" dirty="0">
                <a:latin typeface="Helvetica" pitchFamily="2" charset="0"/>
              </a:rPr>
              <a:t>Reference genomes and annotations</a:t>
            </a:r>
          </a:p>
          <a:p>
            <a:r>
              <a:rPr lang="en-US" sz="1200" dirty="0">
                <a:latin typeface="Helvetica" pitchFamily="2" charset="0"/>
              </a:rPr>
              <a:t>Final analysis results (BAM, VCF, counts tables)</a:t>
            </a:r>
          </a:p>
          <a:p>
            <a:r>
              <a:rPr lang="en-US" sz="1200" dirty="0">
                <a:latin typeface="Helvetica" pitchFamily="2" charset="0"/>
              </a:rPr>
              <a:t>Your scripts and programs</a:t>
            </a:r>
          </a:p>
          <a:p>
            <a:r>
              <a:rPr lang="en-US" sz="1200" dirty="0">
                <a:latin typeface="Helvetica" pitchFamily="2" charset="0"/>
              </a:rPr>
              <a:t>Everything you want to keep after the job finishes</a:t>
            </a:r>
          </a:p>
          <a:p>
            <a:endParaRPr lang="en-US" sz="1200" dirty="0"/>
          </a:p>
        </p:txBody>
      </p:sp>
    </p:spTree>
    <p:extLst>
      <p:ext uri="{BB962C8B-B14F-4D97-AF65-F5344CB8AC3E}">
        <p14:creationId xmlns:p14="http://schemas.microsoft.com/office/powerpoint/2010/main" val="28455744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6086A-311D-AD24-102B-C45D2FF19F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988802-F68A-9CB1-C37A-DDAF7DB04B9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A0A834E0-5DCC-5191-AD16-CF9DEE1D1FE4}"/>
              </a:ext>
            </a:extLst>
          </p:cNvPr>
          <p:cNvSpPr txBox="1"/>
          <p:nvPr/>
        </p:nvSpPr>
        <p:spPr>
          <a:xfrm>
            <a:off x="423592" y="1429431"/>
            <a:ext cx="6159136" cy="1908215"/>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Mistake 1: Confusing memory and storage requirements</a:t>
            </a:r>
            <a:endParaRPr lang="en-US" sz="1600" dirty="0"/>
          </a:p>
          <a:p>
            <a:r>
              <a:rPr lang="en-US" sz="1400" i="1" dirty="0"/>
              <a:t>"My FASTQ file is 50GB, so I need 50GB of memory"</a:t>
            </a:r>
            <a:endParaRPr lang="en-US" sz="1400" dirty="0"/>
          </a:p>
          <a:p>
            <a:r>
              <a:rPr lang="en-US" sz="1400" b="1" dirty="0"/>
              <a:t>Reality:</a:t>
            </a:r>
            <a:r>
              <a:rPr lang="en-US" sz="1400" dirty="0"/>
              <a:t> Your program might only need 8GB of memory because it processes the file in chunks</a:t>
            </a:r>
          </a:p>
          <a:p>
            <a:r>
              <a:rPr lang="en-US" sz="1400" b="1" dirty="0"/>
              <a:t>Solution:</a:t>
            </a:r>
            <a:r>
              <a:rPr lang="en-US" sz="1400" dirty="0"/>
              <a:t> Check your software documentation for memory requirements</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AC681DC2-E0DA-DC0C-896A-A28C1EFDCF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01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FA9FC-BA7D-7EA6-0A7B-20BF82F4BB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D874F5-EA04-66B5-CD27-53CDAA7E2D20}"/>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6B1E9AB5-2BF5-83A7-1A22-AA5FF8AEA7CF}"/>
              </a:ext>
            </a:extLst>
          </p:cNvPr>
          <p:cNvSpPr txBox="1"/>
          <p:nvPr/>
        </p:nvSpPr>
        <p:spPr>
          <a:xfrm>
            <a:off x="423592" y="1429431"/>
            <a:ext cx="6159136" cy="3262432"/>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p>
          <a:p>
            <a:r>
              <a:rPr lang="en-US" sz="1600" b="1" dirty="0"/>
              <a:t>❌ Mistake 2: Not requesting enough memory</a:t>
            </a:r>
            <a:endParaRPr lang="en-US" sz="1600" dirty="0"/>
          </a:p>
          <a:p>
            <a:r>
              <a:rPr lang="en-US" sz="1400" dirty="0"/>
              <a:t>Your job will crash with "Out of Memory" or "Killed" errors</a:t>
            </a:r>
          </a:p>
          <a:p>
            <a:r>
              <a:rPr lang="en-US" sz="1400" dirty="0"/>
              <a:t>The program was terminated by the system for exceeding memory limits</a:t>
            </a:r>
          </a:p>
          <a:p>
            <a:r>
              <a:rPr lang="en-US" sz="1400" b="1" dirty="0"/>
              <a:t>Solution:</a:t>
            </a:r>
            <a:r>
              <a:rPr lang="en-US" sz="1400" dirty="0"/>
              <a:t> Always check memory usage from test runs and add 20% buffer</a:t>
            </a:r>
          </a:p>
          <a:p>
            <a:endParaRPr lang="en-US" sz="1400" dirty="0"/>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D6CE8738-1565-503A-7CA1-90D9696352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97176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0DDDC-6B2B-C327-74B9-B3978A56F6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B3D90B-4C67-FC0A-9F88-F7C341ACC77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351DF808-FE45-59BF-5CDD-FD9866A6DA9A}"/>
              </a:ext>
            </a:extLst>
          </p:cNvPr>
          <p:cNvSpPr txBox="1"/>
          <p:nvPr/>
        </p:nvSpPr>
        <p:spPr>
          <a:xfrm>
            <a:off x="423592" y="1429431"/>
            <a:ext cx="6159136" cy="4124206"/>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p>
          <a:p>
            <a:r>
              <a:rPr lang="en-US" sz="1600" b="1" dirty="0"/>
              <a:t>❌ Mistake 3: Requesting too much memory</a:t>
            </a:r>
            <a:endParaRPr lang="en-US" sz="1600" dirty="0"/>
          </a:p>
          <a:p>
            <a:r>
              <a:rPr lang="en-US" sz="1400" dirty="0"/>
              <a:t>Your job waits longer in the queue (high-memory nodes are scarce)</a:t>
            </a:r>
          </a:p>
          <a:p>
            <a:r>
              <a:rPr lang="en-US" sz="1400" dirty="0"/>
              <a:t>You waste resources that others could use</a:t>
            </a:r>
          </a:p>
          <a:p>
            <a:r>
              <a:rPr lang="en-US" sz="1400" b="1" dirty="0"/>
              <a:t>Solution:</a:t>
            </a:r>
            <a:r>
              <a:rPr lang="en-US" sz="1400" dirty="0"/>
              <a:t> Monitor your actual memory usage and adjust requests accordingly</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1AC1E68E-6989-FFE9-A6AD-520AEB2FBD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10682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4386F-DF76-031E-A454-5B688A7313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9DBF17-D5C2-F8D1-6A78-DC27074B9A2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CC7091F6-2F01-6562-F822-C1A6F8D673F1}"/>
              </a:ext>
            </a:extLst>
          </p:cNvPr>
          <p:cNvSpPr txBox="1"/>
          <p:nvPr/>
        </p:nvSpPr>
        <p:spPr>
          <a:xfrm>
            <a:off x="423592" y="1429431"/>
            <a:ext cx="6159136" cy="5016758"/>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solidFill>
                <a:schemeClr val="bg1">
                  <a:lumMod val="50000"/>
                </a:schemeClr>
              </a:solidFill>
            </a:endParaRPr>
          </a:p>
          <a:p>
            <a:r>
              <a:rPr lang="en-US" sz="1600" b="1" dirty="0">
                <a:solidFill>
                  <a:schemeClr val="bg1">
                    <a:lumMod val="50000"/>
                  </a:schemeClr>
                </a:solidFill>
              </a:rPr>
              <a:t>❌ Mistake 3: Requesting too much memory</a:t>
            </a:r>
            <a:endParaRPr lang="en-US" sz="1600" dirty="0">
              <a:solidFill>
                <a:schemeClr val="bg1">
                  <a:lumMod val="50000"/>
                </a:schemeClr>
              </a:solidFill>
            </a:endParaRPr>
          </a:p>
          <a:p>
            <a:r>
              <a:rPr lang="en-US" sz="1400" dirty="0">
                <a:solidFill>
                  <a:schemeClr val="bg1">
                    <a:lumMod val="50000"/>
                  </a:schemeClr>
                </a:solidFill>
              </a:rPr>
              <a:t>Your job waits longer in the queue (high-memory nodes are scarce)</a:t>
            </a:r>
          </a:p>
          <a:p>
            <a:r>
              <a:rPr lang="en-US" sz="1400" dirty="0">
                <a:solidFill>
                  <a:schemeClr val="bg1">
                    <a:lumMod val="50000"/>
                  </a:schemeClr>
                </a:solidFill>
              </a:rPr>
              <a:t>You waste resources that others could use</a:t>
            </a:r>
          </a:p>
          <a:p>
            <a:r>
              <a:rPr lang="en-US" sz="1400" b="1" dirty="0">
                <a:solidFill>
                  <a:schemeClr val="bg1">
                    <a:lumMod val="50000"/>
                  </a:schemeClr>
                </a:solidFill>
              </a:rPr>
              <a:t>Solution:</a:t>
            </a:r>
            <a:r>
              <a:rPr lang="en-US" sz="1400" dirty="0">
                <a:solidFill>
                  <a:schemeClr val="bg1">
                    <a:lumMod val="50000"/>
                  </a:schemeClr>
                </a:solidFill>
              </a:rPr>
              <a:t> Monitor your actual memory usage and adjust requests accordingly</a:t>
            </a:r>
          </a:p>
          <a:p>
            <a:endParaRPr lang="en-US" sz="1400" dirty="0"/>
          </a:p>
          <a:p>
            <a:r>
              <a:rPr lang="en-US" sz="1600" b="1" dirty="0"/>
              <a:t>❌ Mistake 4: Trying to work with data larger than available memory</a:t>
            </a:r>
            <a:endParaRPr lang="en-US" sz="1600" dirty="0"/>
          </a:p>
          <a:p>
            <a:r>
              <a:rPr lang="en-US" sz="1400" dirty="0"/>
              <a:t>Some tools require the entire dataset in memory</a:t>
            </a:r>
          </a:p>
          <a:p>
            <a:r>
              <a:rPr lang="en-US" sz="1400" b="1" dirty="0"/>
              <a:t>Solution:</a:t>
            </a:r>
            <a:r>
              <a:rPr lang="en-US" sz="1400" dirty="0"/>
              <a:t> Use tools designed for large data (</a:t>
            </a:r>
            <a:r>
              <a:rPr lang="en-US" sz="1400" dirty="0" err="1"/>
              <a:t>samtools</a:t>
            </a:r>
            <a:r>
              <a:rPr lang="en-US" sz="1400" dirty="0"/>
              <a:t> for BAM files, streaming processors) or split your data</a:t>
            </a:r>
          </a:p>
        </p:txBody>
      </p:sp>
      <p:pic>
        <p:nvPicPr>
          <p:cNvPr id="17410" name="Picture 2" descr="7 Worst Desks Ever! ideas to save today | messy desk, getting organized,  work space and more">
            <a:extLst>
              <a:ext uri="{FF2B5EF4-FFF2-40B4-BE49-F238E27FC236}">
                <a16:creationId xmlns:a16="http://schemas.microsoft.com/office/drawing/2014/main" id="{7054CC2A-1B05-17F1-55D8-C2EFAD7CA9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33442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D35C9-609F-45B6-8E76-4750D17AFA4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1DF8AA2-93D1-399E-821B-F2E1D88DA475}"/>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00. Hazel structure</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B3B721D2-7FE8-CA45-22E9-E8F27BC4B2B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7628709" y="2027251"/>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9817EF9-B30E-B7AB-4F9E-9C0EF2D8D8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83588" y="1724996"/>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551A5228-191A-D395-34C2-00707D72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12285" y="2260809"/>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27065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C9438B-A4D3-15EA-C128-7EC108BE8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A1DB1A-8C8D-F75A-3A2D-9AAD745EDB26}"/>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2B662220-EB47-C887-9CA3-3FE03F497E1D}"/>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FA1E56C-4218-8E2D-6A19-2EEAC75308EF}"/>
              </a:ext>
            </a:extLst>
          </p:cNvPr>
          <p:cNvSpPr txBox="1"/>
          <p:nvPr/>
        </p:nvSpPr>
        <p:spPr>
          <a:xfrm>
            <a:off x="357725" y="1312817"/>
            <a:ext cx="6433457" cy="1908215"/>
          </a:xfrm>
          <a:prstGeom prst="rect">
            <a:avLst/>
          </a:prstGeom>
          <a:noFill/>
        </p:spPr>
        <p:txBody>
          <a:bodyPr wrap="square" rtlCol="0">
            <a:spAutoFit/>
          </a:bodyPr>
          <a:lstStyle/>
          <a:p>
            <a:r>
              <a:rPr lang="en-US" sz="1600" b="1" dirty="0">
                <a:latin typeface="Helvetica" pitchFamily="2" charset="0"/>
              </a:rPr>
              <a:t>1. Login Nodes</a:t>
            </a:r>
            <a:r>
              <a:rPr lang="en-US" sz="1600" dirty="0">
                <a:latin typeface="Helvetica" pitchFamily="2" charset="0"/>
              </a:rPr>
              <a:t> - Your Gateway to HPC</a:t>
            </a:r>
          </a:p>
          <a:p>
            <a:r>
              <a:rPr lang="en-US" sz="1400" b="1" dirty="0">
                <a:latin typeface="Helvetica" pitchFamily="2" charset="0"/>
              </a:rPr>
              <a:t>Purpose:</a:t>
            </a:r>
            <a:r>
              <a:rPr lang="en-US" sz="1400" dirty="0">
                <a:latin typeface="Helvetica" pitchFamily="2" charset="0"/>
              </a:rPr>
              <a:t> Entry point to Hazel; where you prepare your work, write scripts, organize files, and submit jobs</a:t>
            </a:r>
          </a:p>
          <a:p>
            <a:r>
              <a:rPr lang="en-US" sz="1400" b="1" dirty="0">
                <a:latin typeface="Helvetica" pitchFamily="2" charset="0"/>
              </a:rPr>
              <a:t>What you CAN do:</a:t>
            </a:r>
            <a:r>
              <a:rPr lang="en-US" sz="1400" dirty="0">
                <a:latin typeface="Helvetica" pitchFamily="2" charset="0"/>
              </a:rPr>
              <a:t> Edit files, organize directories, install software, submit jobs to the scheduler, check job status</a:t>
            </a:r>
          </a:p>
          <a:p>
            <a:r>
              <a:rPr lang="en-US" sz="1400" b="1" dirty="0">
                <a:latin typeface="Helvetica" pitchFamily="2" charset="0"/>
              </a:rPr>
              <a:t>What you CANNOT do:</a:t>
            </a:r>
            <a:r>
              <a:rPr lang="en-US" sz="1400" dirty="0">
                <a:latin typeface="Helvetica" pitchFamily="2" charset="0"/>
              </a:rPr>
              <a:t> Run computationally intensive analyses</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23BD1041-F5F7-9AC3-7DE9-6322C309279C}"/>
              </a:ext>
            </a:extLst>
          </p:cNvPr>
          <p:cNvSpPr/>
          <p:nvPr/>
        </p:nvSpPr>
        <p:spPr>
          <a:xfrm>
            <a:off x="8629359" y="2389876"/>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3527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FC439-6578-4F50-5E86-F1F6FA128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EF5151-ED81-04FA-C078-BB702FF015B0}"/>
              </a:ext>
            </a:extLst>
          </p:cNvPr>
          <p:cNvSpPr>
            <a:spLocks noGrp="1"/>
          </p:cNvSpPr>
          <p:nvPr>
            <p:ph type="title"/>
          </p:nvPr>
        </p:nvSpPr>
        <p:spPr/>
        <p:txBody>
          <a:bodyPr>
            <a:normAutofit/>
          </a:bodyPr>
          <a:lstStyle/>
          <a:p>
            <a:r>
              <a:rPr lang="en-US" sz="4000" dirty="0">
                <a:latin typeface="Helvetica" pitchFamily="2" charset="0"/>
              </a:rPr>
              <a:t>Hazel HPC structure</a:t>
            </a:r>
          </a:p>
        </p:txBody>
      </p:sp>
      <p:sp>
        <p:nvSpPr>
          <p:cNvPr id="3" name="TextBox 2">
            <a:extLst>
              <a:ext uri="{FF2B5EF4-FFF2-40B4-BE49-F238E27FC236}">
                <a16:creationId xmlns:a16="http://schemas.microsoft.com/office/drawing/2014/main" id="{1ABF76D4-2015-B4F1-7603-B8AEC2B2F006}"/>
              </a:ext>
            </a:extLst>
          </p:cNvPr>
          <p:cNvSpPr txBox="1"/>
          <p:nvPr/>
        </p:nvSpPr>
        <p:spPr>
          <a:xfrm>
            <a:off x="1976301" y="1690688"/>
            <a:ext cx="8239397" cy="1477328"/>
          </a:xfrm>
          <a:prstGeom prst="rect">
            <a:avLst/>
          </a:prstGeom>
          <a:noFill/>
        </p:spPr>
        <p:txBody>
          <a:bodyPr wrap="square">
            <a:spAutoFit/>
          </a:bodyPr>
          <a:lstStyle/>
          <a:p>
            <a:r>
              <a:rPr lang="en-US" sz="1800" b="1" dirty="0">
                <a:latin typeface="Helvetica" pitchFamily="2" charset="0"/>
              </a:rPr>
              <a:t>⚠️ CRITICAL RULE: Do not run jobs on login nodes!</a:t>
            </a:r>
            <a:endParaRPr lang="en-US" sz="1800" dirty="0">
              <a:latin typeface="Helvetica" pitchFamily="2" charset="0"/>
            </a:endParaRPr>
          </a:p>
          <a:p>
            <a:r>
              <a:rPr lang="en-US" sz="1800" dirty="0">
                <a:latin typeface="Helvetica" pitchFamily="2" charset="0"/>
              </a:rPr>
              <a:t>Login nodes are shared by everyone logging into Hazel. Running analyses here slows down the system for all users and may get your account suspended. Think of login nodes as the lobby of a building—you check in here, but you don't set up your lab equipment in the lobby.</a:t>
            </a:r>
          </a:p>
        </p:txBody>
      </p:sp>
      <p:pic>
        <p:nvPicPr>
          <p:cNvPr id="20482" name="Picture 2" descr="Graphical user interface, application&#10;&#10;Description automatically generated">
            <a:extLst>
              <a:ext uri="{FF2B5EF4-FFF2-40B4-BE49-F238E27FC236}">
                <a16:creationId xmlns:a16="http://schemas.microsoft.com/office/drawing/2014/main" id="{937A45D4-014E-9526-58E9-E3BBF2B9DA6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4621" t="56125"/>
          <a:stretch>
            <a:fillRect/>
          </a:stretch>
        </p:blipFill>
        <p:spPr bwMode="auto">
          <a:xfrm>
            <a:off x="3768633" y="3357155"/>
            <a:ext cx="4403702" cy="30089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0015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8B008-F9A7-1C69-2EC8-8E4866766F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CCAD2E-E4CA-A4B6-5584-D2B9BE086C1D}"/>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3EB9DB19-7E16-294F-29B3-05C3A71CDF9B}"/>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035637C-B885-E65C-6BF7-7818BC6208C6}"/>
              </a:ext>
            </a:extLst>
          </p:cNvPr>
          <p:cNvSpPr txBox="1"/>
          <p:nvPr/>
        </p:nvSpPr>
        <p:spPr>
          <a:xfrm>
            <a:off x="357725" y="1312817"/>
            <a:ext cx="6433457" cy="3046988"/>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latin typeface="Helvetica" pitchFamily="2" charset="0"/>
            </a:endParaRPr>
          </a:p>
          <a:p>
            <a:r>
              <a:rPr lang="en-US" sz="1600" b="1" dirty="0">
                <a:latin typeface="Helvetica" pitchFamily="2" charset="0"/>
              </a:rPr>
              <a:t>2. Compute Nodes</a:t>
            </a:r>
            <a:r>
              <a:rPr lang="en-US" sz="1600" dirty="0">
                <a:latin typeface="Helvetica" pitchFamily="2" charset="0"/>
              </a:rPr>
              <a:t> - Where the Real Work Happens</a:t>
            </a:r>
          </a:p>
          <a:p>
            <a:r>
              <a:rPr lang="en-US" sz="1400" b="1" dirty="0">
                <a:latin typeface="Helvetica" pitchFamily="2" charset="0"/>
              </a:rPr>
              <a:t>Purpose:</a:t>
            </a:r>
            <a:r>
              <a:rPr lang="en-US" sz="1400" dirty="0">
                <a:latin typeface="Helvetica" pitchFamily="2" charset="0"/>
              </a:rPr>
              <a:t> Execute your analyses (alignments, assemblies, variant calling, etc.)</a:t>
            </a:r>
          </a:p>
          <a:p>
            <a:r>
              <a:rPr lang="en-US" sz="1400" b="1" dirty="0">
                <a:latin typeface="Helvetica" pitchFamily="2" charset="0"/>
              </a:rPr>
              <a:t>Access:</a:t>
            </a:r>
            <a:r>
              <a:rPr lang="en-US" sz="1400" dirty="0">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FD71A91B-7CF9-3E51-5F5A-FE8C81CC9F3D}"/>
              </a:ext>
            </a:extLst>
          </p:cNvPr>
          <p:cNvSpPr/>
          <p:nvPr/>
        </p:nvSpPr>
        <p:spPr>
          <a:xfrm>
            <a:off x="10176324" y="1884237"/>
            <a:ext cx="1115890" cy="1090695"/>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715856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AAA96-D752-F630-96E6-C57A789BDF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966BB-3761-3A8E-BFB9-CBDFCA738677}"/>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57983CD6-B687-76F6-7020-98B4CEE26B8A}"/>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4B75985-685C-3219-C9C9-AC2430BFEC2D}"/>
              </a:ext>
            </a:extLst>
          </p:cNvPr>
          <p:cNvSpPr txBox="1"/>
          <p:nvPr/>
        </p:nvSpPr>
        <p:spPr>
          <a:xfrm>
            <a:off x="357725" y="1312817"/>
            <a:ext cx="6433457" cy="5232202"/>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r>
              <a:rPr lang="en-US" sz="1600" b="1" dirty="0">
                <a:latin typeface="Helvetica" pitchFamily="2" charset="0"/>
              </a:rPr>
              <a:t>3. Scheduler (LSF)</a:t>
            </a:r>
            <a:r>
              <a:rPr lang="en-US" sz="1600" dirty="0">
                <a:latin typeface="Helvetica" pitchFamily="2" charset="0"/>
              </a:rPr>
              <a:t> - The Traffic Controller</a:t>
            </a:r>
          </a:p>
          <a:p>
            <a:r>
              <a:rPr lang="en-US" sz="1400" dirty="0">
                <a:latin typeface="Helvetica" pitchFamily="2" charset="0"/>
              </a:rPr>
              <a:t>Software that manages all job submissions and resource allocation</a:t>
            </a:r>
          </a:p>
          <a:p>
            <a:r>
              <a:rPr lang="en-US" sz="1400" b="1" dirty="0">
                <a:latin typeface="Helvetica" pitchFamily="2" charset="0"/>
              </a:rPr>
              <a:t>Purpose:</a:t>
            </a:r>
            <a:r>
              <a:rPr lang="en-US" sz="1400" dirty="0">
                <a:latin typeface="Helvetica" pitchFamily="2" charset="0"/>
              </a:rPr>
              <a:t> Ensures fair resource distribution among all users; prevents conflicts</a:t>
            </a:r>
          </a:p>
          <a:p>
            <a:r>
              <a:rPr lang="en-US" sz="1400" b="1" dirty="0">
                <a:latin typeface="Helvetica" pitchFamily="2" charset="0"/>
              </a:rPr>
              <a:t>How it works:</a:t>
            </a:r>
            <a:r>
              <a:rPr lang="en-US" sz="1400" dirty="0">
                <a:latin typeface="Helvetica" pitchFamily="2" charset="0"/>
              </a:rPr>
              <a:t> </a:t>
            </a:r>
          </a:p>
          <a:p>
            <a:pPr marL="742950" lvl="1" indent="-285750">
              <a:buFont typeface="Arial" panose="020B0604020202020204" pitchFamily="34" charset="0"/>
              <a:buChar char="•"/>
            </a:pPr>
            <a:r>
              <a:rPr lang="en-US" sz="1400" dirty="0">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latin typeface="Helvetica" pitchFamily="2" charset="0"/>
              </a:rPr>
              <a:t>LSF queues your job</a:t>
            </a:r>
          </a:p>
          <a:p>
            <a:pPr marL="742950" lvl="1" indent="-285750">
              <a:buFont typeface="Arial" panose="020B0604020202020204" pitchFamily="34" charset="0"/>
              <a:buChar char="•"/>
            </a:pPr>
            <a:r>
              <a:rPr lang="en-US" sz="1400" dirty="0">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latin typeface="Helvetica" pitchFamily="2" charset="0"/>
              </a:rPr>
              <a:t>Your job runs on those nodes until completion</a:t>
            </a:r>
          </a:p>
          <a:p>
            <a:pPr lvl="1"/>
            <a:endParaRPr lang="en-US" sz="14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85394122-923E-88E3-A051-C7E67293CAE1}"/>
              </a:ext>
            </a:extLst>
          </p:cNvPr>
          <p:cNvSpPr/>
          <p:nvPr/>
        </p:nvSpPr>
        <p:spPr>
          <a:xfrm>
            <a:off x="9493027" y="2371087"/>
            <a:ext cx="653056" cy="58505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032660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5C431-B482-EA60-9519-05B352D2FF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F503C-8238-9084-9CFC-DE06D663FC63}"/>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86AAC808-4784-C566-FECB-0637CB909F88}"/>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D8DB5E1-F7A8-EF53-1EBF-34E0A9C9B865}"/>
              </a:ext>
            </a:extLst>
          </p:cNvPr>
          <p:cNvSpPr txBox="1"/>
          <p:nvPr/>
        </p:nvSpPr>
        <p:spPr>
          <a:xfrm>
            <a:off x="357725" y="1312817"/>
            <a:ext cx="6433457" cy="5693866"/>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3. Scheduler (LSF)</a:t>
            </a:r>
            <a:r>
              <a:rPr lang="en-US" sz="1600" dirty="0">
                <a:solidFill>
                  <a:schemeClr val="bg1">
                    <a:lumMod val="50000"/>
                  </a:schemeClr>
                </a:solidFill>
                <a:latin typeface="Helvetica" pitchFamily="2" charset="0"/>
              </a:rPr>
              <a:t> - The Traffic Controller</a:t>
            </a:r>
          </a:p>
          <a:p>
            <a:r>
              <a:rPr lang="en-US" sz="1400" dirty="0">
                <a:solidFill>
                  <a:schemeClr val="bg1">
                    <a:lumMod val="50000"/>
                  </a:schemeClr>
                </a:solidFill>
                <a:latin typeface="Helvetica" pitchFamily="2" charset="0"/>
              </a:rPr>
              <a:t>Software that manages all job submissions and resource allocation</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Ensures fair resource distribution among all users; prevents conflicts</a:t>
            </a:r>
          </a:p>
          <a:p>
            <a:r>
              <a:rPr lang="en-US" sz="1400" b="1" dirty="0">
                <a:solidFill>
                  <a:schemeClr val="bg1">
                    <a:lumMod val="50000"/>
                  </a:schemeClr>
                </a:solidFill>
                <a:latin typeface="Helvetica" pitchFamily="2" charset="0"/>
              </a:rPr>
              <a:t>How it works:</a:t>
            </a:r>
            <a:r>
              <a:rPr lang="en-US" sz="1400" dirty="0">
                <a:solidFill>
                  <a:schemeClr val="bg1">
                    <a:lumMod val="50000"/>
                  </a:schemeClr>
                </a:solidFill>
                <a:latin typeface="Helvetica" pitchFamily="2" charset="0"/>
              </a:rPr>
              <a:t>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LSF queues your job</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Your job runs on those nodes until completion</a:t>
            </a:r>
          </a:p>
          <a:p>
            <a:pPr lvl="1"/>
            <a:endParaRPr lang="en-US" sz="1400" dirty="0">
              <a:latin typeface="Helvetica" pitchFamily="2" charset="0"/>
            </a:endParaRPr>
          </a:p>
          <a:p>
            <a:r>
              <a:rPr lang="en-US" sz="1600" b="1" dirty="0">
                <a:latin typeface="Helvetica" pitchFamily="2" charset="0"/>
              </a:rPr>
              <a:t>4. Storage (Filesystems)</a:t>
            </a:r>
            <a:r>
              <a:rPr lang="en-US" sz="1600" dirty="0">
                <a:latin typeface="Helvetica" pitchFamily="2" charset="0"/>
              </a:rPr>
              <a:t> - Where Everything Lives</a:t>
            </a:r>
          </a:p>
          <a:p>
            <a:endParaRPr lang="en-US" sz="1600" dirty="0">
              <a:latin typeface="Helvetica" pitchFamily="2" charset="0"/>
            </a:endParaRPr>
          </a:p>
        </p:txBody>
      </p:sp>
      <p:sp>
        <p:nvSpPr>
          <p:cNvPr id="3" name="Oval 2">
            <a:extLst>
              <a:ext uri="{FF2B5EF4-FFF2-40B4-BE49-F238E27FC236}">
                <a16:creationId xmlns:a16="http://schemas.microsoft.com/office/drawing/2014/main" id="{F2DB1856-050A-96BA-D25C-0F74BE43DDEF}"/>
              </a:ext>
            </a:extLst>
          </p:cNvPr>
          <p:cNvSpPr/>
          <p:nvPr/>
        </p:nvSpPr>
        <p:spPr>
          <a:xfrm>
            <a:off x="8886143" y="2890917"/>
            <a:ext cx="3170158" cy="1530771"/>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985422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9E945-2B20-1F2B-6D96-7D7ECF8145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791DE7-5804-43E5-C000-0715F59E697A}"/>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BD8AEF68-DF10-A822-53D6-C16263716C27}"/>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44A21048-9EAD-BB71-CEF7-6E293C3621E1}"/>
              </a:ext>
            </a:extLst>
          </p:cNvPr>
          <p:cNvSpPr txBox="1"/>
          <p:nvPr/>
        </p:nvSpPr>
        <p:spPr>
          <a:xfrm>
            <a:off x="631915" y="1406434"/>
            <a:ext cx="6097088" cy="4678204"/>
          </a:xfrm>
          <a:prstGeom prst="rect">
            <a:avLst/>
          </a:prstGeom>
          <a:noFill/>
        </p:spPr>
        <p:txBody>
          <a:bodyPr wrap="square">
            <a:spAutoFit/>
          </a:bodyPr>
          <a:lstStyle/>
          <a:p>
            <a:pPr>
              <a:buNone/>
            </a:pPr>
            <a:r>
              <a:rPr lang="en-US" b="1" dirty="0">
                <a:latin typeface="Helvetica" pitchFamily="2" charset="0"/>
                <a:cs typeface="Arial" panose="020B0604020202020204" pitchFamily="34" charset="0"/>
              </a:rPr>
              <a:t>Home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/home/[</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UnityID</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Size:</a:t>
            </a:r>
            <a:r>
              <a:rPr lang="en-US" sz="1400" dirty="0">
                <a:latin typeface="Helvetica" pitchFamily="2" charset="0"/>
                <a:cs typeface="Arial" panose="020B0604020202020204" pitchFamily="34" charset="0"/>
              </a:rPr>
              <a:t> 1 GB per user</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Speed:</a:t>
            </a:r>
            <a:r>
              <a:rPr lang="en-US" sz="1400" dirty="0">
                <a:latin typeface="Helvetica" pitchFamily="2" charset="0"/>
                <a:cs typeface="Arial" panose="020B0604020202020204" pitchFamily="34" charset="0"/>
              </a:rPr>
              <a:t> Moderate</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Persistence:</a:t>
            </a:r>
            <a:r>
              <a:rPr lang="en-US" sz="1400" dirty="0">
                <a:latin typeface="Helvetica" pitchFamily="2" charset="0"/>
                <a:cs typeface="Arial" panose="020B0604020202020204" pitchFamily="34" charset="0"/>
              </a:rPr>
              <a:t> Permanent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Backup:</a:t>
            </a:r>
            <a:r>
              <a:rPr lang="en-US" sz="1400" dirty="0">
                <a:latin typeface="Helvetica" pitchFamily="2" charset="0"/>
                <a:cs typeface="Arial" panose="020B0604020202020204" pitchFamily="34" charset="0"/>
              </a:rPr>
              <a:t> Yes</a:t>
            </a:r>
          </a:p>
          <a:p>
            <a:pPr>
              <a:buFont typeface="Arial" panose="020B0604020202020204" pitchFamily="34" charset="0"/>
              <a:buChar char="•"/>
            </a:pPr>
            <a:endParaRPr lang="en-US" sz="16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What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t>
            </a:r>
            <a:r>
              <a:rPr lang="en-US" sz="1400" dirty="0" err="1">
                <a:latin typeface="Helvetica" pitchFamily="2" charset="0"/>
                <a:cs typeface="Arial" panose="020B0604020202020204" pitchFamily="34" charset="0"/>
              </a:rPr>
              <a:t>bashrc</a:t>
            </a:r>
            <a:r>
              <a:rPr lang="en-US" sz="1400" dirty="0">
                <a:latin typeface="Helvetica" pitchFamily="2" charset="0"/>
                <a:cs typeface="Arial" panose="020B0604020202020204" pitchFamily="34" charset="0"/>
              </a:rPr>
              <a:t> and other configuration files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Small utility scripts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SSH keys </a:t>
            </a:r>
            <a:r>
              <a:rPr lang="en-US" sz="1400" dirty="0">
                <a:solidFill>
                  <a:srgbClr val="FF0000"/>
                </a:solidFill>
                <a:latin typeface="Helvetica" pitchFamily="2" charset="0"/>
                <a:cs typeface="Arial" panose="020B0604020202020204" pitchFamily="34" charset="0"/>
              </a:rPr>
              <a:t>(not available for Hazel!)</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Personal settings</a:t>
            </a:r>
          </a:p>
          <a:p>
            <a:r>
              <a:rPr lang="en-US" sz="1400" b="1" dirty="0">
                <a:latin typeface="Helvetica" pitchFamily="2" charset="0"/>
                <a:cs typeface="Arial" panose="020B0604020202020204" pitchFamily="34" charset="0"/>
              </a:rPr>
              <a:t>What NOT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Raw sequencing data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Analysis results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Conda environments (will exceed quota quickly)</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Any data files</a:t>
            </a:r>
          </a:p>
          <a:p>
            <a:pPr marL="285750" indent="-285750">
              <a:buFont typeface="Arial" panose="020B0604020202020204" pitchFamily="34" charset="0"/>
              <a:buChar char="•"/>
            </a:pPr>
            <a:endParaRPr lang="en-US" sz="14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Why it's small:</a:t>
            </a:r>
            <a:r>
              <a:rPr lang="en-US" sz="1400" dirty="0">
                <a:latin typeface="Helvetica" pitchFamily="2" charset="0"/>
                <a:cs typeface="Arial" panose="020B0604020202020204" pitchFamily="34" charset="0"/>
              </a:rPr>
              <a:t> Home directories are backed up and designed only for personal configuration, not data storage.</a:t>
            </a:r>
          </a:p>
          <a:p>
            <a:pPr>
              <a:buFont typeface="Arial" panose="020B0604020202020204" pitchFamily="34" charset="0"/>
              <a:buChar char="•"/>
            </a:pPr>
            <a:endParaRPr lang="en-US" dirty="0">
              <a:latin typeface="Helvetica" pitchFamily="2" charset="0"/>
              <a:cs typeface="Arial" panose="020B0604020202020204" pitchFamily="34" charset="0"/>
            </a:endParaRPr>
          </a:p>
        </p:txBody>
      </p:sp>
      <p:sp>
        <p:nvSpPr>
          <p:cNvPr id="4" name="Oval 3">
            <a:extLst>
              <a:ext uri="{FF2B5EF4-FFF2-40B4-BE49-F238E27FC236}">
                <a16:creationId xmlns:a16="http://schemas.microsoft.com/office/drawing/2014/main" id="{B61BA87A-A58C-58EB-26DC-E4966C5A3C0F}"/>
              </a:ext>
            </a:extLst>
          </p:cNvPr>
          <p:cNvSpPr/>
          <p:nvPr/>
        </p:nvSpPr>
        <p:spPr>
          <a:xfrm>
            <a:off x="10032274" y="2984863"/>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hâB Shipping Container Tiny Home - Tiny Living">
            <a:extLst>
              <a:ext uri="{FF2B5EF4-FFF2-40B4-BE49-F238E27FC236}">
                <a16:creationId xmlns:a16="http://schemas.microsoft.com/office/drawing/2014/main" id="{442E58FB-6572-CA80-A250-A13DBC354F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914" y="1514103"/>
            <a:ext cx="1523086" cy="10090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265F0AC-B819-084D-03D9-94C0AB6559AE}"/>
              </a:ext>
            </a:extLst>
          </p:cNvPr>
          <p:cNvSpPr txBox="1"/>
          <p:nvPr/>
        </p:nvSpPr>
        <p:spPr>
          <a:xfrm>
            <a:off x="4834961" y="2523147"/>
            <a:ext cx="998991" cy="261610"/>
          </a:xfrm>
          <a:prstGeom prst="rect">
            <a:avLst/>
          </a:prstGeom>
          <a:noFill/>
        </p:spPr>
        <p:txBody>
          <a:bodyPr wrap="none" rtlCol="0">
            <a:spAutoFit/>
          </a:bodyPr>
          <a:lstStyle/>
          <a:p>
            <a:r>
              <a:rPr lang="en-US" sz="1100" dirty="0">
                <a:solidFill>
                  <a:srgbClr val="FF0000"/>
                </a:solidFill>
                <a:latin typeface="Helvetica" pitchFamily="2" charset="0"/>
              </a:rPr>
              <a:t>Home is tiny!</a:t>
            </a:r>
          </a:p>
        </p:txBody>
      </p:sp>
    </p:spTree>
    <p:extLst>
      <p:ext uri="{BB962C8B-B14F-4D97-AF65-F5344CB8AC3E}">
        <p14:creationId xmlns:p14="http://schemas.microsoft.com/office/powerpoint/2010/main" val="20673698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03C2-4A92-E738-5690-FB464C6E4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595156-C867-D675-EDBE-C45CD75DD2DC}"/>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A56FC8C-3009-B5C9-BEAC-86C3DFEC2DDD}"/>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6B28F258-CDB6-5601-476A-3EC12AA260FF}"/>
              </a:ext>
            </a:extLst>
          </p:cNvPr>
          <p:cNvSpPr txBox="1"/>
          <p:nvPr/>
        </p:nvSpPr>
        <p:spPr>
          <a:xfrm>
            <a:off x="631915" y="1406434"/>
            <a:ext cx="6097088" cy="4893647"/>
          </a:xfrm>
          <a:prstGeom prst="rect">
            <a:avLst/>
          </a:prstGeom>
          <a:noFill/>
        </p:spPr>
        <p:txBody>
          <a:bodyPr wrap="square">
            <a:spAutoFit/>
          </a:bodyPr>
          <a:lstStyle/>
          <a:p>
            <a:r>
              <a:rPr lang="en-US" b="1" dirty="0">
                <a:latin typeface="Helvetica" pitchFamily="2" charset="0"/>
              </a:rPr>
              <a:t>Scratch Space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/share/$GROUP/$USER</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20 TB per research group</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VERY FAST (optimized for parallel I/O)</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30-day automatic deletion</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No</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Intermediate files during analysis (unsorted BAMs, temporary assembly files)</a:t>
            </a:r>
          </a:p>
          <a:p>
            <a:pPr marL="285750" indent="-285750">
              <a:buFont typeface="Arial" panose="020B0604020202020204" pitchFamily="34" charset="0"/>
              <a:buChar char="•"/>
            </a:pPr>
            <a:r>
              <a:rPr lang="en-US" sz="1400" dirty="0">
                <a:latin typeface="Helvetica" pitchFamily="2" charset="0"/>
              </a:rPr>
              <a:t>Job-specific temporary data</a:t>
            </a:r>
          </a:p>
          <a:p>
            <a:pPr marL="285750" indent="-285750">
              <a:buFont typeface="Arial" panose="020B0604020202020204" pitchFamily="34" charset="0"/>
              <a:buChar char="•"/>
            </a:pPr>
            <a:r>
              <a:rPr lang="en-US" sz="1400" dirty="0">
                <a:latin typeface="Helvetica" pitchFamily="2" charset="0"/>
              </a:rPr>
              <a:t>Conda package cache (.</a:t>
            </a:r>
            <a:r>
              <a:rPr lang="en-US" sz="1400" dirty="0" err="1">
                <a:latin typeface="Helvetica" pitchFamily="2" charset="0"/>
              </a:rPr>
              <a:t>conda</a:t>
            </a:r>
            <a:r>
              <a:rPr lang="en-US" sz="1400" dirty="0">
                <a:latin typeface="Helvetica" pitchFamily="2" charset="0"/>
              </a:rPr>
              <a:t>/pkgs)</a:t>
            </a:r>
          </a:p>
          <a:p>
            <a:pPr marL="285750" indent="-285750">
              <a:buFont typeface="Arial" panose="020B0604020202020204" pitchFamily="34" charset="0"/>
              <a:buChar char="•"/>
            </a:pPr>
            <a:r>
              <a:rPr lang="en-US" sz="1400" dirty="0">
                <a:latin typeface="Helvetica" pitchFamily="2" charset="0"/>
              </a:rPr>
              <a:t>Any large files that are only needed briefly</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data (will be deleted after 30 days!)</a:t>
            </a:r>
          </a:p>
          <a:p>
            <a:pPr marL="285750" indent="-285750">
              <a:buFont typeface="Arial" panose="020B0604020202020204" pitchFamily="34" charset="0"/>
              <a:buChar char="•"/>
            </a:pPr>
            <a:r>
              <a:rPr lang="en-US" sz="1400" dirty="0">
                <a:latin typeface="Helvetica" pitchFamily="2" charset="0"/>
              </a:rPr>
              <a:t>Final results (will be deleted!)</a:t>
            </a:r>
          </a:p>
          <a:p>
            <a:pPr marL="285750" indent="-285750">
              <a:buFont typeface="Arial" panose="020B0604020202020204" pitchFamily="34" charset="0"/>
              <a:buChar char="•"/>
            </a:pPr>
            <a:r>
              <a:rPr lang="en-US" sz="1400" dirty="0">
                <a:latin typeface="Helvetica" pitchFamily="2" charset="0"/>
              </a:rPr>
              <a:t>Anything you want to keep</a:t>
            </a:r>
          </a:p>
          <a:p>
            <a:endParaRPr lang="en-US" sz="1400" dirty="0">
              <a:latin typeface="Helvetica" pitchFamily="2" charset="0"/>
            </a:endParaRPr>
          </a:p>
          <a:p>
            <a:r>
              <a:rPr lang="en-US" sz="1400" b="1" dirty="0">
                <a:latin typeface="Helvetica" pitchFamily="2" charset="0"/>
              </a:rPr>
              <a:t>Why use scratch:</a:t>
            </a:r>
            <a:endParaRPr lang="en-US" sz="1400" dirty="0">
              <a:latin typeface="Helvetica" pitchFamily="2" charset="0"/>
            </a:endParaRPr>
          </a:p>
          <a:p>
            <a:r>
              <a:rPr lang="en-US" sz="1400" dirty="0">
                <a:latin typeface="Helvetica" pitchFamily="2" charset="0"/>
              </a:rPr>
              <a:t>Fastest filesystem on Hazel</a:t>
            </a:r>
          </a:p>
          <a:p>
            <a:r>
              <a:rPr lang="en-US" sz="1400" dirty="0">
                <a:latin typeface="Helvetica" pitchFamily="2" charset="0"/>
              </a:rPr>
              <a:t>Perfect for large intermediate files that would slow down other filesystems</a:t>
            </a:r>
          </a:p>
          <a:p>
            <a:r>
              <a:rPr lang="en-US" sz="1400" dirty="0">
                <a:latin typeface="Helvetica" pitchFamily="2" charset="0"/>
              </a:rPr>
              <a:t>Your job runs faster when reading/writing many large files</a:t>
            </a:r>
          </a:p>
        </p:txBody>
      </p:sp>
      <p:sp>
        <p:nvSpPr>
          <p:cNvPr id="4" name="Oval 3">
            <a:extLst>
              <a:ext uri="{FF2B5EF4-FFF2-40B4-BE49-F238E27FC236}">
                <a16:creationId xmlns:a16="http://schemas.microsoft.com/office/drawing/2014/main" id="{30DEDC0A-E109-8341-1337-013EFD9C0ED9}"/>
              </a:ext>
            </a:extLst>
          </p:cNvPr>
          <p:cNvSpPr/>
          <p:nvPr/>
        </p:nvSpPr>
        <p:spPr>
          <a:xfrm>
            <a:off x="10841082" y="3128554"/>
            <a:ext cx="1025435" cy="89480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F61B977-1D15-08AE-2E21-16BAADB5E69C}"/>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feature:</a:t>
            </a:r>
            <a:r>
              <a:rPr lang="en-US" sz="1400" dirty="0">
                <a:latin typeface="Helvetica" pitchFamily="2" charset="0"/>
              </a:rPr>
              <a:t> Files untouched for 30 days are AUTOMATICALLY DELETED. The system does this cleanup without warning.</a:t>
            </a:r>
          </a:p>
        </p:txBody>
      </p:sp>
    </p:spTree>
    <p:extLst>
      <p:ext uri="{BB962C8B-B14F-4D97-AF65-F5344CB8AC3E}">
        <p14:creationId xmlns:p14="http://schemas.microsoft.com/office/powerpoint/2010/main" val="39633190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3197D-2CAD-2A56-3265-311375BE75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BC33E5-E879-6A3B-3922-C0266F7C219E}"/>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3CE6D684-8820-4B6B-1553-41FD88AEABD2}"/>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7A7F6715-B3E4-F537-F31D-4BC473A24CA9}"/>
              </a:ext>
            </a:extLst>
          </p:cNvPr>
          <p:cNvSpPr txBox="1"/>
          <p:nvPr/>
        </p:nvSpPr>
        <p:spPr>
          <a:xfrm>
            <a:off x="631915" y="1412307"/>
            <a:ext cx="6097088" cy="3600986"/>
          </a:xfrm>
          <a:prstGeom prst="rect">
            <a:avLst/>
          </a:prstGeom>
          <a:noFill/>
        </p:spPr>
        <p:txBody>
          <a:bodyPr wrap="square">
            <a:spAutoFit/>
          </a:bodyPr>
          <a:lstStyle/>
          <a:p>
            <a:r>
              <a:rPr lang="en-US" b="1" dirty="0">
                <a:latin typeface="Helvetica" pitchFamily="2" charset="0"/>
              </a:rPr>
              <a:t>Applications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/local/</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usrapps</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/$GROUP</a:t>
            </a:r>
            <a:endParaRPr lang="en-US" b="1" dirty="0">
              <a:solidFill>
                <a:schemeClr val="accent2"/>
              </a:solidFill>
              <a:latin typeface="Menlo" panose="020B0609030804020204" pitchFamily="49" charset="0"/>
              <a:ea typeface="Menlo" panose="020B0609030804020204" pitchFamily="49" charset="0"/>
              <a:cs typeface="Menlo" panose="020B0609030804020204" pitchFamily="49" charset="0"/>
            </a:endParaRP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 Tb</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Limited</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Conda environments</a:t>
            </a:r>
          </a:p>
          <a:p>
            <a:pPr marL="285750" indent="-285750">
              <a:buFont typeface="Arial" panose="020B0604020202020204" pitchFamily="34" charset="0"/>
              <a:buChar char="•"/>
            </a:pPr>
            <a:r>
              <a:rPr lang="en-US" sz="1400" dirty="0">
                <a:latin typeface="Helvetica" pitchFamily="2" charset="0"/>
              </a:rPr>
              <a:t>Singularity/</a:t>
            </a:r>
            <a:r>
              <a:rPr lang="en-US" sz="1400" dirty="0" err="1">
                <a:latin typeface="Helvetica" pitchFamily="2" charset="0"/>
              </a:rPr>
              <a:t>Apptainer</a:t>
            </a:r>
            <a:r>
              <a:rPr lang="en-US" sz="1400" dirty="0">
                <a:latin typeface="Helvetica" pitchFamily="2" charset="0"/>
              </a:rPr>
              <a:t> containers</a:t>
            </a:r>
          </a:p>
          <a:p>
            <a:pPr marL="285750" indent="-285750">
              <a:buFont typeface="Arial" panose="020B0604020202020204" pitchFamily="34" charset="0"/>
              <a:buChar char="•"/>
            </a:pPr>
            <a:r>
              <a:rPr lang="en-US" sz="1400" dirty="0">
                <a:latin typeface="Helvetica" pitchFamily="2" charset="0"/>
              </a:rPr>
              <a:t>Compiled software and binaries</a:t>
            </a:r>
          </a:p>
          <a:p>
            <a:pPr marL="285750" indent="-285750">
              <a:buFont typeface="Arial" panose="020B0604020202020204" pitchFamily="34" charset="0"/>
              <a:buChar char="•"/>
            </a:pPr>
            <a:r>
              <a:rPr lang="en-US" sz="1400" dirty="0">
                <a:latin typeface="Helvetica" pitchFamily="2" charset="0"/>
              </a:rPr>
              <a:t>Shared tools used by your research group</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Data files</a:t>
            </a:r>
          </a:p>
          <a:p>
            <a:pPr marL="285750" indent="-285750">
              <a:buFont typeface="Arial" panose="020B0604020202020204" pitchFamily="34" charset="0"/>
              <a:buChar char="•"/>
            </a:pPr>
            <a:r>
              <a:rPr lang="en-US" sz="1400" dirty="0">
                <a:latin typeface="Helvetica" pitchFamily="2" charset="0"/>
              </a:rPr>
              <a:t>Analysis scripts (use RS1 instead)</a:t>
            </a:r>
          </a:p>
          <a:p>
            <a:pPr marL="285750" indent="-285750">
              <a:buFont typeface="Arial" panose="020B0604020202020204" pitchFamily="34" charset="0"/>
              <a:buChar char="•"/>
            </a:pPr>
            <a:r>
              <a:rPr lang="en-US" sz="1400" dirty="0">
                <a:latin typeface="Helvetica" pitchFamily="2" charset="0"/>
              </a:rPr>
              <a:t>Job outputs</a:t>
            </a:r>
          </a:p>
        </p:txBody>
      </p:sp>
      <p:sp>
        <p:nvSpPr>
          <p:cNvPr id="4" name="Oval 3">
            <a:extLst>
              <a:ext uri="{FF2B5EF4-FFF2-40B4-BE49-F238E27FC236}">
                <a16:creationId xmlns:a16="http://schemas.microsoft.com/office/drawing/2014/main" id="{3DF1FA85-D55C-3D05-F0A8-5DF2F36B5461}"/>
              </a:ext>
            </a:extLst>
          </p:cNvPr>
          <p:cNvSpPr/>
          <p:nvPr/>
        </p:nvSpPr>
        <p:spPr>
          <a:xfrm>
            <a:off x="8825527" y="3148148"/>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CF562E-788E-E30F-481C-CA33D79AC647}"/>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limitation:</a:t>
            </a:r>
            <a:r>
              <a:rPr lang="en-US" sz="1400" dirty="0">
                <a:latin typeface="Helvetica" pitchFamily="2" charset="0"/>
              </a:rPr>
              <a:t> You can only WRITE to this directory from the LOGIN NODE. Compute nodes can READ from it but cannot write.</a:t>
            </a:r>
          </a:p>
        </p:txBody>
      </p:sp>
    </p:spTree>
    <p:extLst>
      <p:ext uri="{BB962C8B-B14F-4D97-AF65-F5344CB8AC3E}">
        <p14:creationId xmlns:p14="http://schemas.microsoft.com/office/powerpoint/2010/main" val="30016707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EFD12-0680-68D6-9899-C0CD8C498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1C94DE-0880-90E9-D1C9-729C57CDF643}"/>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2A96519-5FE8-BC85-5327-B066BB0F5B48}"/>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067A7D1C-761A-EEEC-FE27-4634C3E019D9}"/>
              </a:ext>
            </a:extLst>
          </p:cNvPr>
          <p:cNvSpPr txBox="1"/>
          <p:nvPr/>
        </p:nvSpPr>
        <p:spPr>
          <a:xfrm>
            <a:off x="690698" y="1366140"/>
            <a:ext cx="6017145" cy="5324535"/>
          </a:xfrm>
          <a:prstGeom prst="rect">
            <a:avLst/>
          </a:prstGeom>
          <a:noFill/>
        </p:spPr>
        <p:txBody>
          <a:bodyPr wrap="square">
            <a:spAutoFit/>
          </a:bodyPr>
          <a:lstStyle/>
          <a:p>
            <a:r>
              <a:rPr lang="en-US" b="1" dirty="0">
                <a:latin typeface="Helvetica" pitchFamily="2" charset="0"/>
              </a:rPr>
              <a:t>Research Storage (RS1)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/rs1/researchers/[letter]/[name] or /</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rsstu</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/users/[letter]/[</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projectname</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30 TB per PI/project</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 (slower than scratch for many small files)</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Yes</a:t>
            </a:r>
          </a:p>
          <a:p>
            <a:pPr marL="285750" indent="-285750">
              <a:buFont typeface="Arial" panose="020B0604020202020204" pitchFamily="34" charset="0"/>
              <a:buChar char="•"/>
            </a:pPr>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sequencing data (FASTQ files)</a:t>
            </a:r>
          </a:p>
          <a:p>
            <a:pPr marL="285750" indent="-285750">
              <a:buFont typeface="Arial" panose="020B0604020202020204" pitchFamily="34" charset="0"/>
              <a:buChar char="•"/>
            </a:pPr>
            <a:r>
              <a:rPr lang="en-US" sz="1400" dirty="0">
                <a:latin typeface="Helvetica" pitchFamily="2" charset="0"/>
              </a:rPr>
              <a:t>Final analysis results (BAM, VCF, count matrices)</a:t>
            </a:r>
          </a:p>
          <a:p>
            <a:pPr marL="285750" indent="-285750">
              <a:buFont typeface="Arial" panose="020B0604020202020204" pitchFamily="34" charset="0"/>
              <a:buChar char="•"/>
            </a:pPr>
            <a:r>
              <a:rPr lang="en-US" sz="1400" dirty="0">
                <a:latin typeface="Helvetica" pitchFamily="2" charset="0"/>
              </a:rPr>
              <a:t>Analysis scripts and pipelines</a:t>
            </a:r>
          </a:p>
          <a:p>
            <a:pPr marL="285750" indent="-285750">
              <a:buFont typeface="Arial" panose="020B0604020202020204" pitchFamily="34" charset="0"/>
              <a:buChar char="•"/>
            </a:pPr>
            <a:r>
              <a:rPr lang="en-US" sz="1400" dirty="0">
                <a:latin typeface="Helvetica" pitchFamily="2" charset="0"/>
              </a:rPr>
              <a:t>GitHub repositories</a:t>
            </a:r>
          </a:p>
          <a:p>
            <a:pPr marL="285750" indent="-285750">
              <a:buFont typeface="Arial" panose="020B0604020202020204" pitchFamily="34" charset="0"/>
              <a:buChar char="•"/>
            </a:pPr>
            <a:r>
              <a:rPr lang="en-US" sz="1400" dirty="0">
                <a:latin typeface="Helvetica" pitchFamily="2" charset="0"/>
              </a:rPr>
              <a:t>Anything you need to keep long-term</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Large intermediate files (use scratch)</a:t>
            </a:r>
          </a:p>
          <a:p>
            <a:pPr marL="285750" indent="-285750">
              <a:buFont typeface="Arial" panose="020B0604020202020204" pitchFamily="34" charset="0"/>
              <a:buChar char="•"/>
            </a:pPr>
            <a:r>
              <a:rPr lang="en-US" sz="1400" dirty="0">
                <a:latin typeface="Helvetica" pitchFamily="2" charset="0"/>
              </a:rPr>
              <a:t>Temporary files</a:t>
            </a:r>
          </a:p>
          <a:p>
            <a:pPr marL="285750" indent="-285750">
              <a:buFont typeface="Arial" panose="020B0604020202020204" pitchFamily="34" charset="0"/>
              <a:buChar char="•"/>
            </a:pPr>
            <a:r>
              <a:rPr lang="en-US" sz="1400" dirty="0">
                <a:latin typeface="Helvetica" pitchFamily="2" charset="0"/>
              </a:rPr>
              <a:t>Software installations (use </a:t>
            </a:r>
            <a:r>
              <a:rPr lang="en-US" sz="1400" dirty="0" err="1">
                <a:latin typeface="Helvetica" pitchFamily="2" charset="0"/>
              </a:rPr>
              <a:t>usrapps</a:t>
            </a:r>
            <a:r>
              <a:rPr lang="en-US" sz="1400" dirty="0">
                <a:latin typeface="Helvetica" pitchFamily="2" charset="0"/>
              </a:rPr>
              <a:t>)</a:t>
            </a:r>
          </a:p>
          <a:p>
            <a:endParaRPr lang="en-US" sz="1400" dirty="0">
              <a:latin typeface="Helvetica" pitchFamily="2" charset="0"/>
            </a:endParaRPr>
          </a:p>
          <a:p>
            <a:r>
              <a:rPr lang="en-US" sz="1400" b="1" dirty="0">
                <a:latin typeface="Helvetica" pitchFamily="2" charset="0"/>
              </a:rPr>
              <a:t>Performance note:</a:t>
            </a:r>
            <a:r>
              <a:rPr lang="en-US" sz="1400" dirty="0">
                <a:latin typeface="Helvetica" pitchFamily="2" charset="0"/>
              </a:rPr>
              <a:t> RS1 is slower than scratch when working with many small files in parallel. For analyses that create thousands of temporary files, work in scratch first, then move final results to RS1.</a:t>
            </a:r>
          </a:p>
          <a:p>
            <a:endParaRPr lang="en-US" sz="1400" dirty="0">
              <a:latin typeface="Helvetica" pitchFamily="2" charset="0"/>
            </a:endParaRPr>
          </a:p>
        </p:txBody>
      </p:sp>
      <p:sp>
        <p:nvSpPr>
          <p:cNvPr id="4" name="Oval 3">
            <a:extLst>
              <a:ext uri="{FF2B5EF4-FFF2-40B4-BE49-F238E27FC236}">
                <a16:creationId xmlns:a16="http://schemas.microsoft.com/office/drawing/2014/main" id="{048BB2B0-7976-D12C-187C-D8355F7CFD48}"/>
              </a:ext>
            </a:extLst>
          </p:cNvPr>
          <p:cNvSpPr/>
          <p:nvPr/>
        </p:nvSpPr>
        <p:spPr>
          <a:xfrm>
            <a:off x="10353881" y="3579222"/>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14B0AB0-775E-5CEC-C44C-FE8B30BD4017}"/>
              </a:ext>
            </a:extLst>
          </p:cNvPr>
          <p:cNvSpPr txBox="1"/>
          <p:nvPr/>
        </p:nvSpPr>
        <p:spPr>
          <a:xfrm>
            <a:off x="6879771" y="5445916"/>
            <a:ext cx="4792849" cy="1107996"/>
          </a:xfrm>
          <a:prstGeom prst="rect">
            <a:avLst/>
          </a:prstGeom>
          <a:noFill/>
          <a:ln w="19050">
            <a:solidFill>
              <a:srgbClr val="D80003"/>
            </a:solidFill>
          </a:ln>
        </p:spPr>
        <p:txBody>
          <a:bodyPr wrap="square">
            <a:spAutoFit/>
          </a:bodyPr>
          <a:lstStyle/>
          <a:p>
            <a:r>
              <a:rPr lang="en-US" sz="1100" b="1" dirty="0">
                <a:latin typeface="Helvetica" pitchFamily="2" charset="0"/>
              </a:rPr>
              <a:t>Allocation details:</a:t>
            </a:r>
            <a:endParaRPr lang="en-US" sz="1100" dirty="0">
              <a:latin typeface="Helvetica" pitchFamily="2" charset="0"/>
            </a:endParaRPr>
          </a:p>
          <a:p>
            <a:r>
              <a:rPr lang="en-US" sz="1100" dirty="0">
                <a:latin typeface="Helvetica" pitchFamily="2" charset="0"/>
              </a:rPr>
              <a:t>Every PI automatically gets one 30 TB project space</a:t>
            </a:r>
          </a:p>
          <a:p>
            <a:r>
              <a:rPr lang="en-US" sz="1100" dirty="0">
                <a:latin typeface="Helvetica" pitchFamily="2" charset="0"/>
              </a:rPr>
              <a:t>Additional projects can be requested with grant funding</a:t>
            </a:r>
          </a:p>
          <a:p>
            <a:r>
              <a:rPr lang="en-US" sz="1100" dirty="0">
                <a:latin typeface="Helvetica" pitchFamily="2" charset="0"/>
              </a:rPr>
              <a:t>If grant expires, additional project space is removed (after data migration period)</a:t>
            </a:r>
          </a:p>
          <a:p>
            <a:r>
              <a:rPr lang="en-US" sz="1100" dirty="0">
                <a:latin typeface="Helvetica" pitchFamily="2" charset="0"/>
              </a:rPr>
              <a:t>Can request quota increases on primary project if needed</a:t>
            </a:r>
          </a:p>
        </p:txBody>
      </p:sp>
    </p:spTree>
    <p:extLst>
      <p:ext uri="{BB962C8B-B14F-4D97-AF65-F5344CB8AC3E}">
        <p14:creationId xmlns:p14="http://schemas.microsoft.com/office/powerpoint/2010/main" val="34534486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7FA8A-CEBC-CEC0-7524-059A7AB80E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669409-8A6A-1700-941A-1F72CF86D51F}"/>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DAA608AD-15A1-7FD4-80F3-8EC91B53990B}"/>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4" name="Oval 3">
            <a:extLst>
              <a:ext uri="{FF2B5EF4-FFF2-40B4-BE49-F238E27FC236}">
                <a16:creationId xmlns:a16="http://schemas.microsoft.com/office/drawing/2014/main" id="{A90BFA4D-D687-99FA-9EFE-BE8D63163F5E}"/>
              </a:ext>
            </a:extLst>
          </p:cNvPr>
          <p:cNvSpPr/>
          <p:nvPr/>
        </p:nvSpPr>
        <p:spPr>
          <a:xfrm>
            <a:off x="10437223" y="3579222"/>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05DC5959-29DE-1EED-6AD9-BDE909803A1B}"/>
              </a:ext>
            </a:extLst>
          </p:cNvPr>
          <p:cNvGraphicFramePr>
            <a:graphicFrameLocks noGrp="1"/>
          </p:cNvGraphicFramePr>
          <p:nvPr>
            <p:extLst>
              <p:ext uri="{D42A27DB-BD31-4B8C-83A1-F6EECF244321}">
                <p14:modId xmlns:p14="http://schemas.microsoft.com/office/powerpoint/2010/main" val="3604978546"/>
              </p:ext>
            </p:extLst>
          </p:nvPr>
        </p:nvGraphicFramePr>
        <p:xfrm>
          <a:off x="557478" y="2336074"/>
          <a:ext cx="5582195" cy="2590800"/>
        </p:xfrm>
        <a:graphic>
          <a:graphicData uri="http://schemas.openxmlformats.org/drawingml/2006/table">
            <a:tbl>
              <a:tblPr>
                <a:tableStyleId>{D7AC3CCA-C797-4891-BE02-D94E43425B78}</a:tableStyleId>
              </a:tblPr>
              <a:tblGrid>
                <a:gridCol w="1369293">
                  <a:extLst>
                    <a:ext uri="{9D8B030D-6E8A-4147-A177-3AD203B41FA5}">
                      <a16:colId xmlns:a16="http://schemas.microsoft.com/office/drawing/2014/main" val="3584143395"/>
                    </a:ext>
                  </a:extLst>
                </a:gridCol>
                <a:gridCol w="863585">
                  <a:extLst>
                    <a:ext uri="{9D8B030D-6E8A-4147-A177-3AD203B41FA5}">
                      <a16:colId xmlns:a16="http://schemas.microsoft.com/office/drawing/2014/main" val="3930158542"/>
                    </a:ext>
                  </a:extLst>
                </a:gridCol>
                <a:gridCol w="1116439">
                  <a:extLst>
                    <a:ext uri="{9D8B030D-6E8A-4147-A177-3AD203B41FA5}">
                      <a16:colId xmlns:a16="http://schemas.microsoft.com/office/drawing/2014/main" val="1182053037"/>
                    </a:ext>
                  </a:extLst>
                </a:gridCol>
                <a:gridCol w="1116439">
                  <a:extLst>
                    <a:ext uri="{9D8B030D-6E8A-4147-A177-3AD203B41FA5}">
                      <a16:colId xmlns:a16="http://schemas.microsoft.com/office/drawing/2014/main" val="691130429"/>
                    </a:ext>
                  </a:extLst>
                </a:gridCol>
                <a:gridCol w="1116439">
                  <a:extLst>
                    <a:ext uri="{9D8B030D-6E8A-4147-A177-3AD203B41FA5}">
                      <a16:colId xmlns:a16="http://schemas.microsoft.com/office/drawing/2014/main" val="2945315753"/>
                    </a:ext>
                  </a:extLst>
                </a:gridCol>
              </a:tblGrid>
              <a:tr h="0">
                <a:tc>
                  <a:txBody>
                    <a:bodyPr/>
                    <a:lstStyle/>
                    <a:p>
                      <a:pPr>
                        <a:buNone/>
                      </a:pPr>
                      <a:r>
                        <a:rPr lang="en-US" sz="1100" b="1" dirty="0"/>
                        <a:t>File Type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Home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Scratch</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err="1"/>
                        <a:t>Usrapps</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RS1</a:t>
                      </a:r>
                      <a:endParaRPr lang="en-US" sz="1100" b="1" dirty="0">
                        <a:latin typeface="Helvetica" pitchFamily="2" charset="0"/>
                      </a:endParaRPr>
                    </a:p>
                  </a:txBody>
                  <a:tcPr anchor="ctr">
                    <a:solidFill>
                      <a:schemeClr val="bg1">
                        <a:lumMod val="75000"/>
                      </a:schemeClr>
                    </a:solidFill>
                  </a:tcPr>
                </a:tc>
                <a:extLst>
                  <a:ext uri="{0D108BD9-81ED-4DB2-BD59-A6C34878D82A}">
                    <a16:rowId xmlns:a16="http://schemas.microsoft.com/office/drawing/2014/main" val="16453893"/>
                  </a:ext>
                </a:extLst>
              </a:tr>
              <a:tr h="0">
                <a:tc>
                  <a:txBody>
                    <a:bodyPr/>
                    <a:lstStyle/>
                    <a:p>
                      <a:pPr>
                        <a:buNone/>
                      </a:pPr>
                      <a:r>
                        <a:rPr lang="en-US" sz="1100" dirty="0"/>
                        <a:t>.</a:t>
                      </a:r>
                      <a:r>
                        <a:rPr lang="en-US" sz="1100" dirty="0" err="1"/>
                        <a:t>bashrc</a:t>
                      </a:r>
                      <a:r>
                        <a:rPr lang="en-US" sz="1100" dirty="0"/>
                        <a:t>, SSH keys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2498754007"/>
                  </a:ext>
                </a:extLst>
              </a:tr>
              <a:tr h="0">
                <a:tc>
                  <a:txBody>
                    <a:bodyPr/>
                    <a:lstStyle/>
                    <a:p>
                      <a:pPr>
                        <a:buNone/>
                      </a:pPr>
                      <a:r>
                        <a:rPr lang="en-US" sz="1100" dirty="0"/>
                        <a:t>Raw FASTQ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 (too big)</a:t>
                      </a:r>
                      <a:endParaRPr lang="en-US" sz="1100">
                        <a:latin typeface="Helvetica" pitchFamily="2" charset="0"/>
                      </a:endParaRPr>
                    </a:p>
                  </a:txBody>
                  <a:tcPr anchor="ctr"/>
                </a:tc>
                <a:tc>
                  <a:txBody>
                    <a:bodyPr/>
                    <a:lstStyle/>
                    <a:p>
                      <a:pPr>
                        <a:buNone/>
                      </a:pPr>
                      <a:r>
                        <a:rPr lang="en-US" sz="1100"/>
                        <a:t>❌ (temporary)</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25222671"/>
                  </a:ext>
                </a:extLst>
              </a:tr>
              <a:tr h="0">
                <a:tc>
                  <a:txBody>
                    <a:bodyPr/>
                    <a:lstStyle/>
                    <a:p>
                      <a:pPr>
                        <a:buNone/>
                      </a:pPr>
                      <a:r>
                        <a:rPr lang="en-US" sz="1100" dirty="0"/>
                        <a:t>Analysis scripts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dirty="0"/>
                        <a:t>✅ (if small)</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591205060"/>
                  </a:ext>
                </a:extLst>
              </a:tr>
              <a:tr h="0">
                <a:tc>
                  <a:txBody>
                    <a:bodyPr/>
                    <a:lstStyle/>
                    <a:p>
                      <a:pPr>
                        <a:buNone/>
                      </a:pPr>
                      <a:r>
                        <a:rPr lang="en-US" sz="1100" dirty="0"/>
                        <a:t>Conda environments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521178366"/>
                  </a:ext>
                </a:extLst>
              </a:tr>
              <a:tr h="0">
                <a:tc>
                  <a:txBody>
                    <a:bodyPr/>
                    <a:lstStyle/>
                    <a:p>
                      <a:pPr>
                        <a:buNone/>
                      </a:pPr>
                      <a:r>
                        <a:rPr lang="en-US" sz="1100" dirty="0"/>
                        <a:t>Containers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400125258"/>
                  </a:ext>
                </a:extLst>
              </a:tr>
              <a:tr h="0">
                <a:tc>
                  <a:txBody>
                    <a:bodyPr/>
                    <a:lstStyle/>
                    <a:p>
                      <a:pPr>
                        <a:buNone/>
                      </a:pPr>
                      <a:r>
                        <a:rPr lang="en-US" sz="1100" dirty="0"/>
                        <a:t>Intermediate BAMs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3508092908"/>
                  </a:ext>
                </a:extLst>
              </a:tr>
              <a:tr h="0">
                <a:tc>
                  <a:txBody>
                    <a:bodyPr/>
                    <a:lstStyle/>
                    <a:p>
                      <a:pPr>
                        <a:buNone/>
                      </a:pPr>
                      <a:r>
                        <a:rPr lang="en-US" sz="1100" dirty="0"/>
                        <a:t>Final results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187726750"/>
                  </a:ext>
                </a:extLst>
              </a:tr>
              <a:tr h="0">
                <a:tc>
                  <a:txBody>
                    <a:bodyPr/>
                    <a:lstStyle/>
                    <a:p>
                      <a:pPr>
                        <a:buNone/>
                      </a:pPr>
                      <a:r>
                        <a:rPr lang="en-US" sz="1100" dirty="0"/>
                        <a:t>Reference genomes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73008818"/>
                  </a:ext>
                </a:extLst>
              </a:tr>
              <a:tr h="0">
                <a:tc>
                  <a:txBody>
                    <a:bodyPr/>
                    <a:lstStyle/>
                    <a:p>
                      <a:pPr>
                        <a:buNone/>
                      </a:pPr>
                      <a:r>
                        <a:rPr lang="en-US" sz="1100" dirty="0"/>
                        <a:t>Temp alignment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extLst>
                  <a:ext uri="{0D108BD9-81ED-4DB2-BD59-A6C34878D82A}">
                    <a16:rowId xmlns:a16="http://schemas.microsoft.com/office/drawing/2014/main" val="2178476895"/>
                  </a:ext>
                </a:extLst>
              </a:tr>
            </a:tbl>
          </a:graphicData>
        </a:graphic>
      </p:graphicFrame>
      <p:sp>
        <p:nvSpPr>
          <p:cNvPr id="9" name="Oval 8">
            <a:extLst>
              <a:ext uri="{FF2B5EF4-FFF2-40B4-BE49-F238E27FC236}">
                <a16:creationId xmlns:a16="http://schemas.microsoft.com/office/drawing/2014/main" id="{6B2EBD2A-1A40-3F8C-6F44-635A16F5A809}"/>
              </a:ext>
            </a:extLst>
          </p:cNvPr>
          <p:cNvSpPr/>
          <p:nvPr/>
        </p:nvSpPr>
        <p:spPr>
          <a:xfrm>
            <a:off x="10068197" y="3050177"/>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37DC3BDB-13AE-6120-5AD9-9A9649DF9A2C}"/>
              </a:ext>
            </a:extLst>
          </p:cNvPr>
          <p:cNvSpPr/>
          <p:nvPr/>
        </p:nvSpPr>
        <p:spPr>
          <a:xfrm>
            <a:off x="10940143" y="3200399"/>
            <a:ext cx="824462" cy="86215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EF0EBD8C-6C78-E16D-606E-27786850CB9A}"/>
              </a:ext>
            </a:extLst>
          </p:cNvPr>
          <p:cNvSpPr/>
          <p:nvPr/>
        </p:nvSpPr>
        <p:spPr>
          <a:xfrm>
            <a:off x="8872128" y="3247207"/>
            <a:ext cx="674371" cy="66403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855197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17466-0E6B-8FE8-4874-C6A2ED727E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1874EB-EEA3-A9F7-5D26-ED03431FB5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E9134EDF-F676-A622-84C4-FB4E5FA69747}"/>
              </a:ext>
            </a:extLst>
          </p:cNvPr>
          <p:cNvSpPr txBox="1"/>
          <p:nvPr/>
        </p:nvSpPr>
        <p:spPr>
          <a:xfrm>
            <a:off x="711858" y="1557388"/>
            <a:ext cx="6017145" cy="4801314"/>
          </a:xfrm>
          <a:prstGeom prst="rect">
            <a:avLst/>
          </a:prstGeom>
          <a:noFill/>
        </p:spPr>
        <p:txBody>
          <a:bodyPr wrap="square">
            <a:spAutoFit/>
          </a:bodyPr>
          <a:lstStyle/>
          <a:p>
            <a:r>
              <a:rPr lang="en-US" sz="1400" b="1" dirty="0">
                <a:latin typeface="Helvetica" pitchFamily="2" charset="0"/>
              </a:rPr>
              <a:t>Common Mistakes and How to Avoid Them</a:t>
            </a:r>
          </a:p>
          <a:p>
            <a:r>
              <a:rPr lang="en-US" sz="1400" b="1" dirty="0">
                <a:latin typeface="Helvetica" pitchFamily="2" charset="0"/>
              </a:rPr>
              <a:t>❌ </a:t>
            </a:r>
            <a:r>
              <a:rPr lang="en-US" sz="1200" b="1" dirty="0">
                <a:latin typeface="Helvetica" pitchFamily="2" charset="0"/>
              </a:rPr>
              <a:t>Mistake 1: Running analyses on login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system for everyone; may get account suspended</a:t>
            </a:r>
          </a:p>
          <a:p>
            <a:r>
              <a:rPr lang="en-US" sz="1200" b="1" dirty="0">
                <a:latin typeface="Helvetica" pitchFamily="2" charset="0"/>
              </a:rPr>
              <a:t>Solution:</a:t>
            </a:r>
            <a:r>
              <a:rPr lang="en-US" sz="1200" dirty="0">
                <a:latin typeface="Helvetica" pitchFamily="2" charset="0"/>
              </a:rPr>
              <a:t> Always use </a:t>
            </a:r>
            <a:r>
              <a:rPr lang="en-US" sz="1200" dirty="0" err="1">
                <a:latin typeface="Helvetica" pitchFamily="2" charset="0"/>
              </a:rPr>
              <a:t>bsub</a:t>
            </a:r>
            <a:r>
              <a:rPr lang="en-US" sz="1200" dirty="0">
                <a:latin typeface="Helvetica" pitchFamily="2" charset="0"/>
              </a:rPr>
              <a:t> to submit jobs to compute nodes</a:t>
            </a:r>
          </a:p>
          <a:p>
            <a:endParaRPr lang="en-US" sz="1200" dirty="0">
              <a:latin typeface="Helvetica" pitchFamily="2" charset="0"/>
            </a:endParaRPr>
          </a:p>
          <a:p>
            <a:r>
              <a:rPr lang="en-US" sz="1200" b="1" dirty="0">
                <a:latin typeface="Helvetica" pitchFamily="2" charset="0"/>
              </a:rPr>
              <a:t>❌ Mistake 2: Storing important data in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Data deleted after 30 days automatically</a:t>
            </a:r>
          </a:p>
          <a:p>
            <a:r>
              <a:rPr lang="en-US" sz="1200" b="1" dirty="0">
                <a:latin typeface="Helvetica" pitchFamily="2" charset="0"/>
              </a:rPr>
              <a:t>Solution:</a:t>
            </a:r>
            <a:r>
              <a:rPr lang="en-US" sz="1200" dirty="0">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latin typeface="Helvetica" pitchFamily="2" charset="0"/>
              </a:rPr>
              <a:t>❌ Mistake 5: Not using scratch for large intermediate files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down RS1 for everyone; analysis runs slower</a:t>
            </a:r>
          </a:p>
          <a:p>
            <a:r>
              <a:rPr lang="en-US" sz="1200" b="1" dirty="0">
                <a:latin typeface="Helvetica" pitchFamily="2" charset="0"/>
              </a:rPr>
              <a:t>Solution:</a:t>
            </a:r>
            <a:r>
              <a:rPr lang="en-US" sz="1200" dirty="0">
                <a:latin typeface="Helvetica" pitchFamily="2" charset="0"/>
              </a:rPr>
              <a:t> Work in scratch, copy only final results to RS1</a:t>
            </a:r>
          </a:p>
          <a:p>
            <a:endParaRPr lang="en-US" sz="1200" dirty="0">
              <a:latin typeface="Helvetica" pitchFamily="2" charset="0"/>
            </a:endParaRPr>
          </a:p>
          <a:p>
            <a:r>
              <a:rPr lang="en-US" sz="1200" b="1" dirty="0">
                <a:latin typeface="Helvetica" pitchFamily="2" charset="0"/>
              </a:rPr>
              <a:t>❌ Mistake 6: Not cleaning up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Your group quota fills up; others can't use scratch</a:t>
            </a:r>
          </a:p>
          <a:p>
            <a:r>
              <a:rPr lang="en-US" sz="1200" b="1" dirty="0">
                <a:latin typeface="Helvetica" pitchFamily="2" charset="0"/>
              </a:rPr>
              <a:t>Solution:</a:t>
            </a:r>
            <a:r>
              <a:rPr lang="en-US" sz="1200" dirty="0">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5D368512-28CD-294A-6D7A-DB78FD89DA6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141040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A5DDD-FE65-CD59-C5ED-85BD626E21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E4B3A-486E-B400-AB2C-B4CDCAAB03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459663D4-5B35-B3C9-FBBC-BEF1ECEDC48E}"/>
              </a:ext>
            </a:extLst>
          </p:cNvPr>
          <p:cNvSpPr txBox="1"/>
          <p:nvPr/>
        </p:nvSpPr>
        <p:spPr>
          <a:xfrm>
            <a:off x="711858" y="1557388"/>
            <a:ext cx="6017145" cy="4801314"/>
          </a:xfrm>
          <a:prstGeom prst="rect">
            <a:avLst/>
          </a:prstGeom>
          <a:noFill/>
        </p:spPr>
        <p:txBody>
          <a:bodyPr wrap="square">
            <a:spAutoFit/>
          </a:bodyPr>
          <a:lstStyle/>
          <a:p>
            <a:r>
              <a:rPr lang="en-US" sz="1400" b="1" dirty="0">
                <a:solidFill>
                  <a:schemeClr val="bg1">
                    <a:lumMod val="75000"/>
                  </a:schemeClr>
                </a:solidFill>
                <a:latin typeface="Helvetica" pitchFamily="2" charset="0"/>
              </a:rPr>
              <a:t>Common Mistakes and How to Avoid Them</a:t>
            </a:r>
          </a:p>
          <a:p>
            <a:r>
              <a:rPr lang="en-US" sz="1400" b="1" dirty="0">
                <a:solidFill>
                  <a:schemeClr val="bg1">
                    <a:lumMod val="75000"/>
                  </a:schemeClr>
                </a:solidFill>
                <a:latin typeface="Helvetica" pitchFamily="2" charset="0"/>
              </a:rPr>
              <a:t>❌ </a:t>
            </a:r>
            <a:r>
              <a:rPr lang="en-US" sz="1200" b="1" dirty="0">
                <a:solidFill>
                  <a:schemeClr val="bg1">
                    <a:lumMod val="75000"/>
                  </a:schemeClr>
                </a:solidFill>
                <a:latin typeface="Helvetica" pitchFamily="2" charset="0"/>
              </a:rPr>
              <a:t>Mistake 1: Running analyses on login nodes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system for everyone; may get account suspended</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Always use </a:t>
            </a:r>
            <a:r>
              <a:rPr lang="en-US" sz="1200" dirty="0" err="1">
                <a:solidFill>
                  <a:schemeClr val="bg1">
                    <a:lumMod val="75000"/>
                  </a:schemeClr>
                </a:solidFill>
                <a:latin typeface="Helvetica" pitchFamily="2" charset="0"/>
              </a:rPr>
              <a:t>bsub</a:t>
            </a:r>
            <a:r>
              <a:rPr lang="en-US" sz="1200" dirty="0">
                <a:solidFill>
                  <a:schemeClr val="bg1">
                    <a:lumMod val="75000"/>
                  </a:schemeClr>
                </a:solidFill>
                <a:latin typeface="Helvetica" pitchFamily="2" charset="0"/>
              </a:rPr>
              <a:t> to submit jobs to compute nodes</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2: Storing important data in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Data deleted after 30 days automatically</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solidFill>
                  <a:schemeClr val="bg1">
                    <a:lumMod val="75000"/>
                  </a:schemeClr>
                </a:solidFill>
                <a:latin typeface="Helvetica" pitchFamily="2" charset="0"/>
              </a:rPr>
              <a:t>❌ Mistake 5: Not using scratch for large intermediate files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down RS1 for everyone; analysis runs slower</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Work in scratch, copy only final results to RS1</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6: Not cleaning up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Your group quota fills up; others can't use scratch</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D61B78A1-65D6-B912-0626-ED4751B299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45713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DE2D4-5904-1832-237C-1F3D585500DF}"/>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EC10FB1-46E6-C321-2E28-9F07999E3110}"/>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01. Getting started on Hazel</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A97FE54A-9D64-F2AB-CF59-D1EE367B79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8634549" y="3973617"/>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80C6855-53E8-1763-E262-4E741945DE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89428" y="3671362"/>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F248D8FB-1F8B-ED68-FFAB-C8D9781F0C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018125" y="4207175"/>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97056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76A9B-D926-2BCE-0F62-E0B9A0C6F5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D0F0B4-3134-937F-012B-6444346F6963}"/>
              </a:ext>
            </a:extLst>
          </p:cNvPr>
          <p:cNvSpPr>
            <a:spLocks noGrp="1"/>
          </p:cNvSpPr>
          <p:nvPr>
            <p:ph type="title"/>
          </p:nvPr>
        </p:nvSpPr>
        <p:spPr/>
        <p:txBody>
          <a:bodyPr>
            <a:normAutofit/>
          </a:bodyPr>
          <a:lstStyle/>
          <a:p>
            <a:r>
              <a:rPr lang="en-US" sz="4000" dirty="0">
                <a:latin typeface="Helvetica" pitchFamily="2" charset="0"/>
              </a:rPr>
              <a:t>Step 1. Login in</a:t>
            </a:r>
          </a:p>
        </p:txBody>
      </p:sp>
      <p:sp>
        <p:nvSpPr>
          <p:cNvPr id="7" name="TextBox 6">
            <a:extLst>
              <a:ext uri="{FF2B5EF4-FFF2-40B4-BE49-F238E27FC236}">
                <a16:creationId xmlns:a16="http://schemas.microsoft.com/office/drawing/2014/main" id="{E12008CB-0793-685F-915D-AC9C75551B18}"/>
              </a:ext>
            </a:extLst>
          </p:cNvPr>
          <p:cNvSpPr txBox="1"/>
          <p:nvPr/>
        </p:nvSpPr>
        <p:spPr>
          <a:xfrm>
            <a:off x="838200" y="4630285"/>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962CCDB-DEA3-22C6-A10D-E989F00141E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9969" y="1893579"/>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58770289-5B55-33E0-CBD6-02EF943A3FC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2080550"/>
            <a:ext cx="1660144" cy="1357594"/>
          </a:xfrm>
          <a:prstGeom prst="rect">
            <a:avLst/>
          </a:prstGeom>
          <a:noFill/>
          <a:extLst>
            <a:ext uri="{909E8E84-426E-40DD-AFC4-6F175D3DCCD1}">
              <a14:hiddenFill xmlns:a14="http://schemas.microsoft.com/office/drawing/2010/main">
                <a:solidFill>
                  <a:srgbClr val="FFFFFF"/>
                </a:solidFill>
              </a14:hiddenFill>
            </a:ext>
          </a:extLst>
        </p:spPr>
      </p:pic>
      <p:pic>
        <p:nvPicPr>
          <p:cNvPr id="28682" name="Picture 10" descr="10 Features of VS Code Every Developer Should Know">
            <a:extLst>
              <a:ext uri="{FF2B5EF4-FFF2-40B4-BE49-F238E27FC236}">
                <a16:creationId xmlns:a16="http://schemas.microsoft.com/office/drawing/2014/main" id="{EBCC067C-737D-48B4-E5A4-3F9EEAE21CA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0353" r="8627"/>
          <a:stretch>
            <a:fillRect/>
          </a:stretch>
        </p:blipFill>
        <p:spPr bwMode="auto">
          <a:xfrm>
            <a:off x="8866745" y="1821817"/>
            <a:ext cx="2104169" cy="194782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712FDAE6-C713-F37B-6E72-62F6CB5DD94A}"/>
              </a:ext>
            </a:extLst>
          </p:cNvPr>
          <p:cNvSpPr txBox="1"/>
          <p:nvPr/>
        </p:nvSpPr>
        <p:spPr>
          <a:xfrm>
            <a:off x="4183086" y="4014732"/>
            <a:ext cx="4215783" cy="1846659"/>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endParaRPr kumimoji="0" lang="en-US" altLang="en-US" b="0" i="0" u="none" strike="noStrike" cap="none" normalizeH="0" baseline="0" dirty="0">
              <a:ln>
                <a:noFill/>
              </a:ln>
              <a:solidFill>
                <a:srgbClr val="212529"/>
              </a:solidFill>
              <a:effectLst/>
              <a:latin typeface="Helvetica" pitchFamily="2" charset="0"/>
            </a:endParaRPr>
          </a:p>
          <a:p>
            <a:pPr marL="228600" lvl="0" indent="-228600" eaLnBrk="0" fontAlgn="base" hangingPunct="0">
              <a:spcBef>
                <a:spcPct val="0"/>
              </a:spcBef>
              <a:spcAft>
                <a:spcPct val="0"/>
              </a:spcAft>
              <a:buFont typeface="+mj-lt"/>
              <a:buAutoNum type="arabicPeriod"/>
            </a:pPr>
            <a:r>
              <a:rPr lang="en-US" altLang="en-US" sz="1600" dirty="0">
                <a:solidFill>
                  <a:srgbClr val="212529"/>
                </a:solidFill>
                <a:latin typeface="Helvetica" pitchFamily="2" charset="0"/>
              </a:rPr>
              <a:t>Open </a:t>
            </a:r>
            <a:r>
              <a:rPr kumimoji="0" lang="en-US" altLang="en-US" sz="1600" b="0" i="0" u="none" strike="noStrike" cap="none" normalizeH="0" baseline="0" dirty="0">
                <a:ln>
                  <a:noFill/>
                </a:ln>
                <a:solidFill>
                  <a:srgbClr val="212529"/>
                </a:solidFill>
                <a:effectLst/>
                <a:latin typeface="Helvetica" pitchFamily="2" charset="0"/>
              </a:rPr>
              <a:t>a terminal window </a:t>
            </a:r>
          </a:p>
          <a:p>
            <a:pPr marL="228600" lvl="0" indent="-228600" eaLnBrk="0" fontAlgn="base" hangingPunct="0">
              <a:spcBef>
                <a:spcPct val="0"/>
              </a:spcBef>
              <a:spcAft>
                <a:spcPct val="0"/>
              </a:spcAft>
              <a:buFont typeface="+mj-lt"/>
              <a:buAutoNum type="arabicPeriod"/>
            </a:pPr>
            <a:r>
              <a:rPr lang="en-US" altLang="en-US" sz="1600" dirty="0">
                <a:latin typeface="Helvetica" pitchFamily="2" charset="0"/>
              </a:rPr>
              <a:t>Type: </a:t>
            </a:r>
            <a:r>
              <a:rPr kumimoji="0" lang="en-US" altLang="en-US" sz="1600" b="0" i="0" u="none" strike="noStrike" cap="none" normalizeH="0" baseline="0" dirty="0">
                <a:ln>
                  <a:noFill/>
                </a:ln>
                <a:solidFill>
                  <a:srgbClr val="4758AB"/>
                </a:solidFill>
                <a:effectLst/>
                <a:latin typeface="Helvetica" pitchFamily="2" charset="0"/>
              </a:rPr>
              <a:t>ssh</a:t>
            </a:r>
            <a:r>
              <a:rPr kumimoji="0" lang="en-US" altLang="en-US" sz="1600" b="0" i="0" u="none" strike="noStrike" cap="none" normalizeH="0" baseline="0" dirty="0">
                <a:ln>
                  <a:noFill/>
                </a:ln>
                <a:solidFill>
                  <a:srgbClr val="003B4F"/>
                </a:solidFill>
                <a:effectLst/>
                <a:latin typeface="Helvetica" pitchFamily="2" charset="0"/>
              </a:rPr>
              <a:t> </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err="1">
                <a:ln>
                  <a:noFill/>
                </a:ln>
                <a:solidFill>
                  <a:srgbClr val="20794D"/>
                </a:solidFill>
                <a:effectLst/>
                <a:latin typeface="Helvetica" pitchFamily="2" charset="0"/>
              </a:rPr>
              <a:t>UnityID</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a:ln>
                  <a:noFill/>
                </a:ln>
                <a:solidFill>
                  <a:srgbClr val="003B4F"/>
                </a:solidFill>
                <a:effectLst/>
                <a:latin typeface="Helvetica" pitchFamily="2" charset="0"/>
              </a:rPr>
              <a:t>@</a:t>
            </a:r>
            <a:r>
              <a:rPr kumimoji="0" lang="en-US" altLang="en-US" sz="1600" b="0" i="0" u="none" strike="noStrike" cap="none" normalizeH="0" baseline="0" dirty="0" err="1">
                <a:ln>
                  <a:noFill/>
                </a:ln>
                <a:solidFill>
                  <a:srgbClr val="003B4F"/>
                </a:solidFill>
                <a:effectLst/>
                <a:latin typeface="Helvetica" pitchFamily="2" charset="0"/>
              </a:rPr>
              <a:t>login.hpc.ncsu.edu</a:t>
            </a:r>
            <a:endParaRPr lang="en-US" altLang="en-US" sz="1600" dirty="0">
              <a:latin typeface="Helvetica" pitchFamily="2" charset="0"/>
            </a:endParaRPr>
          </a:p>
          <a:p>
            <a:pPr marL="228600" lvl="0" indent="-228600" eaLnBrk="0" fontAlgn="base" hangingPunct="0">
              <a:spcBef>
                <a:spcPct val="0"/>
              </a:spcBef>
              <a:spcAft>
                <a:spcPct val="0"/>
              </a:spcAft>
              <a:buFont typeface="+mj-lt"/>
              <a:buAutoNum type="arabicPeriod"/>
            </a:pPr>
            <a:r>
              <a:rPr lang="en-US" sz="1600" dirty="0">
                <a:latin typeface="Helvetica" pitchFamily="2" charset="0"/>
              </a:rPr>
              <a:t>Enter your password and go through DUO push</a:t>
            </a:r>
          </a:p>
          <a:p>
            <a:pPr marL="228600" lvl="0" indent="-228600" eaLnBrk="0" fontAlgn="base" hangingPunct="0">
              <a:spcBef>
                <a:spcPct val="0"/>
              </a:spcBef>
              <a:spcAft>
                <a:spcPct val="0"/>
              </a:spcAft>
              <a:buFont typeface="+mj-lt"/>
              <a:buAutoNum type="arabicPeriod"/>
            </a:pPr>
            <a:r>
              <a:rPr lang="en-US" sz="1600" dirty="0">
                <a:latin typeface="Helvetica" pitchFamily="2" charset="0"/>
              </a:rPr>
              <a:t>You will be in the login node in your home directory</a:t>
            </a:r>
          </a:p>
        </p:txBody>
      </p:sp>
      <p:sp>
        <p:nvSpPr>
          <p:cNvPr id="13" name="TextBox 12">
            <a:extLst>
              <a:ext uri="{FF2B5EF4-FFF2-40B4-BE49-F238E27FC236}">
                <a16:creationId xmlns:a16="http://schemas.microsoft.com/office/drawing/2014/main" id="{CDD3BB61-CC10-67F9-2CFA-3855C73065A7}"/>
              </a:ext>
            </a:extLst>
          </p:cNvPr>
          <p:cNvSpPr txBox="1"/>
          <p:nvPr/>
        </p:nvSpPr>
        <p:spPr>
          <a:xfrm>
            <a:off x="9434561" y="4753395"/>
            <a:ext cx="1069524"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err="1">
                <a:ln>
                  <a:noFill/>
                </a:ln>
                <a:solidFill>
                  <a:srgbClr val="212529"/>
                </a:solidFill>
                <a:effectLst/>
                <a:latin typeface="Helvetica" pitchFamily="2" charset="0"/>
              </a:rPr>
              <a:t>VSCode</a:t>
            </a:r>
            <a:endParaRPr lang="en-US" altLang="en-US" dirty="0">
              <a:solidFill>
                <a:srgbClr val="212529"/>
              </a:solidFill>
              <a:latin typeface="Helvetica" pitchFamily="2" charset="0"/>
            </a:endParaRPr>
          </a:p>
        </p:txBody>
      </p:sp>
      <p:pic>
        <p:nvPicPr>
          <p:cNvPr id="14" name="Picture 6" descr="coding Symbol mark in filled style 47628836 Vector Art at Vecteezy">
            <a:extLst>
              <a:ext uri="{FF2B5EF4-FFF2-40B4-BE49-F238E27FC236}">
                <a16:creationId xmlns:a16="http://schemas.microsoft.com/office/drawing/2014/main" id="{6BED170F-C36A-29BD-9011-2A0152AEBA08}"/>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771883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12BD25-EBB9-7F09-9783-046FFEFF14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80C800-6CEC-D983-0182-DF87344F6770}"/>
              </a:ext>
            </a:extLst>
          </p:cNvPr>
          <p:cNvSpPr>
            <a:spLocks noGrp="1"/>
          </p:cNvSpPr>
          <p:nvPr>
            <p:ph type="title"/>
          </p:nvPr>
        </p:nvSpPr>
        <p:spPr/>
        <p:txBody>
          <a:bodyPr>
            <a:normAutofit/>
          </a:bodyPr>
          <a:lstStyle/>
          <a:p>
            <a:r>
              <a:rPr lang="en-US" sz="4000" dirty="0">
                <a:latin typeface="Helvetica" pitchFamily="2" charset="0"/>
              </a:rPr>
              <a:t>Step 2. Transferring files</a:t>
            </a:r>
          </a:p>
        </p:txBody>
      </p:sp>
      <p:sp>
        <p:nvSpPr>
          <p:cNvPr id="7" name="TextBox 6">
            <a:extLst>
              <a:ext uri="{FF2B5EF4-FFF2-40B4-BE49-F238E27FC236}">
                <a16:creationId xmlns:a16="http://schemas.microsoft.com/office/drawing/2014/main" id="{F27C919B-7CC6-8C01-9EF4-FBBF091A65E0}"/>
              </a:ext>
            </a:extLst>
          </p:cNvPr>
          <p:cNvSpPr txBox="1"/>
          <p:nvPr/>
        </p:nvSpPr>
        <p:spPr>
          <a:xfrm>
            <a:off x="838200" y="4427394"/>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48C39AB-94B5-BF47-30A0-A9AD4DAA9C1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27127" y="1690688"/>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FE5212FA-338E-ECC9-6CAA-216BEB8CEBD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1877659"/>
            <a:ext cx="1660144" cy="135759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ABC07266-4B38-01B4-E659-FF73522229E8}"/>
              </a:ext>
            </a:extLst>
          </p:cNvPr>
          <p:cNvSpPr txBox="1"/>
          <p:nvPr/>
        </p:nvSpPr>
        <p:spPr>
          <a:xfrm>
            <a:off x="3999110" y="3811841"/>
            <a:ext cx="4860330" cy="369332"/>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p>
        </p:txBody>
      </p:sp>
      <p:sp>
        <p:nvSpPr>
          <p:cNvPr id="13" name="TextBox 12">
            <a:extLst>
              <a:ext uri="{FF2B5EF4-FFF2-40B4-BE49-F238E27FC236}">
                <a16:creationId xmlns:a16="http://schemas.microsoft.com/office/drawing/2014/main" id="{764BDBAD-F1F1-1ADF-24E9-D2B54B6741EE}"/>
              </a:ext>
            </a:extLst>
          </p:cNvPr>
          <p:cNvSpPr txBox="1"/>
          <p:nvPr/>
        </p:nvSpPr>
        <p:spPr>
          <a:xfrm>
            <a:off x="9434561" y="4550504"/>
            <a:ext cx="979755"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Globus</a:t>
            </a:r>
            <a:endParaRPr lang="en-US" altLang="en-US" dirty="0">
              <a:solidFill>
                <a:srgbClr val="212529"/>
              </a:solidFill>
              <a:latin typeface="Helvetica" pitchFamily="2" charset="0"/>
            </a:endParaRPr>
          </a:p>
        </p:txBody>
      </p:sp>
      <p:pic>
        <p:nvPicPr>
          <p:cNvPr id="30724" name="Picture 4" descr="HOWTO: Use Globus (Overview) | Ohio Supercomputer Center">
            <a:extLst>
              <a:ext uri="{FF2B5EF4-FFF2-40B4-BE49-F238E27FC236}">
                <a16:creationId xmlns:a16="http://schemas.microsoft.com/office/drawing/2014/main" id="{DD9B9AA6-AF64-CC8B-23F2-F7ADAEE0204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974384" y="1690688"/>
            <a:ext cx="1804296" cy="162837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5A8FE33-1650-B762-1D37-18249392A639}"/>
              </a:ext>
            </a:extLst>
          </p:cNvPr>
          <p:cNvSpPr txBox="1"/>
          <p:nvPr/>
        </p:nvSpPr>
        <p:spPr>
          <a:xfrm>
            <a:off x="3999110" y="4181173"/>
            <a:ext cx="4860330" cy="2415661"/>
          </a:xfrm>
          <a:prstGeom prst="rect">
            <a:avLst/>
          </a:prstGeom>
          <a:noFill/>
          <a:ln w="19050">
            <a:solidFill>
              <a:schemeClr val="bg1">
                <a:lumMod val="50000"/>
              </a:schemeClr>
            </a:solidFill>
          </a:ln>
        </p:spPr>
        <p:txBody>
          <a:bodyPr wrap="square">
            <a:spAutoFit/>
          </a:bodyPr>
          <a:lstStyle/>
          <a:p>
            <a:pPr>
              <a:lnSpc>
                <a:spcPts val="1350"/>
              </a:lnSpc>
            </a:pPr>
            <a:r>
              <a:rPr lang="en-US" sz="1100" b="0" dirty="0">
                <a:solidFill>
                  <a:srgbClr val="6A9955"/>
                </a:solidFill>
                <a:effectLst/>
                <a:latin typeface="Menlo" panose="020B0609030804020204" pitchFamily="49" charset="0"/>
              </a:rPr>
              <a:t># SCP for 1 file in 1 direction</a:t>
            </a:r>
          </a:p>
          <a:p>
            <a:pPr>
              <a:lnSpc>
                <a:spcPts val="1350"/>
              </a:lnSpc>
              <a:buNone/>
            </a:pPr>
            <a:r>
              <a:rPr lang="en-US" sz="1100" b="0" dirty="0">
                <a:solidFill>
                  <a:srgbClr val="6A9955"/>
                </a:solidFill>
                <a:effectLst/>
                <a:latin typeface="Menlo" panose="020B0609030804020204" pitchFamily="49" charset="0"/>
              </a:rPr>
              <a:t># Local to HPC</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filename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br>
              <a:rPr lang="en-US" sz="1100" b="0" dirty="0">
                <a:solidFill>
                  <a:srgbClr val="CCCCCC"/>
                </a:solidFill>
                <a:effectLst/>
                <a:latin typeface="Menlo" panose="020B0609030804020204" pitchFamily="49" charset="0"/>
              </a:rPr>
            </a:b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HPC to local</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p>
          <a:p>
            <a:pPr>
              <a:lnSpc>
                <a:spcPts val="1350"/>
              </a:lnSpc>
              <a:buNone/>
            </a:pPr>
            <a:endParaRPr lang="en-US" sz="1100" dirty="0">
              <a:latin typeface="Menlo" panose="020B0609030804020204" pitchFamily="49" charset="0"/>
            </a:endParaRPr>
          </a:p>
          <a:p>
            <a:pPr>
              <a:lnSpc>
                <a:spcPts val="1350"/>
              </a:lnSpc>
            </a:pPr>
            <a:r>
              <a:rPr lang="en-US" sz="1100" b="0" dirty="0">
                <a:solidFill>
                  <a:srgbClr val="6A9955"/>
                </a:solidFill>
                <a:effectLst/>
                <a:latin typeface="Menlo" panose="020B0609030804020204" pitchFamily="49" charset="0"/>
              </a:rPr>
              <a:t># SFTP for multiple files both directions</a:t>
            </a:r>
            <a:endParaRPr lang="en-US" sz="1100" dirty="0">
              <a:latin typeface="Menlo" panose="020B0609030804020204" pitchFamily="49" charset="0"/>
            </a:endParaRPr>
          </a:p>
          <a:p>
            <a:pPr>
              <a:lnSpc>
                <a:spcPts val="1350"/>
              </a:lnSpc>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a:solidFill>
                  <a:srgbClr val="CE9178"/>
                </a:solidFill>
                <a:effectLst/>
                <a:latin typeface="Menlo" panose="020B0609030804020204" pitchFamily="49" charset="0"/>
              </a:rPr>
              <a:t>sftp</a:t>
            </a:r>
            <a:r>
              <a:rPr lang="en-US" sz="1100" b="0" dirty="0">
                <a:solidFill>
                  <a:srgbClr val="D4D4D4"/>
                </a:solidFill>
                <a:effectLst/>
                <a:latin typeface="Menlo" panose="020B0609030804020204" pitchFamily="49" charset="0"/>
              </a:rPr>
              <a:t> [</a:t>
            </a:r>
            <a:r>
              <a:rPr lang="en-US" sz="1100" b="0" dirty="0" err="1">
                <a:solidFill>
                  <a:srgbClr val="D4D4D4"/>
                </a:solidFill>
                <a:effectLst/>
                <a:latin typeface="Menlo" panose="020B0609030804020204" pitchFamily="49" charset="0"/>
              </a:rPr>
              <a:t>UnityID</a:t>
            </a:r>
            <a:r>
              <a:rPr lang="en-US" sz="1100" b="0" dirty="0">
                <a:solidFill>
                  <a:srgbClr val="D4D4D4"/>
                </a:solidFill>
                <a:effectLst/>
                <a:latin typeface="Menlo" panose="020B0609030804020204" pitchFamily="49" charset="0"/>
              </a:rPr>
              <a:t>]@</a:t>
            </a:r>
            <a:r>
              <a:rPr lang="en-US" sz="1100" b="0" dirty="0" err="1">
                <a:solidFill>
                  <a:srgbClr val="D4D4D4"/>
                </a:solidFill>
                <a:effectLst/>
                <a:latin typeface="Menlo" panose="020B0609030804020204" pitchFamily="49" charset="0"/>
              </a:rPr>
              <a:t>login.hpc.ncsu.edu</a:t>
            </a:r>
            <a:endParaRPr lang="en-US" sz="1100" b="0" dirty="0">
              <a:solidFill>
                <a:srgbClr val="CCCCCC"/>
              </a:solidFill>
              <a:effectLst/>
              <a:latin typeface="Menlo" panose="020B0609030804020204" pitchFamily="49" charset="0"/>
            </a:endParaRPr>
          </a:p>
        </p:txBody>
      </p:sp>
      <p:pic>
        <p:nvPicPr>
          <p:cNvPr id="30726" name="Picture 6" descr="coding Symbol mark in filled style 47628836 Vector Art at Vecteezy">
            <a:extLst>
              <a:ext uri="{FF2B5EF4-FFF2-40B4-BE49-F238E27FC236}">
                <a16:creationId xmlns:a16="http://schemas.microsoft.com/office/drawing/2014/main" id="{CA4FD2B3-4222-D379-2757-E92F80DD236E}"/>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50164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11E800-355D-7037-5308-F12B90E397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E886E6-165F-C341-0286-12F3B3F77C48}"/>
              </a:ext>
            </a:extLst>
          </p:cNvPr>
          <p:cNvSpPr>
            <a:spLocks noGrp="1"/>
          </p:cNvSpPr>
          <p:nvPr>
            <p:ph type="title"/>
          </p:nvPr>
        </p:nvSpPr>
        <p:spPr/>
        <p:txBody>
          <a:bodyPr>
            <a:normAutofit/>
          </a:bodyPr>
          <a:lstStyle/>
          <a:p>
            <a:r>
              <a:rPr lang="en-US" sz="4000" dirty="0">
                <a:latin typeface="Helvetica" pitchFamily="2" charset="0"/>
              </a:rPr>
              <a:t>First day checklist</a:t>
            </a:r>
          </a:p>
        </p:txBody>
      </p:sp>
      <p:sp>
        <p:nvSpPr>
          <p:cNvPr id="7" name="TextBox 6">
            <a:extLst>
              <a:ext uri="{FF2B5EF4-FFF2-40B4-BE49-F238E27FC236}">
                <a16:creationId xmlns:a16="http://schemas.microsoft.com/office/drawing/2014/main" id="{A055576C-995C-4F7E-3A8A-BEB6DF155577}"/>
              </a:ext>
            </a:extLst>
          </p:cNvPr>
          <p:cNvSpPr txBox="1"/>
          <p:nvPr/>
        </p:nvSpPr>
        <p:spPr>
          <a:xfrm>
            <a:off x="2950464" y="4268344"/>
            <a:ext cx="6094476" cy="1944956"/>
          </a:xfrm>
          <a:prstGeom prst="rect">
            <a:avLst/>
          </a:prstGeom>
          <a:noFill/>
        </p:spPr>
        <p:txBody>
          <a:bodyPr wrap="square">
            <a:spAutoFit/>
          </a:bodyPr>
          <a:lstStyle/>
          <a:p>
            <a:pPr marL="285750" indent="-285750">
              <a:lnSpc>
                <a:spcPct val="150000"/>
              </a:lnSpc>
              <a:buFont typeface="Wingdings" pitchFamily="2" charset="2"/>
              <a:buChar char="q"/>
            </a:pPr>
            <a:r>
              <a:rPr lang="en-US" sz="1600" dirty="0">
                <a:latin typeface="Helvetica" pitchFamily="2" charset="0"/>
              </a:rPr>
              <a:t>Get </a:t>
            </a:r>
            <a:r>
              <a:rPr lang="en-US" sz="1600" dirty="0" err="1">
                <a:latin typeface="Helvetica" pitchFamily="2" charset="0"/>
              </a:rPr>
              <a:t>UnityID</a:t>
            </a:r>
            <a:r>
              <a:rPr lang="en-US" sz="1600" dirty="0">
                <a:latin typeface="Helvetica" pitchFamily="2" charset="0"/>
              </a:rPr>
              <a:t>/VPN, Join Group Allocation</a:t>
            </a:r>
          </a:p>
          <a:p>
            <a:pPr marL="285750" indent="-285750">
              <a:lnSpc>
                <a:spcPct val="150000"/>
              </a:lnSpc>
              <a:buFont typeface="Wingdings" pitchFamily="2" charset="2"/>
              <a:buChar char="q"/>
            </a:pPr>
            <a:r>
              <a:rPr lang="en-US" sz="1600" dirty="0">
                <a:latin typeface="Helvetica" pitchFamily="2" charset="0"/>
              </a:rPr>
              <a:t>SSH in</a:t>
            </a:r>
          </a:p>
          <a:p>
            <a:pPr marL="285750" indent="-285750">
              <a:lnSpc>
                <a:spcPct val="150000"/>
              </a:lnSpc>
              <a:buFont typeface="Wingdings" pitchFamily="2" charset="2"/>
              <a:buChar char="q"/>
            </a:pPr>
            <a:r>
              <a:rPr lang="en-US" sz="1600" dirty="0">
                <a:latin typeface="Helvetica" pitchFamily="2" charset="0"/>
              </a:rPr>
              <a:t>Explore Home, Scratch, and RS1 paths</a:t>
            </a:r>
          </a:p>
          <a:p>
            <a:pPr marL="285750" indent="-285750">
              <a:lnSpc>
                <a:spcPct val="150000"/>
              </a:lnSpc>
              <a:buFont typeface="Wingdings" pitchFamily="2" charset="2"/>
              <a:buChar char="q"/>
            </a:pPr>
            <a:r>
              <a:rPr lang="en-US" sz="1600" dirty="0">
                <a:latin typeface="Helvetica" pitchFamily="2" charset="0"/>
              </a:rPr>
              <a:t>Transfer a file using </a:t>
            </a:r>
            <a:r>
              <a:rPr lang="en-US" sz="1600" dirty="0" err="1">
                <a:latin typeface="Helvetica" pitchFamily="2" charset="0"/>
              </a:rPr>
              <a:t>scp</a:t>
            </a:r>
            <a:endParaRPr lang="en-US" sz="1600" dirty="0">
              <a:latin typeface="Helvetica" pitchFamily="2" charset="0"/>
            </a:endParaRPr>
          </a:p>
          <a:p>
            <a:pPr marL="285750" indent="-285750">
              <a:lnSpc>
                <a:spcPct val="150000"/>
              </a:lnSpc>
              <a:buFont typeface="Wingdings" pitchFamily="2" charset="2"/>
              <a:buChar char="q"/>
            </a:pPr>
            <a:r>
              <a:rPr lang="en-US" sz="1600" dirty="0">
                <a:latin typeface="Helvetica" pitchFamily="2" charset="0"/>
              </a:rPr>
              <a:t>Do Bonus! Basics of Unix activity (optional)</a:t>
            </a:r>
          </a:p>
        </p:txBody>
      </p:sp>
      <p:pic>
        <p:nvPicPr>
          <p:cNvPr id="8" name="Picture 6" descr="coding Symbol mark in filled style 47628836 Vector Art at Vecteezy">
            <a:extLst>
              <a:ext uri="{FF2B5EF4-FFF2-40B4-BE49-F238E27FC236}">
                <a16:creationId xmlns:a16="http://schemas.microsoft.com/office/drawing/2014/main" id="{C567998B-BFE9-6C7B-4971-7FA98B02518A}"/>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295400" y="4522946"/>
            <a:ext cx="1264920" cy="126492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7BB31AD7-9DC8-56CD-B134-6830D78DB6BE}"/>
              </a:ext>
            </a:extLst>
          </p:cNvPr>
          <p:cNvSpPr txBox="1"/>
          <p:nvPr/>
        </p:nvSpPr>
        <p:spPr>
          <a:xfrm>
            <a:off x="2950464" y="1690688"/>
            <a:ext cx="6094476" cy="2129622"/>
          </a:xfrm>
          <a:prstGeom prst="rect">
            <a:avLst/>
          </a:prstGeom>
          <a:noFill/>
        </p:spPr>
        <p:txBody>
          <a:bodyPr wrap="square">
            <a:spAutoFit/>
          </a:bodyPr>
          <a:lstStyle/>
          <a:p>
            <a:pPr marL="285750" indent="-285750">
              <a:lnSpc>
                <a:spcPct val="150000"/>
              </a:lnSpc>
              <a:buFont typeface="Wingdings" pitchFamily="2" charset="2"/>
              <a:buChar char="ü"/>
            </a:pPr>
            <a:r>
              <a:rPr lang="en-US" sz="1800" dirty="0">
                <a:latin typeface="Helvetica" pitchFamily="2" charset="0"/>
              </a:rPr>
              <a:t>Understand Core HPC Concepts (CPU/GPU, Node/Core)</a:t>
            </a:r>
          </a:p>
          <a:p>
            <a:pPr marL="285750" indent="-285750">
              <a:lnSpc>
                <a:spcPct val="150000"/>
              </a:lnSpc>
              <a:buFont typeface="Wingdings" pitchFamily="2" charset="2"/>
              <a:buChar char="ü"/>
            </a:pPr>
            <a:r>
              <a:rPr lang="en-US" sz="1800" dirty="0">
                <a:latin typeface="Helvetica" pitchFamily="2" charset="0"/>
              </a:rPr>
              <a:t>Navigate the Hazel HPC Environment</a:t>
            </a:r>
          </a:p>
          <a:p>
            <a:pPr marL="285750" indent="-285750">
              <a:lnSpc>
                <a:spcPct val="150000"/>
              </a:lnSpc>
              <a:buFont typeface="Wingdings" pitchFamily="2" charset="2"/>
              <a:buChar char="ü"/>
            </a:pPr>
            <a:r>
              <a:rPr lang="en-US" sz="1800" dirty="0">
                <a:latin typeface="Helvetica" pitchFamily="2" charset="0"/>
              </a:rPr>
              <a:t>Get started with obtaining an HPC account</a:t>
            </a:r>
          </a:p>
          <a:p>
            <a:pPr marL="285750" indent="-285750">
              <a:lnSpc>
                <a:spcPct val="150000"/>
              </a:lnSpc>
              <a:buFont typeface="Wingdings" pitchFamily="2" charset="2"/>
              <a:buChar char="ü"/>
            </a:pPr>
            <a:r>
              <a:rPr lang="en-US" sz="1800" dirty="0">
                <a:latin typeface="Helvetica" pitchFamily="2" charset="0"/>
              </a:rPr>
              <a:t>Learning ways to transfer files</a:t>
            </a:r>
          </a:p>
        </p:txBody>
      </p:sp>
      <p:pic>
        <p:nvPicPr>
          <p:cNvPr id="33796" name="Picture 4" descr="184,600+ Goals Icon Stock Illustrations, Royalty-Free Vector ...">
            <a:extLst>
              <a:ext uri="{FF2B5EF4-FFF2-40B4-BE49-F238E27FC236}">
                <a16:creationId xmlns:a16="http://schemas.microsoft.com/office/drawing/2014/main" id="{5E1EC66C-213F-3D8F-0CC9-47CDFFFE3416}"/>
              </a:ext>
            </a:extLst>
          </p:cNvPr>
          <p:cNvPicPr>
            <a:picLocks noChangeAspect="1" noChangeArrowheads="1"/>
          </p:cNvPicPr>
          <p:nvPr/>
        </p:nvPicPr>
        <p:blipFill rotWithShape="1">
          <a:blip r:embed="rId3">
            <a:duotone>
              <a:prstClr val="black"/>
              <a:schemeClr val="accent6">
                <a:tint val="45000"/>
                <a:satMod val="400000"/>
              </a:schemeClr>
            </a:duotone>
            <a:extLst>
              <a:ext uri="{28A0092B-C50C-407E-A947-70E740481C1C}">
                <a14:useLocalDpi xmlns:a14="http://schemas.microsoft.com/office/drawing/2010/main" val="0"/>
              </a:ext>
            </a:extLst>
          </a:blip>
          <a:srcRect l="17568" t="19066" r="15910" b="19600"/>
          <a:stretch>
            <a:fillRect/>
          </a:stretch>
        </p:blipFill>
        <p:spPr bwMode="auto">
          <a:xfrm>
            <a:off x="1326970" y="2103437"/>
            <a:ext cx="1233350" cy="1325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52688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BE447-1BD3-46AD-7EF0-3098A26049DB}"/>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5B45E4E9-28EB-D34E-87AE-4C93E8CFEDDD}"/>
              </a:ext>
            </a:extLst>
          </p:cNvPr>
          <p:cNvSpPr txBox="1">
            <a:spLocks/>
          </p:cNvSpPr>
          <p:nvPr/>
        </p:nvSpPr>
        <p:spPr>
          <a:xfrm>
            <a:off x="1527846" y="2235200"/>
            <a:ext cx="8245547"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2. Running Jobs on </a:t>
            </a:r>
          </a:p>
          <a:p>
            <a:r>
              <a:rPr lang="en-US" sz="5400" dirty="0">
                <a:latin typeface="Helvetica" pitchFamily="2" charset="0"/>
              </a:rPr>
              <a:t>Hazel</a:t>
            </a:r>
          </a:p>
        </p:txBody>
      </p:sp>
      <p:pic>
        <p:nvPicPr>
          <p:cNvPr id="18440" name="Picture 8" descr="Hazel nut icon symbol on white background | Premium Vector">
            <a:extLst>
              <a:ext uri="{FF2B5EF4-FFF2-40B4-BE49-F238E27FC236}">
                <a16:creationId xmlns:a16="http://schemas.microsoft.com/office/drawing/2014/main" id="{148E47D6-DE02-85FE-B390-58996FD60F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89125" y="2525388"/>
            <a:ext cx="903612" cy="903612"/>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B68BAFA6-97E3-63AA-B8D7-34530E6202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57809" y="3200233"/>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6+ Thousand High Performance Computing Icon Royalty-Free Images, Stock  Photos &amp; Pictures | Shutterstock">
            <a:extLst>
              <a:ext uri="{FF2B5EF4-FFF2-40B4-BE49-F238E27FC236}">
                <a16:creationId xmlns:a16="http://schemas.microsoft.com/office/drawing/2014/main" id="{E41A0696-FE26-C562-3C39-14A12F00AC7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9627" t="7004" r="11439" b="14000"/>
          <a:stretch>
            <a:fillRect/>
          </a:stretch>
        </p:blipFill>
        <p:spPr bwMode="auto">
          <a:xfrm>
            <a:off x="8645236" y="2149646"/>
            <a:ext cx="1009441" cy="10879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12695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17AF84-354C-62AE-2DF1-142319C5C9DF}"/>
              </a:ext>
            </a:extLst>
          </p:cNvPr>
          <p:cNvSpPr>
            <a:spLocks noGrp="1"/>
          </p:cNvSpPr>
          <p:nvPr>
            <p:ph type="title"/>
          </p:nvPr>
        </p:nvSpPr>
        <p:spPr/>
        <p:txBody>
          <a:bodyPr/>
          <a:lstStyle/>
          <a:p>
            <a:r>
              <a:rPr lang="en-US" dirty="0"/>
              <a:t>What is a job</a:t>
            </a:r>
          </a:p>
        </p:txBody>
      </p:sp>
      <p:sp>
        <p:nvSpPr>
          <p:cNvPr id="3" name="Content Placeholder 2">
            <a:extLst>
              <a:ext uri="{FF2B5EF4-FFF2-40B4-BE49-F238E27FC236}">
                <a16:creationId xmlns:a16="http://schemas.microsoft.com/office/drawing/2014/main" id="{36B141E2-9ADD-10F0-3BAB-15139A4511B8}"/>
              </a:ext>
            </a:extLst>
          </p:cNvPr>
          <p:cNvSpPr>
            <a:spLocks noGrp="1"/>
          </p:cNvSpPr>
          <p:nvPr>
            <p:ph idx="1"/>
          </p:nvPr>
        </p:nvSpPr>
        <p:spPr>
          <a:xfrm>
            <a:off x="838200" y="1690688"/>
            <a:ext cx="6465125" cy="4351338"/>
          </a:xfrm>
        </p:spPr>
        <p:txBody>
          <a:bodyPr>
            <a:normAutofit/>
          </a:bodyPr>
          <a:lstStyle/>
          <a:p>
            <a:pPr marL="0" indent="0">
              <a:buNone/>
            </a:pPr>
            <a:r>
              <a:rPr lang="en-US" sz="2400" dirty="0"/>
              <a:t>An HPC job is the </a:t>
            </a:r>
            <a:r>
              <a:rPr lang="en-US" sz="2400" b="1" dirty="0"/>
              <a:t>unit of work </a:t>
            </a:r>
            <a:r>
              <a:rPr lang="en-US" sz="2400" dirty="0"/>
              <a:t>that a user </a:t>
            </a:r>
            <a:r>
              <a:rPr lang="en-US" sz="2400" b="1" dirty="0"/>
              <a:t>submits</a:t>
            </a:r>
            <a:r>
              <a:rPr lang="en-US" sz="2400" dirty="0"/>
              <a:t> to the cluster’s job scheduler for execution. </a:t>
            </a:r>
          </a:p>
          <a:p>
            <a:pPr marL="0" indent="0">
              <a:buNone/>
            </a:pPr>
            <a:r>
              <a:rPr lang="en-US" sz="2400" i="1" dirty="0"/>
              <a:t>	Job = code + instructions </a:t>
            </a:r>
          </a:p>
          <a:p>
            <a:pPr marL="0" indent="0">
              <a:buNone/>
            </a:pPr>
            <a:r>
              <a:rPr lang="en-US" sz="2400" dirty="0"/>
              <a:t>Code and instructions are contained within a </a:t>
            </a:r>
            <a:r>
              <a:rPr lang="en-US" sz="2400" b="1" dirty="0"/>
              <a:t>job script </a:t>
            </a:r>
            <a:r>
              <a:rPr lang="en-US" sz="2400" dirty="0"/>
              <a:t>(or submission script).</a:t>
            </a:r>
          </a:p>
        </p:txBody>
      </p:sp>
      <p:sp>
        <p:nvSpPr>
          <p:cNvPr id="6" name="Rectangle 5">
            <a:extLst>
              <a:ext uri="{FF2B5EF4-FFF2-40B4-BE49-F238E27FC236}">
                <a16:creationId xmlns:a16="http://schemas.microsoft.com/office/drawing/2014/main" id="{6BDE7231-AC91-3167-6EDC-650C37D1C557}"/>
              </a:ext>
            </a:extLst>
          </p:cNvPr>
          <p:cNvSpPr/>
          <p:nvPr/>
        </p:nvSpPr>
        <p:spPr>
          <a:xfrm>
            <a:off x="7784276" y="1383475"/>
            <a:ext cx="3497283" cy="473231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BEEF043E-DA32-915A-2907-9F3D3575AD3A}"/>
              </a:ext>
            </a:extLst>
          </p:cNvPr>
          <p:cNvSpPr txBox="1"/>
          <p:nvPr/>
        </p:nvSpPr>
        <p:spPr>
          <a:xfrm>
            <a:off x="7713024" y="97554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program.lsf</a:t>
            </a:r>
            <a:r>
              <a:rPr lang="en-US" dirty="0"/>
              <a:t>)</a:t>
            </a:r>
          </a:p>
        </p:txBody>
      </p:sp>
      <p:sp>
        <p:nvSpPr>
          <p:cNvPr id="8" name="Rectangle 7">
            <a:extLst>
              <a:ext uri="{FF2B5EF4-FFF2-40B4-BE49-F238E27FC236}">
                <a16:creationId xmlns:a16="http://schemas.microsoft.com/office/drawing/2014/main" id="{AB0B9810-6704-D24F-CB53-8A4527C5DEC3}"/>
              </a:ext>
            </a:extLst>
          </p:cNvPr>
          <p:cNvSpPr/>
          <p:nvPr/>
        </p:nvSpPr>
        <p:spPr>
          <a:xfrm>
            <a:off x="7843652" y="1460665"/>
            <a:ext cx="3390405" cy="196833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Instructions for scheduler</a:t>
            </a:r>
          </a:p>
        </p:txBody>
      </p:sp>
      <p:sp>
        <p:nvSpPr>
          <p:cNvPr id="9" name="Rectangle 8">
            <a:extLst>
              <a:ext uri="{FF2B5EF4-FFF2-40B4-BE49-F238E27FC236}">
                <a16:creationId xmlns:a16="http://schemas.microsoft.com/office/drawing/2014/main" id="{CB1AE401-4A94-90C2-85C1-0BB261A87EB5}"/>
              </a:ext>
            </a:extLst>
          </p:cNvPr>
          <p:cNvSpPr/>
          <p:nvPr/>
        </p:nvSpPr>
        <p:spPr>
          <a:xfrm>
            <a:off x="7843652" y="3491345"/>
            <a:ext cx="3390405" cy="254132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Task to be run</a:t>
            </a:r>
          </a:p>
        </p:txBody>
      </p:sp>
      <p:pic>
        <p:nvPicPr>
          <p:cNvPr id="1026" name="Picture 2" descr="What Is HPC? - UArizona HPC Documentation">
            <a:extLst>
              <a:ext uri="{FF2B5EF4-FFF2-40B4-BE49-F238E27FC236}">
                <a16:creationId xmlns:a16="http://schemas.microsoft.com/office/drawing/2014/main" id="{1B24C759-4BE3-01AA-CC7E-785E787194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26773" y="3932198"/>
            <a:ext cx="3772394" cy="27235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6844062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2C323C54-9180-3957-D911-4EFEC99343A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79012" y="2314365"/>
            <a:ext cx="4610625" cy="2794894"/>
          </a:xfrm>
          <a:prstGeom prst="rect">
            <a:avLst/>
          </a:prstGeom>
        </p:spPr>
      </p:pic>
      <p:sp>
        <p:nvSpPr>
          <p:cNvPr id="9" name="Title 1">
            <a:extLst>
              <a:ext uri="{FF2B5EF4-FFF2-40B4-BE49-F238E27FC236}">
                <a16:creationId xmlns:a16="http://schemas.microsoft.com/office/drawing/2014/main" id="{34FC577C-8395-73B5-6D83-9F035FA110C8}"/>
              </a:ext>
            </a:extLst>
          </p:cNvPr>
          <p:cNvSpPr>
            <a:spLocks noGrp="1"/>
          </p:cNvSpPr>
          <p:nvPr>
            <p:ph type="title"/>
          </p:nvPr>
        </p:nvSpPr>
        <p:spPr>
          <a:xfrm>
            <a:off x="838200" y="365125"/>
            <a:ext cx="10515600" cy="1325563"/>
          </a:xfrm>
        </p:spPr>
        <p:txBody>
          <a:bodyPr/>
          <a:lstStyle/>
          <a:p>
            <a:r>
              <a:rPr lang="en-US" dirty="0"/>
              <a:t>Job scheduler (LSF)</a:t>
            </a:r>
          </a:p>
        </p:txBody>
      </p:sp>
      <p:sp>
        <p:nvSpPr>
          <p:cNvPr id="11" name="TextBox 10">
            <a:extLst>
              <a:ext uri="{FF2B5EF4-FFF2-40B4-BE49-F238E27FC236}">
                <a16:creationId xmlns:a16="http://schemas.microsoft.com/office/drawing/2014/main" id="{AF48F687-75B3-FB96-D9EF-39CCAD890B66}"/>
              </a:ext>
            </a:extLst>
          </p:cNvPr>
          <p:cNvSpPr txBox="1"/>
          <p:nvPr/>
        </p:nvSpPr>
        <p:spPr>
          <a:xfrm>
            <a:off x="838200" y="1567512"/>
            <a:ext cx="10148350" cy="369332"/>
          </a:xfrm>
          <a:prstGeom prst="rect">
            <a:avLst/>
          </a:prstGeom>
          <a:noFill/>
        </p:spPr>
        <p:txBody>
          <a:bodyPr wrap="square">
            <a:spAutoFit/>
          </a:bodyPr>
          <a:lstStyle/>
          <a:p>
            <a:r>
              <a:rPr lang="en-US" b="0" i="0" dirty="0">
                <a:effectLst/>
              </a:rPr>
              <a:t>Hazel uses the </a:t>
            </a:r>
            <a:r>
              <a:rPr lang="en-US" b="1" i="0" dirty="0">
                <a:effectLst/>
              </a:rPr>
              <a:t>LSF</a:t>
            </a:r>
            <a:r>
              <a:rPr lang="en-US" b="0" i="0" dirty="0">
                <a:effectLst/>
              </a:rPr>
              <a:t> (Load Sharing Facility) job scheduler, currently known as IBM Spectrum LSF.</a:t>
            </a:r>
            <a:endParaRPr lang="en-US" dirty="0"/>
          </a:p>
        </p:txBody>
      </p:sp>
      <p:sp>
        <p:nvSpPr>
          <p:cNvPr id="12" name="TextBox 11">
            <a:extLst>
              <a:ext uri="{FF2B5EF4-FFF2-40B4-BE49-F238E27FC236}">
                <a16:creationId xmlns:a16="http://schemas.microsoft.com/office/drawing/2014/main" id="{CF8558D8-B8AB-B3DC-A7CE-F3BE23FB6EBE}"/>
              </a:ext>
            </a:extLst>
          </p:cNvPr>
          <p:cNvSpPr txBox="1"/>
          <p:nvPr/>
        </p:nvSpPr>
        <p:spPr>
          <a:xfrm>
            <a:off x="910436" y="2405579"/>
            <a:ext cx="5403897" cy="923330"/>
          </a:xfrm>
          <a:prstGeom prst="rect">
            <a:avLst/>
          </a:prstGeom>
          <a:noFill/>
        </p:spPr>
        <p:txBody>
          <a:bodyPr wrap="square" rtlCol="0">
            <a:spAutoFit/>
          </a:bodyPr>
          <a:lstStyle/>
          <a:p>
            <a:r>
              <a:rPr lang="en-US" dirty="0"/>
              <a:t>Jobs are submitted with the </a:t>
            </a:r>
            <a:r>
              <a:rPr lang="en-US" sz="1400" dirty="0" err="1">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bsub</a:t>
            </a:r>
            <a:r>
              <a:rPr lang="en-US" dirty="0"/>
              <a:t> command. </a:t>
            </a:r>
          </a:p>
          <a:p>
            <a:r>
              <a:rPr lang="en-US" dirty="0"/>
              <a:t>A job is submitted either </a:t>
            </a:r>
            <a:r>
              <a:rPr lang="en-US" b="1" dirty="0"/>
              <a:t>interactively</a:t>
            </a:r>
            <a:r>
              <a:rPr lang="en-US" dirty="0"/>
              <a:t> or via a </a:t>
            </a:r>
            <a:r>
              <a:rPr lang="en-US" b="1" dirty="0"/>
              <a:t>job script </a:t>
            </a:r>
            <a:r>
              <a:rPr lang="en-US" dirty="0"/>
              <a:t>containing </a:t>
            </a:r>
            <a:r>
              <a:rPr lang="en-US" sz="14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#BSUB </a:t>
            </a:r>
            <a:r>
              <a:rPr lang="en-US" dirty="0"/>
              <a:t>directives</a:t>
            </a:r>
          </a:p>
        </p:txBody>
      </p:sp>
      <p:pic>
        <p:nvPicPr>
          <p:cNvPr id="14" name="Picture 13">
            <a:extLst>
              <a:ext uri="{FF2B5EF4-FFF2-40B4-BE49-F238E27FC236}">
                <a16:creationId xmlns:a16="http://schemas.microsoft.com/office/drawing/2014/main" id="{B5AA787B-D4A9-3E45-7379-EB6D130DB63B}"/>
              </a:ext>
            </a:extLst>
          </p:cNvPr>
          <p:cNvPicPr>
            <a:picLocks noChangeAspect="1"/>
          </p:cNvPicPr>
          <p:nvPr/>
        </p:nvPicPr>
        <p:blipFill>
          <a:blip r:embed="rId3"/>
          <a:stretch>
            <a:fillRect/>
          </a:stretch>
        </p:blipFill>
        <p:spPr>
          <a:xfrm>
            <a:off x="982674" y="3797644"/>
            <a:ext cx="5259423" cy="1978880"/>
          </a:xfrm>
          <a:prstGeom prst="rect">
            <a:avLst/>
          </a:prstGeom>
        </p:spPr>
      </p:pic>
    </p:spTree>
    <p:extLst>
      <p:ext uri="{BB962C8B-B14F-4D97-AF65-F5344CB8AC3E}">
        <p14:creationId xmlns:p14="http://schemas.microsoft.com/office/powerpoint/2010/main" val="2263966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699C0-2454-2488-30E6-AA54BD76A39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FFE7E835-5FCF-1159-CC74-CEDD0AE2F404}"/>
              </a:ext>
            </a:extLst>
          </p:cNvPr>
          <p:cNvSpPr>
            <a:spLocks noGrp="1"/>
          </p:cNvSpPr>
          <p:nvPr>
            <p:ph type="title"/>
          </p:nvPr>
        </p:nvSpPr>
        <p:spPr>
          <a:xfrm>
            <a:off x="838200" y="365125"/>
            <a:ext cx="10515600" cy="1325563"/>
          </a:xfrm>
        </p:spPr>
        <p:txBody>
          <a:bodyPr/>
          <a:lstStyle/>
          <a:p>
            <a:r>
              <a:rPr lang="en-US" dirty="0"/>
              <a:t>Interactive jobs</a:t>
            </a:r>
          </a:p>
        </p:txBody>
      </p:sp>
      <p:sp>
        <p:nvSpPr>
          <p:cNvPr id="11" name="TextBox 10">
            <a:extLst>
              <a:ext uri="{FF2B5EF4-FFF2-40B4-BE49-F238E27FC236}">
                <a16:creationId xmlns:a16="http://schemas.microsoft.com/office/drawing/2014/main" id="{E59E3915-77BA-69D3-4E82-F50255089D39}"/>
              </a:ext>
            </a:extLst>
          </p:cNvPr>
          <p:cNvSpPr txBox="1"/>
          <p:nvPr/>
        </p:nvSpPr>
        <p:spPr>
          <a:xfrm>
            <a:off x="838200" y="1567512"/>
            <a:ext cx="10148350" cy="646331"/>
          </a:xfrm>
          <a:prstGeom prst="rect">
            <a:avLst/>
          </a:prstGeom>
          <a:noFill/>
        </p:spPr>
        <p:txBody>
          <a:bodyPr wrap="square">
            <a:spAutoFit/>
          </a:bodyPr>
          <a:lstStyle/>
          <a:p>
            <a:r>
              <a:rPr lang="en-US" dirty="0"/>
              <a:t>For quick testing, debugging, or running applications that require a graphical interface (GUI), you must request a temporary allocation on a compute node using an interactive job.</a:t>
            </a:r>
          </a:p>
        </p:txBody>
      </p:sp>
      <p:sp>
        <p:nvSpPr>
          <p:cNvPr id="3" name="TextBox 2">
            <a:extLst>
              <a:ext uri="{FF2B5EF4-FFF2-40B4-BE49-F238E27FC236}">
                <a16:creationId xmlns:a16="http://schemas.microsoft.com/office/drawing/2014/main" id="{C3E0AB0F-D76E-1DAA-B1F0-E51EEAE070BB}"/>
              </a:ext>
            </a:extLst>
          </p:cNvPr>
          <p:cNvSpPr txBox="1"/>
          <p:nvPr/>
        </p:nvSpPr>
        <p:spPr>
          <a:xfrm>
            <a:off x="953529" y="2757023"/>
            <a:ext cx="3330146" cy="369332"/>
          </a:xfrm>
          <a:prstGeom prst="rect">
            <a:avLst/>
          </a:prstGeom>
          <a:solidFill>
            <a:schemeClr val="bg1">
              <a:lumMod val="95000"/>
            </a:schemeClr>
          </a:solidFill>
        </p:spPr>
        <p:txBody>
          <a:bodyPr wrap="square">
            <a:spAutoFit/>
          </a:bodyPr>
          <a:lstStyle/>
          <a:p>
            <a:r>
              <a:rPr lang="en-US" b="0" i="0" dirty="0">
                <a:solidFill>
                  <a:srgbClr val="003B4F"/>
                </a:solidFill>
                <a:effectLst/>
                <a:latin typeface="SFMono-Regular"/>
              </a:rPr>
              <a:t>$ </a:t>
            </a:r>
            <a:r>
              <a:rPr lang="en-US" b="0" i="0" dirty="0" err="1">
                <a:solidFill>
                  <a:srgbClr val="003B4F"/>
                </a:solidFill>
                <a:effectLst/>
                <a:latin typeface="SFMono-Regular"/>
              </a:rPr>
              <a:t>bsub</a:t>
            </a:r>
            <a:r>
              <a:rPr lang="en-US" b="0" i="0" dirty="0">
                <a:solidFill>
                  <a:srgbClr val="003B4F"/>
                </a:solidFill>
                <a:effectLst/>
                <a:latin typeface="SFMono-Regular"/>
              </a:rPr>
              <a:t> </a:t>
            </a:r>
            <a:r>
              <a:rPr lang="en-US" b="0" i="0" dirty="0">
                <a:solidFill>
                  <a:srgbClr val="657422"/>
                </a:solidFill>
                <a:effectLst/>
                <a:latin typeface="SFMono-Regular"/>
              </a:rPr>
              <a:t>-Is</a:t>
            </a:r>
            <a:r>
              <a:rPr lang="en-US" b="0" i="0" dirty="0">
                <a:solidFill>
                  <a:srgbClr val="003B4F"/>
                </a:solidFill>
                <a:effectLst/>
                <a:latin typeface="SFMono-Regular"/>
              </a:rPr>
              <a:t> </a:t>
            </a:r>
            <a:r>
              <a:rPr lang="en-US" b="0" i="0" dirty="0">
                <a:solidFill>
                  <a:srgbClr val="657422"/>
                </a:solidFill>
                <a:effectLst/>
                <a:latin typeface="SFMono-Regular"/>
              </a:rPr>
              <a:t>-n</a:t>
            </a:r>
            <a:r>
              <a:rPr lang="en-US" b="0" i="0" dirty="0">
                <a:solidFill>
                  <a:srgbClr val="003B4F"/>
                </a:solidFill>
                <a:effectLst/>
                <a:latin typeface="SFMono-Regular"/>
              </a:rPr>
              <a:t> 1 </a:t>
            </a:r>
            <a:r>
              <a:rPr lang="en-US" b="0" i="0" dirty="0">
                <a:solidFill>
                  <a:srgbClr val="657422"/>
                </a:solidFill>
                <a:effectLst/>
                <a:latin typeface="SFMono-Regular"/>
              </a:rPr>
              <a:t>-W</a:t>
            </a:r>
            <a:r>
              <a:rPr lang="en-US" b="0" i="0" dirty="0">
                <a:solidFill>
                  <a:srgbClr val="003B4F"/>
                </a:solidFill>
                <a:effectLst/>
                <a:latin typeface="SFMono-Regular"/>
              </a:rPr>
              <a:t> 10 bash</a:t>
            </a:r>
            <a:endParaRPr lang="en-US" dirty="0"/>
          </a:p>
        </p:txBody>
      </p:sp>
      <p:graphicFrame>
        <p:nvGraphicFramePr>
          <p:cNvPr id="4" name="Table 3">
            <a:extLst>
              <a:ext uri="{FF2B5EF4-FFF2-40B4-BE49-F238E27FC236}">
                <a16:creationId xmlns:a16="http://schemas.microsoft.com/office/drawing/2014/main" id="{855F0A74-37FC-A1E0-0086-9864FA8125F9}"/>
              </a:ext>
            </a:extLst>
          </p:cNvPr>
          <p:cNvGraphicFramePr>
            <a:graphicFrameLocks noGrp="1"/>
          </p:cNvGraphicFramePr>
          <p:nvPr>
            <p:extLst>
              <p:ext uri="{D42A27DB-BD31-4B8C-83A1-F6EECF244321}">
                <p14:modId xmlns:p14="http://schemas.microsoft.com/office/powerpoint/2010/main" val="2433882797"/>
              </p:ext>
            </p:extLst>
          </p:nvPr>
        </p:nvGraphicFramePr>
        <p:xfrm>
          <a:off x="953529" y="3461688"/>
          <a:ext cx="4747054" cy="1828800"/>
        </p:xfrm>
        <a:graphic>
          <a:graphicData uri="http://schemas.openxmlformats.org/drawingml/2006/table">
            <a:tbl>
              <a:tblPr>
                <a:tableStyleId>{5940675A-B579-460E-94D1-54222C63F5DA}</a:tableStyleId>
              </a:tblPr>
              <a:tblGrid>
                <a:gridCol w="801130">
                  <a:extLst>
                    <a:ext uri="{9D8B030D-6E8A-4147-A177-3AD203B41FA5}">
                      <a16:colId xmlns:a16="http://schemas.microsoft.com/office/drawing/2014/main" val="4025928815"/>
                    </a:ext>
                  </a:extLst>
                </a:gridCol>
                <a:gridCol w="3945924">
                  <a:extLst>
                    <a:ext uri="{9D8B030D-6E8A-4147-A177-3AD203B41FA5}">
                      <a16:colId xmlns:a16="http://schemas.microsoft.com/office/drawing/2014/main" val="288006986"/>
                    </a:ext>
                  </a:extLst>
                </a:gridCol>
              </a:tblGrid>
              <a:tr h="0">
                <a:tc>
                  <a:txBody>
                    <a:bodyPr/>
                    <a:lstStyle/>
                    <a:p>
                      <a:pPr algn="l">
                        <a:buNone/>
                      </a:pPr>
                      <a:r>
                        <a:rPr lang="en-US" sz="1400" b="1" dirty="0">
                          <a:effectLst/>
                        </a:rPr>
                        <a:t>Option</a:t>
                      </a:r>
                      <a:endParaRPr lang="en-US" sz="1400" b="1" dirty="0">
                        <a:effectLst/>
                        <a:latin typeface="+mn-lt"/>
                      </a:endParaRPr>
                    </a:p>
                  </a:txBody>
                  <a:tcPr/>
                </a:tc>
                <a:tc>
                  <a:txBody>
                    <a:bodyPr/>
                    <a:lstStyle/>
                    <a:p>
                      <a:pPr algn="l">
                        <a:buNone/>
                      </a:pPr>
                      <a:r>
                        <a:rPr lang="en-US" sz="1400" b="1" dirty="0">
                          <a:effectLst/>
                        </a:rPr>
                        <a:t>Meaning</a:t>
                      </a:r>
                      <a:endParaRPr lang="en-US" sz="1400" b="1" dirty="0">
                        <a:effectLst/>
                        <a:latin typeface="+mn-lt"/>
                      </a:endParaRPr>
                    </a:p>
                  </a:txBody>
                  <a:tcPr/>
                </a:tc>
                <a:extLst>
                  <a:ext uri="{0D108BD9-81ED-4DB2-BD59-A6C34878D82A}">
                    <a16:rowId xmlns:a16="http://schemas.microsoft.com/office/drawing/2014/main" val="1378608204"/>
                  </a:ext>
                </a:extLst>
              </a:tr>
              <a:tr h="0">
                <a:tc>
                  <a:txBody>
                    <a:bodyPr/>
                    <a:lstStyle/>
                    <a:p>
                      <a:pPr algn="l">
                        <a:buNone/>
                      </a:pPr>
                      <a:r>
                        <a:rPr lang="en-US" sz="1400" b="0" dirty="0">
                          <a:solidFill>
                            <a:schemeClr val="accent6"/>
                          </a:solidFill>
                          <a:effectLst/>
                        </a:rPr>
                        <a:t>-I</a:t>
                      </a:r>
                      <a:endParaRPr lang="en-US" sz="1400" dirty="0">
                        <a:solidFill>
                          <a:schemeClr val="accent6"/>
                        </a:solidFill>
                        <a:effectLst/>
                        <a:latin typeface="+mn-lt"/>
                      </a:endParaRPr>
                    </a:p>
                  </a:txBody>
                  <a:tcPr/>
                </a:tc>
                <a:tc>
                  <a:txBody>
                    <a:bodyPr/>
                    <a:lstStyle/>
                    <a:p>
                      <a:pPr algn="l">
                        <a:buNone/>
                      </a:pPr>
                      <a:r>
                        <a:rPr lang="en-US" sz="1400">
                          <a:effectLst/>
                        </a:rPr>
                        <a:t>Requests an </a:t>
                      </a:r>
                      <a:r>
                        <a:rPr lang="en-US" sz="1400" b="1">
                          <a:effectLst/>
                        </a:rPr>
                        <a:t>interactive</a:t>
                      </a:r>
                      <a:r>
                        <a:rPr lang="en-US" sz="1400">
                          <a:effectLst/>
                        </a:rPr>
                        <a:t> session.</a:t>
                      </a:r>
                      <a:endParaRPr lang="en-US" sz="1400">
                        <a:effectLst/>
                        <a:latin typeface="+mn-lt"/>
                      </a:endParaRPr>
                    </a:p>
                  </a:txBody>
                  <a:tcPr/>
                </a:tc>
                <a:extLst>
                  <a:ext uri="{0D108BD9-81ED-4DB2-BD59-A6C34878D82A}">
                    <a16:rowId xmlns:a16="http://schemas.microsoft.com/office/drawing/2014/main" val="1594914945"/>
                  </a:ext>
                </a:extLst>
              </a:tr>
              <a:tr h="0">
                <a:tc>
                  <a:txBody>
                    <a:bodyPr/>
                    <a:lstStyle/>
                    <a:p>
                      <a:pPr algn="l">
                        <a:buNone/>
                      </a:pPr>
                      <a:r>
                        <a:rPr lang="en-US" sz="1400" b="0" dirty="0">
                          <a:solidFill>
                            <a:schemeClr val="accent6"/>
                          </a:solidFill>
                          <a:effectLst/>
                        </a:rPr>
                        <a:t>-s</a:t>
                      </a:r>
                      <a:endParaRPr lang="en-US" sz="1400" dirty="0">
                        <a:solidFill>
                          <a:schemeClr val="accent6"/>
                        </a:solidFill>
                        <a:effectLst/>
                        <a:latin typeface="+mn-lt"/>
                      </a:endParaRPr>
                    </a:p>
                  </a:txBody>
                  <a:tcPr/>
                </a:tc>
                <a:tc>
                  <a:txBody>
                    <a:bodyPr/>
                    <a:lstStyle/>
                    <a:p>
                      <a:pPr algn="l">
                        <a:buNone/>
                      </a:pPr>
                      <a:r>
                        <a:rPr lang="en-US" sz="1400" dirty="0">
                          <a:effectLst/>
                        </a:rPr>
                        <a:t>Sends a </a:t>
                      </a:r>
                      <a:r>
                        <a:rPr lang="en-US" sz="1400" b="1" dirty="0">
                          <a:effectLst/>
                        </a:rPr>
                        <a:t>signal</a:t>
                      </a:r>
                      <a:r>
                        <a:rPr lang="en-US" sz="1400" dirty="0">
                          <a:effectLst/>
                        </a:rPr>
                        <a:t> to the job shell upon termination.</a:t>
                      </a:r>
                      <a:endParaRPr lang="en-US" sz="1400" dirty="0">
                        <a:effectLst/>
                        <a:latin typeface="+mn-lt"/>
                      </a:endParaRPr>
                    </a:p>
                  </a:txBody>
                  <a:tcPr/>
                </a:tc>
                <a:extLst>
                  <a:ext uri="{0D108BD9-81ED-4DB2-BD59-A6C34878D82A}">
                    <a16:rowId xmlns:a16="http://schemas.microsoft.com/office/drawing/2014/main" val="2526338493"/>
                  </a:ext>
                </a:extLst>
              </a:tr>
              <a:tr h="0">
                <a:tc>
                  <a:txBody>
                    <a:bodyPr/>
                    <a:lstStyle/>
                    <a:p>
                      <a:pPr algn="l">
                        <a:buNone/>
                      </a:pPr>
                      <a:r>
                        <a:rPr lang="en-US" sz="1400" b="0">
                          <a:solidFill>
                            <a:schemeClr val="accent6"/>
                          </a:solidFill>
                          <a:effectLst/>
                        </a:rPr>
                        <a:t>-n 1</a:t>
                      </a:r>
                      <a:endParaRPr lang="en-US" sz="1400">
                        <a:solidFill>
                          <a:schemeClr val="accent6"/>
                        </a:solidFill>
                        <a:effectLst/>
                        <a:latin typeface="+mn-lt"/>
                      </a:endParaRPr>
                    </a:p>
                  </a:txBody>
                  <a:tcPr/>
                </a:tc>
                <a:tc>
                  <a:txBody>
                    <a:bodyPr/>
                    <a:lstStyle/>
                    <a:p>
                      <a:pPr algn="l">
                        <a:buNone/>
                      </a:pPr>
                      <a:r>
                        <a:rPr lang="en-US" sz="1400">
                          <a:effectLst/>
                        </a:rPr>
                        <a:t>Requests </a:t>
                      </a:r>
                      <a:r>
                        <a:rPr lang="en-US" sz="1400" b="1">
                          <a:effectLst/>
                        </a:rPr>
                        <a:t>1 CPU core</a:t>
                      </a:r>
                      <a:r>
                        <a:rPr lang="en-US" sz="1400">
                          <a:effectLst/>
                        </a:rPr>
                        <a:t>.</a:t>
                      </a:r>
                      <a:endParaRPr lang="en-US" sz="1400">
                        <a:effectLst/>
                        <a:latin typeface="+mn-lt"/>
                      </a:endParaRPr>
                    </a:p>
                  </a:txBody>
                  <a:tcPr/>
                </a:tc>
                <a:extLst>
                  <a:ext uri="{0D108BD9-81ED-4DB2-BD59-A6C34878D82A}">
                    <a16:rowId xmlns:a16="http://schemas.microsoft.com/office/drawing/2014/main" val="3209910700"/>
                  </a:ext>
                </a:extLst>
              </a:tr>
              <a:tr h="0">
                <a:tc>
                  <a:txBody>
                    <a:bodyPr/>
                    <a:lstStyle/>
                    <a:p>
                      <a:pPr algn="l">
                        <a:buNone/>
                      </a:pPr>
                      <a:r>
                        <a:rPr lang="en-US" sz="1400" b="0">
                          <a:solidFill>
                            <a:schemeClr val="accent6"/>
                          </a:solidFill>
                          <a:effectLst/>
                        </a:rPr>
                        <a:t>-W 10</a:t>
                      </a:r>
                      <a:endParaRPr lang="en-US" sz="1400">
                        <a:solidFill>
                          <a:schemeClr val="accent6"/>
                        </a:solidFill>
                        <a:effectLst/>
                        <a:latin typeface="+mn-lt"/>
                      </a:endParaRPr>
                    </a:p>
                  </a:txBody>
                  <a:tcPr/>
                </a:tc>
                <a:tc>
                  <a:txBody>
                    <a:bodyPr/>
                    <a:lstStyle/>
                    <a:p>
                      <a:pPr algn="l">
                        <a:buNone/>
                      </a:pPr>
                      <a:r>
                        <a:rPr lang="en-US" sz="1400" dirty="0">
                          <a:effectLst/>
                        </a:rPr>
                        <a:t>Requests </a:t>
                      </a:r>
                      <a:r>
                        <a:rPr lang="en-US" sz="1400" b="1" dirty="0">
                          <a:effectLst/>
                        </a:rPr>
                        <a:t>10 minutes</a:t>
                      </a:r>
                      <a:r>
                        <a:rPr lang="en-US" sz="1400" dirty="0">
                          <a:effectLst/>
                        </a:rPr>
                        <a:t> of wall-clock time.</a:t>
                      </a:r>
                      <a:endParaRPr lang="en-US" sz="1400" dirty="0">
                        <a:effectLst/>
                        <a:latin typeface="+mn-lt"/>
                      </a:endParaRPr>
                    </a:p>
                  </a:txBody>
                  <a:tcPr/>
                </a:tc>
                <a:extLst>
                  <a:ext uri="{0D108BD9-81ED-4DB2-BD59-A6C34878D82A}">
                    <a16:rowId xmlns:a16="http://schemas.microsoft.com/office/drawing/2014/main" val="2710503718"/>
                  </a:ext>
                </a:extLst>
              </a:tr>
              <a:tr h="0">
                <a:tc>
                  <a:txBody>
                    <a:bodyPr/>
                    <a:lstStyle/>
                    <a:p>
                      <a:pPr algn="l">
                        <a:buNone/>
                      </a:pPr>
                      <a:r>
                        <a:rPr lang="en-US" sz="1400" b="0" dirty="0">
                          <a:solidFill>
                            <a:schemeClr val="accent6"/>
                          </a:solidFill>
                          <a:effectLst/>
                        </a:rPr>
                        <a:t>bash</a:t>
                      </a:r>
                      <a:endParaRPr lang="en-US" sz="1400" dirty="0">
                        <a:solidFill>
                          <a:schemeClr val="accent6"/>
                        </a:solidFill>
                        <a:effectLst/>
                        <a:latin typeface="+mn-lt"/>
                      </a:endParaRPr>
                    </a:p>
                  </a:txBody>
                  <a:tcPr/>
                </a:tc>
                <a:tc>
                  <a:txBody>
                    <a:bodyPr/>
                    <a:lstStyle/>
                    <a:p>
                      <a:pPr algn="l">
                        <a:buNone/>
                      </a:pPr>
                      <a:r>
                        <a:rPr lang="en-US" sz="1400" dirty="0">
                          <a:effectLst/>
                        </a:rPr>
                        <a:t>The shell to run on the allocated node.</a:t>
                      </a:r>
                      <a:endParaRPr lang="en-US" sz="1400" dirty="0">
                        <a:effectLst/>
                        <a:latin typeface="+mn-lt"/>
                      </a:endParaRPr>
                    </a:p>
                  </a:txBody>
                  <a:tcPr/>
                </a:tc>
                <a:extLst>
                  <a:ext uri="{0D108BD9-81ED-4DB2-BD59-A6C34878D82A}">
                    <a16:rowId xmlns:a16="http://schemas.microsoft.com/office/drawing/2014/main" val="391249382"/>
                  </a:ext>
                </a:extLst>
              </a:tr>
            </a:tbl>
          </a:graphicData>
        </a:graphic>
      </p:graphicFrame>
      <p:pic>
        <p:nvPicPr>
          <p:cNvPr id="4098" name="Picture 2" descr="Testing vs Debugging: What are the differences? - QA world">
            <a:extLst>
              <a:ext uri="{FF2B5EF4-FFF2-40B4-BE49-F238E27FC236}">
                <a16:creationId xmlns:a16="http://schemas.microsoft.com/office/drawing/2014/main" id="{E75E751B-3E24-EFC1-D9EC-3D47DB462A9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324" r="23581"/>
          <a:stretch>
            <a:fillRect/>
          </a:stretch>
        </p:blipFill>
        <p:spPr bwMode="auto">
          <a:xfrm>
            <a:off x="7656404" y="2663214"/>
            <a:ext cx="3440691" cy="34674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53136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3B04F-DF16-4003-E8D0-F498A7D6B1E2}"/>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5A87AD02-5A84-835F-17F2-DE0A1628E928}"/>
              </a:ext>
            </a:extLst>
          </p:cNvPr>
          <p:cNvSpPr>
            <a:spLocks noGrp="1"/>
          </p:cNvSpPr>
          <p:nvPr>
            <p:ph type="title"/>
          </p:nvPr>
        </p:nvSpPr>
        <p:spPr>
          <a:xfrm>
            <a:off x="838200" y="365125"/>
            <a:ext cx="10515600" cy="1325563"/>
          </a:xfrm>
        </p:spPr>
        <p:txBody>
          <a:bodyPr/>
          <a:lstStyle/>
          <a:p>
            <a:r>
              <a:rPr lang="en-US" dirty="0"/>
              <a:t>Let’s try it!</a:t>
            </a:r>
          </a:p>
        </p:txBody>
      </p:sp>
      <p:sp>
        <p:nvSpPr>
          <p:cNvPr id="3" name="TextBox 2">
            <a:extLst>
              <a:ext uri="{FF2B5EF4-FFF2-40B4-BE49-F238E27FC236}">
                <a16:creationId xmlns:a16="http://schemas.microsoft.com/office/drawing/2014/main" id="{396D7AF8-2840-09A6-96D7-24C54DEBC637}"/>
              </a:ext>
            </a:extLst>
          </p:cNvPr>
          <p:cNvSpPr txBox="1"/>
          <p:nvPr/>
        </p:nvSpPr>
        <p:spPr>
          <a:xfrm>
            <a:off x="1175950" y="2779683"/>
            <a:ext cx="3330146" cy="369332"/>
          </a:xfrm>
          <a:prstGeom prst="rect">
            <a:avLst/>
          </a:prstGeom>
          <a:solidFill>
            <a:schemeClr val="bg1">
              <a:lumMod val="95000"/>
            </a:schemeClr>
          </a:solidFill>
        </p:spPr>
        <p:txBody>
          <a:bodyPr wrap="square">
            <a:spAutoFit/>
          </a:bodyPr>
          <a:lstStyle/>
          <a:p>
            <a:r>
              <a:rPr lang="en-US" b="0" i="0" dirty="0">
                <a:solidFill>
                  <a:srgbClr val="003B4F"/>
                </a:solidFill>
                <a:effectLst/>
                <a:latin typeface="SFMono-Regular"/>
              </a:rPr>
              <a:t>$ </a:t>
            </a:r>
            <a:r>
              <a:rPr lang="en-US" b="0" i="0" dirty="0" err="1">
                <a:solidFill>
                  <a:srgbClr val="003B4F"/>
                </a:solidFill>
                <a:effectLst/>
                <a:latin typeface="SFMono-Regular"/>
              </a:rPr>
              <a:t>bsub</a:t>
            </a:r>
            <a:r>
              <a:rPr lang="en-US" b="0" i="0" dirty="0">
                <a:solidFill>
                  <a:srgbClr val="003B4F"/>
                </a:solidFill>
                <a:effectLst/>
                <a:latin typeface="SFMono-Regular"/>
              </a:rPr>
              <a:t> </a:t>
            </a:r>
            <a:r>
              <a:rPr lang="en-US" b="0" i="0" dirty="0">
                <a:solidFill>
                  <a:srgbClr val="657422"/>
                </a:solidFill>
                <a:effectLst/>
                <a:latin typeface="SFMono-Regular"/>
              </a:rPr>
              <a:t>-Is</a:t>
            </a:r>
            <a:r>
              <a:rPr lang="en-US" b="0" i="0" dirty="0">
                <a:solidFill>
                  <a:srgbClr val="003B4F"/>
                </a:solidFill>
                <a:effectLst/>
                <a:latin typeface="SFMono-Regular"/>
              </a:rPr>
              <a:t> </a:t>
            </a:r>
            <a:r>
              <a:rPr lang="en-US" b="0" i="0" dirty="0">
                <a:solidFill>
                  <a:srgbClr val="657422"/>
                </a:solidFill>
                <a:effectLst/>
                <a:latin typeface="SFMono-Regular"/>
              </a:rPr>
              <a:t>-n</a:t>
            </a:r>
            <a:r>
              <a:rPr lang="en-US" b="0" i="0" dirty="0">
                <a:solidFill>
                  <a:srgbClr val="003B4F"/>
                </a:solidFill>
                <a:effectLst/>
                <a:latin typeface="SFMono-Regular"/>
              </a:rPr>
              <a:t> 1 </a:t>
            </a:r>
            <a:r>
              <a:rPr lang="en-US" b="0" i="0" dirty="0">
                <a:solidFill>
                  <a:srgbClr val="657422"/>
                </a:solidFill>
                <a:effectLst/>
                <a:latin typeface="SFMono-Regular"/>
              </a:rPr>
              <a:t>-W</a:t>
            </a:r>
            <a:r>
              <a:rPr lang="en-US" b="0" i="0" dirty="0">
                <a:solidFill>
                  <a:srgbClr val="003B4F"/>
                </a:solidFill>
                <a:effectLst/>
                <a:latin typeface="SFMono-Regular"/>
              </a:rPr>
              <a:t> 10 bash</a:t>
            </a:r>
            <a:endParaRPr lang="en-US" dirty="0"/>
          </a:p>
        </p:txBody>
      </p:sp>
      <p:sp>
        <p:nvSpPr>
          <p:cNvPr id="2" name="TextBox 1">
            <a:extLst>
              <a:ext uri="{FF2B5EF4-FFF2-40B4-BE49-F238E27FC236}">
                <a16:creationId xmlns:a16="http://schemas.microsoft.com/office/drawing/2014/main" id="{A28D0F35-9E40-3ADE-E110-DD48ED57766F}"/>
              </a:ext>
            </a:extLst>
          </p:cNvPr>
          <p:cNvSpPr txBox="1"/>
          <p:nvPr/>
        </p:nvSpPr>
        <p:spPr>
          <a:xfrm>
            <a:off x="988541" y="2084173"/>
            <a:ext cx="8118184" cy="369332"/>
          </a:xfrm>
          <a:prstGeom prst="rect">
            <a:avLst/>
          </a:prstGeom>
          <a:noFill/>
        </p:spPr>
        <p:txBody>
          <a:bodyPr wrap="none" rtlCol="0">
            <a:spAutoFit/>
          </a:bodyPr>
          <a:lstStyle/>
          <a:p>
            <a:r>
              <a:rPr lang="en-US" dirty="0"/>
              <a:t>Try running the following command! Do you see any changes to your command line?</a:t>
            </a:r>
          </a:p>
        </p:txBody>
      </p:sp>
      <p:pic>
        <p:nvPicPr>
          <p:cNvPr id="5" name="Picture 6" descr="coding Symbol mark in filled style 47628836 Vector Art at Vecteezy">
            <a:extLst>
              <a:ext uri="{FF2B5EF4-FFF2-40B4-BE49-F238E27FC236}">
                <a16:creationId xmlns:a16="http://schemas.microsoft.com/office/drawing/2014/main" id="{27D529D6-6844-BD60-96D9-7C8EC525843E}"/>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3937686" y="548680"/>
            <a:ext cx="953942" cy="9539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29023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EBDF1-A321-EC93-6DFB-0F323A543F2E}"/>
            </a:ext>
          </a:extLst>
        </p:cNvPr>
        <p:cNvGrpSpPr/>
        <p:nvPr/>
      </p:nvGrpSpPr>
      <p:grpSpPr>
        <a:xfrm>
          <a:off x="0" y="0"/>
          <a:ext cx="0" cy="0"/>
          <a:chOff x="0" y="0"/>
          <a:chExt cx="0" cy="0"/>
        </a:xfrm>
      </p:grpSpPr>
      <p:pic>
        <p:nvPicPr>
          <p:cNvPr id="31" name="Picture 30">
            <a:extLst>
              <a:ext uri="{FF2B5EF4-FFF2-40B4-BE49-F238E27FC236}">
                <a16:creationId xmlns:a16="http://schemas.microsoft.com/office/drawing/2014/main" id="{5A34706B-9873-9C15-5E17-BBB9D89AC4C7}"/>
              </a:ext>
            </a:extLst>
          </p:cNvPr>
          <p:cNvPicPr>
            <a:picLocks noChangeAspect="1"/>
          </p:cNvPicPr>
          <p:nvPr/>
        </p:nvPicPr>
        <p:blipFill>
          <a:blip r:embed="rId3"/>
          <a:stretch>
            <a:fillRect/>
          </a:stretch>
        </p:blipFill>
        <p:spPr>
          <a:xfrm>
            <a:off x="5778761" y="1726212"/>
            <a:ext cx="5432936" cy="2933408"/>
          </a:xfrm>
          <a:prstGeom prst="rect">
            <a:avLst/>
          </a:prstGeom>
        </p:spPr>
      </p:pic>
      <p:sp>
        <p:nvSpPr>
          <p:cNvPr id="9" name="Title 1">
            <a:extLst>
              <a:ext uri="{FF2B5EF4-FFF2-40B4-BE49-F238E27FC236}">
                <a16:creationId xmlns:a16="http://schemas.microsoft.com/office/drawing/2014/main" id="{B0841BF9-15DB-09C4-E40C-0D36F5D4A2B8}"/>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2" name="Rectangle 1">
            <a:extLst>
              <a:ext uri="{FF2B5EF4-FFF2-40B4-BE49-F238E27FC236}">
                <a16:creationId xmlns:a16="http://schemas.microsoft.com/office/drawing/2014/main" id="{2411A7E0-B496-91B7-5A84-B6555CD54775}"/>
              </a:ext>
            </a:extLst>
          </p:cNvPr>
          <p:cNvSpPr/>
          <p:nvPr/>
        </p:nvSpPr>
        <p:spPr>
          <a:xfrm>
            <a:off x="839779" y="1778965"/>
            <a:ext cx="3497283" cy="473231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9FA01DE4-39DF-A97F-3CB3-56B779AE9643}"/>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program.lsf</a:t>
            </a:r>
            <a:r>
              <a:rPr lang="en-US" dirty="0"/>
              <a:t>)</a:t>
            </a:r>
          </a:p>
        </p:txBody>
      </p:sp>
      <p:sp>
        <p:nvSpPr>
          <p:cNvPr id="4" name="Rectangle 3">
            <a:extLst>
              <a:ext uri="{FF2B5EF4-FFF2-40B4-BE49-F238E27FC236}">
                <a16:creationId xmlns:a16="http://schemas.microsoft.com/office/drawing/2014/main" id="{9345ECB8-0933-4D9E-E457-9B93CD4B024E}"/>
              </a:ext>
            </a:extLst>
          </p:cNvPr>
          <p:cNvSpPr/>
          <p:nvPr/>
        </p:nvSpPr>
        <p:spPr>
          <a:xfrm>
            <a:off x="899155" y="1856155"/>
            <a:ext cx="3390405" cy="196833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Instructions for scheduler</a:t>
            </a:r>
          </a:p>
        </p:txBody>
      </p:sp>
      <p:sp>
        <p:nvSpPr>
          <p:cNvPr id="5" name="Rectangle 4">
            <a:extLst>
              <a:ext uri="{FF2B5EF4-FFF2-40B4-BE49-F238E27FC236}">
                <a16:creationId xmlns:a16="http://schemas.microsoft.com/office/drawing/2014/main" id="{318BE3F9-39C0-A7C8-ACAE-E5E01587CDE9}"/>
              </a:ext>
            </a:extLst>
          </p:cNvPr>
          <p:cNvSpPr/>
          <p:nvPr/>
        </p:nvSpPr>
        <p:spPr>
          <a:xfrm>
            <a:off x="899155" y="3886835"/>
            <a:ext cx="3390405" cy="254132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Task to be run</a:t>
            </a:r>
          </a:p>
        </p:txBody>
      </p:sp>
      <p:cxnSp>
        <p:nvCxnSpPr>
          <p:cNvPr id="7" name="Straight Connector 6">
            <a:extLst>
              <a:ext uri="{FF2B5EF4-FFF2-40B4-BE49-F238E27FC236}">
                <a16:creationId xmlns:a16="http://schemas.microsoft.com/office/drawing/2014/main" id="{53F57868-B6A5-802E-1F46-10D7F2413691}"/>
              </a:ext>
            </a:extLst>
          </p:cNvPr>
          <p:cNvCxnSpPr>
            <a:cxnSpLocks/>
          </p:cNvCxnSpPr>
          <p:nvPr/>
        </p:nvCxnSpPr>
        <p:spPr>
          <a:xfrm flipV="1">
            <a:off x="4289560" y="1729283"/>
            <a:ext cx="1509878" cy="126872"/>
          </a:xfrm>
          <a:prstGeom prst="line">
            <a:avLst/>
          </a:prstGeom>
          <a:ln w="28575">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1495FDF-D157-041A-9B35-026B5EE892EB}"/>
              </a:ext>
            </a:extLst>
          </p:cNvPr>
          <p:cNvCxnSpPr>
            <a:cxnSpLocks/>
          </p:cNvCxnSpPr>
          <p:nvPr/>
        </p:nvCxnSpPr>
        <p:spPr>
          <a:xfrm>
            <a:off x="4289560" y="3824490"/>
            <a:ext cx="1509878" cy="822032"/>
          </a:xfrm>
          <a:prstGeom prst="line">
            <a:avLst/>
          </a:prstGeom>
          <a:ln w="28575">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C8DBA9D3-4710-1F95-5B2D-29687F7B4B4A}"/>
              </a:ext>
            </a:extLst>
          </p:cNvPr>
          <p:cNvSpPr/>
          <p:nvPr/>
        </p:nvSpPr>
        <p:spPr>
          <a:xfrm>
            <a:off x="5408140" y="1911809"/>
            <a:ext cx="4431957" cy="984167"/>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DCD198A-2D15-C80E-55FC-0F4520791BEA}"/>
              </a:ext>
            </a:extLst>
          </p:cNvPr>
          <p:cNvSpPr/>
          <p:nvPr/>
        </p:nvSpPr>
        <p:spPr>
          <a:xfrm>
            <a:off x="5778761" y="1600947"/>
            <a:ext cx="950901" cy="369332"/>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C817B06-6057-8C19-8632-84F470C33F56}"/>
              </a:ext>
            </a:extLst>
          </p:cNvPr>
          <p:cNvSpPr txBox="1"/>
          <p:nvPr/>
        </p:nvSpPr>
        <p:spPr>
          <a:xfrm>
            <a:off x="6845643" y="1247251"/>
            <a:ext cx="4239559" cy="369332"/>
          </a:xfrm>
          <a:prstGeom prst="rect">
            <a:avLst/>
          </a:prstGeom>
          <a:noFill/>
        </p:spPr>
        <p:txBody>
          <a:bodyPr wrap="none" rtlCol="0">
            <a:spAutoFit/>
          </a:bodyPr>
          <a:lstStyle/>
          <a:p>
            <a:r>
              <a:rPr lang="en-US" dirty="0">
                <a:solidFill>
                  <a:schemeClr val="accent2">
                    <a:lumMod val="75000"/>
                  </a:schemeClr>
                </a:solidFill>
              </a:rPr>
              <a:t>shebang! – “computer use this interpreter”</a:t>
            </a:r>
          </a:p>
        </p:txBody>
      </p:sp>
      <p:sp>
        <p:nvSpPr>
          <p:cNvPr id="25" name="TextBox 24">
            <a:extLst>
              <a:ext uri="{FF2B5EF4-FFF2-40B4-BE49-F238E27FC236}">
                <a16:creationId xmlns:a16="http://schemas.microsoft.com/office/drawing/2014/main" id="{29CA82C3-1CCF-D2C2-5780-0BFFD3271D69}"/>
              </a:ext>
            </a:extLst>
          </p:cNvPr>
          <p:cNvSpPr txBox="1"/>
          <p:nvPr/>
        </p:nvSpPr>
        <p:spPr>
          <a:xfrm>
            <a:off x="9878358" y="2079765"/>
            <a:ext cx="2306722" cy="646331"/>
          </a:xfrm>
          <a:prstGeom prst="rect">
            <a:avLst/>
          </a:prstGeom>
          <a:noFill/>
        </p:spPr>
        <p:txBody>
          <a:bodyPr wrap="none" rtlCol="0">
            <a:spAutoFit/>
          </a:bodyPr>
          <a:lstStyle/>
          <a:p>
            <a:r>
              <a:rPr lang="en-US" dirty="0">
                <a:solidFill>
                  <a:schemeClr val="accent2">
                    <a:lumMod val="75000"/>
                  </a:schemeClr>
                </a:solidFill>
              </a:rPr>
              <a:t>Information about job </a:t>
            </a:r>
          </a:p>
          <a:p>
            <a:r>
              <a:rPr lang="en-US" dirty="0">
                <a:solidFill>
                  <a:schemeClr val="accent2">
                    <a:lumMod val="75000"/>
                  </a:schemeClr>
                </a:solidFill>
              </a:rPr>
              <a:t>(for future you)</a:t>
            </a:r>
          </a:p>
        </p:txBody>
      </p:sp>
      <p:sp>
        <p:nvSpPr>
          <p:cNvPr id="26" name="Oval 25">
            <a:extLst>
              <a:ext uri="{FF2B5EF4-FFF2-40B4-BE49-F238E27FC236}">
                <a16:creationId xmlns:a16="http://schemas.microsoft.com/office/drawing/2014/main" id="{F1C32AF8-BFF7-D579-FB5E-8651234494FE}"/>
              </a:ext>
            </a:extLst>
          </p:cNvPr>
          <p:cNvSpPr/>
          <p:nvPr/>
        </p:nvSpPr>
        <p:spPr>
          <a:xfrm>
            <a:off x="5547433" y="3117097"/>
            <a:ext cx="2249112" cy="1625814"/>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91B0C5F7-09E3-F575-E02B-3D93D6F8D047}"/>
              </a:ext>
            </a:extLst>
          </p:cNvPr>
          <p:cNvSpPr txBox="1"/>
          <p:nvPr/>
        </p:nvSpPr>
        <p:spPr>
          <a:xfrm>
            <a:off x="7258365" y="4594700"/>
            <a:ext cx="2581732" cy="369332"/>
          </a:xfrm>
          <a:prstGeom prst="rect">
            <a:avLst/>
          </a:prstGeom>
          <a:noFill/>
        </p:spPr>
        <p:txBody>
          <a:bodyPr wrap="none" rtlCol="0">
            <a:spAutoFit/>
          </a:bodyPr>
          <a:lstStyle/>
          <a:p>
            <a:r>
              <a:rPr lang="en-US" dirty="0">
                <a:solidFill>
                  <a:schemeClr val="accent2">
                    <a:lumMod val="75000"/>
                  </a:schemeClr>
                </a:solidFill>
              </a:rPr>
              <a:t>Instructions for scheduler</a:t>
            </a:r>
          </a:p>
        </p:txBody>
      </p:sp>
      <p:sp>
        <p:nvSpPr>
          <p:cNvPr id="28" name="TextBox 27">
            <a:extLst>
              <a:ext uri="{FF2B5EF4-FFF2-40B4-BE49-F238E27FC236}">
                <a16:creationId xmlns:a16="http://schemas.microsoft.com/office/drawing/2014/main" id="{5B9661C9-3E26-0DD9-DC9D-60F6EA4E2628}"/>
              </a:ext>
            </a:extLst>
          </p:cNvPr>
          <p:cNvSpPr txBox="1"/>
          <p:nvPr/>
        </p:nvSpPr>
        <p:spPr>
          <a:xfrm>
            <a:off x="5665988" y="5338445"/>
            <a:ext cx="4753353" cy="369332"/>
          </a:xfrm>
          <a:prstGeom prst="rect">
            <a:avLst/>
          </a:prstGeom>
          <a:noFill/>
        </p:spPr>
        <p:txBody>
          <a:bodyPr wrap="none" rtlCol="0">
            <a:spAutoFit/>
          </a:bodyPr>
          <a:lstStyle/>
          <a:p>
            <a:r>
              <a:rPr lang="en-US" dirty="0"/>
              <a:t>In LSF </a:t>
            </a:r>
            <a:r>
              <a:rPr lang="en-US" b="1" dirty="0">
                <a:solidFill>
                  <a:schemeClr val="accent2">
                    <a:lumMod val="75000"/>
                  </a:schemeClr>
                </a:solidFill>
              </a:rPr>
              <a:t>–R </a:t>
            </a:r>
            <a:r>
              <a:rPr lang="en-US" dirty="0"/>
              <a:t>(resource requirement) is </a:t>
            </a:r>
            <a:r>
              <a:rPr lang="en-US" dirty="0" err="1"/>
              <a:t>allpowerful</a:t>
            </a:r>
            <a:r>
              <a:rPr lang="en-US" dirty="0"/>
              <a:t>!</a:t>
            </a:r>
          </a:p>
        </p:txBody>
      </p:sp>
      <p:sp>
        <p:nvSpPr>
          <p:cNvPr id="30" name="TextBox 29">
            <a:extLst>
              <a:ext uri="{FF2B5EF4-FFF2-40B4-BE49-F238E27FC236}">
                <a16:creationId xmlns:a16="http://schemas.microsoft.com/office/drawing/2014/main" id="{D47527C9-6F03-8036-2B7E-3EF7AE16C32A}"/>
              </a:ext>
            </a:extLst>
          </p:cNvPr>
          <p:cNvSpPr txBox="1"/>
          <p:nvPr/>
        </p:nvSpPr>
        <p:spPr>
          <a:xfrm>
            <a:off x="5634681" y="5778319"/>
            <a:ext cx="6096000" cy="830997"/>
          </a:xfrm>
          <a:prstGeom prst="rect">
            <a:avLst/>
          </a:prstGeom>
          <a:noFill/>
        </p:spPr>
        <p:txBody>
          <a:bodyPr wrap="square">
            <a:spAutoFit/>
          </a:bodyPr>
          <a:lstStyle/>
          <a:p>
            <a:r>
              <a:rPr lang="en-US" sz="1200" dirty="0">
                <a:solidFill>
                  <a:srgbClr val="6E7687"/>
                </a:solidFill>
                <a:effectLst/>
              </a:rPr>
              <a:t>#BSUB -R "</a:t>
            </a:r>
            <a:r>
              <a:rPr lang="en-US" sz="1200" dirty="0" err="1">
                <a:solidFill>
                  <a:srgbClr val="6E7687"/>
                </a:solidFill>
                <a:effectLst/>
              </a:rPr>
              <a:t>rusage</a:t>
            </a:r>
            <a:r>
              <a:rPr lang="en-US" sz="1200" dirty="0">
                <a:solidFill>
                  <a:srgbClr val="6E7687"/>
                </a:solidFill>
                <a:effectLst/>
              </a:rPr>
              <a:t>[mem=16GB:duration=1]" 		# Memory usage</a:t>
            </a:r>
            <a:r>
              <a:rPr lang="en-US" sz="1200" dirty="0"/>
              <a:t> </a:t>
            </a:r>
          </a:p>
          <a:p>
            <a:r>
              <a:rPr lang="en-US" sz="1200" dirty="0">
                <a:solidFill>
                  <a:srgbClr val="6E7687"/>
                </a:solidFill>
                <a:effectLst/>
              </a:rPr>
              <a:t>#BSUB -R "span[hosts=1]" 			# Keep all slots on one node</a:t>
            </a:r>
            <a:r>
              <a:rPr lang="en-US" sz="1200" dirty="0"/>
              <a:t> </a:t>
            </a:r>
          </a:p>
          <a:p>
            <a:r>
              <a:rPr lang="en-US" sz="1200" dirty="0">
                <a:solidFill>
                  <a:srgbClr val="6E7687"/>
                </a:solidFill>
                <a:effectLst/>
              </a:rPr>
              <a:t>#BSUB -R "select[</a:t>
            </a:r>
            <a:r>
              <a:rPr lang="en-US" sz="1200" dirty="0" err="1">
                <a:solidFill>
                  <a:srgbClr val="6E7687"/>
                </a:solidFill>
                <a:effectLst/>
              </a:rPr>
              <a:t>hname</a:t>
            </a:r>
            <a:r>
              <a:rPr lang="en-US" sz="1200" dirty="0">
                <a:solidFill>
                  <a:srgbClr val="6E7687"/>
                </a:solidFill>
                <a:effectLst/>
              </a:rPr>
              <a:t>!=</a:t>
            </a:r>
            <a:r>
              <a:rPr lang="en-US" sz="1200" dirty="0" err="1">
                <a:solidFill>
                  <a:srgbClr val="6E7687"/>
                </a:solidFill>
                <a:effectLst/>
              </a:rPr>
              <a:t>badnode</a:t>
            </a:r>
            <a:r>
              <a:rPr lang="en-US" sz="1200" dirty="0">
                <a:solidFill>
                  <a:srgbClr val="6E7687"/>
                </a:solidFill>
                <a:effectLst/>
              </a:rPr>
              <a:t>]" 		# Exclude specific hosts</a:t>
            </a:r>
            <a:r>
              <a:rPr lang="en-US" sz="1200" dirty="0"/>
              <a:t> </a:t>
            </a:r>
          </a:p>
          <a:p>
            <a:r>
              <a:rPr lang="en-US" sz="1200" dirty="0">
                <a:solidFill>
                  <a:srgbClr val="6E7687"/>
                </a:solidFill>
                <a:effectLst/>
              </a:rPr>
              <a:t>#BSUB -R "span[</a:t>
            </a:r>
            <a:r>
              <a:rPr lang="en-US" sz="1200" dirty="0" err="1">
                <a:solidFill>
                  <a:srgbClr val="6E7687"/>
                </a:solidFill>
                <a:effectLst/>
              </a:rPr>
              <a:t>ptile</a:t>
            </a:r>
            <a:r>
              <a:rPr lang="en-US" sz="1200" dirty="0">
                <a:solidFill>
                  <a:srgbClr val="6E7687"/>
                </a:solidFill>
                <a:effectLst/>
              </a:rPr>
              <a:t>=8]" 			# 8 cores per node</a:t>
            </a:r>
            <a:endParaRPr lang="en-US" sz="1200" dirty="0"/>
          </a:p>
        </p:txBody>
      </p:sp>
    </p:spTree>
    <p:extLst>
      <p:ext uri="{BB962C8B-B14F-4D97-AF65-F5344CB8AC3E}">
        <p14:creationId xmlns:p14="http://schemas.microsoft.com/office/powerpoint/2010/main" val="1474378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p:bldP spid="25" grpId="0"/>
      <p:bldP spid="26" grpId="0" animBg="1"/>
      <p:bldP spid="27" grpId="0"/>
      <p:bldP spid="28" grpId="0"/>
      <p:bldP spid="30"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D4200-D1FC-84F5-CF7E-332880CD310A}"/>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A5693AF2-18A2-90F4-814D-FFC010D3F24D}"/>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2" name="Rectangle 1">
            <a:extLst>
              <a:ext uri="{FF2B5EF4-FFF2-40B4-BE49-F238E27FC236}">
                <a16:creationId xmlns:a16="http://schemas.microsoft.com/office/drawing/2014/main" id="{84D1473A-E9A0-2815-A953-46846F51CA64}"/>
              </a:ext>
            </a:extLst>
          </p:cNvPr>
          <p:cNvSpPr/>
          <p:nvPr/>
        </p:nvSpPr>
        <p:spPr>
          <a:xfrm>
            <a:off x="839779" y="1778965"/>
            <a:ext cx="3497283" cy="473231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AD7436A-DC9E-C631-2063-BEA61793B5DF}"/>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program.lsf</a:t>
            </a:r>
            <a:r>
              <a:rPr lang="en-US" dirty="0"/>
              <a:t>)</a:t>
            </a:r>
          </a:p>
        </p:txBody>
      </p:sp>
      <p:sp>
        <p:nvSpPr>
          <p:cNvPr id="4" name="Rectangle 3">
            <a:extLst>
              <a:ext uri="{FF2B5EF4-FFF2-40B4-BE49-F238E27FC236}">
                <a16:creationId xmlns:a16="http://schemas.microsoft.com/office/drawing/2014/main" id="{E76D0E09-BE52-0119-3293-A67A8A6E001B}"/>
              </a:ext>
            </a:extLst>
          </p:cNvPr>
          <p:cNvSpPr/>
          <p:nvPr/>
        </p:nvSpPr>
        <p:spPr>
          <a:xfrm>
            <a:off x="899155" y="1856155"/>
            <a:ext cx="3390405" cy="196833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Instructions for scheduler</a:t>
            </a:r>
          </a:p>
        </p:txBody>
      </p:sp>
      <p:sp>
        <p:nvSpPr>
          <p:cNvPr id="5" name="Rectangle 4">
            <a:extLst>
              <a:ext uri="{FF2B5EF4-FFF2-40B4-BE49-F238E27FC236}">
                <a16:creationId xmlns:a16="http://schemas.microsoft.com/office/drawing/2014/main" id="{BA7CEBDC-33D6-A3DE-7901-B4A167DD6A01}"/>
              </a:ext>
            </a:extLst>
          </p:cNvPr>
          <p:cNvSpPr/>
          <p:nvPr/>
        </p:nvSpPr>
        <p:spPr>
          <a:xfrm>
            <a:off x="899155" y="3886835"/>
            <a:ext cx="3390405" cy="254132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Task to be run</a:t>
            </a:r>
          </a:p>
        </p:txBody>
      </p:sp>
      <p:sp>
        <p:nvSpPr>
          <p:cNvPr id="14" name="TextBox 13">
            <a:extLst>
              <a:ext uri="{FF2B5EF4-FFF2-40B4-BE49-F238E27FC236}">
                <a16:creationId xmlns:a16="http://schemas.microsoft.com/office/drawing/2014/main" id="{1E403139-246E-AE10-F3A2-6F23CCC9F8D3}"/>
              </a:ext>
            </a:extLst>
          </p:cNvPr>
          <p:cNvSpPr txBox="1"/>
          <p:nvPr/>
        </p:nvSpPr>
        <p:spPr>
          <a:xfrm>
            <a:off x="5832390" y="3736157"/>
            <a:ext cx="5296929" cy="2677656"/>
          </a:xfrm>
          <a:prstGeom prst="rect">
            <a:avLst/>
          </a:prstGeom>
          <a:solidFill>
            <a:schemeClr val="bg1">
              <a:lumMod val="95000"/>
            </a:schemeClr>
          </a:solidFill>
        </p:spPr>
        <p:txBody>
          <a:bodyPr wrap="square">
            <a:spAutoFit/>
          </a:bodyPr>
          <a:lstStyle/>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Load modules here</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br>
              <a:rPr lang="en-US" sz="1200" dirty="0">
                <a:latin typeface="Menlo" panose="020B0609030804020204" pitchFamily="49" charset="0"/>
                <a:ea typeface="Menlo" panose="020B0609030804020204" pitchFamily="49" charset="0"/>
                <a:cs typeface="Menlo" panose="020B0609030804020204" pitchFamily="49" charset="0"/>
              </a:rPr>
            </a:br>
            <a:endParaRPr lang="en-US" sz="1200" dirty="0">
              <a:latin typeface="Menlo" panose="020B0609030804020204" pitchFamily="49" charset="0"/>
              <a:ea typeface="Menlo" panose="020B0609030804020204" pitchFamily="49" charset="0"/>
              <a:cs typeface="Menlo" panose="020B0609030804020204" pitchFamily="49" charset="0"/>
            </a:endParaRPr>
          </a:p>
          <a:p>
            <a:r>
              <a:rPr lang="en-US" sz="1200" dirty="0">
                <a:latin typeface="Menlo" panose="020B0609030804020204" pitchFamily="49" charset="0"/>
                <a:ea typeface="Menlo" panose="020B0609030804020204" pitchFamily="49" charset="0"/>
                <a:cs typeface="Menlo" panose="020B0609030804020204" pitchFamily="49" charset="0"/>
              </a:rPr>
              <a:t>module load python</a:t>
            </a:r>
          </a:p>
          <a:p>
            <a:br>
              <a:rPr lang="en-US" sz="1200" dirty="0">
                <a:latin typeface="Menlo" panose="020B0609030804020204" pitchFamily="49" charset="0"/>
                <a:ea typeface="Menlo" panose="020B0609030804020204" pitchFamily="49" charset="0"/>
                <a:cs typeface="Menlo" panose="020B0609030804020204" pitchFamily="49" charset="0"/>
              </a:rPr>
            </a:br>
            <a:endParaRPr lang="en-US" sz="1200" dirty="0">
              <a:latin typeface="Menlo" panose="020B0609030804020204" pitchFamily="49" charset="0"/>
              <a:ea typeface="Menlo" panose="020B0609030804020204" pitchFamily="49" charset="0"/>
              <a:cs typeface="Menlo" panose="020B0609030804020204" pitchFamily="49" charset="0"/>
            </a:endParaRP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Execute commands here</a:t>
            </a:r>
          </a:p>
          <a:p>
            <a:r>
              <a:rPr lang="en-US" sz="1200" dirty="0">
                <a:solidFill>
                  <a:schemeClr val="accent6"/>
                </a:solidFill>
                <a:latin typeface="Menlo" panose="020B0609030804020204" pitchFamily="49" charset="0"/>
                <a:ea typeface="Menlo" panose="020B0609030804020204" pitchFamily="49" charset="0"/>
                <a:cs typeface="Menlo" panose="020B0609030804020204" pitchFamily="49" charset="0"/>
              </a:rPr>
              <a:t># --------------------------------------------------</a:t>
            </a:r>
          </a:p>
          <a:p>
            <a:br>
              <a:rPr lang="en-US" sz="1200" dirty="0">
                <a:latin typeface="Menlo" panose="020B0609030804020204" pitchFamily="49" charset="0"/>
                <a:ea typeface="Menlo" panose="020B0609030804020204" pitchFamily="49" charset="0"/>
                <a:cs typeface="Menlo" panose="020B0609030804020204" pitchFamily="49" charset="0"/>
              </a:rPr>
            </a:br>
            <a:endParaRPr lang="en-US" sz="1200" dirty="0">
              <a:latin typeface="Menlo" panose="020B0609030804020204" pitchFamily="49" charset="0"/>
              <a:ea typeface="Menlo" panose="020B0609030804020204" pitchFamily="49" charset="0"/>
              <a:cs typeface="Menlo" panose="020B0609030804020204" pitchFamily="49" charset="0"/>
            </a:endParaRPr>
          </a:p>
          <a:p>
            <a:r>
              <a:rPr lang="en-US" sz="1200" dirty="0">
                <a:latin typeface="Menlo" panose="020B0609030804020204" pitchFamily="49" charset="0"/>
                <a:ea typeface="Menlo" panose="020B0609030804020204" pitchFamily="49" charset="0"/>
                <a:cs typeface="Menlo" panose="020B0609030804020204" pitchFamily="49" charset="0"/>
              </a:rPr>
              <a:t>python </a:t>
            </a:r>
            <a:r>
              <a:rPr lang="en-US" sz="1200" dirty="0" err="1">
                <a:latin typeface="Menlo" panose="020B0609030804020204" pitchFamily="49" charset="0"/>
                <a:ea typeface="Menlo" panose="020B0609030804020204" pitchFamily="49" charset="0"/>
                <a:cs typeface="Menlo" panose="020B0609030804020204" pitchFamily="49" charset="0"/>
              </a:rPr>
              <a:t>hello.py</a:t>
            </a:r>
            <a:endParaRPr lang="en-US" sz="1200" dirty="0">
              <a:latin typeface="Menlo" panose="020B0609030804020204" pitchFamily="49" charset="0"/>
              <a:ea typeface="Menlo" panose="020B0609030804020204" pitchFamily="49" charset="0"/>
              <a:cs typeface="Menlo" panose="020B0609030804020204" pitchFamily="49" charset="0"/>
            </a:endParaRPr>
          </a:p>
        </p:txBody>
      </p:sp>
      <p:cxnSp>
        <p:nvCxnSpPr>
          <p:cNvPr id="16" name="Straight Connector 15">
            <a:extLst>
              <a:ext uri="{FF2B5EF4-FFF2-40B4-BE49-F238E27FC236}">
                <a16:creationId xmlns:a16="http://schemas.microsoft.com/office/drawing/2014/main" id="{A433E498-828A-F8BB-893A-B5085DBDBF63}"/>
              </a:ext>
            </a:extLst>
          </p:cNvPr>
          <p:cNvCxnSpPr>
            <a:cxnSpLocks/>
          </p:cNvCxnSpPr>
          <p:nvPr/>
        </p:nvCxnSpPr>
        <p:spPr>
          <a:xfrm flipV="1">
            <a:off x="4275010" y="3736157"/>
            <a:ext cx="1557380" cy="142032"/>
          </a:xfrm>
          <a:prstGeom prst="line">
            <a:avLst/>
          </a:prstGeom>
          <a:ln w="28575">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01DB35E-FACC-4E41-DCD6-832780F442BD}"/>
              </a:ext>
            </a:extLst>
          </p:cNvPr>
          <p:cNvCxnSpPr>
            <a:cxnSpLocks/>
          </p:cNvCxnSpPr>
          <p:nvPr/>
        </p:nvCxnSpPr>
        <p:spPr>
          <a:xfrm>
            <a:off x="4275010" y="6398703"/>
            <a:ext cx="1557380" cy="0"/>
          </a:xfrm>
          <a:prstGeom prst="line">
            <a:avLst/>
          </a:prstGeom>
          <a:ln w="28575">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EA55A3-6E79-0C23-A3AC-0573050652BF}"/>
              </a:ext>
            </a:extLst>
          </p:cNvPr>
          <p:cNvSpPr txBox="1"/>
          <p:nvPr/>
        </p:nvSpPr>
        <p:spPr>
          <a:xfrm>
            <a:off x="7447005" y="3251883"/>
            <a:ext cx="4277133" cy="369332"/>
          </a:xfrm>
          <a:prstGeom prst="rect">
            <a:avLst/>
          </a:prstGeom>
          <a:noFill/>
        </p:spPr>
        <p:txBody>
          <a:bodyPr wrap="none" rtlCol="0">
            <a:spAutoFit/>
          </a:bodyPr>
          <a:lstStyle/>
          <a:p>
            <a:r>
              <a:rPr lang="en-US" dirty="0">
                <a:solidFill>
                  <a:schemeClr val="accent6"/>
                </a:solidFill>
              </a:rPr>
              <a:t>Comments! To make it easier to understand</a:t>
            </a:r>
          </a:p>
        </p:txBody>
      </p:sp>
      <p:sp>
        <p:nvSpPr>
          <p:cNvPr id="24" name="Oval 23">
            <a:extLst>
              <a:ext uri="{FF2B5EF4-FFF2-40B4-BE49-F238E27FC236}">
                <a16:creationId xmlns:a16="http://schemas.microsoft.com/office/drawing/2014/main" id="{5A8EE1B9-FECA-6A33-B08A-476ADEA72BA3}"/>
              </a:ext>
            </a:extLst>
          </p:cNvPr>
          <p:cNvSpPr/>
          <p:nvPr/>
        </p:nvSpPr>
        <p:spPr>
          <a:xfrm>
            <a:off x="5947719" y="3591697"/>
            <a:ext cx="1907221" cy="1013254"/>
          </a:xfrm>
          <a:prstGeom prst="ellipse">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2583FD8B-1D74-FD41-F7CB-CB3A1A6B3F00}"/>
              </a:ext>
            </a:extLst>
          </p:cNvPr>
          <p:cNvSpPr/>
          <p:nvPr/>
        </p:nvSpPr>
        <p:spPr>
          <a:xfrm>
            <a:off x="5778681" y="5074985"/>
            <a:ext cx="2401492" cy="1013254"/>
          </a:xfrm>
          <a:prstGeom prst="ellipse">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52FA4185-8F8B-0AC2-6B39-ABA4B4007614}"/>
              </a:ext>
            </a:extLst>
          </p:cNvPr>
          <p:cNvSpPr txBox="1"/>
          <p:nvPr/>
        </p:nvSpPr>
        <p:spPr>
          <a:xfrm>
            <a:off x="7854940" y="4583072"/>
            <a:ext cx="1793311"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Load software</a:t>
            </a:r>
          </a:p>
        </p:txBody>
      </p:sp>
      <p:sp>
        <p:nvSpPr>
          <p:cNvPr id="32" name="TextBox 31">
            <a:extLst>
              <a:ext uri="{FF2B5EF4-FFF2-40B4-BE49-F238E27FC236}">
                <a16:creationId xmlns:a16="http://schemas.microsoft.com/office/drawing/2014/main" id="{C8275144-58E1-97DE-29C9-C4DDE9CC8A55}"/>
              </a:ext>
            </a:extLst>
          </p:cNvPr>
          <p:cNvSpPr txBox="1"/>
          <p:nvPr/>
        </p:nvSpPr>
        <p:spPr>
          <a:xfrm>
            <a:off x="7712917" y="6058823"/>
            <a:ext cx="2071657"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Execute software</a:t>
            </a:r>
          </a:p>
        </p:txBody>
      </p:sp>
      <p:pic>
        <p:nvPicPr>
          <p:cNvPr id="34" name="Picture 33">
            <a:extLst>
              <a:ext uri="{FF2B5EF4-FFF2-40B4-BE49-F238E27FC236}">
                <a16:creationId xmlns:a16="http://schemas.microsoft.com/office/drawing/2014/main" id="{E699C93D-FE6D-EA48-9C94-FC6194793791}"/>
              </a:ext>
            </a:extLst>
          </p:cNvPr>
          <p:cNvPicPr>
            <a:picLocks noChangeAspect="1"/>
          </p:cNvPicPr>
          <p:nvPr/>
        </p:nvPicPr>
        <p:blipFill>
          <a:blip r:embed="rId3"/>
          <a:stretch>
            <a:fillRect/>
          </a:stretch>
        </p:blipFill>
        <p:spPr>
          <a:xfrm>
            <a:off x="6734836" y="1304235"/>
            <a:ext cx="4027817" cy="772905"/>
          </a:xfrm>
          <a:prstGeom prst="rect">
            <a:avLst/>
          </a:prstGeom>
        </p:spPr>
      </p:pic>
      <p:sp>
        <p:nvSpPr>
          <p:cNvPr id="35" name="TextBox 34">
            <a:extLst>
              <a:ext uri="{FF2B5EF4-FFF2-40B4-BE49-F238E27FC236}">
                <a16:creationId xmlns:a16="http://schemas.microsoft.com/office/drawing/2014/main" id="{A4A9E763-C9A1-18A6-C1D2-5837389854E3}"/>
              </a:ext>
            </a:extLst>
          </p:cNvPr>
          <p:cNvSpPr txBox="1"/>
          <p:nvPr/>
        </p:nvSpPr>
        <p:spPr>
          <a:xfrm>
            <a:off x="6652459" y="1004962"/>
            <a:ext cx="1043876" cy="307777"/>
          </a:xfrm>
          <a:prstGeom prst="rect">
            <a:avLst/>
          </a:prstGeom>
          <a:noFill/>
        </p:spPr>
        <p:txBody>
          <a:bodyPr wrap="none" rtlCol="0">
            <a:spAutoFit/>
          </a:bodyPr>
          <a:lstStyle/>
          <a:p>
            <a:r>
              <a:rPr lang="en-US" sz="1400" dirty="0" err="1">
                <a:latin typeface="Menlo" panose="020B0609030804020204" pitchFamily="49" charset="0"/>
                <a:ea typeface="Menlo" panose="020B0609030804020204" pitchFamily="49" charset="0"/>
                <a:cs typeface="Menlo" panose="020B0609030804020204" pitchFamily="49" charset="0"/>
              </a:rPr>
              <a:t>hello.py</a:t>
            </a:r>
            <a:endParaRPr lang="en-US" sz="1400" dirty="0">
              <a:latin typeface="Menlo" panose="020B0609030804020204" pitchFamily="49" charset="0"/>
              <a:ea typeface="Menlo" panose="020B0609030804020204" pitchFamily="49" charset="0"/>
              <a:cs typeface="Menlo" panose="020B0609030804020204" pitchFamily="49" charset="0"/>
            </a:endParaRPr>
          </a:p>
        </p:txBody>
      </p:sp>
      <p:sp>
        <p:nvSpPr>
          <p:cNvPr id="36" name="TextBox 35">
            <a:extLst>
              <a:ext uri="{FF2B5EF4-FFF2-40B4-BE49-F238E27FC236}">
                <a16:creationId xmlns:a16="http://schemas.microsoft.com/office/drawing/2014/main" id="{638F080D-5E82-9A9E-E940-44AE2477819F}"/>
              </a:ext>
            </a:extLst>
          </p:cNvPr>
          <p:cNvSpPr txBox="1"/>
          <p:nvPr/>
        </p:nvSpPr>
        <p:spPr>
          <a:xfrm>
            <a:off x="6734836" y="2220302"/>
            <a:ext cx="4202048" cy="369332"/>
          </a:xfrm>
          <a:prstGeom prst="rect">
            <a:avLst/>
          </a:prstGeom>
          <a:noFill/>
        </p:spPr>
        <p:txBody>
          <a:bodyPr wrap="none" rtlCol="0">
            <a:spAutoFit/>
          </a:bodyPr>
          <a:lstStyle/>
          <a:p>
            <a:r>
              <a:rPr lang="en-US" dirty="0"/>
              <a:t>Where do you think this will be printed to?</a:t>
            </a:r>
          </a:p>
        </p:txBody>
      </p:sp>
      <p:pic>
        <p:nvPicPr>
          <p:cNvPr id="8194" name="Picture 2" descr="Punctuation of Life: Question Mark | by Christal Luster | Medium">
            <a:extLst>
              <a:ext uri="{FF2B5EF4-FFF2-40B4-BE49-F238E27FC236}">
                <a16:creationId xmlns:a16="http://schemas.microsoft.com/office/drawing/2014/main" id="{EDDC9123-F609-4E69-703D-D5365D20F40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94442" y="2091150"/>
            <a:ext cx="540394" cy="5386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1718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1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animBg="1"/>
      <p:bldP spid="29" grpId="0" animBg="1"/>
      <p:bldP spid="31" grpId="0"/>
      <p:bldP spid="32" grpId="0"/>
      <p:bldP spid="35" grpId="0"/>
      <p:bldP spid="36"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ACD2F-597F-2BB8-4249-BCFAA14371B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3F91AAD-E567-7A14-8E3B-1D0CAB0A93F6}"/>
              </a:ext>
            </a:extLst>
          </p:cNvPr>
          <p:cNvSpPr txBox="1"/>
          <p:nvPr/>
        </p:nvSpPr>
        <p:spPr>
          <a:xfrm>
            <a:off x="492209" y="-1324105"/>
            <a:ext cx="7333735" cy="12110623"/>
          </a:xfrm>
          <a:prstGeom prst="rect">
            <a:avLst/>
          </a:prstGeom>
          <a:solidFill>
            <a:schemeClr val="tx1"/>
          </a:solidFill>
        </p:spPr>
        <p:txBody>
          <a:bodyPr wrap="square">
            <a:spAutoFit/>
          </a:bodyPr>
          <a:lstStyle/>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Load modules here</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module</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load</a:t>
            </a:r>
            <a:r>
              <a:rPr lang="en-US" sz="900" b="0" dirty="0">
                <a:solidFill>
                  <a:srgbClr val="CCCCCC"/>
                </a:solidFill>
                <a:effectLst/>
                <a:latin typeface="Menlo" panose="020B0609030804020204" pitchFamily="49" charset="0"/>
              </a:rPr>
              <a:t> </a:t>
            </a:r>
            <a:r>
              <a:rPr lang="en-US" sz="900" b="0" dirty="0" err="1">
                <a:solidFill>
                  <a:srgbClr val="CE9178"/>
                </a:solidFill>
                <a:effectLst/>
                <a:latin typeface="Menlo" panose="020B0609030804020204" pitchFamily="49" charset="0"/>
              </a:rPr>
              <a:t>apptainer</a:t>
            </a:r>
            <a:endParaRPr lang="en-US" sz="900" b="0" dirty="0">
              <a:solidFill>
                <a:srgbClr val="CCCCCC"/>
              </a:solidFill>
              <a:effectLst/>
              <a:latin typeface="Menlo" panose="020B0609030804020204" pitchFamily="49" charset="0"/>
            </a:endParaRPr>
          </a:p>
          <a:p>
            <a:pPr>
              <a:lnSpc>
                <a:spcPts val="1350"/>
              </a:lnSpc>
              <a:buNone/>
            </a:pP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Execute commands here</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6A9955"/>
                </a:solidFill>
                <a:effectLst/>
                <a:latin typeface="Menlo" panose="020B0609030804020204" pitchFamily="49" charset="0"/>
              </a:rPr>
              <a:t># Print job start information</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"Job started: $(</a:t>
            </a:r>
            <a:r>
              <a:rPr lang="en-US" sz="900" b="0" dirty="0">
                <a:solidFill>
                  <a:srgbClr val="DCDCAA"/>
                </a:solidFill>
                <a:effectLst/>
                <a:latin typeface="Menlo" panose="020B0609030804020204" pitchFamily="49" charset="0"/>
              </a:rPr>
              <a:t>date</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"Job ID: </a:t>
            </a:r>
            <a:r>
              <a:rPr lang="en-US" sz="900" b="0" dirty="0">
                <a:solidFill>
                  <a:srgbClr val="9CDCFE"/>
                </a:solidFill>
                <a:effectLst/>
                <a:latin typeface="Menlo" panose="020B0609030804020204" pitchFamily="49" charset="0"/>
              </a:rPr>
              <a:t>$LSB_JOBID</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"Running on host: $(</a:t>
            </a:r>
            <a:r>
              <a:rPr lang="en-US" sz="900" b="0" dirty="0">
                <a:solidFill>
                  <a:srgbClr val="DCDCAA"/>
                </a:solidFill>
                <a:effectLst/>
                <a:latin typeface="Menlo" panose="020B0609030804020204" pitchFamily="49" charset="0"/>
              </a:rPr>
              <a:t>hostname</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"Working directory: $(</a:t>
            </a:r>
            <a:r>
              <a:rPr lang="en-US" sz="900" b="0" dirty="0" err="1">
                <a:solidFill>
                  <a:srgbClr val="DCDCAA"/>
                </a:solidFill>
                <a:effectLst/>
                <a:latin typeface="Menlo" panose="020B0609030804020204" pitchFamily="49" charset="0"/>
              </a:rPr>
              <a:t>pwd</a:t>
            </a:r>
            <a:r>
              <a:rPr lang="en-US" sz="900" b="0" dirty="0">
                <a:solidFill>
                  <a:srgbClr val="CE9178"/>
                </a:solidFill>
                <a:effectLst/>
                <a:latin typeface="Menlo" panose="020B0609030804020204" pitchFamily="49" charset="0"/>
              </a:rPr>
              <a:t>)"</a:t>
            </a:r>
            <a:endParaRPr lang="en-US" sz="900" b="0" dirty="0">
              <a:solidFill>
                <a:srgbClr val="CCCCCC"/>
              </a:solidFill>
              <a:effectLst/>
              <a:latin typeface="Menlo" panose="020B0609030804020204" pitchFamily="49" charset="0"/>
            </a:endParaRPr>
          </a:p>
          <a:p>
            <a:pPr>
              <a:lnSpc>
                <a:spcPts val="1350"/>
              </a:lnSpc>
              <a:buNone/>
            </a:pPr>
            <a:r>
              <a:rPr lang="en-US" sz="900" b="0" dirty="0">
                <a:solidFill>
                  <a:srgbClr val="DCDCAA"/>
                </a:solidFill>
                <a:effectLst/>
                <a:latin typeface="Menlo" panose="020B0609030804020204" pitchFamily="49" charset="0"/>
              </a:rPr>
              <a:t>echo</a:t>
            </a:r>
            <a:r>
              <a:rPr lang="en-US" sz="900" b="0" dirty="0">
                <a:solidFill>
                  <a:srgbClr val="CCCCCC"/>
                </a:solidFill>
                <a:effectLst/>
                <a:latin typeface="Menlo" panose="020B0609030804020204" pitchFamily="49" charset="0"/>
              </a:rPr>
              <a:t> </a:t>
            </a:r>
            <a:r>
              <a:rPr lang="en-US" sz="900" b="0" dirty="0">
                <a:solidFill>
                  <a:srgbClr val="CE9178"/>
                </a:solidFill>
                <a:effectLst/>
                <a:latin typeface="Menlo" panose="020B0609030804020204" pitchFamily="49" charset="0"/>
              </a:rPr>
              <a:t>"==================================================”</a:t>
            </a:r>
          </a:p>
          <a:p>
            <a:pPr>
              <a:lnSpc>
                <a:spcPts val="1350"/>
              </a:lnSpc>
              <a:buNone/>
            </a:pPr>
            <a:endParaRPr lang="en-US" sz="900" dirty="0">
              <a:solidFill>
                <a:srgbClr val="CE9178"/>
              </a:solidFill>
              <a:latin typeface="Menlo" panose="020B0609030804020204" pitchFamily="49" charset="0"/>
            </a:endParaRPr>
          </a:p>
          <a:p>
            <a:pPr>
              <a:lnSpc>
                <a:spcPts val="1350"/>
              </a:lnSpc>
              <a:buNone/>
            </a:pPr>
            <a:r>
              <a:rPr lang="en-US" sz="900" dirty="0">
                <a:solidFill>
                  <a:srgbClr val="9DDDFE"/>
                </a:solidFill>
                <a:latin typeface="Menlo" panose="020B0609030804020204" pitchFamily="49" charset="0"/>
                <a:ea typeface="Menlo" panose="020B0609030804020204" pitchFamily="49" charset="0"/>
                <a:cs typeface="Menlo" panose="020B0609030804020204" pitchFamily="49" charset="0"/>
              </a:rPr>
              <a:t>FASTQC_SIF</a:t>
            </a:r>
            <a: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9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/admin/containers/images/quay.io_biocontainers_fastqc:0.12.1--hdfd78af_0.sif"</a:t>
            </a:r>
            <a:b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br>
            <a:r>
              <a:rPr lang="en-US" sz="900" dirty="0">
                <a:solidFill>
                  <a:srgbClr val="9DDDFE"/>
                </a:solidFill>
                <a:latin typeface="Menlo" panose="020B0609030804020204" pitchFamily="49" charset="0"/>
                <a:ea typeface="Menlo" panose="020B0609030804020204" pitchFamily="49" charset="0"/>
                <a:cs typeface="Menlo" panose="020B0609030804020204" pitchFamily="49" charset="0"/>
              </a:rPr>
              <a:t>IN_DIR</a:t>
            </a:r>
            <a: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9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/trainings/</a:t>
            </a:r>
            <a:r>
              <a:rPr lang="en-US" sz="900" dirty="0" err="1">
                <a:solidFill>
                  <a:srgbClr val="CE9178"/>
                </a:solidFill>
                <a:latin typeface="Menlo" panose="020B0609030804020204" pitchFamily="49" charset="0"/>
                <a:ea typeface="Menlo" panose="020B0609030804020204" pitchFamily="49" charset="0"/>
                <a:cs typeface="Menlo" panose="020B0609030804020204" pitchFamily="49" charset="0"/>
              </a:rPr>
              <a:t>hazel_hpc</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/data"</a:t>
            </a:r>
            <a:b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br>
            <a:r>
              <a:rPr lang="en-US" sz="900" dirty="0">
                <a:solidFill>
                  <a:srgbClr val="9DDDFE"/>
                </a:solidFill>
                <a:latin typeface="Menlo" panose="020B0609030804020204" pitchFamily="49" charset="0"/>
                <a:ea typeface="Menlo" panose="020B0609030804020204" pitchFamily="49" charset="0"/>
                <a:cs typeface="Menlo" panose="020B0609030804020204" pitchFamily="49" charset="0"/>
              </a:rPr>
              <a:t>SAMPLE</a:t>
            </a:r>
            <a:r>
              <a:rPr lang="en-US" sz="9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900" dirty="0">
                <a:solidFill>
                  <a:srgbClr val="CE9178"/>
                </a:solidFill>
                <a:latin typeface="Menlo" panose="020B0609030804020204" pitchFamily="49" charset="0"/>
                <a:ea typeface="Menlo" panose="020B0609030804020204" pitchFamily="49" charset="0"/>
                <a:cs typeface="Menlo" panose="020B0609030804020204" pitchFamily="49" charset="0"/>
              </a:rPr>
              <a:t>"sample_001”</a:t>
            </a:r>
          </a:p>
          <a:p>
            <a:pPr>
              <a:lnSpc>
                <a:spcPts val="1350"/>
              </a:lnSpc>
              <a:buNone/>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pPr>
            <a:r>
              <a:rPr lang="en-US" sz="900" b="0" dirty="0" err="1">
                <a:solidFill>
                  <a:srgbClr val="DCDDAA"/>
                </a:solidFill>
                <a:effectLst/>
                <a:latin typeface="Menlo" panose="020B0609030804020204" pitchFamily="49" charset="0"/>
                <a:ea typeface="Menlo" panose="020B0609030804020204" pitchFamily="49" charset="0"/>
                <a:cs typeface="Menlo" panose="020B0609030804020204" pitchFamily="49" charset="0"/>
              </a:rPr>
              <a:t>mkdir</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 </a:t>
            </a:r>
            <a:r>
              <a:rPr lang="en-US" sz="900" b="0" dirty="0">
                <a:solidFill>
                  <a:srgbClr val="DCDDAA"/>
                </a:solidFill>
                <a:effectLst/>
                <a:latin typeface="Menlo" panose="020B0609030804020204" pitchFamily="49" charset="0"/>
                <a:ea typeface="Menlo" panose="020B0609030804020204" pitchFamily="49" charset="0"/>
                <a:cs typeface="Menlo" panose="020B0609030804020204" pitchFamily="49" charset="0"/>
              </a:rPr>
              <a:t>-p </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b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br>
            <a:r>
              <a:rPr lang="en-US" sz="900" b="0" dirty="0">
                <a:solidFill>
                  <a:srgbClr val="9DDDFE"/>
                </a:solidFill>
                <a:effectLst/>
                <a:latin typeface="Menlo" panose="020B0609030804020204" pitchFamily="49" charset="0"/>
                <a:ea typeface="Menlo" panose="020B0609030804020204" pitchFamily="49" charset="0"/>
                <a:cs typeface="Menlo" panose="020B0609030804020204" pitchFamily="49" charset="0"/>
              </a:rPr>
              <a:t>OUT_DIR</a:t>
            </a:r>
            <a:r>
              <a:rPr lang="en-US" sz="900" b="0" dirty="0">
                <a:solidFill>
                  <a:schemeClr val="bg1"/>
                </a:solidFill>
                <a:effectLst/>
                <a:latin typeface="Menlo" panose="020B0609030804020204" pitchFamily="49" charset="0"/>
                <a:ea typeface="Menlo" panose="020B0609030804020204" pitchFamily="49" charset="0"/>
                <a:cs typeface="Menlo" panose="020B0609030804020204" pitchFamily="49" charset="0"/>
              </a:rPr>
              <a:t>=</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9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r>
              <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p>
          <a:p>
            <a:pPr>
              <a:lnSpc>
                <a:spcPts val="1350"/>
              </a:lnSpc>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Validate inputs</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Check if container exists</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if</a:t>
            </a:r>
            <a:r>
              <a:rPr lang="en-US" sz="900" dirty="0">
                <a:solidFill>
                  <a:srgbClr val="CCCCCC"/>
                </a:solidFill>
                <a:latin typeface="Menlo" panose="020B0609030804020204" pitchFamily="49" charset="0"/>
              </a:rPr>
              <a:t> [ </a:t>
            </a:r>
            <a:r>
              <a:rPr lang="en-US" sz="900" dirty="0">
                <a:solidFill>
                  <a:srgbClr val="D4D4D4"/>
                </a:solidFill>
                <a:latin typeface="Menlo" panose="020B0609030804020204" pitchFamily="49" charset="0"/>
              </a:rPr>
              <a:t>!</a:t>
            </a:r>
            <a:r>
              <a:rPr lang="en-US" sz="900" dirty="0">
                <a:solidFill>
                  <a:srgbClr val="CCCCCC"/>
                </a:solidFill>
                <a:latin typeface="Menlo" panose="020B0609030804020204" pitchFamily="49" charset="0"/>
              </a:rPr>
              <a:t> </a:t>
            </a:r>
            <a:r>
              <a:rPr lang="en-US" sz="900" dirty="0">
                <a:solidFill>
                  <a:srgbClr val="D4D4D4"/>
                </a:solidFill>
                <a:latin typeface="Menlo" panose="020B0609030804020204" pitchFamily="49" charset="0"/>
              </a:rPr>
              <a:t>-f</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r>
              <a:rPr lang="en-US" sz="900" dirty="0">
                <a:solidFill>
                  <a:srgbClr val="9CDCFE"/>
                </a:solidFill>
                <a:latin typeface="Menlo" panose="020B0609030804020204" pitchFamily="49" charset="0"/>
              </a:rPr>
              <a:t>FASTQC_SIF</a:t>
            </a:r>
            <a:r>
              <a:rPr lang="en-US" sz="900" dirty="0">
                <a:solidFill>
                  <a:srgbClr val="CE9178"/>
                </a:solidFill>
                <a:latin typeface="Menlo" panose="020B0609030804020204" pitchFamily="49" charset="0"/>
              </a:rPr>
              <a:t>}"</a:t>
            </a:r>
            <a:r>
              <a:rPr lang="en-US" sz="900" dirty="0">
                <a:solidFill>
                  <a:srgbClr val="CCCCCC"/>
                </a:solidFill>
                <a:latin typeface="Menlo" panose="020B0609030804020204" pitchFamily="49" charset="0"/>
              </a:rPr>
              <a:t> ]; </a:t>
            </a:r>
            <a:r>
              <a:rPr lang="en-US" sz="900" dirty="0">
                <a:solidFill>
                  <a:srgbClr val="C586C0"/>
                </a:solidFill>
                <a:latin typeface="Menlo" panose="020B0609030804020204" pitchFamily="49" charset="0"/>
              </a:rPr>
              <a:t>then</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"ERROR: Container not found at ${</a:t>
            </a:r>
            <a:r>
              <a:rPr lang="en-US" sz="900" dirty="0">
                <a:solidFill>
                  <a:srgbClr val="9CDCFE"/>
                </a:solidFill>
                <a:latin typeface="Menlo" panose="020B0609030804020204" pitchFamily="49" charset="0"/>
              </a:rPr>
              <a:t>FASTQC_SIF</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exit</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1</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fi</a:t>
            </a:r>
            <a:endParaRPr lang="en-US" sz="900" dirty="0">
              <a:solidFill>
                <a:srgbClr val="CCCCCC"/>
              </a:solidFill>
              <a:latin typeface="Menlo" panose="020B0609030804020204" pitchFamily="49" charset="0"/>
            </a:endParaRPr>
          </a:p>
          <a:p>
            <a:pPr>
              <a:lnSpc>
                <a:spcPts val="1350"/>
              </a:lnSpc>
              <a:buNone/>
            </a:pP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Check if input directory exists</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if</a:t>
            </a:r>
            <a:r>
              <a:rPr lang="en-US" sz="900" dirty="0">
                <a:solidFill>
                  <a:srgbClr val="CCCCCC"/>
                </a:solidFill>
                <a:latin typeface="Menlo" panose="020B0609030804020204" pitchFamily="49" charset="0"/>
              </a:rPr>
              <a:t> [ </a:t>
            </a:r>
            <a:r>
              <a:rPr lang="en-US" sz="900" dirty="0">
                <a:solidFill>
                  <a:srgbClr val="D4D4D4"/>
                </a:solidFill>
                <a:latin typeface="Menlo" panose="020B0609030804020204" pitchFamily="49" charset="0"/>
              </a:rPr>
              <a:t>!</a:t>
            </a:r>
            <a:r>
              <a:rPr lang="en-US" sz="900" dirty="0">
                <a:solidFill>
                  <a:srgbClr val="CCCCCC"/>
                </a:solidFill>
                <a:latin typeface="Menlo" panose="020B0609030804020204" pitchFamily="49" charset="0"/>
              </a:rPr>
              <a:t> </a:t>
            </a:r>
            <a:r>
              <a:rPr lang="en-US" sz="900" dirty="0">
                <a:solidFill>
                  <a:srgbClr val="D4D4D4"/>
                </a:solidFill>
                <a:latin typeface="Menlo" panose="020B0609030804020204" pitchFamily="49" charset="0"/>
              </a:rPr>
              <a:t>-d</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r>
              <a:rPr lang="en-US" sz="900" dirty="0">
                <a:solidFill>
                  <a:srgbClr val="9CDCFE"/>
                </a:solidFill>
                <a:latin typeface="Menlo" panose="020B0609030804020204" pitchFamily="49" charset="0"/>
              </a:rPr>
              <a:t>IN_DIR</a:t>
            </a:r>
            <a:r>
              <a:rPr lang="en-US" sz="900" dirty="0">
                <a:solidFill>
                  <a:srgbClr val="CE9178"/>
                </a:solidFill>
                <a:latin typeface="Menlo" panose="020B0609030804020204" pitchFamily="49" charset="0"/>
              </a:rPr>
              <a:t>}"</a:t>
            </a:r>
            <a:r>
              <a:rPr lang="en-US" sz="900" dirty="0">
                <a:solidFill>
                  <a:srgbClr val="CCCCCC"/>
                </a:solidFill>
                <a:latin typeface="Menlo" panose="020B0609030804020204" pitchFamily="49" charset="0"/>
              </a:rPr>
              <a:t> ]; </a:t>
            </a:r>
            <a:r>
              <a:rPr lang="en-US" sz="900" dirty="0">
                <a:solidFill>
                  <a:srgbClr val="C586C0"/>
                </a:solidFill>
                <a:latin typeface="Menlo" panose="020B0609030804020204" pitchFamily="49" charset="0"/>
              </a:rPr>
              <a:t>then</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"ERROR: Input directory not found at ${</a:t>
            </a:r>
            <a:r>
              <a:rPr lang="en-US" sz="900" dirty="0">
                <a:solidFill>
                  <a:srgbClr val="9CDCFE"/>
                </a:solidFill>
                <a:latin typeface="Menlo" panose="020B0609030804020204" pitchFamily="49" charset="0"/>
              </a:rPr>
              <a:t>IN_DIR</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exit</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1</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fi</a:t>
            </a:r>
            <a:endParaRPr lang="en-US" sz="900" dirty="0">
              <a:solidFill>
                <a:srgbClr val="CCCCCC"/>
              </a:solidFill>
              <a:latin typeface="Menlo" panose="020B0609030804020204" pitchFamily="49" charset="0"/>
            </a:endParaRPr>
          </a:p>
          <a:p>
            <a:pPr>
              <a:lnSpc>
                <a:spcPts val="1350"/>
              </a:lnSpc>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Execute FastQC</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"Running FastQC on sample: ${</a:t>
            </a:r>
            <a:r>
              <a:rPr lang="en-US" sz="900" dirty="0">
                <a:solidFill>
                  <a:srgbClr val="9CDCFE"/>
                </a:solidFill>
                <a:latin typeface="Menlo" panose="020B0609030804020204" pitchFamily="49" charset="0"/>
              </a:rPr>
              <a:t>SAMPLE</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endParaRPr lang="en-US" sz="900" dirty="0">
              <a:solidFill>
                <a:srgbClr val="CCCCCC"/>
              </a:solidFill>
              <a:latin typeface="Menlo" panose="020B0609030804020204" pitchFamily="49" charset="0"/>
            </a:endParaRPr>
          </a:p>
          <a:p>
            <a:pPr>
              <a:lnSpc>
                <a:spcPts val="1350"/>
              </a:lnSpc>
              <a:buNone/>
            </a:pPr>
            <a:r>
              <a:rPr lang="en-US" sz="900" dirty="0" err="1">
                <a:solidFill>
                  <a:srgbClr val="DCDCAA"/>
                </a:solidFill>
                <a:latin typeface="Menlo" panose="020B0609030804020204" pitchFamily="49" charset="0"/>
              </a:rPr>
              <a:t>apptainer</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exec</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$BIND</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FASTQC_SIF</a:t>
            </a:r>
            <a:r>
              <a:rPr lang="en-US" sz="900" dirty="0">
                <a:solidFill>
                  <a:srgbClr val="CCCCCC"/>
                </a:solidFill>
                <a:latin typeface="Menlo" panose="020B0609030804020204" pitchFamily="49" charset="0"/>
              </a:rPr>
              <a:t>} </a:t>
            </a:r>
            <a:r>
              <a:rPr lang="en-US" sz="900" dirty="0" err="1">
                <a:solidFill>
                  <a:srgbClr val="CE9178"/>
                </a:solidFill>
                <a:latin typeface="Menlo" panose="020B0609030804020204" pitchFamily="49" charset="0"/>
              </a:rPr>
              <a:t>fastqc</a:t>
            </a:r>
            <a:r>
              <a:rPr lang="en-US" sz="900" dirty="0">
                <a:solidFill>
                  <a:srgbClr val="CCCCCC"/>
                </a:solidFill>
                <a:latin typeface="Menlo" panose="020B0609030804020204" pitchFamily="49" charset="0"/>
              </a:rPr>
              <a:t> </a:t>
            </a:r>
            <a:r>
              <a:rPr lang="en-US" sz="900" dirty="0">
                <a:solidFill>
                  <a:srgbClr val="D7BA7D"/>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569CD6"/>
                </a:solidFill>
                <a:latin typeface="Menlo" panose="020B0609030804020204" pitchFamily="49" charset="0"/>
              </a:rPr>
              <a:t>--threads</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$CPUS</a:t>
            </a:r>
            <a:r>
              <a:rPr lang="en-US" sz="900" dirty="0">
                <a:solidFill>
                  <a:srgbClr val="CCCCCC"/>
                </a:solidFill>
                <a:latin typeface="Menlo" panose="020B0609030804020204" pitchFamily="49" charset="0"/>
              </a:rPr>
              <a:t> </a:t>
            </a:r>
            <a:r>
              <a:rPr lang="en-US" sz="900" dirty="0">
                <a:solidFill>
                  <a:srgbClr val="D7BA7D"/>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569CD6"/>
                </a:solidFill>
                <a:latin typeface="Menlo" panose="020B0609030804020204" pitchFamily="49" charset="0"/>
              </a:rPr>
              <a:t>--</a:t>
            </a:r>
            <a:r>
              <a:rPr lang="en-US" sz="900" dirty="0" err="1">
                <a:solidFill>
                  <a:srgbClr val="569CD6"/>
                </a:solidFill>
                <a:latin typeface="Menlo" panose="020B0609030804020204" pitchFamily="49" charset="0"/>
              </a:rPr>
              <a:t>outdir</a:t>
            </a:r>
            <a:r>
              <a:rPr lang="en-US" sz="900" dirty="0">
                <a:solidFill>
                  <a:srgbClr val="CCCCCC"/>
                </a:solidFill>
                <a:latin typeface="Menlo" panose="020B0609030804020204" pitchFamily="49" charset="0"/>
              </a:rPr>
              <a:t> ${</a:t>
            </a:r>
            <a:r>
              <a:rPr lang="en-US" sz="900" dirty="0">
                <a:solidFill>
                  <a:srgbClr val="9CDCFE"/>
                </a:solidFill>
                <a:latin typeface="Menlo" panose="020B0609030804020204" pitchFamily="49" charset="0"/>
              </a:rPr>
              <a:t>OUT_DIR</a:t>
            </a:r>
            <a:r>
              <a:rPr lang="en-US" sz="900" dirty="0">
                <a:solidFill>
                  <a:srgbClr val="CCCCCC"/>
                </a:solidFill>
                <a:latin typeface="Menlo" panose="020B0609030804020204" pitchFamily="49" charset="0"/>
              </a:rPr>
              <a:t>} </a:t>
            </a:r>
            <a:r>
              <a:rPr lang="en-US" sz="900" dirty="0">
                <a:solidFill>
                  <a:srgbClr val="D7BA7D"/>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CCCCCC"/>
                </a:solidFill>
                <a:latin typeface="Menlo" panose="020B0609030804020204" pitchFamily="49" charset="0"/>
              </a:rPr>
              <a:t>${</a:t>
            </a:r>
            <a:r>
              <a:rPr lang="en-US" sz="900" dirty="0">
                <a:solidFill>
                  <a:srgbClr val="9CDCFE"/>
                </a:solidFill>
                <a:latin typeface="Menlo" panose="020B0609030804020204" pitchFamily="49" charset="0"/>
              </a:rPr>
              <a:t>IN_DIR</a:t>
            </a:r>
            <a:r>
              <a:rPr lang="en-US" sz="900" dirty="0">
                <a:solidFill>
                  <a:srgbClr val="CCCCCC"/>
                </a:solidFill>
                <a:latin typeface="Menlo" panose="020B0609030804020204" pitchFamily="49" charset="0"/>
              </a:rPr>
              <a:t>}</a:t>
            </a:r>
            <a:r>
              <a:rPr lang="en-US" sz="900" dirty="0">
                <a:solidFill>
                  <a:srgbClr val="CE9178"/>
                </a:solidFill>
                <a:latin typeface="Menlo" panose="020B0609030804020204" pitchFamily="49" charset="0"/>
              </a:rPr>
              <a:t>/</a:t>
            </a:r>
            <a:r>
              <a:rPr lang="en-US" sz="900" dirty="0">
                <a:solidFill>
                  <a:srgbClr val="CCCCCC"/>
                </a:solidFill>
                <a:latin typeface="Menlo" panose="020B0609030804020204" pitchFamily="49" charset="0"/>
              </a:rPr>
              <a:t>${</a:t>
            </a:r>
            <a:r>
              <a:rPr lang="en-US" sz="900" dirty="0">
                <a:solidFill>
                  <a:srgbClr val="9CDCFE"/>
                </a:solidFill>
                <a:latin typeface="Menlo" panose="020B0609030804020204" pitchFamily="49" charset="0"/>
              </a:rPr>
              <a:t>SAMPLE</a:t>
            </a:r>
            <a:r>
              <a:rPr lang="en-US" sz="900" dirty="0">
                <a:solidFill>
                  <a:srgbClr val="CCCCCC"/>
                </a:solidFill>
                <a:latin typeface="Menlo" panose="020B0609030804020204" pitchFamily="49" charset="0"/>
              </a:rPr>
              <a:t>}</a:t>
            </a:r>
            <a:endParaRPr lang="en-US" sz="900" dirty="0">
              <a:solidFill>
                <a:srgbClr val="CE9178"/>
              </a:solidFill>
              <a:latin typeface="Menlo" panose="020B0609030804020204" pitchFamily="49" charset="0"/>
            </a:endParaRPr>
          </a:p>
          <a:p>
            <a:pPr>
              <a:lnSpc>
                <a:spcPts val="1350"/>
              </a:lnSpc>
              <a:buNone/>
            </a:pP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Check if FastQC completed successfully</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if</a:t>
            </a:r>
            <a:r>
              <a:rPr lang="en-US" sz="900" dirty="0">
                <a:solidFill>
                  <a:srgbClr val="CCCCCC"/>
                </a:solidFill>
                <a:latin typeface="Menlo" panose="020B0609030804020204" pitchFamily="49" charset="0"/>
              </a:rPr>
              <a:t> [ </a:t>
            </a:r>
            <a:r>
              <a:rPr lang="en-US" sz="900" dirty="0">
                <a:solidFill>
                  <a:srgbClr val="569CD6"/>
                </a:solidFill>
                <a:latin typeface="Menlo" panose="020B0609030804020204" pitchFamily="49" charset="0"/>
              </a:rPr>
              <a:t>$?</a:t>
            </a:r>
            <a:r>
              <a:rPr lang="en-US" sz="900" dirty="0">
                <a:solidFill>
                  <a:srgbClr val="CCCCCC"/>
                </a:solidFill>
                <a:latin typeface="Menlo" panose="020B0609030804020204" pitchFamily="49" charset="0"/>
              </a:rPr>
              <a:t> </a:t>
            </a:r>
            <a:r>
              <a:rPr lang="en-US" sz="900" dirty="0">
                <a:solidFill>
                  <a:srgbClr val="D4D4D4"/>
                </a:solidFill>
                <a:latin typeface="Menlo" panose="020B0609030804020204" pitchFamily="49" charset="0"/>
              </a:rPr>
              <a:t>-eq</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0</a:t>
            </a:r>
            <a:r>
              <a:rPr lang="en-US" sz="900" dirty="0">
                <a:solidFill>
                  <a:srgbClr val="CCCCCC"/>
                </a:solidFill>
                <a:latin typeface="Menlo" panose="020B0609030804020204" pitchFamily="49" charset="0"/>
              </a:rPr>
              <a:t> ]; </a:t>
            </a:r>
            <a:r>
              <a:rPr lang="en-US" sz="900" dirty="0">
                <a:solidFill>
                  <a:srgbClr val="C586C0"/>
                </a:solidFill>
                <a:latin typeface="Menlo" panose="020B0609030804020204" pitchFamily="49" charset="0"/>
              </a:rPr>
              <a:t>then</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"FastQC completed successfully"</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else</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"ERROR: FastQC failed with exit code </a:t>
            </a:r>
            <a:r>
              <a:rPr lang="en-US" sz="900" dirty="0">
                <a:solidFill>
                  <a:srgbClr val="569CD6"/>
                </a:solidFill>
                <a:latin typeface="Menlo" panose="020B0609030804020204" pitchFamily="49" charset="0"/>
              </a:rPr>
              <a:t>$?</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exit</a:t>
            </a:r>
            <a:r>
              <a:rPr lang="en-US" sz="900" dirty="0">
                <a:solidFill>
                  <a:srgbClr val="CCCCCC"/>
                </a:solidFill>
                <a:latin typeface="Menlo" panose="020B0609030804020204" pitchFamily="49" charset="0"/>
              </a:rPr>
              <a:t> </a:t>
            </a:r>
            <a:r>
              <a:rPr lang="en-US" sz="900" dirty="0">
                <a:solidFill>
                  <a:srgbClr val="B5CEA8"/>
                </a:solidFill>
                <a:latin typeface="Menlo" panose="020B0609030804020204" pitchFamily="49" charset="0"/>
              </a:rPr>
              <a:t>1</a:t>
            </a:r>
            <a:endParaRPr lang="en-US" sz="900" dirty="0">
              <a:solidFill>
                <a:srgbClr val="CCCCCC"/>
              </a:solidFill>
              <a:latin typeface="Menlo" panose="020B0609030804020204" pitchFamily="49" charset="0"/>
            </a:endParaRPr>
          </a:p>
          <a:p>
            <a:pPr>
              <a:lnSpc>
                <a:spcPts val="1350"/>
              </a:lnSpc>
              <a:buNone/>
            </a:pPr>
            <a:r>
              <a:rPr lang="en-US" sz="900" dirty="0">
                <a:solidFill>
                  <a:srgbClr val="C586C0"/>
                </a:solidFill>
                <a:latin typeface="Menlo" panose="020B0609030804020204" pitchFamily="49" charset="0"/>
              </a:rPr>
              <a:t>fi</a:t>
            </a:r>
            <a:endParaRPr lang="en-US" sz="900" dirty="0">
              <a:solidFill>
                <a:srgbClr val="CCCCCC"/>
              </a:solidFill>
              <a:latin typeface="Menlo" panose="020B0609030804020204" pitchFamily="49" charset="0"/>
            </a:endParaRPr>
          </a:p>
          <a:p>
            <a:pPr>
              <a:lnSpc>
                <a:spcPts val="1350"/>
              </a:lnSpc>
              <a:buNone/>
            </a:pPr>
            <a:br>
              <a:rPr lang="en-US" sz="900" dirty="0">
                <a:solidFill>
                  <a:srgbClr val="CCCCCC"/>
                </a:solidFill>
                <a:latin typeface="Menlo" panose="020B0609030804020204" pitchFamily="49" charset="0"/>
              </a:rPr>
            </a:b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Job completion</a:t>
            </a:r>
            <a:endParaRPr lang="en-US" sz="900" dirty="0">
              <a:solidFill>
                <a:srgbClr val="CCCCCC"/>
              </a:solidFill>
              <a:latin typeface="Menlo" panose="020B0609030804020204" pitchFamily="49" charset="0"/>
            </a:endParaRPr>
          </a:p>
          <a:p>
            <a:pPr>
              <a:lnSpc>
                <a:spcPts val="1350"/>
              </a:lnSpc>
              <a:buNone/>
            </a:pPr>
            <a:r>
              <a:rPr lang="en-US" sz="900" dirty="0">
                <a:solidFill>
                  <a:srgbClr val="6A9955"/>
                </a:solidFill>
                <a:latin typeface="Menlo" panose="020B0609030804020204" pitchFamily="49" charset="0"/>
              </a:rPr>
              <a:t># --------------------------------------------------</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"Job completed: $(</a:t>
            </a:r>
            <a:r>
              <a:rPr lang="en-US" sz="900" dirty="0">
                <a:solidFill>
                  <a:srgbClr val="DCDCAA"/>
                </a:solidFill>
                <a:latin typeface="Menlo" panose="020B0609030804020204" pitchFamily="49" charset="0"/>
              </a:rPr>
              <a:t>date</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"Results saved to: ${</a:t>
            </a:r>
            <a:r>
              <a:rPr lang="en-US" sz="900" dirty="0">
                <a:solidFill>
                  <a:srgbClr val="9CDCFE"/>
                </a:solidFill>
                <a:latin typeface="Menlo" panose="020B0609030804020204" pitchFamily="49" charset="0"/>
              </a:rPr>
              <a:t>OUT_DIR</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buNone/>
            </a:pPr>
            <a:r>
              <a:rPr lang="en-US" sz="900" dirty="0">
                <a:solidFill>
                  <a:srgbClr val="DCDCAA"/>
                </a:solidFill>
                <a:latin typeface="Menlo" panose="020B0609030804020204" pitchFamily="49" charset="0"/>
              </a:rPr>
              <a:t>echo</a:t>
            </a:r>
            <a:r>
              <a:rPr lang="en-US" sz="900" dirty="0">
                <a:solidFill>
                  <a:srgbClr val="CCCCCC"/>
                </a:solidFill>
                <a:latin typeface="Menlo" panose="020B0609030804020204" pitchFamily="49" charset="0"/>
              </a:rPr>
              <a:t> </a:t>
            </a:r>
            <a:r>
              <a:rPr lang="en-US" sz="900" dirty="0">
                <a:solidFill>
                  <a:srgbClr val="CE9178"/>
                </a:solidFill>
                <a:latin typeface="Menlo" panose="020B0609030804020204" pitchFamily="49" charset="0"/>
              </a:rPr>
              <a:t>"=================================================="</a:t>
            </a:r>
            <a:endParaRPr lang="en-US" sz="900" dirty="0">
              <a:solidFill>
                <a:srgbClr val="CCCCCC"/>
              </a:solidFill>
              <a:latin typeface="Menlo" panose="020B0609030804020204" pitchFamily="49" charset="0"/>
            </a:endParaRPr>
          </a:p>
          <a:p>
            <a:pPr>
              <a:lnSpc>
                <a:spcPts val="1350"/>
              </a:lnSpc>
            </a:pPr>
            <a:endParaRPr lang="en-US" sz="9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endParaRPr lang="en-US" sz="900" b="0" dirty="0">
              <a:solidFill>
                <a:srgbClr val="CCCCCC"/>
              </a:solidFill>
              <a:effectLst/>
              <a:latin typeface="Menlo" panose="020B0609030804020204" pitchFamily="49" charset="0"/>
            </a:endParaRPr>
          </a:p>
        </p:txBody>
      </p:sp>
      <p:pic>
        <p:nvPicPr>
          <p:cNvPr id="10242" name="Picture 2" descr="that escalated quickly | Slang | Dictionary.com">
            <a:extLst>
              <a:ext uri="{FF2B5EF4-FFF2-40B4-BE49-F238E27FC236}">
                <a16:creationId xmlns:a16="http://schemas.microsoft.com/office/drawing/2014/main" id="{B0F4EBE2-12D4-467F-1453-FA2DB5D361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69976" y="2681880"/>
            <a:ext cx="2683824" cy="2683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96597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E949B-0716-23BC-733C-64B116D4DF6F}"/>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DB00A7B0-3D39-1E98-306B-6A10ECE58D5D}"/>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3" name="TextBox 2">
            <a:extLst>
              <a:ext uri="{FF2B5EF4-FFF2-40B4-BE49-F238E27FC236}">
                <a16:creationId xmlns:a16="http://schemas.microsoft.com/office/drawing/2014/main" id="{817E08DA-5F89-E039-2092-41F6D03155D2}"/>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fastqc.lsf</a:t>
            </a:r>
            <a:r>
              <a:rPr lang="en-US" dirty="0"/>
              <a:t>)</a:t>
            </a:r>
          </a:p>
        </p:txBody>
      </p:sp>
      <p:sp>
        <p:nvSpPr>
          <p:cNvPr id="7" name="TextBox 6">
            <a:extLst>
              <a:ext uri="{FF2B5EF4-FFF2-40B4-BE49-F238E27FC236}">
                <a16:creationId xmlns:a16="http://schemas.microsoft.com/office/drawing/2014/main" id="{520BA7AC-F39B-4AA2-E2F0-F5D5A2CE3EA9}"/>
              </a:ext>
            </a:extLst>
          </p:cNvPr>
          <p:cNvSpPr txBox="1"/>
          <p:nvPr/>
        </p:nvSpPr>
        <p:spPr>
          <a:xfrm>
            <a:off x="838200" y="1814511"/>
            <a:ext cx="6096000" cy="4390561"/>
          </a:xfrm>
          <a:prstGeom prst="rect">
            <a:avLst/>
          </a:prstGeom>
          <a:solidFill>
            <a:schemeClr val="tx1"/>
          </a:solidFill>
        </p:spPr>
        <p:txBody>
          <a:bodyPr wrap="square">
            <a:spAutoFit/>
          </a:bodyPr>
          <a:lstStyle/>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Load modules here</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module</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load</a:t>
            </a:r>
            <a:r>
              <a:rPr lang="en-US" sz="1100" b="0" dirty="0">
                <a:solidFill>
                  <a:srgbClr val="CCCCCC"/>
                </a:solidFill>
                <a:effectLst/>
                <a:latin typeface="Menlo" panose="020B0609030804020204" pitchFamily="49" charset="0"/>
              </a:rPr>
              <a:t> </a:t>
            </a:r>
            <a:r>
              <a:rPr lang="en-US" sz="1100" b="0" dirty="0" err="1">
                <a:solidFill>
                  <a:srgbClr val="CE9178"/>
                </a:solidFill>
                <a:effectLst/>
                <a:latin typeface="Menlo" panose="020B0609030804020204" pitchFamily="49" charset="0"/>
              </a:rPr>
              <a:t>apptainer</a:t>
            </a:r>
            <a:endParaRPr lang="en-US" sz="1100" b="0" dirty="0">
              <a:solidFill>
                <a:srgbClr val="CCCCCC"/>
              </a:solidFill>
              <a:effectLst/>
              <a:latin typeface="Menlo" panose="020B0609030804020204" pitchFamily="49" charset="0"/>
            </a:endParaRPr>
          </a:p>
          <a:p>
            <a:pPr>
              <a:lnSpc>
                <a:spcPts val="1350"/>
              </a:lnSpc>
              <a:buNone/>
            </a:pP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Execute commands here</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Print job start information</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"Job started: $(</a:t>
            </a:r>
            <a:r>
              <a:rPr lang="en-US" sz="1100" b="0" dirty="0">
                <a:solidFill>
                  <a:srgbClr val="DCDCAA"/>
                </a:solidFill>
                <a:effectLst/>
                <a:latin typeface="Menlo" panose="020B0609030804020204" pitchFamily="49" charset="0"/>
              </a:rPr>
              <a:t>date</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"Job ID: </a:t>
            </a:r>
            <a:r>
              <a:rPr lang="en-US" sz="1100" b="0" dirty="0">
                <a:solidFill>
                  <a:srgbClr val="9CDCFE"/>
                </a:solidFill>
                <a:effectLst/>
                <a:latin typeface="Menlo" panose="020B0609030804020204" pitchFamily="49" charset="0"/>
              </a:rPr>
              <a:t>$LSB_JOBID</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"Running on host: $(</a:t>
            </a:r>
            <a:r>
              <a:rPr lang="en-US" sz="1100" b="0" dirty="0">
                <a:solidFill>
                  <a:srgbClr val="DCDCAA"/>
                </a:solidFill>
                <a:effectLst/>
                <a:latin typeface="Menlo" panose="020B0609030804020204" pitchFamily="49" charset="0"/>
              </a:rPr>
              <a:t>hostname</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"Working directory: $(</a:t>
            </a:r>
            <a:r>
              <a:rPr lang="en-US" sz="1100" b="0" dirty="0" err="1">
                <a:solidFill>
                  <a:srgbClr val="DCDCAA"/>
                </a:solidFill>
                <a:effectLst/>
                <a:latin typeface="Menlo" panose="020B0609030804020204" pitchFamily="49" charset="0"/>
              </a:rPr>
              <a:t>pwd</a:t>
            </a:r>
            <a:r>
              <a:rPr lang="en-US" sz="1100" b="0" dirty="0">
                <a:solidFill>
                  <a:srgbClr val="CE9178"/>
                </a:solidFill>
                <a:effectLst/>
                <a:latin typeface="Menlo" panose="020B0609030804020204" pitchFamily="49" charset="0"/>
              </a:rPr>
              <a:t>)"</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echo</a:t>
            </a:r>
            <a:r>
              <a:rPr lang="en-US" sz="1100" b="0" dirty="0">
                <a:solidFill>
                  <a:srgbClr val="CCCCCC"/>
                </a:solidFill>
                <a:effectLst/>
                <a:latin typeface="Menlo" panose="020B0609030804020204" pitchFamily="49" charset="0"/>
              </a:rPr>
              <a:t> </a:t>
            </a:r>
            <a:r>
              <a:rPr lang="en-US" sz="1100" b="0" dirty="0">
                <a:solidFill>
                  <a:srgbClr val="CE9178"/>
                </a:solidFill>
                <a:effectLst/>
                <a:latin typeface="Menlo" panose="020B0609030804020204" pitchFamily="49" charset="0"/>
              </a:rPr>
              <a:t>"==================================================”</a:t>
            </a:r>
          </a:p>
          <a:p>
            <a:pPr>
              <a:lnSpc>
                <a:spcPts val="1350"/>
              </a:lnSpc>
              <a:buNone/>
            </a:pPr>
            <a:endParaRPr lang="en-US" sz="1100" dirty="0">
              <a:solidFill>
                <a:srgbClr val="CE9178"/>
              </a:solidFill>
              <a:latin typeface="Menlo" panose="020B0609030804020204" pitchFamily="49" charset="0"/>
            </a:endParaRPr>
          </a:p>
          <a:p>
            <a:pPr>
              <a:lnSpc>
                <a:spcPts val="1350"/>
              </a:lnSpc>
              <a:buNone/>
            </a:pPr>
            <a:r>
              <a:rPr lang="en-US" sz="1100" dirty="0">
                <a:solidFill>
                  <a:srgbClr val="9DDDFE"/>
                </a:solidFill>
                <a:latin typeface="Menlo" panose="020B0609030804020204" pitchFamily="49" charset="0"/>
                <a:ea typeface="Menlo" panose="020B0609030804020204" pitchFamily="49" charset="0"/>
                <a:cs typeface="Menlo" panose="020B0609030804020204" pitchFamily="49" charset="0"/>
              </a:rPr>
              <a:t>FASTQC_SIF</a:t>
            </a:r>
            <a: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11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/admin/containers/images/quay.io_biocontainers_fastqc:0.12.1--hdfd78af_0.sif"</a:t>
            </a:r>
            <a:b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br>
            <a:r>
              <a:rPr lang="en-US" sz="1100" dirty="0">
                <a:solidFill>
                  <a:srgbClr val="9DDDFE"/>
                </a:solidFill>
                <a:latin typeface="Menlo" panose="020B0609030804020204" pitchFamily="49" charset="0"/>
                <a:ea typeface="Menlo" panose="020B0609030804020204" pitchFamily="49" charset="0"/>
                <a:cs typeface="Menlo" panose="020B0609030804020204" pitchFamily="49" charset="0"/>
              </a:rPr>
              <a:t>IN_DIR</a:t>
            </a:r>
            <a: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"/rs1/shares/</a:t>
            </a:r>
            <a:r>
              <a:rPr lang="en-US" sz="1100" dirty="0" err="1">
                <a:solidFill>
                  <a:srgbClr val="CE9178"/>
                </a:solidFill>
                <a:latin typeface="Menlo" panose="020B0609030804020204" pitchFamily="49" charset="0"/>
                <a:ea typeface="Menlo" panose="020B0609030804020204" pitchFamily="49" charset="0"/>
                <a:cs typeface="Menlo" panose="020B0609030804020204" pitchFamily="49" charset="0"/>
              </a:rPr>
              <a:t>brc</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/trainings/</a:t>
            </a:r>
            <a:r>
              <a:rPr lang="en-US" sz="1100" dirty="0" err="1">
                <a:solidFill>
                  <a:srgbClr val="CE9178"/>
                </a:solidFill>
                <a:latin typeface="Menlo" panose="020B0609030804020204" pitchFamily="49" charset="0"/>
                <a:ea typeface="Menlo" panose="020B0609030804020204" pitchFamily="49" charset="0"/>
                <a:cs typeface="Menlo" panose="020B0609030804020204" pitchFamily="49" charset="0"/>
              </a:rPr>
              <a:t>hazel_hpc</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/data"</a:t>
            </a:r>
            <a:b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br>
            <a:r>
              <a:rPr lang="en-US" sz="1100" dirty="0">
                <a:solidFill>
                  <a:srgbClr val="9DDDFE"/>
                </a:solidFill>
                <a:latin typeface="Menlo" panose="020B0609030804020204" pitchFamily="49" charset="0"/>
                <a:ea typeface="Menlo" panose="020B0609030804020204" pitchFamily="49" charset="0"/>
                <a:cs typeface="Menlo" panose="020B0609030804020204" pitchFamily="49" charset="0"/>
              </a:rPr>
              <a:t>SAMPLE</a:t>
            </a:r>
            <a:r>
              <a:rPr lang="en-US" sz="1100" dirty="0">
                <a:solidFill>
                  <a:schemeClr val="bg1"/>
                </a:solidFill>
                <a:latin typeface="Menlo" panose="020B0609030804020204" pitchFamily="49" charset="0"/>
                <a:ea typeface="Menlo" panose="020B0609030804020204" pitchFamily="49" charset="0"/>
                <a:cs typeface="Menlo" panose="020B0609030804020204" pitchFamily="49" charset="0"/>
              </a:rPr>
              <a:t>=</a:t>
            </a:r>
            <a:r>
              <a:rPr lang="en-US" sz="1100" dirty="0">
                <a:solidFill>
                  <a:srgbClr val="CE9178"/>
                </a:solidFill>
                <a:latin typeface="Menlo" panose="020B0609030804020204" pitchFamily="49" charset="0"/>
                <a:ea typeface="Menlo" panose="020B0609030804020204" pitchFamily="49" charset="0"/>
                <a:cs typeface="Menlo" panose="020B0609030804020204" pitchFamily="49" charset="0"/>
              </a:rPr>
              <a:t>"sample_001”</a:t>
            </a:r>
          </a:p>
          <a:p>
            <a:pPr>
              <a:lnSpc>
                <a:spcPts val="1350"/>
              </a:lnSpc>
              <a:buNone/>
            </a:pPr>
            <a:endPar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pPr>
            <a:r>
              <a:rPr lang="en-US" sz="1100" b="0" dirty="0" err="1">
                <a:solidFill>
                  <a:srgbClr val="DCDDAA"/>
                </a:solidFill>
                <a:effectLst/>
                <a:latin typeface="Menlo" panose="020B0609030804020204" pitchFamily="49" charset="0"/>
                <a:ea typeface="Menlo" panose="020B0609030804020204" pitchFamily="49" charset="0"/>
                <a:cs typeface="Menlo" panose="020B0609030804020204" pitchFamily="49" charset="0"/>
              </a:rPr>
              <a:t>mkdir</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 </a:t>
            </a:r>
            <a:r>
              <a:rPr lang="en-US" sz="1100" b="0" dirty="0">
                <a:solidFill>
                  <a:srgbClr val="DCDDAA"/>
                </a:solidFill>
                <a:effectLst/>
                <a:latin typeface="Menlo" panose="020B0609030804020204" pitchFamily="49" charset="0"/>
                <a:ea typeface="Menlo" panose="020B0609030804020204" pitchFamily="49" charset="0"/>
                <a:cs typeface="Menlo" panose="020B0609030804020204" pitchFamily="49" charset="0"/>
              </a:rPr>
              <a:t>-p </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b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br>
            <a:r>
              <a:rPr lang="en-US" sz="1100" b="0" dirty="0">
                <a:solidFill>
                  <a:srgbClr val="9DDDFE"/>
                </a:solidFill>
                <a:effectLst/>
                <a:latin typeface="Menlo" panose="020B0609030804020204" pitchFamily="49" charset="0"/>
                <a:ea typeface="Menlo" panose="020B0609030804020204" pitchFamily="49" charset="0"/>
                <a:cs typeface="Menlo" panose="020B0609030804020204" pitchFamily="49" charset="0"/>
              </a:rPr>
              <a:t>OUT_DIR</a:t>
            </a:r>
            <a:r>
              <a:rPr lang="en-US" sz="1100" b="0" dirty="0">
                <a:solidFill>
                  <a:schemeClr val="bg1"/>
                </a:solidFill>
                <a:effectLst/>
                <a:latin typeface="Menlo" panose="020B0609030804020204" pitchFamily="49" charset="0"/>
                <a:ea typeface="Menlo" panose="020B0609030804020204" pitchFamily="49" charset="0"/>
                <a:cs typeface="Menlo" panose="020B0609030804020204" pitchFamily="49" charset="0"/>
              </a:rPr>
              <a:t>=</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"/path/to/working/</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dir</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r>
              <a:rPr lang="en-US" sz="1100" b="0" dirty="0" err="1">
                <a:solidFill>
                  <a:srgbClr val="CE9178"/>
                </a:solidFill>
                <a:effectLst/>
                <a:latin typeface="Menlo" panose="020B0609030804020204" pitchFamily="49" charset="0"/>
                <a:ea typeface="Menlo" panose="020B0609030804020204" pitchFamily="49" charset="0"/>
                <a:cs typeface="Menlo" panose="020B0609030804020204" pitchFamily="49" charset="0"/>
              </a:rPr>
              <a:t>fastqc_results</a:t>
            </a:r>
            <a:r>
              <a:rPr lang="en-US" sz="1100" b="0" dirty="0">
                <a:solidFill>
                  <a:srgbClr val="CE9178"/>
                </a:solidFill>
                <a:effectLst/>
                <a:latin typeface="Menlo" panose="020B0609030804020204" pitchFamily="49" charset="0"/>
                <a:ea typeface="Menlo" panose="020B0609030804020204" pitchFamily="49" charset="0"/>
                <a:cs typeface="Menlo" panose="020B0609030804020204" pitchFamily="49" charset="0"/>
              </a:rPr>
              <a:t>"</a:t>
            </a:r>
          </a:p>
          <a:p>
            <a:pPr>
              <a:lnSpc>
                <a:spcPts val="1350"/>
              </a:lnSpc>
              <a:buNone/>
            </a:pPr>
            <a:endParaRPr lang="en-US" sz="1100" b="0" dirty="0">
              <a:solidFill>
                <a:srgbClr val="CCCCCC"/>
              </a:solidFill>
              <a:effectLst/>
              <a:latin typeface="Menlo" panose="020B0609030804020204" pitchFamily="49" charset="0"/>
            </a:endParaRPr>
          </a:p>
        </p:txBody>
      </p:sp>
      <p:sp>
        <p:nvSpPr>
          <p:cNvPr id="2" name="TextBox 1">
            <a:extLst>
              <a:ext uri="{FF2B5EF4-FFF2-40B4-BE49-F238E27FC236}">
                <a16:creationId xmlns:a16="http://schemas.microsoft.com/office/drawing/2014/main" id="{B5861578-899A-199D-56DF-5A9ADD76F729}"/>
              </a:ext>
            </a:extLst>
          </p:cNvPr>
          <p:cNvSpPr txBox="1"/>
          <p:nvPr/>
        </p:nvSpPr>
        <p:spPr>
          <a:xfrm>
            <a:off x="7204151" y="2317666"/>
            <a:ext cx="376263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Load software (container manager)</a:t>
            </a:r>
          </a:p>
        </p:txBody>
      </p:sp>
      <p:sp>
        <p:nvSpPr>
          <p:cNvPr id="4" name="TextBox 3">
            <a:extLst>
              <a:ext uri="{FF2B5EF4-FFF2-40B4-BE49-F238E27FC236}">
                <a16:creationId xmlns:a16="http://schemas.microsoft.com/office/drawing/2014/main" id="{00A706A2-9881-7FEF-0BDB-DDDFC0B8AEBF}"/>
              </a:ext>
            </a:extLst>
          </p:cNvPr>
          <p:cNvSpPr txBox="1"/>
          <p:nvPr/>
        </p:nvSpPr>
        <p:spPr>
          <a:xfrm>
            <a:off x="7204151" y="3801671"/>
            <a:ext cx="328051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a:t>
            </a:r>
            <a:r>
              <a:rPr lang="en-US" dirty="0">
                <a:solidFill>
                  <a:schemeClr val="accent6">
                    <a:lumMod val="75000"/>
                  </a:schemeClr>
                </a:solidFill>
              </a:rPr>
              <a:t>Info for me to monitor the job</a:t>
            </a:r>
          </a:p>
        </p:txBody>
      </p:sp>
      <p:sp>
        <p:nvSpPr>
          <p:cNvPr id="5" name="TextBox 4">
            <a:extLst>
              <a:ext uri="{FF2B5EF4-FFF2-40B4-BE49-F238E27FC236}">
                <a16:creationId xmlns:a16="http://schemas.microsoft.com/office/drawing/2014/main" id="{69A201C9-03FB-3377-22A0-B9B98C33B380}"/>
              </a:ext>
            </a:extLst>
          </p:cNvPr>
          <p:cNvSpPr txBox="1"/>
          <p:nvPr/>
        </p:nvSpPr>
        <p:spPr>
          <a:xfrm>
            <a:off x="7190753" y="5101010"/>
            <a:ext cx="4151778"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Creating variables with the info needed</a:t>
            </a:r>
            <a:endParaRPr lang="en-US" dirty="0">
              <a:solidFill>
                <a:schemeClr val="accent6">
                  <a:lumMod val="75000"/>
                </a:schemeClr>
              </a:solidFill>
            </a:endParaRPr>
          </a:p>
        </p:txBody>
      </p:sp>
    </p:spTree>
    <p:extLst>
      <p:ext uri="{BB962C8B-B14F-4D97-AF65-F5344CB8AC3E}">
        <p14:creationId xmlns:p14="http://schemas.microsoft.com/office/powerpoint/2010/main" val="455689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BADBA-F6F8-7D30-9B3A-D713A216EA1C}"/>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263E88C7-09E2-AF5F-794E-084825DAE410}"/>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3" name="TextBox 2">
            <a:extLst>
              <a:ext uri="{FF2B5EF4-FFF2-40B4-BE49-F238E27FC236}">
                <a16:creationId xmlns:a16="http://schemas.microsoft.com/office/drawing/2014/main" id="{8761F26C-ACE7-57F3-DB4D-34E3716C4BB1}"/>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fastqc.lsf</a:t>
            </a:r>
            <a:r>
              <a:rPr lang="en-US" dirty="0"/>
              <a:t>)</a:t>
            </a:r>
          </a:p>
        </p:txBody>
      </p:sp>
      <p:sp>
        <p:nvSpPr>
          <p:cNvPr id="7" name="TextBox 6">
            <a:extLst>
              <a:ext uri="{FF2B5EF4-FFF2-40B4-BE49-F238E27FC236}">
                <a16:creationId xmlns:a16="http://schemas.microsoft.com/office/drawing/2014/main" id="{ADE6BAED-746A-266B-7B4A-4A12D2D28D27}"/>
              </a:ext>
            </a:extLst>
          </p:cNvPr>
          <p:cNvSpPr txBox="1"/>
          <p:nvPr/>
        </p:nvSpPr>
        <p:spPr>
          <a:xfrm>
            <a:off x="838200" y="1951865"/>
            <a:ext cx="6096000" cy="2774734"/>
          </a:xfrm>
          <a:prstGeom prst="rect">
            <a:avLst/>
          </a:prstGeom>
          <a:solidFill>
            <a:schemeClr val="tx1"/>
          </a:solidFill>
        </p:spPr>
        <p:txBody>
          <a:bodyPr wrap="square">
            <a:spAutoFit/>
          </a:bodyPr>
          <a:lstStyle/>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Validate inputs</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Check if container exists</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if</a:t>
            </a:r>
            <a:r>
              <a:rPr lang="en-US" sz="1100" dirty="0">
                <a:solidFill>
                  <a:srgbClr val="CCCCCC"/>
                </a:solidFill>
                <a:latin typeface="Menlo" panose="020B0609030804020204" pitchFamily="49" charset="0"/>
              </a:rPr>
              <a:t> [ </a:t>
            </a:r>
            <a:r>
              <a:rPr lang="en-US" sz="1100" dirty="0">
                <a:solidFill>
                  <a:srgbClr val="D4D4D4"/>
                </a:solidFill>
                <a:latin typeface="Menlo" panose="020B0609030804020204" pitchFamily="49" charset="0"/>
              </a:rPr>
              <a:t>!</a:t>
            </a:r>
            <a:r>
              <a:rPr lang="en-US" sz="1100" dirty="0">
                <a:solidFill>
                  <a:srgbClr val="CCCCCC"/>
                </a:solidFill>
                <a:latin typeface="Menlo" panose="020B0609030804020204" pitchFamily="49" charset="0"/>
              </a:rPr>
              <a:t> </a:t>
            </a:r>
            <a:r>
              <a:rPr lang="en-US" sz="1100" dirty="0">
                <a:solidFill>
                  <a:srgbClr val="D4D4D4"/>
                </a:solidFill>
                <a:latin typeface="Menlo" panose="020B0609030804020204" pitchFamily="49" charset="0"/>
              </a:rPr>
              <a:t>-f</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r>
              <a:rPr lang="en-US" sz="1100" dirty="0">
                <a:solidFill>
                  <a:srgbClr val="9CDCFE"/>
                </a:solidFill>
                <a:latin typeface="Menlo" panose="020B0609030804020204" pitchFamily="49" charset="0"/>
              </a:rPr>
              <a:t>FASTQC_SIF</a:t>
            </a:r>
            <a:r>
              <a:rPr lang="en-US" sz="1100" dirty="0">
                <a:solidFill>
                  <a:srgbClr val="CE9178"/>
                </a:solidFill>
                <a:latin typeface="Menlo" panose="020B0609030804020204" pitchFamily="49" charset="0"/>
              </a:rPr>
              <a:t>}"</a:t>
            </a:r>
            <a:r>
              <a:rPr lang="en-US" sz="1100" dirty="0">
                <a:solidFill>
                  <a:srgbClr val="CCCCCC"/>
                </a:solidFill>
                <a:latin typeface="Menlo" panose="020B0609030804020204" pitchFamily="49" charset="0"/>
              </a:rPr>
              <a:t> ]; </a:t>
            </a:r>
            <a:r>
              <a:rPr lang="en-US" sz="1100" dirty="0">
                <a:solidFill>
                  <a:srgbClr val="C586C0"/>
                </a:solidFill>
                <a:latin typeface="Menlo" panose="020B0609030804020204" pitchFamily="49" charset="0"/>
              </a:rPr>
              <a:t>then</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"ERROR: Container not found at ${</a:t>
            </a:r>
            <a:r>
              <a:rPr lang="en-US" sz="1100" dirty="0">
                <a:solidFill>
                  <a:srgbClr val="9CDCFE"/>
                </a:solidFill>
                <a:latin typeface="Menlo" panose="020B0609030804020204" pitchFamily="49" charset="0"/>
              </a:rPr>
              <a:t>FASTQC_SIF</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exit</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1</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fi</a:t>
            </a:r>
            <a:endParaRPr lang="en-US" sz="1100" dirty="0">
              <a:solidFill>
                <a:srgbClr val="CCCCCC"/>
              </a:solidFill>
              <a:latin typeface="Menlo" panose="020B0609030804020204" pitchFamily="49" charset="0"/>
            </a:endParaRPr>
          </a:p>
          <a:p>
            <a:pPr>
              <a:lnSpc>
                <a:spcPts val="1350"/>
              </a:lnSpc>
              <a:buNone/>
            </a:pP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Check if input directory exists</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if</a:t>
            </a:r>
            <a:r>
              <a:rPr lang="en-US" sz="1100" dirty="0">
                <a:solidFill>
                  <a:srgbClr val="CCCCCC"/>
                </a:solidFill>
                <a:latin typeface="Menlo" panose="020B0609030804020204" pitchFamily="49" charset="0"/>
              </a:rPr>
              <a:t> [ </a:t>
            </a:r>
            <a:r>
              <a:rPr lang="en-US" sz="1100" dirty="0">
                <a:solidFill>
                  <a:srgbClr val="D4D4D4"/>
                </a:solidFill>
                <a:latin typeface="Menlo" panose="020B0609030804020204" pitchFamily="49" charset="0"/>
              </a:rPr>
              <a:t>!</a:t>
            </a:r>
            <a:r>
              <a:rPr lang="en-US" sz="1100" dirty="0">
                <a:solidFill>
                  <a:srgbClr val="CCCCCC"/>
                </a:solidFill>
                <a:latin typeface="Menlo" panose="020B0609030804020204" pitchFamily="49" charset="0"/>
              </a:rPr>
              <a:t> </a:t>
            </a:r>
            <a:r>
              <a:rPr lang="en-US" sz="1100" dirty="0">
                <a:solidFill>
                  <a:srgbClr val="D4D4D4"/>
                </a:solidFill>
                <a:latin typeface="Menlo" panose="020B0609030804020204" pitchFamily="49" charset="0"/>
              </a:rPr>
              <a:t>-d</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r>
              <a:rPr lang="en-US" sz="1100" dirty="0">
                <a:solidFill>
                  <a:srgbClr val="9CDCFE"/>
                </a:solidFill>
                <a:latin typeface="Menlo" panose="020B0609030804020204" pitchFamily="49" charset="0"/>
              </a:rPr>
              <a:t>IN_DIR</a:t>
            </a:r>
            <a:r>
              <a:rPr lang="en-US" sz="1100" dirty="0">
                <a:solidFill>
                  <a:srgbClr val="CE9178"/>
                </a:solidFill>
                <a:latin typeface="Menlo" panose="020B0609030804020204" pitchFamily="49" charset="0"/>
              </a:rPr>
              <a:t>}"</a:t>
            </a:r>
            <a:r>
              <a:rPr lang="en-US" sz="1100" dirty="0">
                <a:solidFill>
                  <a:srgbClr val="CCCCCC"/>
                </a:solidFill>
                <a:latin typeface="Menlo" panose="020B0609030804020204" pitchFamily="49" charset="0"/>
              </a:rPr>
              <a:t> ]; </a:t>
            </a:r>
            <a:r>
              <a:rPr lang="en-US" sz="1100" dirty="0">
                <a:solidFill>
                  <a:srgbClr val="C586C0"/>
                </a:solidFill>
                <a:latin typeface="Menlo" panose="020B0609030804020204" pitchFamily="49" charset="0"/>
              </a:rPr>
              <a:t>then</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"ERROR: Input directory not found at ${</a:t>
            </a:r>
            <a:r>
              <a:rPr lang="en-US" sz="1100" dirty="0">
                <a:solidFill>
                  <a:srgbClr val="9CDCFE"/>
                </a:solidFill>
                <a:latin typeface="Menlo" panose="020B0609030804020204" pitchFamily="49" charset="0"/>
              </a:rPr>
              <a:t>IN_DIR</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exit</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1</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fi</a:t>
            </a:r>
            <a:endParaRPr lang="en-US" sz="1100" dirty="0">
              <a:solidFill>
                <a:srgbClr val="CCCCCC"/>
              </a:solidFill>
              <a:latin typeface="Menlo" panose="020B0609030804020204" pitchFamily="49" charset="0"/>
            </a:endParaRPr>
          </a:p>
          <a:p>
            <a:pPr>
              <a:lnSpc>
                <a:spcPts val="1350"/>
              </a:lnSpc>
              <a:buNone/>
            </a:pPr>
            <a:endParaRPr lang="en-US" sz="1100" b="0" dirty="0">
              <a:solidFill>
                <a:srgbClr val="CCCCCC"/>
              </a:solidFill>
              <a:effectLst/>
              <a:latin typeface="Menlo" panose="020B0609030804020204" pitchFamily="49" charset="0"/>
            </a:endParaRPr>
          </a:p>
        </p:txBody>
      </p:sp>
      <p:sp>
        <p:nvSpPr>
          <p:cNvPr id="2" name="TextBox 1">
            <a:extLst>
              <a:ext uri="{FF2B5EF4-FFF2-40B4-BE49-F238E27FC236}">
                <a16:creationId xmlns:a16="http://schemas.microsoft.com/office/drawing/2014/main" id="{58E74479-8F97-6D43-12E1-002E38C494A1}"/>
              </a:ext>
            </a:extLst>
          </p:cNvPr>
          <p:cNvSpPr txBox="1"/>
          <p:nvPr/>
        </p:nvSpPr>
        <p:spPr>
          <a:xfrm>
            <a:off x="7314321" y="3154566"/>
            <a:ext cx="466916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Making sure everything is where it should be</a:t>
            </a:r>
            <a:endParaRPr lang="en-US" dirty="0">
              <a:solidFill>
                <a:schemeClr val="accent6">
                  <a:lumMod val="75000"/>
                </a:schemeClr>
              </a:solidFill>
            </a:endParaRPr>
          </a:p>
        </p:txBody>
      </p:sp>
    </p:spTree>
    <p:extLst>
      <p:ext uri="{BB962C8B-B14F-4D97-AF65-F5344CB8AC3E}">
        <p14:creationId xmlns:p14="http://schemas.microsoft.com/office/powerpoint/2010/main" val="1593980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C1497-B769-E591-A7D8-12A6004EF7F6}"/>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E54DD196-307E-44F3-671E-5CEAD3701AC8}"/>
              </a:ext>
            </a:extLst>
          </p:cNvPr>
          <p:cNvSpPr>
            <a:spLocks noGrp="1"/>
          </p:cNvSpPr>
          <p:nvPr>
            <p:ph type="title"/>
          </p:nvPr>
        </p:nvSpPr>
        <p:spPr>
          <a:xfrm>
            <a:off x="838200" y="365125"/>
            <a:ext cx="10515600" cy="1325563"/>
          </a:xfrm>
        </p:spPr>
        <p:txBody>
          <a:bodyPr/>
          <a:lstStyle/>
          <a:p>
            <a:r>
              <a:rPr lang="en-US" dirty="0"/>
              <a:t>Anatomy of a job script</a:t>
            </a:r>
          </a:p>
        </p:txBody>
      </p:sp>
      <p:sp>
        <p:nvSpPr>
          <p:cNvPr id="3" name="TextBox 2">
            <a:extLst>
              <a:ext uri="{FF2B5EF4-FFF2-40B4-BE49-F238E27FC236}">
                <a16:creationId xmlns:a16="http://schemas.microsoft.com/office/drawing/2014/main" id="{2E78DB04-4FF0-24B1-7BE3-699162579345}"/>
              </a:ext>
            </a:extLst>
          </p:cNvPr>
          <p:cNvSpPr txBox="1"/>
          <p:nvPr/>
        </p:nvSpPr>
        <p:spPr>
          <a:xfrm>
            <a:off x="768527" y="137103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fastqc.lsf</a:t>
            </a:r>
            <a:r>
              <a:rPr lang="en-US" dirty="0"/>
              <a:t>)</a:t>
            </a:r>
          </a:p>
        </p:txBody>
      </p:sp>
      <p:sp>
        <p:nvSpPr>
          <p:cNvPr id="7" name="TextBox 6">
            <a:extLst>
              <a:ext uri="{FF2B5EF4-FFF2-40B4-BE49-F238E27FC236}">
                <a16:creationId xmlns:a16="http://schemas.microsoft.com/office/drawing/2014/main" id="{3B941D03-DAEB-F44A-A87F-2800BE2F77A2}"/>
              </a:ext>
            </a:extLst>
          </p:cNvPr>
          <p:cNvSpPr txBox="1"/>
          <p:nvPr/>
        </p:nvSpPr>
        <p:spPr>
          <a:xfrm>
            <a:off x="838200" y="1740370"/>
            <a:ext cx="6096000" cy="4929170"/>
          </a:xfrm>
          <a:prstGeom prst="rect">
            <a:avLst/>
          </a:prstGeom>
          <a:solidFill>
            <a:schemeClr val="tx1"/>
          </a:solidFill>
        </p:spPr>
        <p:txBody>
          <a:bodyPr wrap="square">
            <a:spAutoFit/>
          </a:bodyPr>
          <a:lstStyle/>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Execute FastQC</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"Running FastQC on sample: ${</a:t>
            </a:r>
            <a:r>
              <a:rPr lang="en-US" sz="1100" dirty="0">
                <a:solidFill>
                  <a:srgbClr val="9CDCFE"/>
                </a:solidFill>
                <a:latin typeface="Menlo" panose="020B0609030804020204" pitchFamily="49" charset="0"/>
              </a:rPr>
              <a:t>SAMPLE</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endParaRPr lang="en-US" sz="1100" dirty="0">
              <a:solidFill>
                <a:srgbClr val="CCCCCC"/>
              </a:solidFill>
              <a:latin typeface="Menlo" panose="020B0609030804020204" pitchFamily="49" charset="0"/>
            </a:endParaRPr>
          </a:p>
          <a:p>
            <a:pPr>
              <a:lnSpc>
                <a:spcPts val="1350"/>
              </a:lnSpc>
              <a:buNone/>
            </a:pPr>
            <a:r>
              <a:rPr lang="en-US" sz="1100" dirty="0" err="1">
                <a:solidFill>
                  <a:srgbClr val="DCDCAA"/>
                </a:solidFill>
                <a:latin typeface="Menlo" panose="020B0609030804020204" pitchFamily="49" charset="0"/>
              </a:rPr>
              <a:t>apptainer</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exec</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$BIND</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FASTQC_SIF</a:t>
            </a:r>
            <a:r>
              <a:rPr lang="en-US" sz="1100" dirty="0">
                <a:solidFill>
                  <a:srgbClr val="CCCCCC"/>
                </a:solidFill>
                <a:latin typeface="Menlo" panose="020B0609030804020204" pitchFamily="49" charset="0"/>
              </a:rPr>
              <a:t>} </a:t>
            </a:r>
            <a:r>
              <a:rPr lang="en-US" sz="1100" dirty="0" err="1">
                <a:solidFill>
                  <a:srgbClr val="CE9178"/>
                </a:solidFill>
                <a:latin typeface="Menlo" panose="020B0609030804020204" pitchFamily="49" charset="0"/>
              </a:rPr>
              <a:t>fastqc</a:t>
            </a:r>
            <a:r>
              <a:rPr lang="en-US" sz="1100" dirty="0">
                <a:solidFill>
                  <a:srgbClr val="CCCCCC"/>
                </a:solidFill>
                <a:latin typeface="Menlo" panose="020B0609030804020204" pitchFamily="49" charset="0"/>
              </a:rPr>
              <a:t> </a:t>
            </a:r>
            <a:r>
              <a:rPr lang="en-US" sz="1100" dirty="0">
                <a:solidFill>
                  <a:srgbClr val="D7BA7D"/>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569CD6"/>
                </a:solidFill>
                <a:latin typeface="Menlo" panose="020B0609030804020204" pitchFamily="49" charset="0"/>
              </a:rPr>
              <a:t>--threads</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$CPUS</a:t>
            </a:r>
            <a:r>
              <a:rPr lang="en-US" sz="1100" dirty="0">
                <a:solidFill>
                  <a:srgbClr val="CCCCCC"/>
                </a:solidFill>
                <a:latin typeface="Menlo" panose="020B0609030804020204" pitchFamily="49" charset="0"/>
              </a:rPr>
              <a:t> </a:t>
            </a:r>
            <a:r>
              <a:rPr lang="en-US" sz="1100" dirty="0">
                <a:solidFill>
                  <a:srgbClr val="D7BA7D"/>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569CD6"/>
                </a:solidFill>
                <a:latin typeface="Menlo" panose="020B0609030804020204" pitchFamily="49" charset="0"/>
              </a:rPr>
              <a:t>--</a:t>
            </a:r>
            <a:r>
              <a:rPr lang="en-US" sz="1100" dirty="0" err="1">
                <a:solidFill>
                  <a:srgbClr val="569CD6"/>
                </a:solidFill>
                <a:latin typeface="Menlo" panose="020B0609030804020204" pitchFamily="49" charset="0"/>
              </a:rPr>
              <a:t>outdir</a:t>
            </a:r>
            <a:r>
              <a:rPr lang="en-US" sz="1100" dirty="0">
                <a:solidFill>
                  <a:srgbClr val="CCCCCC"/>
                </a:solidFill>
                <a:latin typeface="Menlo" panose="020B0609030804020204" pitchFamily="49" charset="0"/>
              </a:rPr>
              <a:t> ${</a:t>
            </a:r>
            <a:r>
              <a:rPr lang="en-US" sz="1100" dirty="0">
                <a:solidFill>
                  <a:srgbClr val="9CDCFE"/>
                </a:solidFill>
                <a:latin typeface="Menlo" panose="020B0609030804020204" pitchFamily="49" charset="0"/>
              </a:rPr>
              <a:t>OUT_DIR</a:t>
            </a:r>
            <a:r>
              <a:rPr lang="en-US" sz="1100" dirty="0">
                <a:solidFill>
                  <a:srgbClr val="CCCCCC"/>
                </a:solidFill>
                <a:latin typeface="Menlo" panose="020B0609030804020204" pitchFamily="49" charset="0"/>
              </a:rPr>
              <a:t>} </a:t>
            </a:r>
            <a:r>
              <a:rPr lang="en-US" sz="1100" dirty="0">
                <a:solidFill>
                  <a:srgbClr val="D7BA7D"/>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pPr>
            <a:r>
              <a:rPr lang="en-US" sz="1100" dirty="0">
                <a:solidFill>
                  <a:srgbClr val="CCCCCC"/>
                </a:solidFill>
                <a:latin typeface="Menlo" panose="020B0609030804020204" pitchFamily="49" charset="0"/>
              </a:rPr>
              <a:t>${</a:t>
            </a:r>
            <a:r>
              <a:rPr lang="en-US" sz="1100" dirty="0">
                <a:solidFill>
                  <a:srgbClr val="9CDCFE"/>
                </a:solidFill>
                <a:latin typeface="Menlo" panose="020B0609030804020204" pitchFamily="49" charset="0"/>
              </a:rPr>
              <a:t>IN_DIR</a:t>
            </a:r>
            <a:r>
              <a:rPr lang="en-US" sz="1100" dirty="0">
                <a:solidFill>
                  <a:srgbClr val="CCCCCC"/>
                </a:solidFill>
                <a:latin typeface="Menlo" panose="020B0609030804020204" pitchFamily="49" charset="0"/>
              </a:rPr>
              <a:t>}</a:t>
            </a:r>
            <a:r>
              <a:rPr lang="en-US" sz="1100" dirty="0">
                <a:solidFill>
                  <a:srgbClr val="CE9178"/>
                </a:solidFill>
                <a:latin typeface="Menlo" panose="020B0609030804020204" pitchFamily="49" charset="0"/>
              </a:rPr>
              <a:t>/</a:t>
            </a:r>
            <a:r>
              <a:rPr lang="en-US" sz="1100" dirty="0">
                <a:solidFill>
                  <a:srgbClr val="CCCCCC"/>
                </a:solidFill>
                <a:latin typeface="Menlo" panose="020B0609030804020204" pitchFamily="49" charset="0"/>
              </a:rPr>
              <a:t>${</a:t>
            </a:r>
            <a:r>
              <a:rPr lang="en-US" sz="1100" dirty="0">
                <a:solidFill>
                  <a:srgbClr val="9CDCFE"/>
                </a:solidFill>
                <a:latin typeface="Menlo" panose="020B0609030804020204" pitchFamily="49" charset="0"/>
              </a:rPr>
              <a:t>SAMPLE</a:t>
            </a:r>
            <a:r>
              <a:rPr lang="en-US" sz="1100" dirty="0">
                <a:solidFill>
                  <a:srgbClr val="CCCCCC"/>
                </a:solidFill>
                <a:latin typeface="Menlo" panose="020B0609030804020204" pitchFamily="49" charset="0"/>
              </a:rPr>
              <a:t>}</a:t>
            </a:r>
            <a:r>
              <a:rPr lang="en-US" sz="1100" dirty="0">
                <a:solidFill>
                  <a:srgbClr val="CE9178"/>
                </a:solidFill>
                <a:latin typeface="Menlo" panose="020B0609030804020204" pitchFamily="49" charset="0"/>
              </a:rPr>
              <a:t>_*.</a:t>
            </a:r>
            <a:r>
              <a:rPr lang="en-US" sz="1100" dirty="0" err="1">
                <a:solidFill>
                  <a:srgbClr val="CE9178"/>
                </a:solidFill>
                <a:latin typeface="Menlo" panose="020B0609030804020204" pitchFamily="49" charset="0"/>
              </a:rPr>
              <a:t>fastq</a:t>
            </a:r>
            <a:r>
              <a:rPr lang="en-US" sz="1100" dirty="0">
                <a:solidFill>
                  <a:srgbClr val="CE9178"/>
                </a:solidFill>
                <a:latin typeface="Menlo" panose="020B0609030804020204" pitchFamily="49" charset="0"/>
              </a:rPr>
              <a:t>*</a:t>
            </a:r>
          </a:p>
          <a:p>
            <a:pPr>
              <a:lnSpc>
                <a:spcPts val="1350"/>
              </a:lnSpc>
            </a:pPr>
            <a:endParaRPr lang="en-US" sz="1100" dirty="0">
              <a:solidFill>
                <a:srgbClr val="CE9178"/>
              </a:solidFill>
              <a:latin typeface="Menlo" panose="020B0609030804020204" pitchFamily="49" charset="0"/>
            </a:endParaRPr>
          </a:p>
          <a:p>
            <a:pPr>
              <a:lnSpc>
                <a:spcPts val="1350"/>
              </a:lnSpc>
              <a:buNone/>
            </a:pP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Check if FastQC completed successfully</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if</a:t>
            </a:r>
            <a:r>
              <a:rPr lang="en-US" sz="1100" dirty="0">
                <a:solidFill>
                  <a:srgbClr val="CCCCCC"/>
                </a:solidFill>
                <a:latin typeface="Menlo" panose="020B0609030804020204" pitchFamily="49" charset="0"/>
              </a:rPr>
              <a:t> [ </a:t>
            </a:r>
            <a:r>
              <a:rPr lang="en-US" sz="1100" dirty="0">
                <a:solidFill>
                  <a:srgbClr val="569CD6"/>
                </a:solidFill>
                <a:latin typeface="Menlo" panose="020B0609030804020204" pitchFamily="49" charset="0"/>
              </a:rPr>
              <a:t>$?</a:t>
            </a:r>
            <a:r>
              <a:rPr lang="en-US" sz="1100" dirty="0">
                <a:solidFill>
                  <a:srgbClr val="CCCCCC"/>
                </a:solidFill>
                <a:latin typeface="Menlo" panose="020B0609030804020204" pitchFamily="49" charset="0"/>
              </a:rPr>
              <a:t> </a:t>
            </a:r>
            <a:r>
              <a:rPr lang="en-US" sz="1100" dirty="0">
                <a:solidFill>
                  <a:srgbClr val="D4D4D4"/>
                </a:solidFill>
                <a:latin typeface="Menlo" panose="020B0609030804020204" pitchFamily="49" charset="0"/>
              </a:rPr>
              <a:t>-eq</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0</a:t>
            </a:r>
            <a:r>
              <a:rPr lang="en-US" sz="1100" dirty="0">
                <a:solidFill>
                  <a:srgbClr val="CCCCCC"/>
                </a:solidFill>
                <a:latin typeface="Menlo" panose="020B0609030804020204" pitchFamily="49" charset="0"/>
              </a:rPr>
              <a:t> ]; </a:t>
            </a:r>
            <a:r>
              <a:rPr lang="en-US" sz="1100" dirty="0">
                <a:solidFill>
                  <a:srgbClr val="C586C0"/>
                </a:solidFill>
                <a:latin typeface="Menlo" panose="020B0609030804020204" pitchFamily="49" charset="0"/>
              </a:rPr>
              <a:t>then</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"FastQC completed successfully"</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else</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"ERROR: FastQC failed with exit code </a:t>
            </a:r>
            <a:r>
              <a:rPr lang="en-US" sz="1100" dirty="0">
                <a:solidFill>
                  <a:srgbClr val="569CD6"/>
                </a:solidFill>
                <a:latin typeface="Menlo" panose="020B0609030804020204" pitchFamily="49" charset="0"/>
              </a:rPr>
              <a:t>$?</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exit</a:t>
            </a:r>
            <a:r>
              <a:rPr lang="en-US" sz="1100" dirty="0">
                <a:solidFill>
                  <a:srgbClr val="CCCCCC"/>
                </a:solidFill>
                <a:latin typeface="Menlo" panose="020B0609030804020204" pitchFamily="49" charset="0"/>
              </a:rPr>
              <a:t> </a:t>
            </a:r>
            <a:r>
              <a:rPr lang="en-US" sz="1100" dirty="0">
                <a:solidFill>
                  <a:srgbClr val="B5CEA8"/>
                </a:solidFill>
                <a:latin typeface="Menlo" panose="020B0609030804020204" pitchFamily="49" charset="0"/>
              </a:rPr>
              <a:t>1</a:t>
            </a:r>
            <a:endParaRPr lang="en-US" sz="1100" dirty="0">
              <a:solidFill>
                <a:srgbClr val="CCCCCC"/>
              </a:solidFill>
              <a:latin typeface="Menlo" panose="020B0609030804020204" pitchFamily="49" charset="0"/>
            </a:endParaRPr>
          </a:p>
          <a:p>
            <a:pPr>
              <a:lnSpc>
                <a:spcPts val="1350"/>
              </a:lnSpc>
              <a:buNone/>
            </a:pPr>
            <a:r>
              <a:rPr lang="en-US" sz="1100" dirty="0">
                <a:solidFill>
                  <a:srgbClr val="C586C0"/>
                </a:solidFill>
                <a:latin typeface="Menlo" panose="020B0609030804020204" pitchFamily="49" charset="0"/>
              </a:rPr>
              <a:t>fi</a:t>
            </a:r>
            <a:endParaRPr lang="en-US" sz="1100" dirty="0">
              <a:solidFill>
                <a:srgbClr val="CCCCCC"/>
              </a:solidFill>
              <a:latin typeface="Menlo" panose="020B0609030804020204" pitchFamily="49" charset="0"/>
            </a:endParaRPr>
          </a:p>
          <a:p>
            <a:pPr>
              <a:lnSpc>
                <a:spcPts val="1350"/>
              </a:lnSpc>
              <a:buNone/>
            </a:pPr>
            <a:br>
              <a:rPr lang="en-US" sz="1100" dirty="0">
                <a:solidFill>
                  <a:srgbClr val="CCCCCC"/>
                </a:solidFill>
                <a:latin typeface="Menlo" panose="020B0609030804020204" pitchFamily="49" charset="0"/>
              </a:rPr>
            </a:b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Job completion</a:t>
            </a:r>
            <a:endParaRPr lang="en-US" sz="1100" dirty="0">
              <a:solidFill>
                <a:srgbClr val="CCCCCC"/>
              </a:solidFill>
              <a:latin typeface="Menlo" panose="020B0609030804020204" pitchFamily="49" charset="0"/>
            </a:endParaRPr>
          </a:p>
          <a:p>
            <a:pPr>
              <a:lnSpc>
                <a:spcPts val="1350"/>
              </a:lnSpc>
              <a:buNone/>
            </a:pPr>
            <a:r>
              <a:rPr lang="en-US" sz="1100" dirty="0">
                <a:solidFill>
                  <a:srgbClr val="6A9955"/>
                </a:solidFill>
                <a:latin typeface="Menlo" panose="020B0609030804020204" pitchFamily="49" charset="0"/>
              </a:rPr>
              <a:t># --------------------------------------------------</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"Job completed: $(</a:t>
            </a:r>
            <a:r>
              <a:rPr lang="en-US" sz="1100" dirty="0">
                <a:solidFill>
                  <a:srgbClr val="DCDCAA"/>
                </a:solidFill>
                <a:latin typeface="Menlo" panose="020B0609030804020204" pitchFamily="49" charset="0"/>
              </a:rPr>
              <a:t>date</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"Results saved to: ${</a:t>
            </a:r>
            <a:r>
              <a:rPr lang="en-US" sz="1100" dirty="0">
                <a:solidFill>
                  <a:srgbClr val="9CDCFE"/>
                </a:solidFill>
                <a:latin typeface="Menlo" panose="020B0609030804020204" pitchFamily="49" charset="0"/>
              </a:rPr>
              <a:t>OUT_DIR</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a:p>
            <a:pPr>
              <a:lnSpc>
                <a:spcPts val="1350"/>
              </a:lnSpc>
              <a:buNone/>
            </a:pPr>
            <a:r>
              <a:rPr lang="en-US" sz="1100" dirty="0">
                <a:solidFill>
                  <a:srgbClr val="DCDCAA"/>
                </a:solidFill>
                <a:latin typeface="Menlo" panose="020B0609030804020204" pitchFamily="49" charset="0"/>
              </a:rPr>
              <a:t>echo</a:t>
            </a:r>
            <a:r>
              <a:rPr lang="en-US" sz="1100" dirty="0">
                <a:solidFill>
                  <a:srgbClr val="CCCCCC"/>
                </a:solidFill>
                <a:latin typeface="Menlo" panose="020B0609030804020204" pitchFamily="49" charset="0"/>
              </a:rPr>
              <a:t> </a:t>
            </a:r>
            <a:r>
              <a:rPr lang="en-US" sz="1100" dirty="0">
                <a:solidFill>
                  <a:srgbClr val="CE9178"/>
                </a:solidFill>
                <a:latin typeface="Menlo" panose="020B0609030804020204" pitchFamily="49" charset="0"/>
              </a:rPr>
              <a:t>"=================================================="</a:t>
            </a:r>
            <a:endParaRPr lang="en-US" sz="1100" dirty="0">
              <a:solidFill>
                <a:srgbClr val="CCCCCC"/>
              </a:solidFill>
              <a:latin typeface="Menlo" panose="020B0609030804020204" pitchFamily="49" charset="0"/>
            </a:endParaRPr>
          </a:p>
        </p:txBody>
      </p:sp>
      <p:sp>
        <p:nvSpPr>
          <p:cNvPr id="2" name="TextBox 1">
            <a:extLst>
              <a:ext uri="{FF2B5EF4-FFF2-40B4-BE49-F238E27FC236}">
                <a16:creationId xmlns:a16="http://schemas.microsoft.com/office/drawing/2014/main" id="{3C74E445-1218-E0FD-A9CC-D00815EC98E2}"/>
              </a:ext>
            </a:extLst>
          </p:cNvPr>
          <p:cNvSpPr txBox="1"/>
          <p:nvPr/>
        </p:nvSpPr>
        <p:spPr>
          <a:xfrm>
            <a:off x="7108375" y="2802653"/>
            <a:ext cx="1975541"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Executing </a:t>
            </a:r>
            <a:r>
              <a:rPr lang="en-US" dirty="0" err="1">
                <a:solidFill>
                  <a:schemeClr val="accent6">
                    <a:lumMod val="75000"/>
                  </a:schemeClr>
                </a:solidFill>
                <a:sym typeface="Wingdings" pitchFamily="2" charset="2"/>
              </a:rPr>
              <a:t>fastqc</a:t>
            </a:r>
            <a:endParaRPr lang="en-US" dirty="0">
              <a:solidFill>
                <a:schemeClr val="accent6">
                  <a:lumMod val="75000"/>
                </a:schemeClr>
              </a:solidFill>
            </a:endParaRPr>
          </a:p>
        </p:txBody>
      </p:sp>
      <p:sp>
        <p:nvSpPr>
          <p:cNvPr id="4" name="TextBox 3">
            <a:extLst>
              <a:ext uri="{FF2B5EF4-FFF2-40B4-BE49-F238E27FC236}">
                <a16:creationId xmlns:a16="http://schemas.microsoft.com/office/drawing/2014/main" id="{58450522-A0AB-100B-7738-55E67F9F7557}"/>
              </a:ext>
            </a:extLst>
          </p:cNvPr>
          <p:cNvSpPr txBox="1"/>
          <p:nvPr/>
        </p:nvSpPr>
        <p:spPr>
          <a:xfrm>
            <a:off x="7108375" y="4204955"/>
            <a:ext cx="2427331"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Checking completion</a:t>
            </a:r>
            <a:endParaRPr lang="en-US" dirty="0">
              <a:solidFill>
                <a:schemeClr val="accent6">
                  <a:lumMod val="75000"/>
                </a:schemeClr>
              </a:solidFill>
            </a:endParaRPr>
          </a:p>
        </p:txBody>
      </p:sp>
      <p:sp>
        <p:nvSpPr>
          <p:cNvPr id="5" name="TextBox 4">
            <a:extLst>
              <a:ext uri="{FF2B5EF4-FFF2-40B4-BE49-F238E27FC236}">
                <a16:creationId xmlns:a16="http://schemas.microsoft.com/office/drawing/2014/main" id="{2854E549-F846-FD04-7F9C-F40B58118702}"/>
              </a:ext>
            </a:extLst>
          </p:cNvPr>
          <p:cNvSpPr txBox="1"/>
          <p:nvPr/>
        </p:nvSpPr>
        <p:spPr>
          <a:xfrm>
            <a:off x="7108374" y="5864879"/>
            <a:ext cx="3854773" cy="369332"/>
          </a:xfrm>
          <a:prstGeom prst="rect">
            <a:avLst/>
          </a:prstGeom>
          <a:noFill/>
        </p:spPr>
        <p:txBody>
          <a:bodyPr wrap="none" rtlCol="0">
            <a:spAutoFit/>
          </a:bodyPr>
          <a:lstStyle/>
          <a:p>
            <a:r>
              <a:rPr lang="en-US" dirty="0">
                <a:solidFill>
                  <a:schemeClr val="accent6">
                    <a:lumMod val="75000"/>
                  </a:schemeClr>
                </a:solidFill>
                <a:sym typeface="Wingdings" pitchFamily="2" charset="2"/>
              </a:rPr>
              <a:t> Last piece of info about job finishing</a:t>
            </a:r>
            <a:endParaRPr lang="en-US" dirty="0">
              <a:solidFill>
                <a:schemeClr val="accent6">
                  <a:lumMod val="75000"/>
                </a:schemeClr>
              </a:solidFill>
            </a:endParaRPr>
          </a:p>
        </p:txBody>
      </p:sp>
    </p:spTree>
    <p:extLst>
      <p:ext uri="{BB962C8B-B14F-4D97-AF65-F5344CB8AC3E}">
        <p14:creationId xmlns:p14="http://schemas.microsoft.com/office/powerpoint/2010/main" val="2711379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D8ECB-FB4D-37F3-8A7B-5E852E4E5586}"/>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AB1DA2C5-64DC-0D69-C8D6-37D83EEDA979}"/>
              </a:ext>
            </a:extLst>
          </p:cNvPr>
          <p:cNvSpPr>
            <a:spLocks noGrp="1"/>
          </p:cNvSpPr>
          <p:nvPr>
            <p:ph type="title"/>
          </p:nvPr>
        </p:nvSpPr>
        <p:spPr>
          <a:xfrm>
            <a:off x="838200" y="365125"/>
            <a:ext cx="10515600" cy="1325563"/>
          </a:xfrm>
        </p:spPr>
        <p:txBody>
          <a:bodyPr/>
          <a:lstStyle/>
          <a:p>
            <a:r>
              <a:rPr lang="en-US" dirty="0"/>
              <a:t>Monitoring jobs</a:t>
            </a:r>
          </a:p>
        </p:txBody>
      </p:sp>
      <p:graphicFrame>
        <p:nvGraphicFramePr>
          <p:cNvPr id="6" name="Table 5">
            <a:extLst>
              <a:ext uri="{FF2B5EF4-FFF2-40B4-BE49-F238E27FC236}">
                <a16:creationId xmlns:a16="http://schemas.microsoft.com/office/drawing/2014/main" id="{6233BCAE-DB0A-09FB-83F4-09421FE686E3}"/>
              </a:ext>
            </a:extLst>
          </p:cNvPr>
          <p:cNvGraphicFramePr>
            <a:graphicFrameLocks noGrp="1"/>
          </p:cNvGraphicFramePr>
          <p:nvPr>
            <p:extLst>
              <p:ext uri="{D42A27DB-BD31-4B8C-83A1-F6EECF244321}">
                <p14:modId xmlns:p14="http://schemas.microsoft.com/office/powerpoint/2010/main" val="10081048"/>
              </p:ext>
            </p:extLst>
          </p:nvPr>
        </p:nvGraphicFramePr>
        <p:xfrm>
          <a:off x="1471222" y="1752657"/>
          <a:ext cx="9511875" cy="4414652"/>
        </p:xfrm>
        <a:graphic>
          <a:graphicData uri="http://schemas.openxmlformats.org/drawingml/2006/table">
            <a:tbl>
              <a:tblPr>
                <a:tableStyleId>{5940675A-B579-460E-94D1-54222C63F5DA}</a:tableStyleId>
              </a:tblPr>
              <a:tblGrid>
                <a:gridCol w="2449989">
                  <a:extLst>
                    <a:ext uri="{9D8B030D-6E8A-4147-A177-3AD203B41FA5}">
                      <a16:colId xmlns:a16="http://schemas.microsoft.com/office/drawing/2014/main" val="781737231"/>
                    </a:ext>
                  </a:extLst>
                </a:gridCol>
                <a:gridCol w="2133600">
                  <a:extLst>
                    <a:ext uri="{9D8B030D-6E8A-4147-A177-3AD203B41FA5}">
                      <a16:colId xmlns:a16="http://schemas.microsoft.com/office/drawing/2014/main" val="2929326273"/>
                    </a:ext>
                  </a:extLst>
                </a:gridCol>
                <a:gridCol w="4928286">
                  <a:extLst>
                    <a:ext uri="{9D8B030D-6E8A-4147-A177-3AD203B41FA5}">
                      <a16:colId xmlns:a16="http://schemas.microsoft.com/office/drawing/2014/main" val="1393478982"/>
                    </a:ext>
                  </a:extLst>
                </a:gridCol>
              </a:tblGrid>
              <a:tr h="200061">
                <a:tc>
                  <a:txBody>
                    <a:bodyPr/>
                    <a:lstStyle/>
                    <a:p>
                      <a:pPr algn="l">
                        <a:buNone/>
                      </a:pPr>
                      <a:r>
                        <a:rPr lang="en-US" sz="1400" b="1">
                          <a:effectLst/>
                        </a:rPr>
                        <a:t>Command Category</a:t>
                      </a:r>
                      <a:endParaRPr lang="en-US" sz="1400" b="1">
                        <a:effectLst/>
                        <a:latin typeface="+mn-lt"/>
                      </a:endParaRPr>
                    </a:p>
                  </a:txBody>
                  <a:tcPr marL="50015" marR="50015" marT="25008" marB="25008">
                    <a:solidFill>
                      <a:schemeClr val="bg1">
                        <a:lumMod val="95000"/>
                      </a:schemeClr>
                    </a:solidFill>
                  </a:tcPr>
                </a:tc>
                <a:tc>
                  <a:txBody>
                    <a:bodyPr/>
                    <a:lstStyle/>
                    <a:p>
                      <a:pPr algn="l">
                        <a:buNone/>
                      </a:pPr>
                      <a:r>
                        <a:rPr lang="en-US" sz="1400" b="1">
                          <a:effectLst/>
                        </a:rPr>
                        <a:t>Command Syntax</a:t>
                      </a:r>
                      <a:endParaRPr lang="en-US" sz="1400" b="1">
                        <a:effectLst/>
                        <a:latin typeface="+mn-lt"/>
                      </a:endParaRPr>
                    </a:p>
                  </a:txBody>
                  <a:tcPr marL="50015" marR="50015" marT="25008" marB="25008">
                    <a:solidFill>
                      <a:schemeClr val="bg1">
                        <a:lumMod val="95000"/>
                      </a:schemeClr>
                    </a:solidFill>
                  </a:tcPr>
                </a:tc>
                <a:tc>
                  <a:txBody>
                    <a:bodyPr/>
                    <a:lstStyle/>
                    <a:p>
                      <a:pPr algn="l">
                        <a:buNone/>
                      </a:pPr>
                      <a:r>
                        <a:rPr lang="en-US" sz="1400" b="1" dirty="0">
                          <a:effectLst/>
                        </a:rPr>
                        <a:t>Description</a:t>
                      </a:r>
                      <a:endParaRPr lang="en-US" sz="1400" b="1" dirty="0">
                        <a:effectLst/>
                        <a:latin typeface="+mn-lt"/>
                      </a:endParaRPr>
                    </a:p>
                  </a:txBody>
                  <a:tcPr marL="50015" marR="50015" marT="25008" marB="25008">
                    <a:solidFill>
                      <a:schemeClr val="bg1">
                        <a:lumMod val="95000"/>
                      </a:schemeClr>
                    </a:solidFill>
                  </a:tcPr>
                </a:tc>
                <a:extLst>
                  <a:ext uri="{0D108BD9-81ED-4DB2-BD59-A6C34878D82A}">
                    <a16:rowId xmlns:a16="http://schemas.microsoft.com/office/drawing/2014/main" val="1939979122"/>
                  </a:ext>
                </a:extLst>
              </a:tr>
              <a:tr h="950292">
                <a:tc>
                  <a:txBody>
                    <a:bodyPr/>
                    <a:lstStyle/>
                    <a:p>
                      <a:pPr algn="l">
                        <a:buNone/>
                      </a:pPr>
                      <a:r>
                        <a:rPr lang="en-US" sz="1400" b="0">
                          <a:effectLst/>
                        </a:rPr>
                        <a:t>Submission</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bsub &lt; yourjob.sh</a:t>
                      </a:r>
                      <a:endParaRPr lang="en-US" sz="1400">
                        <a:effectLst/>
                        <a:latin typeface="+mn-lt"/>
                      </a:endParaRPr>
                    </a:p>
                  </a:txBody>
                  <a:tcPr marL="50015" marR="50015" marT="25008" marB="25008"/>
                </a:tc>
                <a:tc>
                  <a:txBody>
                    <a:bodyPr/>
                    <a:lstStyle/>
                    <a:p>
                      <a:pPr algn="l">
                        <a:buNone/>
                      </a:pPr>
                      <a:r>
                        <a:rPr lang="en-US" sz="1400" b="1" dirty="0">
                          <a:effectLst/>
                        </a:rPr>
                        <a:t>Submits</a:t>
                      </a:r>
                      <a:r>
                        <a:rPr lang="en-US" sz="1400" dirty="0">
                          <a:effectLst/>
                        </a:rPr>
                        <a:t> the job script (</a:t>
                      </a:r>
                      <a:r>
                        <a:rPr lang="en-US" sz="1400" b="0" dirty="0" err="1">
                          <a:solidFill>
                            <a:srgbClr val="7D12BA"/>
                          </a:solidFill>
                          <a:effectLst/>
                        </a:rPr>
                        <a:t>yourjob.sh</a:t>
                      </a:r>
                      <a:r>
                        <a:rPr lang="en-US" sz="1400" dirty="0">
                          <a:effectLst/>
                        </a:rPr>
                        <a:t>) to the LSF scheduler. The scheduler processes the </a:t>
                      </a:r>
                      <a:r>
                        <a:rPr lang="en-US" sz="1400" b="0" dirty="0">
                          <a:solidFill>
                            <a:srgbClr val="7D12BA"/>
                          </a:solidFill>
                          <a:effectLst/>
                        </a:rPr>
                        <a:t>#BSUB</a:t>
                      </a:r>
                      <a:r>
                        <a:rPr lang="en-US" sz="1400" dirty="0">
                          <a:effectLst/>
                        </a:rPr>
                        <a:t> directives within the script.</a:t>
                      </a:r>
                      <a:endParaRPr lang="en-US" sz="1400" dirty="0">
                        <a:effectLst/>
                        <a:latin typeface="+mn-lt"/>
                      </a:endParaRPr>
                    </a:p>
                  </a:txBody>
                  <a:tcPr marL="50015" marR="50015" marT="25008" marB="25008"/>
                </a:tc>
                <a:extLst>
                  <a:ext uri="{0D108BD9-81ED-4DB2-BD59-A6C34878D82A}">
                    <a16:rowId xmlns:a16="http://schemas.microsoft.com/office/drawing/2014/main" val="2217222555"/>
                  </a:ext>
                </a:extLst>
              </a:tr>
              <a:tr h="650200">
                <a:tc>
                  <a:txBody>
                    <a:bodyPr/>
                    <a:lstStyle/>
                    <a:p>
                      <a:pPr algn="l">
                        <a:buNone/>
                      </a:pPr>
                      <a:r>
                        <a:rPr lang="en-US" sz="1400" b="0">
                          <a:effectLst/>
                        </a:rPr>
                        <a:t>Status Check</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bjobs</a:t>
                      </a:r>
                      <a:endParaRPr lang="en-US" sz="1400">
                        <a:effectLst/>
                        <a:latin typeface="+mn-lt"/>
                      </a:endParaRPr>
                    </a:p>
                  </a:txBody>
                  <a:tcPr marL="50015" marR="50015" marT="25008" marB="25008"/>
                </a:tc>
                <a:tc>
                  <a:txBody>
                    <a:bodyPr/>
                    <a:lstStyle/>
                    <a:p>
                      <a:pPr algn="l">
                        <a:buNone/>
                      </a:pPr>
                      <a:r>
                        <a:rPr lang="en-US" sz="1400">
                          <a:effectLst/>
                        </a:rPr>
                        <a:t>Displays a list of </a:t>
                      </a:r>
                      <a:r>
                        <a:rPr lang="en-US" sz="1400" b="1">
                          <a:effectLst/>
                        </a:rPr>
                        <a:t>all your jobs</a:t>
                      </a:r>
                      <a:r>
                        <a:rPr lang="en-US" sz="1400">
                          <a:effectLst/>
                        </a:rPr>
                        <a:t> (running, pending, suspended, etc.) and their current status.</a:t>
                      </a:r>
                      <a:endParaRPr lang="en-US" sz="1400">
                        <a:effectLst/>
                        <a:latin typeface="+mn-lt"/>
                      </a:endParaRPr>
                    </a:p>
                  </a:txBody>
                  <a:tcPr marL="50015" marR="50015" marT="25008" marB="25008"/>
                </a:tc>
                <a:extLst>
                  <a:ext uri="{0D108BD9-81ED-4DB2-BD59-A6C34878D82A}">
                    <a16:rowId xmlns:a16="http://schemas.microsoft.com/office/drawing/2014/main" val="186152943"/>
                  </a:ext>
                </a:extLst>
              </a:tr>
              <a:tr h="950292">
                <a:tc>
                  <a:txBody>
                    <a:bodyPr/>
                    <a:lstStyle/>
                    <a:p>
                      <a:pPr algn="l">
                        <a:buNone/>
                      </a:pPr>
                      <a:r>
                        <a:rPr lang="en-US" sz="1400" b="0">
                          <a:effectLst/>
                        </a:rPr>
                        <a:t>Detailed Status</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bjobs -l [JOBID]</a:t>
                      </a:r>
                      <a:endParaRPr lang="en-US" sz="1400">
                        <a:effectLst/>
                        <a:latin typeface="+mn-lt"/>
                      </a:endParaRPr>
                    </a:p>
                  </a:txBody>
                  <a:tcPr marL="50015" marR="50015" marT="25008" marB="25008"/>
                </a:tc>
                <a:tc>
                  <a:txBody>
                    <a:bodyPr/>
                    <a:lstStyle/>
                    <a:p>
                      <a:pPr algn="l">
                        <a:buNone/>
                      </a:pPr>
                      <a:r>
                        <a:rPr lang="en-US" sz="1400">
                          <a:effectLst/>
                        </a:rPr>
                        <a:t>Provides a </a:t>
                      </a:r>
                      <a:r>
                        <a:rPr lang="en-US" sz="1400" b="1">
                          <a:effectLst/>
                        </a:rPr>
                        <a:t>detailed report</a:t>
                      </a:r>
                      <a:r>
                        <a:rPr lang="en-US" sz="1400">
                          <a:effectLst/>
                        </a:rPr>
                        <a:t> on a specific job, including the execution host, resource usage, and waiting reasons (if pending).</a:t>
                      </a:r>
                      <a:endParaRPr lang="en-US" sz="1400">
                        <a:effectLst/>
                        <a:latin typeface="+mn-lt"/>
                      </a:endParaRPr>
                    </a:p>
                  </a:txBody>
                  <a:tcPr marL="50015" marR="50015" marT="25008" marB="25008"/>
                </a:tc>
                <a:extLst>
                  <a:ext uri="{0D108BD9-81ED-4DB2-BD59-A6C34878D82A}">
                    <a16:rowId xmlns:a16="http://schemas.microsoft.com/office/drawing/2014/main" val="653568873"/>
                  </a:ext>
                </a:extLst>
              </a:tr>
              <a:tr h="800246">
                <a:tc>
                  <a:txBody>
                    <a:bodyPr/>
                    <a:lstStyle/>
                    <a:p>
                      <a:pPr algn="l">
                        <a:buNone/>
                      </a:pPr>
                      <a:r>
                        <a:rPr lang="en-US" sz="1400" b="0">
                          <a:effectLst/>
                        </a:rPr>
                        <a:t>Termination</a:t>
                      </a:r>
                      <a:endParaRPr lang="en-US" sz="1400" b="0">
                        <a:effectLst/>
                        <a:latin typeface="+mn-lt"/>
                      </a:endParaRPr>
                    </a:p>
                  </a:txBody>
                  <a:tcPr marL="50015" marR="50015" marT="25008" marB="25008"/>
                </a:tc>
                <a:tc>
                  <a:txBody>
                    <a:bodyPr/>
                    <a:lstStyle/>
                    <a:p>
                      <a:pPr algn="l">
                        <a:buNone/>
                      </a:pPr>
                      <a:r>
                        <a:rPr lang="en-US" sz="1400" b="0">
                          <a:solidFill>
                            <a:srgbClr val="7D12BA"/>
                          </a:solidFill>
                          <a:effectLst/>
                        </a:rPr>
                        <a:t>bkill [JOBID]</a:t>
                      </a:r>
                      <a:endParaRPr lang="en-US" sz="1400">
                        <a:effectLst/>
                        <a:latin typeface="+mn-lt"/>
                      </a:endParaRPr>
                    </a:p>
                  </a:txBody>
                  <a:tcPr marL="50015" marR="50015" marT="25008" marB="25008"/>
                </a:tc>
                <a:tc>
                  <a:txBody>
                    <a:bodyPr/>
                    <a:lstStyle/>
                    <a:p>
                      <a:pPr algn="l">
                        <a:buNone/>
                      </a:pPr>
                      <a:r>
                        <a:rPr lang="en-US" sz="1400" b="1">
                          <a:effectLst/>
                        </a:rPr>
                        <a:t>Terminates</a:t>
                      </a:r>
                      <a:r>
                        <a:rPr lang="en-US" sz="1400">
                          <a:effectLst/>
                        </a:rPr>
                        <a:t> (kills) a running or pending job instantly. Use this if your job is faulty or you no longer need the results.</a:t>
                      </a:r>
                      <a:endParaRPr lang="en-US" sz="1400">
                        <a:effectLst/>
                        <a:latin typeface="+mn-lt"/>
                      </a:endParaRPr>
                    </a:p>
                  </a:txBody>
                  <a:tcPr marL="50015" marR="50015" marT="25008" marB="25008"/>
                </a:tc>
                <a:extLst>
                  <a:ext uri="{0D108BD9-81ED-4DB2-BD59-A6C34878D82A}">
                    <a16:rowId xmlns:a16="http://schemas.microsoft.com/office/drawing/2014/main" val="1323761484"/>
                  </a:ext>
                </a:extLst>
              </a:tr>
              <a:tr h="800246">
                <a:tc>
                  <a:txBody>
                    <a:bodyPr/>
                    <a:lstStyle/>
                    <a:p>
                      <a:pPr algn="l">
                        <a:buNone/>
                      </a:pPr>
                      <a:r>
                        <a:rPr lang="en-US" sz="1400" b="0" dirty="0">
                          <a:effectLst/>
                        </a:rPr>
                        <a:t>Resource Inquiry</a:t>
                      </a:r>
                      <a:endParaRPr lang="en-US" sz="1400" b="0" dirty="0">
                        <a:effectLst/>
                        <a:latin typeface="+mn-lt"/>
                      </a:endParaRPr>
                    </a:p>
                  </a:txBody>
                  <a:tcPr marL="50015" marR="50015" marT="25008" marB="25008"/>
                </a:tc>
                <a:tc>
                  <a:txBody>
                    <a:bodyPr/>
                    <a:lstStyle/>
                    <a:p>
                      <a:pPr algn="l">
                        <a:buNone/>
                      </a:pPr>
                      <a:r>
                        <a:rPr lang="en-US" sz="1400" b="0">
                          <a:solidFill>
                            <a:srgbClr val="7D12BA"/>
                          </a:solidFill>
                          <a:effectLst/>
                        </a:rPr>
                        <a:t>bhosts</a:t>
                      </a:r>
                      <a:endParaRPr lang="en-US" sz="1400">
                        <a:effectLst/>
                        <a:latin typeface="+mn-lt"/>
                      </a:endParaRPr>
                    </a:p>
                  </a:txBody>
                  <a:tcPr marL="50015" marR="50015" marT="25008" marB="25008"/>
                </a:tc>
                <a:tc>
                  <a:txBody>
                    <a:bodyPr/>
                    <a:lstStyle/>
                    <a:p>
                      <a:pPr algn="l">
                        <a:buNone/>
                      </a:pPr>
                      <a:r>
                        <a:rPr lang="en-US" sz="1400" dirty="0">
                          <a:effectLst/>
                        </a:rPr>
                        <a:t>Shows the </a:t>
                      </a:r>
                      <a:r>
                        <a:rPr lang="en-US" sz="1400" b="1" dirty="0">
                          <a:effectLst/>
                        </a:rPr>
                        <a:t>status of the compute nodes</a:t>
                      </a:r>
                      <a:r>
                        <a:rPr lang="en-US" sz="1400" dirty="0">
                          <a:effectLst/>
                        </a:rPr>
                        <a:t> in the cluster, indicating which are available, busy, or otherwise unavailable.</a:t>
                      </a:r>
                      <a:endParaRPr lang="en-US" sz="1400" dirty="0">
                        <a:effectLst/>
                        <a:latin typeface="+mn-lt"/>
                      </a:endParaRPr>
                    </a:p>
                  </a:txBody>
                  <a:tcPr marL="50015" marR="50015" marT="25008" marB="25008"/>
                </a:tc>
                <a:extLst>
                  <a:ext uri="{0D108BD9-81ED-4DB2-BD59-A6C34878D82A}">
                    <a16:rowId xmlns:a16="http://schemas.microsoft.com/office/drawing/2014/main" val="2845520113"/>
                  </a:ext>
                </a:extLst>
              </a:tr>
            </a:tbl>
          </a:graphicData>
        </a:graphic>
      </p:graphicFrame>
    </p:spTree>
    <p:extLst>
      <p:ext uri="{BB962C8B-B14F-4D97-AF65-F5344CB8AC3E}">
        <p14:creationId xmlns:p14="http://schemas.microsoft.com/office/powerpoint/2010/main" val="16938799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A6BC08F-7471-5381-1F2F-2D002CE9911B}"/>
              </a:ext>
            </a:extLst>
          </p:cNvPr>
          <p:cNvSpPr>
            <a:spLocks noGrp="1"/>
          </p:cNvSpPr>
          <p:nvPr>
            <p:ph idx="1"/>
          </p:nvPr>
        </p:nvSpPr>
        <p:spPr/>
        <p:txBody>
          <a:bodyPr/>
          <a:lstStyle/>
          <a:p>
            <a:r>
              <a:rPr lang="en-US" dirty="0"/>
              <a:t>Write a job script </a:t>
            </a:r>
            <a:r>
              <a:rPr lang="en-US" i="1" dirty="0">
                <a:solidFill>
                  <a:schemeClr val="bg1">
                    <a:lumMod val="65000"/>
                  </a:schemeClr>
                </a:solidFill>
              </a:rPr>
              <a:t>(it can do anything, make a directory, move something, remove something, doesn’t matter)</a:t>
            </a:r>
          </a:p>
          <a:p>
            <a:r>
              <a:rPr lang="en-US" dirty="0"/>
              <a:t>Submit it with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bsub</a:t>
            </a:r>
            <a:r>
              <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rPr>
              <a:t> &lt;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jobname.lsf</a:t>
            </a:r>
            <a:endPar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r>
              <a:rPr lang="en-US" dirty="0"/>
              <a:t>Explore the standard error and output</a:t>
            </a:r>
          </a:p>
          <a:p>
            <a:r>
              <a:rPr lang="en-US" dirty="0"/>
              <a:t>“Babysit” it with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bjobs</a:t>
            </a:r>
            <a:endPar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r>
              <a:rPr lang="en-US" dirty="0"/>
              <a:t>If it is not done cancel it with </a:t>
            </a:r>
            <a:r>
              <a:rPr lang="en-US" sz="2400" dirty="0" err="1">
                <a:solidFill>
                  <a:schemeClr val="accent6"/>
                </a:solidFill>
                <a:latin typeface="Menlo" panose="020B0609030804020204" pitchFamily="49" charset="0"/>
                <a:ea typeface="Menlo" panose="020B0609030804020204" pitchFamily="49" charset="0"/>
                <a:cs typeface="Menlo" panose="020B0609030804020204" pitchFamily="49" charset="0"/>
              </a:rPr>
              <a:t>bkill</a:t>
            </a:r>
            <a:r>
              <a:rPr lang="en-US" sz="2400" dirty="0">
                <a:solidFill>
                  <a:schemeClr val="accent6"/>
                </a:solidFill>
                <a:latin typeface="Menlo" panose="020B0609030804020204" pitchFamily="49" charset="0"/>
                <a:ea typeface="Menlo" panose="020B0609030804020204" pitchFamily="49" charset="0"/>
                <a:cs typeface="Menlo" panose="020B0609030804020204" pitchFamily="49" charset="0"/>
              </a:rPr>
              <a:t> [JOBID]</a:t>
            </a:r>
            <a:endParaRPr lang="en-US" dirty="0">
              <a:solidFill>
                <a:schemeClr val="accent6"/>
              </a:solidFill>
              <a:latin typeface="Menlo" panose="020B0609030804020204" pitchFamily="49" charset="0"/>
              <a:ea typeface="Menlo" panose="020B0609030804020204" pitchFamily="49" charset="0"/>
              <a:cs typeface="Menlo" panose="020B0609030804020204" pitchFamily="49" charset="0"/>
            </a:endParaRPr>
          </a:p>
        </p:txBody>
      </p:sp>
      <p:sp>
        <p:nvSpPr>
          <p:cNvPr id="4" name="Title 1">
            <a:extLst>
              <a:ext uri="{FF2B5EF4-FFF2-40B4-BE49-F238E27FC236}">
                <a16:creationId xmlns:a16="http://schemas.microsoft.com/office/drawing/2014/main" id="{ECB8D682-E264-0FB3-69A8-A207DD6418E3}"/>
              </a:ext>
            </a:extLst>
          </p:cNvPr>
          <p:cNvSpPr>
            <a:spLocks noGrp="1"/>
          </p:cNvSpPr>
          <p:nvPr>
            <p:ph type="title"/>
          </p:nvPr>
        </p:nvSpPr>
        <p:spPr>
          <a:xfrm>
            <a:off x="838200" y="365125"/>
            <a:ext cx="10515600" cy="1325563"/>
          </a:xfrm>
        </p:spPr>
        <p:txBody>
          <a:bodyPr/>
          <a:lstStyle/>
          <a:p>
            <a:r>
              <a:rPr lang="en-US" dirty="0"/>
              <a:t>Activity</a:t>
            </a:r>
          </a:p>
        </p:txBody>
      </p:sp>
      <p:pic>
        <p:nvPicPr>
          <p:cNvPr id="5" name="Picture 6" descr="coding Symbol mark in filled style 47628836 Vector Art at Vecteezy">
            <a:extLst>
              <a:ext uri="{FF2B5EF4-FFF2-40B4-BE49-F238E27FC236}">
                <a16:creationId xmlns:a16="http://schemas.microsoft.com/office/drawing/2014/main" id="{8684A2B2-1D5B-3B43-D72A-343A8DA2F344}"/>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3459892" y="441589"/>
            <a:ext cx="953942" cy="9539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158422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8594D-E571-9D02-40D7-3EDDDF48594D}"/>
            </a:ext>
          </a:extLst>
        </p:cNvPr>
        <p:cNvGrpSpPr/>
        <p:nvPr/>
      </p:nvGrpSpPr>
      <p:grpSpPr>
        <a:xfrm>
          <a:off x="0" y="0"/>
          <a:ext cx="0" cy="0"/>
          <a:chOff x="0" y="0"/>
          <a:chExt cx="0" cy="0"/>
        </a:xfrm>
      </p:grpSpPr>
      <p:pic>
        <p:nvPicPr>
          <p:cNvPr id="1026" name="Picture 2" descr="end button color icon vector illustration 35559824 Vector Art at Vecteezy">
            <a:extLst>
              <a:ext uri="{FF2B5EF4-FFF2-40B4-BE49-F238E27FC236}">
                <a16:creationId xmlns:a16="http://schemas.microsoft.com/office/drawing/2014/main" id="{51A2ABF0-03DC-CCCE-3399-C976A4392C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4839" y="2648692"/>
            <a:ext cx="1560616" cy="156061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58B3E0A-ED3B-D0D2-3C1B-D80FECD53D8D}"/>
              </a:ext>
            </a:extLst>
          </p:cNvPr>
          <p:cNvSpPr txBox="1"/>
          <p:nvPr/>
        </p:nvSpPr>
        <p:spPr>
          <a:xfrm>
            <a:off x="5195455" y="3241964"/>
            <a:ext cx="2441694" cy="523220"/>
          </a:xfrm>
          <a:prstGeom prst="rect">
            <a:avLst/>
          </a:prstGeom>
          <a:noFill/>
        </p:spPr>
        <p:txBody>
          <a:bodyPr wrap="none" rtlCol="0">
            <a:spAutoFit/>
          </a:bodyPr>
          <a:lstStyle/>
          <a:p>
            <a:r>
              <a:rPr lang="en-US" sz="2800" dirty="0">
                <a:latin typeface="Helvetica" pitchFamily="2" charset="0"/>
              </a:rPr>
              <a:t>of the first day</a:t>
            </a:r>
          </a:p>
        </p:txBody>
      </p:sp>
    </p:spTree>
    <p:extLst>
      <p:ext uri="{BB962C8B-B14F-4D97-AF65-F5344CB8AC3E}">
        <p14:creationId xmlns:p14="http://schemas.microsoft.com/office/powerpoint/2010/main" val="111708876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BD5BE-E0FE-2956-8CB8-6F967477ED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A00F2DE-1E16-E960-EEE2-DA01F507C85D}"/>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11139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1935</TotalTime>
  <Words>6215</Words>
  <Application>Microsoft Macintosh PowerPoint</Application>
  <PresentationFormat>Widescreen</PresentationFormat>
  <Paragraphs>837</Paragraphs>
  <Slides>56</Slides>
  <Notes>24</Notes>
  <HiddenSlides>2</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56</vt:i4>
      </vt:variant>
    </vt:vector>
  </HeadingPairs>
  <TitlesOfParts>
    <vt:vector size="67" baseType="lpstr">
      <vt:lpstr>Arial</vt:lpstr>
      <vt:lpstr>Calibri</vt:lpstr>
      <vt:lpstr>Calibri Light</vt:lpstr>
      <vt:lpstr>Helvetica</vt:lpstr>
      <vt:lpstr>Helvetica Light</vt:lpstr>
      <vt:lpstr>Helvetica Light Oblique</vt:lpstr>
      <vt:lpstr>Menlo</vt:lpstr>
      <vt:lpstr>SFMono-Regular</vt:lpstr>
      <vt:lpstr>system-ui</vt:lpstr>
      <vt:lpstr>Wingdings</vt:lpstr>
      <vt:lpstr>Office Theme</vt:lpstr>
      <vt:lpstr>BRC workshops: Hazel HPC</vt:lpstr>
      <vt:lpstr>The bioinformatics data challenge</vt:lpstr>
      <vt:lpstr>Workshop Structure</vt:lpstr>
      <vt:lpstr>Leave us your feedback!</vt:lpstr>
      <vt:lpstr>Workshop logistics</vt:lpstr>
      <vt:lpstr>Today…</vt:lpstr>
      <vt:lpstr>PowerPoint Presentation</vt:lpstr>
      <vt:lpstr>What is an HPC?</vt:lpstr>
      <vt:lpstr>What is an HPC?</vt:lpstr>
      <vt:lpstr>What is an HPC?</vt:lpstr>
      <vt:lpstr>CPU vs. GPU</vt:lpstr>
      <vt:lpstr>CPU vs. GPU</vt:lpstr>
      <vt:lpstr>Node vs. core</vt:lpstr>
      <vt:lpstr>Node vs. core</vt:lpstr>
      <vt:lpstr>Node vs. core</vt:lpstr>
      <vt:lpstr>Node vs. core</vt:lpstr>
      <vt:lpstr>Node vs. core</vt:lpstr>
      <vt:lpstr>Node vs. core</vt:lpstr>
      <vt:lpstr>Memory vs. Storage</vt:lpstr>
      <vt:lpstr>Memory vs. Storage</vt:lpstr>
      <vt:lpstr>Memory vs. Storage</vt:lpstr>
      <vt:lpstr>Memory vs. Storage</vt:lpstr>
      <vt:lpstr>Memory vs. Storage</vt:lpstr>
      <vt:lpstr>Memory vs. Storage</vt:lpstr>
      <vt:lpstr>PowerPoint Presentation</vt:lpstr>
      <vt:lpstr>Hazel HPC structure</vt:lpstr>
      <vt:lpstr>Hazel HPC structure</vt:lpstr>
      <vt:lpstr>Hazel HPC structure</vt:lpstr>
      <vt:lpstr>Hazel HPC structure</vt:lpstr>
      <vt:lpstr>Hazel HPC structure</vt:lpstr>
      <vt:lpstr>Hazel HPC Storage</vt:lpstr>
      <vt:lpstr>Hazel HPC Storage</vt:lpstr>
      <vt:lpstr>Hazel HPC Storage</vt:lpstr>
      <vt:lpstr>Hazel HPC Storage</vt:lpstr>
      <vt:lpstr>Hazel HPC Storage</vt:lpstr>
      <vt:lpstr>Hazel HPC Storage</vt:lpstr>
      <vt:lpstr>Hazel HPC Storage</vt:lpstr>
      <vt:lpstr>PowerPoint Presentation</vt:lpstr>
      <vt:lpstr>Step 1. Login in</vt:lpstr>
      <vt:lpstr>Step 2. Transferring files</vt:lpstr>
      <vt:lpstr>First day checklist</vt:lpstr>
      <vt:lpstr>PowerPoint Presentation</vt:lpstr>
      <vt:lpstr>What is a job</vt:lpstr>
      <vt:lpstr>Job scheduler (LSF)</vt:lpstr>
      <vt:lpstr>Interactive jobs</vt:lpstr>
      <vt:lpstr>Let’s try it!</vt:lpstr>
      <vt:lpstr>Anatomy of a job script</vt:lpstr>
      <vt:lpstr>Anatomy of a job script</vt:lpstr>
      <vt:lpstr>PowerPoint Presentation</vt:lpstr>
      <vt:lpstr>Anatomy of a job script</vt:lpstr>
      <vt:lpstr>Anatomy of a job script</vt:lpstr>
      <vt:lpstr>Anatomy of a job script</vt:lpstr>
      <vt:lpstr>Monitoring jobs</vt:lpstr>
      <vt:lpstr>Activity</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Touceda Suarez</dc:creator>
  <cp:lastModifiedBy>Maria Touceda Suarez</cp:lastModifiedBy>
  <cp:revision>34</cp:revision>
  <dcterms:created xsi:type="dcterms:W3CDTF">2025-10-27T16:12:08Z</dcterms:created>
  <dcterms:modified xsi:type="dcterms:W3CDTF">2026-05-04T17:20:45Z</dcterms:modified>
</cp:coreProperties>
</file>