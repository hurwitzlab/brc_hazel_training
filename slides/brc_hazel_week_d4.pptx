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7" r:id="rId2"/>
    <p:sldId id="301" r:id="rId3"/>
    <p:sldId id="258" r:id="rId4"/>
    <p:sldId id="260" r:id="rId5"/>
    <p:sldId id="303" r:id="rId6"/>
    <p:sldId id="308" r:id="rId7"/>
    <p:sldId id="304" r:id="rId8"/>
    <p:sldId id="305" r:id="rId9"/>
    <p:sldId id="309" r:id="rId10"/>
    <p:sldId id="314" r:id="rId11"/>
    <p:sldId id="302" r:id="rId12"/>
    <p:sldId id="306" r:id="rId13"/>
    <p:sldId id="282" r:id="rId14"/>
    <p:sldId id="283" r:id="rId15"/>
    <p:sldId id="284" r:id="rId16"/>
    <p:sldId id="285" r:id="rId17"/>
    <p:sldId id="307" r:id="rId18"/>
    <p:sldId id="315" r:id="rId19"/>
    <p:sldId id="31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485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45"/>
    <p:restoredTop sz="94783"/>
  </p:normalViewPr>
  <p:slideViewPr>
    <p:cSldViewPr snapToGrid="0">
      <p:cViewPr varScale="1">
        <p:scale>
          <a:sx n="113" d="100"/>
          <a:sy n="113" d="100"/>
        </p:scale>
        <p:origin x="10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B9CC4-35C2-F643-8821-8A26B4C2EFBC}" type="datetimeFigureOut">
              <a:rPr lang="en-US" smtClean="0"/>
              <a:t>5/11/26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EF6A67-FBC6-F54C-BBC9-1BD757A83598}" type="slidenum">
              <a:rPr lang="en-US" smtClean="0"/>
              <a:t>‹#›</a:t>
            </a:fld>
            <a:endParaRPr lang="en-US"/>
          </a:p>
        </p:txBody>
      </p:sp>
    </p:spTree>
    <p:extLst>
      <p:ext uri="{BB962C8B-B14F-4D97-AF65-F5344CB8AC3E}">
        <p14:creationId xmlns:p14="http://schemas.microsoft.com/office/powerpoint/2010/main" val="3767368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3</a:t>
            </a:fld>
            <a:endParaRPr lang="en-US"/>
          </a:p>
        </p:txBody>
      </p:sp>
    </p:spTree>
    <p:extLst>
      <p:ext uri="{BB962C8B-B14F-4D97-AF65-F5344CB8AC3E}">
        <p14:creationId xmlns:p14="http://schemas.microsoft.com/office/powerpoint/2010/main" val="935584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635D4-F734-C573-2A24-CD94C09A33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B2439-E69F-F5C4-9126-5E66298AF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8540D-111F-DAA4-E2E6-7A34FFD2A0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5614E0-5C3B-5B0E-C407-AC2A8145148C}"/>
              </a:ext>
            </a:extLst>
          </p:cNvPr>
          <p:cNvSpPr>
            <a:spLocks noGrp="1"/>
          </p:cNvSpPr>
          <p:nvPr>
            <p:ph type="sldNum" sz="quarter" idx="5"/>
          </p:nvPr>
        </p:nvSpPr>
        <p:spPr/>
        <p:txBody>
          <a:bodyPr/>
          <a:lstStyle/>
          <a:p>
            <a:fld id="{13FC26C8-C37B-D543-9AB9-4FE91B5DFE38}" type="slidenum">
              <a:rPr lang="en-US" smtClean="0"/>
              <a:t>5</a:t>
            </a:fld>
            <a:endParaRPr lang="en-US"/>
          </a:p>
        </p:txBody>
      </p:sp>
    </p:spTree>
    <p:extLst>
      <p:ext uri="{BB962C8B-B14F-4D97-AF65-F5344CB8AC3E}">
        <p14:creationId xmlns:p14="http://schemas.microsoft.com/office/powerpoint/2010/main" val="2795224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A51FF-142D-BAB4-0EAB-5E0DE4A21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FD182-8092-7B65-A44D-049B2737FC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D17822-D831-67C5-E45F-D4F9E198D0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149C68-614D-A7AC-EFB5-4C217D30F942}"/>
              </a:ext>
            </a:extLst>
          </p:cNvPr>
          <p:cNvSpPr>
            <a:spLocks noGrp="1"/>
          </p:cNvSpPr>
          <p:nvPr>
            <p:ph type="sldNum" sz="quarter" idx="5"/>
          </p:nvPr>
        </p:nvSpPr>
        <p:spPr/>
        <p:txBody>
          <a:bodyPr/>
          <a:lstStyle/>
          <a:p>
            <a:fld id="{13FC26C8-C37B-D543-9AB9-4FE91B5DFE38}" type="slidenum">
              <a:rPr lang="en-US" smtClean="0"/>
              <a:t>6</a:t>
            </a:fld>
            <a:endParaRPr lang="en-US"/>
          </a:p>
        </p:txBody>
      </p:sp>
    </p:spTree>
    <p:extLst>
      <p:ext uri="{BB962C8B-B14F-4D97-AF65-F5344CB8AC3E}">
        <p14:creationId xmlns:p14="http://schemas.microsoft.com/office/powerpoint/2010/main" val="4062298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CCF3F-4650-B3D0-7F67-CF42CEAE0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7D2B0-6C64-D955-B783-0D7E7A6AC0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D6A5BB-D763-47B3-F8A7-2B2055D887FB}"/>
              </a:ext>
            </a:extLst>
          </p:cNvPr>
          <p:cNvSpPr>
            <a:spLocks noGrp="1"/>
          </p:cNvSpPr>
          <p:nvPr>
            <p:ph type="body" idx="1"/>
          </p:nvPr>
        </p:nvSpPr>
        <p:spPr/>
        <p:txBody>
          <a:bodyPr/>
          <a:lstStyle/>
          <a:p>
            <a:r>
              <a:rPr lang="en-US" dirty="0"/>
              <a:t>https://</a:t>
            </a:r>
            <a:r>
              <a:rPr lang="en-US" dirty="0" err="1"/>
              <a:t>realpython.com</a:t>
            </a:r>
            <a:r>
              <a:rPr lang="en-US" dirty="0"/>
              <a:t>/python-virtual-environments-a-primer/</a:t>
            </a:r>
          </a:p>
        </p:txBody>
      </p:sp>
      <p:sp>
        <p:nvSpPr>
          <p:cNvPr id="4" name="Slide Number Placeholder 3">
            <a:extLst>
              <a:ext uri="{FF2B5EF4-FFF2-40B4-BE49-F238E27FC236}">
                <a16:creationId xmlns:a16="http://schemas.microsoft.com/office/drawing/2014/main" id="{5553F343-2CD5-1569-DF70-73256235FEDF}"/>
              </a:ext>
            </a:extLst>
          </p:cNvPr>
          <p:cNvSpPr>
            <a:spLocks noGrp="1"/>
          </p:cNvSpPr>
          <p:nvPr>
            <p:ph type="sldNum" sz="quarter" idx="5"/>
          </p:nvPr>
        </p:nvSpPr>
        <p:spPr/>
        <p:txBody>
          <a:bodyPr/>
          <a:lstStyle/>
          <a:p>
            <a:fld id="{13FC26C8-C37B-D543-9AB9-4FE91B5DFE38}" type="slidenum">
              <a:rPr lang="en-US" smtClean="0"/>
              <a:t>7</a:t>
            </a:fld>
            <a:endParaRPr lang="en-US"/>
          </a:p>
        </p:txBody>
      </p:sp>
    </p:spTree>
    <p:extLst>
      <p:ext uri="{BB962C8B-B14F-4D97-AF65-F5344CB8AC3E}">
        <p14:creationId xmlns:p14="http://schemas.microsoft.com/office/powerpoint/2010/main" val="880047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FCC0C-E0D9-F3F0-5FAB-084E6BCE81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C3E39-CBCB-34D5-5F6B-BCAA79058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4E61E1-4FFC-B3AC-A1C3-A0B772F4EE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DA5970-D072-FD1F-21FF-0BD6BF068E3F}"/>
              </a:ext>
            </a:extLst>
          </p:cNvPr>
          <p:cNvSpPr>
            <a:spLocks noGrp="1"/>
          </p:cNvSpPr>
          <p:nvPr>
            <p:ph type="sldNum" sz="quarter" idx="5"/>
          </p:nvPr>
        </p:nvSpPr>
        <p:spPr/>
        <p:txBody>
          <a:bodyPr/>
          <a:lstStyle/>
          <a:p>
            <a:fld id="{13FC26C8-C37B-D543-9AB9-4FE91B5DFE38}" type="slidenum">
              <a:rPr lang="en-US" smtClean="0"/>
              <a:t>8</a:t>
            </a:fld>
            <a:endParaRPr lang="en-US"/>
          </a:p>
        </p:txBody>
      </p:sp>
    </p:spTree>
    <p:extLst>
      <p:ext uri="{BB962C8B-B14F-4D97-AF65-F5344CB8AC3E}">
        <p14:creationId xmlns:p14="http://schemas.microsoft.com/office/powerpoint/2010/main" val="475396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4F4C-2561-D993-E2AF-6C2F448C37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58F02-F0A9-5C7F-59D3-45CF137DF2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A752F2-053D-BAF3-4747-65889D1D8A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6C9165-5886-2A22-7869-3C7F2BB53B87}"/>
              </a:ext>
            </a:extLst>
          </p:cNvPr>
          <p:cNvSpPr>
            <a:spLocks noGrp="1"/>
          </p:cNvSpPr>
          <p:nvPr>
            <p:ph type="sldNum" sz="quarter" idx="5"/>
          </p:nvPr>
        </p:nvSpPr>
        <p:spPr/>
        <p:txBody>
          <a:bodyPr/>
          <a:lstStyle/>
          <a:p>
            <a:fld id="{13FC26C8-C37B-D543-9AB9-4FE91B5DFE38}" type="slidenum">
              <a:rPr lang="en-US" smtClean="0"/>
              <a:t>9</a:t>
            </a:fld>
            <a:endParaRPr lang="en-US"/>
          </a:p>
        </p:txBody>
      </p:sp>
    </p:spTree>
    <p:extLst>
      <p:ext uri="{BB962C8B-B14F-4D97-AF65-F5344CB8AC3E}">
        <p14:creationId xmlns:p14="http://schemas.microsoft.com/office/powerpoint/2010/main" val="2129920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B57B1-8152-0CAF-1148-5F11ADB38C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C6D49-0EC3-8BF0-5064-41EF54C39D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D6E57E-8910-59DE-B293-7EB43AD3D3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B7AFDC-D1E8-D0D1-63A2-7BD604432C0F}"/>
              </a:ext>
            </a:extLst>
          </p:cNvPr>
          <p:cNvSpPr>
            <a:spLocks noGrp="1"/>
          </p:cNvSpPr>
          <p:nvPr>
            <p:ph type="sldNum" sz="quarter" idx="5"/>
          </p:nvPr>
        </p:nvSpPr>
        <p:spPr/>
        <p:txBody>
          <a:bodyPr/>
          <a:lstStyle/>
          <a:p>
            <a:fld id="{13FC26C8-C37B-D543-9AB9-4FE91B5DFE38}" type="slidenum">
              <a:rPr lang="en-US" smtClean="0"/>
              <a:t>12</a:t>
            </a:fld>
            <a:endParaRPr lang="en-US"/>
          </a:p>
        </p:txBody>
      </p:sp>
    </p:spTree>
    <p:extLst>
      <p:ext uri="{BB962C8B-B14F-4D97-AF65-F5344CB8AC3E}">
        <p14:creationId xmlns:p14="http://schemas.microsoft.com/office/powerpoint/2010/main" val="499704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23206-8EFF-D14D-D547-963ADB57E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38ABD-C7C0-E137-6450-36F8A9B3D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5BCB7-1969-311C-782C-5EA0A0C6C3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3677AE-4555-8F0F-7CEE-A30CEF2E8E7F}"/>
              </a:ext>
            </a:extLst>
          </p:cNvPr>
          <p:cNvSpPr>
            <a:spLocks noGrp="1"/>
          </p:cNvSpPr>
          <p:nvPr>
            <p:ph type="sldNum" sz="quarter" idx="5"/>
          </p:nvPr>
        </p:nvSpPr>
        <p:spPr/>
        <p:txBody>
          <a:bodyPr/>
          <a:lstStyle/>
          <a:p>
            <a:fld id="{13FC26C8-C37B-D543-9AB9-4FE91B5DFE38}" type="slidenum">
              <a:rPr lang="en-US" smtClean="0"/>
              <a:t>13</a:t>
            </a:fld>
            <a:endParaRPr lang="en-US"/>
          </a:p>
        </p:txBody>
      </p:sp>
    </p:spTree>
    <p:extLst>
      <p:ext uri="{BB962C8B-B14F-4D97-AF65-F5344CB8AC3E}">
        <p14:creationId xmlns:p14="http://schemas.microsoft.com/office/powerpoint/2010/main" val="1531390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CFEBC-BCD4-7844-A59C-5909EF358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1DA7F-A43D-29D3-BD13-28F6462C82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152BD-2EEF-514D-95F8-E7BC8E3984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57DF49-D5B8-7B7E-39F0-B0D6C1A0D697}"/>
              </a:ext>
            </a:extLst>
          </p:cNvPr>
          <p:cNvSpPr>
            <a:spLocks noGrp="1"/>
          </p:cNvSpPr>
          <p:nvPr>
            <p:ph type="sldNum" sz="quarter" idx="5"/>
          </p:nvPr>
        </p:nvSpPr>
        <p:spPr/>
        <p:txBody>
          <a:bodyPr/>
          <a:lstStyle/>
          <a:p>
            <a:fld id="{13FC26C8-C37B-D543-9AB9-4FE91B5DFE38}" type="slidenum">
              <a:rPr lang="en-US" smtClean="0"/>
              <a:t>14</a:t>
            </a:fld>
            <a:endParaRPr lang="en-US"/>
          </a:p>
        </p:txBody>
      </p:sp>
    </p:spTree>
    <p:extLst>
      <p:ext uri="{BB962C8B-B14F-4D97-AF65-F5344CB8AC3E}">
        <p14:creationId xmlns:p14="http://schemas.microsoft.com/office/powerpoint/2010/main" val="3616082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C4602-573C-E7B2-144B-CC99687A0B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771D4-87E8-C940-DC8A-40D048CE6C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F1E72-B414-5AF4-6E93-E17BA3F34C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31FE67-91B6-7C7F-A77B-9A45D1D24008}"/>
              </a:ext>
            </a:extLst>
          </p:cNvPr>
          <p:cNvSpPr>
            <a:spLocks noGrp="1"/>
          </p:cNvSpPr>
          <p:nvPr>
            <p:ph type="sldNum" sz="quarter" idx="5"/>
          </p:nvPr>
        </p:nvSpPr>
        <p:spPr/>
        <p:txBody>
          <a:bodyPr/>
          <a:lstStyle/>
          <a:p>
            <a:fld id="{13FC26C8-C37B-D543-9AB9-4FE91B5DFE38}" type="slidenum">
              <a:rPr lang="en-US" smtClean="0"/>
              <a:t>15</a:t>
            </a:fld>
            <a:endParaRPr lang="en-US"/>
          </a:p>
        </p:txBody>
      </p:sp>
    </p:spTree>
    <p:extLst>
      <p:ext uri="{BB962C8B-B14F-4D97-AF65-F5344CB8AC3E}">
        <p14:creationId xmlns:p14="http://schemas.microsoft.com/office/powerpoint/2010/main" val="3364549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8FFE3-9ECC-6C12-5900-C8FA0CBF23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DB182-C5A0-6356-19F4-BCDFE7913E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C66B04-332C-53F7-B8AD-FAD5E85CB0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7425FC-BA0A-0997-4984-29BD8F2D7D67}"/>
              </a:ext>
            </a:extLst>
          </p:cNvPr>
          <p:cNvSpPr>
            <a:spLocks noGrp="1"/>
          </p:cNvSpPr>
          <p:nvPr>
            <p:ph type="sldNum" sz="quarter" idx="5"/>
          </p:nvPr>
        </p:nvSpPr>
        <p:spPr/>
        <p:txBody>
          <a:bodyPr/>
          <a:lstStyle/>
          <a:p>
            <a:fld id="{13FC26C8-C37B-D543-9AB9-4FE91B5DFE38}" type="slidenum">
              <a:rPr lang="en-US" smtClean="0"/>
              <a:t>16</a:t>
            </a:fld>
            <a:endParaRPr lang="en-US"/>
          </a:p>
        </p:txBody>
      </p:sp>
    </p:spTree>
    <p:extLst>
      <p:ext uri="{BB962C8B-B14F-4D97-AF65-F5344CB8AC3E}">
        <p14:creationId xmlns:p14="http://schemas.microsoft.com/office/powerpoint/2010/main" val="34866934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EC249-14DD-35C3-7AA4-D4BD8CCC8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E9EB2-BFA1-0FC8-6716-E36E2FD50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5EE962-FD7B-D588-6F3D-26A5404EE5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011D55-FC6F-64CA-45BA-AD0CEBCB2983}"/>
              </a:ext>
            </a:extLst>
          </p:cNvPr>
          <p:cNvSpPr>
            <a:spLocks noGrp="1"/>
          </p:cNvSpPr>
          <p:nvPr>
            <p:ph type="sldNum" sz="quarter" idx="5"/>
          </p:nvPr>
        </p:nvSpPr>
        <p:spPr/>
        <p:txBody>
          <a:bodyPr/>
          <a:lstStyle/>
          <a:p>
            <a:fld id="{13FC26C8-C37B-D543-9AB9-4FE91B5DFE38}" type="slidenum">
              <a:rPr lang="en-US" smtClean="0"/>
              <a:t>17</a:t>
            </a:fld>
            <a:endParaRPr lang="en-US"/>
          </a:p>
        </p:txBody>
      </p:sp>
    </p:spTree>
    <p:extLst>
      <p:ext uri="{BB962C8B-B14F-4D97-AF65-F5344CB8AC3E}">
        <p14:creationId xmlns:p14="http://schemas.microsoft.com/office/powerpoint/2010/main" val="3417861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C9975-8597-2F02-7039-A9C1C2E038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BDD39-9E77-14D9-071F-A693BD880A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B93E2C-04DC-A38B-CDE8-190666BE55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DD05E6-5AB3-1C22-E685-596F041C7725}"/>
              </a:ext>
            </a:extLst>
          </p:cNvPr>
          <p:cNvSpPr>
            <a:spLocks noGrp="1"/>
          </p:cNvSpPr>
          <p:nvPr>
            <p:ph type="sldNum" sz="quarter" idx="5"/>
          </p:nvPr>
        </p:nvSpPr>
        <p:spPr/>
        <p:txBody>
          <a:bodyPr/>
          <a:lstStyle/>
          <a:p>
            <a:fld id="{13FC26C8-C37B-D543-9AB9-4FE91B5DFE38}" type="slidenum">
              <a:rPr lang="en-US" smtClean="0"/>
              <a:t>18</a:t>
            </a:fld>
            <a:endParaRPr lang="en-US"/>
          </a:p>
        </p:txBody>
      </p:sp>
    </p:spTree>
    <p:extLst>
      <p:ext uri="{BB962C8B-B14F-4D97-AF65-F5344CB8AC3E}">
        <p14:creationId xmlns:p14="http://schemas.microsoft.com/office/powerpoint/2010/main" val="3299272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B38D1-052F-2C61-9535-819B1D0B13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0F261A-0EEB-A8C1-50BA-85BEDAC392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99849E-F07F-5C38-939C-AD1725958E78}"/>
              </a:ext>
            </a:extLst>
          </p:cNvPr>
          <p:cNvSpPr>
            <a:spLocks noGrp="1"/>
          </p:cNvSpPr>
          <p:nvPr>
            <p:ph type="dt" sz="half" idx="10"/>
          </p:nvPr>
        </p:nvSpPr>
        <p:spPr/>
        <p:txBody>
          <a:bodyPr/>
          <a:lstStyle/>
          <a:p>
            <a:fld id="{07922428-1601-1349-B82F-394AB362B944}" type="datetimeFigureOut">
              <a:rPr lang="en-US" smtClean="0"/>
              <a:t>5/11/26</a:t>
            </a:fld>
            <a:endParaRPr lang="en-US"/>
          </a:p>
        </p:txBody>
      </p:sp>
      <p:sp>
        <p:nvSpPr>
          <p:cNvPr id="5" name="Footer Placeholder 4">
            <a:extLst>
              <a:ext uri="{FF2B5EF4-FFF2-40B4-BE49-F238E27FC236}">
                <a16:creationId xmlns:a16="http://schemas.microsoft.com/office/drawing/2014/main" id="{DFC405C2-1BE2-1D52-2F6E-4933DDF8A9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F59C0D-6EB3-73D0-E3EB-8CA8A46D3F8F}"/>
              </a:ext>
            </a:extLst>
          </p:cNvPr>
          <p:cNvSpPr>
            <a:spLocks noGrp="1"/>
          </p:cNvSpPr>
          <p:nvPr>
            <p:ph type="sldNum" sz="quarter" idx="12"/>
          </p:nvPr>
        </p:nvSpPr>
        <p:spPr/>
        <p:txBody>
          <a:bodyPr/>
          <a:lstStyle/>
          <a:p>
            <a:fld id="{2EB431B7-7D8C-7642-A2CB-A7FEB0746049}" type="slidenum">
              <a:rPr lang="en-US" smtClean="0"/>
              <a:t>‹#›</a:t>
            </a:fld>
            <a:endParaRPr lang="en-US"/>
          </a:p>
        </p:txBody>
      </p:sp>
    </p:spTree>
    <p:extLst>
      <p:ext uri="{BB962C8B-B14F-4D97-AF65-F5344CB8AC3E}">
        <p14:creationId xmlns:p14="http://schemas.microsoft.com/office/powerpoint/2010/main" val="2423724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E451E-C1EC-91C9-0D7C-9567BF656E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C9C9D9-35A2-E564-18AE-A6685D9C54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F43C56-B41C-6C34-1587-069942096091}"/>
              </a:ext>
            </a:extLst>
          </p:cNvPr>
          <p:cNvSpPr>
            <a:spLocks noGrp="1"/>
          </p:cNvSpPr>
          <p:nvPr>
            <p:ph type="dt" sz="half" idx="10"/>
          </p:nvPr>
        </p:nvSpPr>
        <p:spPr/>
        <p:txBody>
          <a:bodyPr/>
          <a:lstStyle/>
          <a:p>
            <a:fld id="{07922428-1601-1349-B82F-394AB362B944}" type="datetimeFigureOut">
              <a:rPr lang="en-US" smtClean="0"/>
              <a:t>5/11/26</a:t>
            </a:fld>
            <a:endParaRPr lang="en-US"/>
          </a:p>
        </p:txBody>
      </p:sp>
      <p:sp>
        <p:nvSpPr>
          <p:cNvPr id="5" name="Footer Placeholder 4">
            <a:extLst>
              <a:ext uri="{FF2B5EF4-FFF2-40B4-BE49-F238E27FC236}">
                <a16:creationId xmlns:a16="http://schemas.microsoft.com/office/drawing/2014/main" id="{67DCFA0C-59DD-8412-53EC-310703474E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57B104-27CA-CACD-30A6-0D3E56C8B544}"/>
              </a:ext>
            </a:extLst>
          </p:cNvPr>
          <p:cNvSpPr>
            <a:spLocks noGrp="1"/>
          </p:cNvSpPr>
          <p:nvPr>
            <p:ph type="sldNum" sz="quarter" idx="12"/>
          </p:nvPr>
        </p:nvSpPr>
        <p:spPr/>
        <p:txBody>
          <a:bodyPr/>
          <a:lstStyle/>
          <a:p>
            <a:fld id="{2EB431B7-7D8C-7642-A2CB-A7FEB0746049}" type="slidenum">
              <a:rPr lang="en-US" smtClean="0"/>
              <a:t>‹#›</a:t>
            </a:fld>
            <a:endParaRPr lang="en-US"/>
          </a:p>
        </p:txBody>
      </p:sp>
    </p:spTree>
    <p:extLst>
      <p:ext uri="{BB962C8B-B14F-4D97-AF65-F5344CB8AC3E}">
        <p14:creationId xmlns:p14="http://schemas.microsoft.com/office/powerpoint/2010/main" val="1027346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03C5-2336-90B0-AD08-B0BF592375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5C7875-10EF-259B-9EED-40163B6B5B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C0536A-EDCD-9FFE-34BA-7674600AD79C}"/>
              </a:ext>
            </a:extLst>
          </p:cNvPr>
          <p:cNvSpPr>
            <a:spLocks noGrp="1"/>
          </p:cNvSpPr>
          <p:nvPr>
            <p:ph type="dt" sz="half" idx="10"/>
          </p:nvPr>
        </p:nvSpPr>
        <p:spPr/>
        <p:txBody>
          <a:bodyPr/>
          <a:lstStyle/>
          <a:p>
            <a:fld id="{07922428-1601-1349-B82F-394AB362B944}" type="datetimeFigureOut">
              <a:rPr lang="en-US" smtClean="0"/>
              <a:t>5/11/26</a:t>
            </a:fld>
            <a:endParaRPr lang="en-US"/>
          </a:p>
        </p:txBody>
      </p:sp>
      <p:sp>
        <p:nvSpPr>
          <p:cNvPr id="5" name="Footer Placeholder 4">
            <a:extLst>
              <a:ext uri="{FF2B5EF4-FFF2-40B4-BE49-F238E27FC236}">
                <a16:creationId xmlns:a16="http://schemas.microsoft.com/office/drawing/2014/main" id="{E996235C-BB47-FE6B-DFB8-718A884704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2DA01A-66BC-1F72-14F5-FB6DB8241F4C}"/>
              </a:ext>
            </a:extLst>
          </p:cNvPr>
          <p:cNvSpPr>
            <a:spLocks noGrp="1"/>
          </p:cNvSpPr>
          <p:nvPr>
            <p:ph type="sldNum" sz="quarter" idx="12"/>
          </p:nvPr>
        </p:nvSpPr>
        <p:spPr/>
        <p:txBody>
          <a:bodyPr/>
          <a:lstStyle/>
          <a:p>
            <a:fld id="{2EB431B7-7D8C-7642-A2CB-A7FEB0746049}" type="slidenum">
              <a:rPr lang="en-US" smtClean="0"/>
              <a:t>‹#›</a:t>
            </a:fld>
            <a:endParaRPr lang="en-US"/>
          </a:p>
        </p:txBody>
      </p:sp>
    </p:spTree>
    <p:extLst>
      <p:ext uri="{BB962C8B-B14F-4D97-AF65-F5344CB8AC3E}">
        <p14:creationId xmlns:p14="http://schemas.microsoft.com/office/powerpoint/2010/main" val="1081687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EC452-94A0-5773-E061-DE3079BE3D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973F24-9009-74D5-4E32-A0A0698DA9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62716B-9F45-BF2C-D13F-1ADC741BE2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9FD5F9-3E5F-F4AD-CAFD-DC9CEC389AF7}"/>
              </a:ext>
            </a:extLst>
          </p:cNvPr>
          <p:cNvSpPr>
            <a:spLocks noGrp="1"/>
          </p:cNvSpPr>
          <p:nvPr>
            <p:ph type="dt" sz="half" idx="10"/>
          </p:nvPr>
        </p:nvSpPr>
        <p:spPr/>
        <p:txBody>
          <a:bodyPr/>
          <a:lstStyle/>
          <a:p>
            <a:fld id="{07922428-1601-1349-B82F-394AB362B944}" type="datetimeFigureOut">
              <a:rPr lang="en-US" smtClean="0"/>
              <a:t>5/11/26</a:t>
            </a:fld>
            <a:endParaRPr lang="en-US"/>
          </a:p>
        </p:txBody>
      </p:sp>
      <p:sp>
        <p:nvSpPr>
          <p:cNvPr id="6" name="Footer Placeholder 5">
            <a:extLst>
              <a:ext uri="{FF2B5EF4-FFF2-40B4-BE49-F238E27FC236}">
                <a16:creationId xmlns:a16="http://schemas.microsoft.com/office/drawing/2014/main" id="{91C24050-D0D3-5217-7B70-376395A54F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7DD9A4-864E-43DA-6FC1-3D2E335EC29A}"/>
              </a:ext>
            </a:extLst>
          </p:cNvPr>
          <p:cNvSpPr>
            <a:spLocks noGrp="1"/>
          </p:cNvSpPr>
          <p:nvPr>
            <p:ph type="sldNum" sz="quarter" idx="12"/>
          </p:nvPr>
        </p:nvSpPr>
        <p:spPr/>
        <p:txBody>
          <a:bodyPr/>
          <a:lstStyle/>
          <a:p>
            <a:fld id="{2EB431B7-7D8C-7642-A2CB-A7FEB0746049}" type="slidenum">
              <a:rPr lang="en-US" smtClean="0"/>
              <a:t>‹#›</a:t>
            </a:fld>
            <a:endParaRPr lang="en-US"/>
          </a:p>
        </p:txBody>
      </p:sp>
    </p:spTree>
    <p:extLst>
      <p:ext uri="{BB962C8B-B14F-4D97-AF65-F5344CB8AC3E}">
        <p14:creationId xmlns:p14="http://schemas.microsoft.com/office/powerpoint/2010/main" val="1262847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92DF6-7E93-B3C7-AC7A-7202576C88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BAD892A-846D-A4F6-32B2-27CF5DA9E3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466E12-415C-A0AD-672A-F016EC30B2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13C645-D0BF-D046-9DD3-8EF6C76F97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B7F2E0-3DDA-2E4B-D117-90EE3D61CF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E5D443-8D94-DC1E-529D-C6FA9E9B887B}"/>
              </a:ext>
            </a:extLst>
          </p:cNvPr>
          <p:cNvSpPr>
            <a:spLocks noGrp="1"/>
          </p:cNvSpPr>
          <p:nvPr>
            <p:ph type="dt" sz="half" idx="10"/>
          </p:nvPr>
        </p:nvSpPr>
        <p:spPr/>
        <p:txBody>
          <a:bodyPr/>
          <a:lstStyle/>
          <a:p>
            <a:fld id="{07922428-1601-1349-B82F-394AB362B944}" type="datetimeFigureOut">
              <a:rPr lang="en-US" smtClean="0"/>
              <a:t>5/11/26</a:t>
            </a:fld>
            <a:endParaRPr lang="en-US"/>
          </a:p>
        </p:txBody>
      </p:sp>
      <p:sp>
        <p:nvSpPr>
          <p:cNvPr id="8" name="Footer Placeholder 7">
            <a:extLst>
              <a:ext uri="{FF2B5EF4-FFF2-40B4-BE49-F238E27FC236}">
                <a16:creationId xmlns:a16="http://schemas.microsoft.com/office/drawing/2014/main" id="{2443828A-18E1-C827-1D62-6DB6CF0AD9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63EE5F-F0B5-5E55-63DB-EBDD9962D762}"/>
              </a:ext>
            </a:extLst>
          </p:cNvPr>
          <p:cNvSpPr>
            <a:spLocks noGrp="1"/>
          </p:cNvSpPr>
          <p:nvPr>
            <p:ph type="sldNum" sz="quarter" idx="12"/>
          </p:nvPr>
        </p:nvSpPr>
        <p:spPr/>
        <p:txBody>
          <a:bodyPr/>
          <a:lstStyle/>
          <a:p>
            <a:fld id="{2EB431B7-7D8C-7642-A2CB-A7FEB0746049}" type="slidenum">
              <a:rPr lang="en-US" smtClean="0"/>
              <a:t>‹#›</a:t>
            </a:fld>
            <a:endParaRPr lang="en-US"/>
          </a:p>
        </p:txBody>
      </p:sp>
    </p:spTree>
    <p:extLst>
      <p:ext uri="{BB962C8B-B14F-4D97-AF65-F5344CB8AC3E}">
        <p14:creationId xmlns:p14="http://schemas.microsoft.com/office/powerpoint/2010/main" val="158388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92354-0A99-5AFB-4E34-4D92C88F12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9C66D1-CACC-A620-97CB-FC78281CD4EE}"/>
              </a:ext>
            </a:extLst>
          </p:cNvPr>
          <p:cNvSpPr>
            <a:spLocks noGrp="1"/>
          </p:cNvSpPr>
          <p:nvPr>
            <p:ph type="dt" sz="half" idx="10"/>
          </p:nvPr>
        </p:nvSpPr>
        <p:spPr/>
        <p:txBody>
          <a:bodyPr/>
          <a:lstStyle/>
          <a:p>
            <a:fld id="{07922428-1601-1349-B82F-394AB362B944}" type="datetimeFigureOut">
              <a:rPr lang="en-US" smtClean="0"/>
              <a:t>5/11/26</a:t>
            </a:fld>
            <a:endParaRPr lang="en-US"/>
          </a:p>
        </p:txBody>
      </p:sp>
      <p:sp>
        <p:nvSpPr>
          <p:cNvPr id="4" name="Footer Placeholder 3">
            <a:extLst>
              <a:ext uri="{FF2B5EF4-FFF2-40B4-BE49-F238E27FC236}">
                <a16:creationId xmlns:a16="http://schemas.microsoft.com/office/drawing/2014/main" id="{B9F009DF-3632-4582-BF98-441F1806F8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544697-8960-0456-51A8-4405EB1DA9B5}"/>
              </a:ext>
            </a:extLst>
          </p:cNvPr>
          <p:cNvSpPr>
            <a:spLocks noGrp="1"/>
          </p:cNvSpPr>
          <p:nvPr>
            <p:ph type="sldNum" sz="quarter" idx="12"/>
          </p:nvPr>
        </p:nvSpPr>
        <p:spPr/>
        <p:txBody>
          <a:bodyPr/>
          <a:lstStyle/>
          <a:p>
            <a:fld id="{2EB431B7-7D8C-7642-A2CB-A7FEB0746049}" type="slidenum">
              <a:rPr lang="en-US" smtClean="0"/>
              <a:t>‹#›</a:t>
            </a:fld>
            <a:endParaRPr lang="en-US"/>
          </a:p>
        </p:txBody>
      </p:sp>
    </p:spTree>
    <p:extLst>
      <p:ext uri="{BB962C8B-B14F-4D97-AF65-F5344CB8AC3E}">
        <p14:creationId xmlns:p14="http://schemas.microsoft.com/office/powerpoint/2010/main" val="4031225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8F576E-1195-AB50-B3CD-07979D789DD7}"/>
              </a:ext>
            </a:extLst>
          </p:cNvPr>
          <p:cNvSpPr>
            <a:spLocks noGrp="1"/>
          </p:cNvSpPr>
          <p:nvPr>
            <p:ph type="dt" sz="half" idx="10"/>
          </p:nvPr>
        </p:nvSpPr>
        <p:spPr/>
        <p:txBody>
          <a:bodyPr/>
          <a:lstStyle/>
          <a:p>
            <a:fld id="{07922428-1601-1349-B82F-394AB362B944}" type="datetimeFigureOut">
              <a:rPr lang="en-US" smtClean="0"/>
              <a:t>5/11/26</a:t>
            </a:fld>
            <a:endParaRPr lang="en-US"/>
          </a:p>
        </p:txBody>
      </p:sp>
      <p:sp>
        <p:nvSpPr>
          <p:cNvPr id="3" name="Footer Placeholder 2">
            <a:extLst>
              <a:ext uri="{FF2B5EF4-FFF2-40B4-BE49-F238E27FC236}">
                <a16:creationId xmlns:a16="http://schemas.microsoft.com/office/drawing/2014/main" id="{56E70E8C-70D2-9B4E-F981-CCF0A9EE0C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9EA036-D501-8FF9-0652-BC6D415794F8}"/>
              </a:ext>
            </a:extLst>
          </p:cNvPr>
          <p:cNvSpPr>
            <a:spLocks noGrp="1"/>
          </p:cNvSpPr>
          <p:nvPr>
            <p:ph type="sldNum" sz="quarter" idx="12"/>
          </p:nvPr>
        </p:nvSpPr>
        <p:spPr/>
        <p:txBody>
          <a:bodyPr/>
          <a:lstStyle/>
          <a:p>
            <a:fld id="{2EB431B7-7D8C-7642-A2CB-A7FEB0746049}" type="slidenum">
              <a:rPr lang="en-US" smtClean="0"/>
              <a:t>‹#›</a:t>
            </a:fld>
            <a:endParaRPr lang="en-US"/>
          </a:p>
        </p:txBody>
      </p:sp>
    </p:spTree>
    <p:extLst>
      <p:ext uri="{BB962C8B-B14F-4D97-AF65-F5344CB8AC3E}">
        <p14:creationId xmlns:p14="http://schemas.microsoft.com/office/powerpoint/2010/main" val="3518762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60720-0F51-3B0A-BAF9-3946B7D846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BE4ADA-4777-000B-90C5-D999BFE1FE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42598B-4362-01CC-051F-9AAE4AE491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734B61-7FD1-C22D-4160-0507EDE14A37}"/>
              </a:ext>
            </a:extLst>
          </p:cNvPr>
          <p:cNvSpPr>
            <a:spLocks noGrp="1"/>
          </p:cNvSpPr>
          <p:nvPr>
            <p:ph type="dt" sz="half" idx="10"/>
          </p:nvPr>
        </p:nvSpPr>
        <p:spPr/>
        <p:txBody>
          <a:bodyPr/>
          <a:lstStyle/>
          <a:p>
            <a:fld id="{07922428-1601-1349-B82F-394AB362B944}" type="datetimeFigureOut">
              <a:rPr lang="en-US" smtClean="0"/>
              <a:t>5/11/26</a:t>
            </a:fld>
            <a:endParaRPr lang="en-US"/>
          </a:p>
        </p:txBody>
      </p:sp>
      <p:sp>
        <p:nvSpPr>
          <p:cNvPr id="6" name="Footer Placeholder 5">
            <a:extLst>
              <a:ext uri="{FF2B5EF4-FFF2-40B4-BE49-F238E27FC236}">
                <a16:creationId xmlns:a16="http://schemas.microsoft.com/office/drawing/2014/main" id="{7F05C159-47C7-7260-4C47-36A5DE7F92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207B9A-418B-0EF1-5E9C-847CE5F54FF1}"/>
              </a:ext>
            </a:extLst>
          </p:cNvPr>
          <p:cNvSpPr>
            <a:spLocks noGrp="1"/>
          </p:cNvSpPr>
          <p:nvPr>
            <p:ph type="sldNum" sz="quarter" idx="12"/>
          </p:nvPr>
        </p:nvSpPr>
        <p:spPr/>
        <p:txBody>
          <a:bodyPr/>
          <a:lstStyle/>
          <a:p>
            <a:fld id="{2EB431B7-7D8C-7642-A2CB-A7FEB0746049}" type="slidenum">
              <a:rPr lang="en-US" smtClean="0"/>
              <a:t>‹#›</a:t>
            </a:fld>
            <a:endParaRPr lang="en-US"/>
          </a:p>
        </p:txBody>
      </p:sp>
    </p:spTree>
    <p:extLst>
      <p:ext uri="{BB962C8B-B14F-4D97-AF65-F5344CB8AC3E}">
        <p14:creationId xmlns:p14="http://schemas.microsoft.com/office/powerpoint/2010/main" val="3216762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4DAF3-399D-8543-FF6F-4245E81368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7BEBA84-61A2-B9C6-B971-51AE817F47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476E39-F099-8DBE-EC98-9F10F0A94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7BDA98-0533-8E59-257F-7C75E319325D}"/>
              </a:ext>
            </a:extLst>
          </p:cNvPr>
          <p:cNvSpPr>
            <a:spLocks noGrp="1"/>
          </p:cNvSpPr>
          <p:nvPr>
            <p:ph type="dt" sz="half" idx="10"/>
          </p:nvPr>
        </p:nvSpPr>
        <p:spPr/>
        <p:txBody>
          <a:bodyPr/>
          <a:lstStyle/>
          <a:p>
            <a:fld id="{07922428-1601-1349-B82F-394AB362B944}" type="datetimeFigureOut">
              <a:rPr lang="en-US" smtClean="0"/>
              <a:t>5/11/26</a:t>
            </a:fld>
            <a:endParaRPr lang="en-US"/>
          </a:p>
        </p:txBody>
      </p:sp>
      <p:sp>
        <p:nvSpPr>
          <p:cNvPr id="6" name="Footer Placeholder 5">
            <a:extLst>
              <a:ext uri="{FF2B5EF4-FFF2-40B4-BE49-F238E27FC236}">
                <a16:creationId xmlns:a16="http://schemas.microsoft.com/office/drawing/2014/main" id="{A3F83B01-9F29-39EA-227F-34EF12F449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3110DE-EDAB-3C11-9FD3-8D81EBD882EE}"/>
              </a:ext>
            </a:extLst>
          </p:cNvPr>
          <p:cNvSpPr>
            <a:spLocks noGrp="1"/>
          </p:cNvSpPr>
          <p:nvPr>
            <p:ph type="sldNum" sz="quarter" idx="12"/>
          </p:nvPr>
        </p:nvSpPr>
        <p:spPr/>
        <p:txBody>
          <a:bodyPr/>
          <a:lstStyle/>
          <a:p>
            <a:fld id="{2EB431B7-7D8C-7642-A2CB-A7FEB0746049}" type="slidenum">
              <a:rPr lang="en-US" smtClean="0"/>
              <a:t>‹#›</a:t>
            </a:fld>
            <a:endParaRPr lang="en-US"/>
          </a:p>
        </p:txBody>
      </p:sp>
    </p:spTree>
    <p:extLst>
      <p:ext uri="{BB962C8B-B14F-4D97-AF65-F5344CB8AC3E}">
        <p14:creationId xmlns:p14="http://schemas.microsoft.com/office/powerpoint/2010/main" val="605550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C1674-3B1F-0CD4-CE72-1E1C8096DE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9A1A92-34CC-4F0A-21C0-B0CDDFEE9F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53651F-5D5F-CC46-436E-96B4F8818EAA}"/>
              </a:ext>
            </a:extLst>
          </p:cNvPr>
          <p:cNvSpPr>
            <a:spLocks noGrp="1"/>
          </p:cNvSpPr>
          <p:nvPr>
            <p:ph type="dt" sz="half" idx="10"/>
          </p:nvPr>
        </p:nvSpPr>
        <p:spPr/>
        <p:txBody>
          <a:bodyPr/>
          <a:lstStyle/>
          <a:p>
            <a:fld id="{07922428-1601-1349-B82F-394AB362B944}" type="datetimeFigureOut">
              <a:rPr lang="en-US" smtClean="0"/>
              <a:t>5/11/26</a:t>
            </a:fld>
            <a:endParaRPr lang="en-US"/>
          </a:p>
        </p:txBody>
      </p:sp>
      <p:sp>
        <p:nvSpPr>
          <p:cNvPr id="5" name="Footer Placeholder 4">
            <a:extLst>
              <a:ext uri="{FF2B5EF4-FFF2-40B4-BE49-F238E27FC236}">
                <a16:creationId xmlns:a16="http://schemas.microsoft.com/office/drawing/2014/main" id="{821FADE5-9BC4-CCE6-325D-DAD449AAF1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B7C382-DAF4-6712-DA7D-0DF01C855B62}"/>
              </a:ext>
            </a:extLst>
          </p:cNvPr>
          <p:cNvSpPr>
            <a:spLocks noGrp="1"/>
          </p:cNvSpPr>
          <p:nvPr>
            <p:ph type="sldNum" sz="quarter" idx="12"/>
          </p:nvPr>
        </p:nvSpPr>
        <p:spPr/>
        <p:txBody>
          <a:bodyPr/>
          <a:lstStyle/>
          <a:p>
            <a:fld id="{2EB431B7-7D8C-7642-A2CB-A7FEB0746049}" type="slidenum">
              <a:rPr lang="en-US" smtClean="0"/>
              <a:t>‹#›</a:t>
            </a:fld>
            <a:endParaRPr lang="en-US"/>
          </a:p>
        </p:txBody>
      </p:sp>
    </p:spTree>
    <p:extLst>
      <p:ext uri="{BB962C8B-B14F-4D97-AF65-F5344CB8AC3E}">
        <p14:creationId xmlns:p14="http://schemas.microsoft.com/office/powerpoint/2010/main" val="2152056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217DDD-02A9-2077-F376-C84B9E9F72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2EC972-B4D5-C5DE-D69D-3BD30A08D9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94E9B3-A115-0D94-7F9A-996A94DAFF11}"/>
              </a:ext>
            </a:extLst>
          </p:cNvPr>
          <p:cNvSpPr>
            <a:spLocks noGrp="1"/>
          </p:cNvSpPr>
          <p:nvPr>
            <p:ph type="dt" sz="half" idx="10"/>
          </p:nvPr>
        </p:nvSpPr>
        <p:spPr/>
        <p:txBody>
          <a:bodyPr/>
          <a:lstStyle/>
          <a:p>
            <a:fld id="{07922428-1601-1349-B82F-394AB362B944}" type="datetimeFigureOut">
              <a:rPr lang="en-US" smtClean="0"/>
              <a:t>5/11/26</a:t>
            </a:fld>
            <a:endParaRPr lang="en-US"/>
          </a:p>
        </p:txBody>
      </p:sp>
      <p:sp>
        <p:nvSpPr>
          <p:cNvPr id="5" name="Footer Placeholder 4">
            <a:extLst>
              <a:ext uri="{FF2B5EF4-FFF2-40B4-BE49-F238E27FC236}">
                <a16:creationId xmlns:a16="http://schemas.microsoft.com/office/drawing/2014/main" id="{2EAB65ED-50D3-90F9-0F11-E816A447B6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59BAFE-C456-C878-91BA-6BEC91F81D09}"/>
              </a:ext>
            </a:extLst>
          </p:cNvPr>
          <p:cNvSpPr>
            <a:spLocks noGrp="1"/>
          </p:cNvSpPr>
          <p:nvPr>
            <p:ph type="sldNum" sz="quarter" idx="12"/>
          </p:nvPr>
        </p:nvSpPr>
        <p:spPr/>
        <p:txBody>
          <a:bodyPr/>
          <a:lstStyle/>
          <a:p>
            <a:fld id="{2EB431B7-7D8C-7642-A2CB-A7FEB0746049}" type="slidenum">
              <a:rPr lang="en-US" smtClean="0"/>
              <a:t>‹#›</a:t>
            </a:fld>
            <a:endParaRPr lang="en-US"/>
          </a:p>
        </p:txBody>
      </p:sp>
    </p:spTree>
    <p:extLst>
      <p:ext uri="{BB962C8B-B14F-4D97-AF65-F5344CB8AC3E}">
        <p14:creationId xmlns:p14="http://schemas.microsoft.com/office/powerpoint/2010/main" val="1339277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F484F9-E3A4-9023-0A8A-B8111DB97C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A26391-2579-2F34-0548-DF5103CCD3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ADE1D4-D183-5761-4561-CF4F9B0C32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922428-1601-1349-B82F-394AB362B944}" type="datetimeFigureOut">
              <a:rPr lang="en-US" smtClean="0"/>
              <a:t>5/11/26</a:t>
            </a:fld>
            <a:endParaRPr lang="en-US"/>
          </a:p>
        </p:txBody>
      </p:sp>
      <p:sp>
        <p:nvSpPr>
          <p:cNvPr id="5" name="Footer Placeholder 4">
            <a:extLst>
              <a:ext uri="{FF2B5EF4-FFF2-40B4-BE49-F238E27FC236}">
                <a16:creationId xmlns:a16="http://schemas.microsoft.com/office/drawing/2014/main" id="{601DDE92-6270-2F5A-8B14-B2E45CC898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6F438A6-74EF-DE90-FB41-4176630FD8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B431B7-7D8C-7642-A2CB-A7FEB0746049}" type="slidenum">
              <a:rPr lang="en-US" smtClean="0"/>
              <a:t>‹#›</a:t>
            </a:fld>
            <a:endParaRPr lang="en-US"/>
          </a:p>
        </p:txBody>
      </p:sp>
    </p:spTree>
    <p:extLst>
      <p:ext uri="{BB962C8B-B14F-4D97-AF65-F5344CB8AC3E}">
        <p14:creationId xmlns:p14="http://schemas.microsoft.com/office/powerpoint/2010/main" val="1032244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67C0-23A6-8F2C-1689-D8BD4A6495AC}"/>
              </a:ext>
            </a:extLst>
          </p:cNvPr>
          <p:cNvSpPr>
            <a:spLocks noGrp="1"/>
          </p:cNvSpPr>
          <p:nvPr>
            <p:ph type="ctrTitle"/>
          </p:nvPr>
        </p:nvSpPr>
        <p:spPr>
          <a:xfrm>
            <a:off x="1756446" y="-317832"/>
            <a:ext cx="9144000" cy="2387600"/>
          </a:xfrm>
        </p:spPr>
        <p:txBody>
          <a:bodyPr>
            <a:normAutofit/>
          </a:bodyPr>
          <a:lstStyle/>
          <a:p>
            <a:r>
              <a:rPr lang="en-US" sz="5400" dirty="0">
                <a:latin typeface="Helvetica" pitchFamily="2" charset="0"/>
              </a:rPr>
              <a:t>BRC workshops: Hazel HPC</a:t>
            </a:r>
          </a:p>
        </p:txBody>
      </p:sp>
      <p:sp>
        <p:nvSpPr>
          <p:cNvPr id="3" name="Subtitle 2">
            <a:extLst>
              <a:ext uri="{FF2B5EF4-FFF2-40B4-BE49-F238E27FC236}">
                <a16:creationId xmlns:a16="http://schemas.microsoft.com/office/drawing/2014/main" id="{57475B53-3C78-14C7-0A86-007CDFBEE55B}"/>
              </a:ext>
            </a:extLst>
          </p:cNvPr>
          <p:cNvSpPr>
            <a:spLocks noGrp="1"/>
          </p:cNvSpPr>
          <p:nvPr>
            <p:ph type="subTitle" idx="1"/>
          </p:nvPr>
        </p:nvSpPr>
        <p:spPr>
          <a:xfrm>
            <a:off x="796304" y="5083907"/>
            <a:ext cx="4571707" cy="1655762"/>
          </a:xfrm>
        </p:spPr>
        <p:txBody>
          <a:bodyPr/>
          <a:lstStyle/>
          <a:p>
            <a:pPr algn="l"/>
            <a:r>
              <a:rPr lang="en-US" sz="1800" dirty="0">
                <a:latin typeface="Helvetica" pitchFamily="2" charset="0"/>
              </a:rPr>
              <a:t>María (Mery) Touceda-Suárez, PhD</a:t>
            </a:r>
          </a:p>
          <a:p>
            <a:pPr algn="l"/>
            <a:r>
              <a:rPr lang="en-US" sz="1800" dirty="0">
                <a:latin typeface="Helvetica" pitchFamily="2" charset="0"/>
              </a:rPr>
              <a:t>Bonnie Hurwitz, PhD</a:t>
            </a:r>
          </a:p>
          <a:p>
            <a:pPr algn="l"/>
            <a:r>
              <a:rPr lang="en-US" sz="1800" dirty="0">
                <a:latin typeface="Helvetica" pitchFamily="2" charset="0"/>
              </a:rPr>
              <a:t>February 4</a:t>
            </a:r>
            <a:r>
              <a:rPr lang="en-US" sz="1800" baseline="30000" dirty="0">
                <a:latin typeface="Helvetica" pitchFamily="2" charset="0"/>
              </a:rPr>
              <a:t>th</a:t>
            </a:r>
            <a:r>
              <a:rPr lang="en-US" sz="1800" dirty="0">
                <a:latin typeface="Helvetica" pitchFamily="2" charset="0"/>
              </a:rPr>
              <a:t> 2025</a:t>
            </a:r>
          </a:p>
          <a:p>
            <a:pPr algn="l"/>
            <a:endParaRPr lang="en-US" sz="1800" dirty="0">
              <a:latin typeface="Helvetica" pitchFamily="2" charset="0"/>
            </a:endParaRPr>
          </a:p>
          <a:p>
            <a:pPr algn="l"/>
            <a:endParaRPr lang="en-US" dirty="0">
              <a:latin typeface="Helvetica" pitchFamily="2" charset="0"/>
            </a:endParaRPr>
          </a:p>
        </p:txBody>
      </p:sp>
      <p:pic>
        <p:nvPicPr>
          <p:cNvPr id="5" name="Picture 4">
            <a:extLst>
              <a:ext uri="{FF2B5EF4-FFF2-40B4-BE49-F238E27FC236}">
                <a16:creationId xmlns:a16="http://schemas.microsoft.com/office/drawing/2014/main" id="{B8F7AC2D-444B-731B-DFF6-6109D5E95FE6}"/>
              </a:ext>
            </a:extLst>
          </p:cNvPr>
          <p:cNvPicPr>
            <a:picLocks noChangeAspect="1"/>
          </p:cNvPicPr>
          <p:nvPr/>
        </p:nvPicPr>
        <p:blipFill>
          <a:blip r:embed="rId2"/>
          <a:stretch>
            <a:fillRect/>
          </a:stretch>
        </p:blipFill>
        <p:spPr>
          <a:xfrm>
            <a:off x="796304" y="1083584"/>
            <a:ext cx="990499" cy="986184"/>
          </a:xfrm>
          <a:prstGeom prst="rect">
            <a:avLst/>
          </a:prstGeom>
        </p:spPr>
      </p:pic>
      <p:pic>
        <p:nvPicPr>
          <p:cNvPr id="1028" name="Picture 4" descr="MareNostrum | BSC-CNS">
            <a:extLst>
              <a:ext uri="{FF2B5EF4-FFF2-40B4-BE49-F238E27FC236}">
                <a16:creationId xmlns:a16="http://schemas.microsoft.com/office/drawing/2014/main" id="{EF184E16-8F51-53FC-F99E-1F365F6BB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930" y="2331378"/>
            <a:ext cx="5682192" cy="37822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A184E01-97E4-E0D9-7385-12F68039586B}"/>
              </a:ext>
            </a:extLst>
          </p:cNvPr>
          <p:cNvSpPr txBox="1"/>
          <p:nvPr/>
        </p:nvSpPr>
        <p:spPr>
          <a:xfrm>
            <a:off x="8591678" y="6113669"/>
            <a:ext cx="2799164" cy="261610"/>
          </a:xfrm>
          <a:prstGeom prst="rect">
            <a:avLst/>
          </a:prstGeom>
          <a:noFill/>
        </p:spPr>
        <p:txBody>
          <a:bodyPr wrap="none" rtlCol="0">
            <a:spAutoFit/>
          </a:bodyPr>
          <a:lstStyle/>
          <a:p>
            <a:r>
              <a:rPr lang="en-US" sz="1100" dirty="0">
                <a:solidFill>
                  <a:schemeClr val="bg1">
                    <a:lumMod val="50000"/>
                  </a:schemeClr>
                </a:solidFill>
                <a:latin typeface="Helvetica Light" panose="020B0403020202020204" pitchFamily="34" charset="0"/>
              </a:rPr>
              <a:t>Mare Nostrum supercomputer, Barcelona</a:t>
            </a:r>
          </a:p>
        </p:txBody>
      </p:sp>
    </p:spTree>
    <p:extLst>
      <p:ext uri="{BB962C8B-B14F-4D97-AF65-F5344CB8AC3E}">
        <p14:creationId xmlns:p14="http://schemas.microsoft.com/office/powerpoint/2010/main" val="1315758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9598-BD4D-70E9-70C2-7215FDC05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1D083-096E-849D-8015-B191ED5D6A34}"/>
              </a:ext>
            </a:extLst>
          </p:cNvPr>
          <p:cNvSpPr>
            <a:spLocks noGrp="1"/>
          </p:cNvSpPr>
          <p:nvPr>
            <p:ph type="title"/>
          </p:nvPr>
        </p:nvSpPr>
        <p:spPr/>
        <p:txBody>
          <a:bodyPr>
            <a:normAutofit/>
          </a:bodyPr>
          <a:lstStyle/>
          <a:p>
            <a:r>
              <a:rPr lang="en-US" sz="4000" dirty="0">
                <a:latin typeface="Helvetica" pitchFamily="2" charset="0"/>
              </a:rPr>
              <a:t>Leave us your feedback!</a:t>
            </a:r>
          </a:p>
        </p:txBody>
      </p:sp>
      <p:pic>
        <p:nvPicPr>
          <p:cNvPr id="2050" name="Picture 2" descr="Suggestion - Free communications icons">
            <a:extLst>
              <a:ext uri="{FF2B5EF4-FFF2-40B4-BE49-F238E27FC236}">
                <a16:creationId xmlns:a16="http://schemas.microsoft.com/office/drawing/2014/main" id="{5020596A-D3B5-18D2-1D37-3B88E5CD78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760" y="1866375"/>
            <a:ext cx="611909" cy="6119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C98279-5765-9BFA-2B15-04A8FEDAA130}"/>
              </a:ext>
            </a:extLst>
          </p:cNvPr>
          <p:cNvSpPr txBox="1"/>
          <p:nvPr/>
        </p:nvSpPr>
        <p:spPr>
          <a:xfrm>
            <a:off x="1794669" y="2206232"/>
            <a:ext cx="4606131" cy="2031325"/>
          </a:xfrm>
          <a:prstGeom prst="rect">
            <a:avLst/>
          </a:prstGeom>
          <a:noFill/>
        </p:spPr>
        <p:txBody>
          <a:bodyPr wrap="square" rtlCol="0">
            <a:spAutoFit/>
          </a:bodyPr>
          <a:lstStyle/>
          <a:p>
            <a:r>
              <a:rPr lang="en-US" dirty="0">
                <a:latin typeface="Helvetica" pitchFamily="2" charset="0"/>
              </a:rPr>
              <a:t>Please let us know if you have suggestions!</a:t>
            </a:r>
          </a:p>
          <a:p>
            <a:endParaRPr lang="en-US" dirty="0">
              <a:latin typeface="Helvetica" pitchFamily="2" charset="0"/>
            </a:endParaRPr>
          </a:p>
          <a:p>
            <a:pPr marL="342900" indent="-342900">
              <a:buAutoNum type="arabicPeriod"/>
            </a:pPr>
            <a:r>
              <a:rPr lang="en-US" dirty="0">
                <a:latin typeface="Helvetica" pitchFamily="2" charset="0"/>
              </a:rPr>
              <a:t>What did you like about this workshop?</a:t>
            </a:r>
          </a:p>
          <a:p>
            <a:pPr marL="342900" indent="-342900">
              <a:buAutoNum type="arabicPeriod"/>
            </a:pPr>
            <a:r>
              <a:rPr lang="en-US" dirty="0">
                <a:latin typeface="Helvetica" pitchFamily="2" charset="0"/>
              </a:rPr>
              <a:t>What could be improved?</a:t>
            </a:r>
          </a:p>
          <a:p>
            <a:pPr marL="342900" indent="-342900">
              <a:buAutoNum type="arabicPeriod"/>
            </a:pPr>
            <a:r>
              <a:rPr lang="en-US" dirty="0">
                <a:latin typeface="Helvetica" pitchFamily="2" charset="0"/>
              </a:rPr>
              <a:t>Any suggestions for the following sessions (i.e. change in order, other topics, special interests)</a:t>
            </a:r>
          </a:p>
        </p:txBody>
      </p:sp>
      <p:pic>
        <p:nvPicPr>
          <p:cNvPr id="5122" name="Picture 2" descr="Pen Icon Graphic by rudezstudio · Creative Fabrica">
            <a:extLst>
              <a:ext uri="{FF2B5EF4-FFF2-40B4-BE49-F238E27FC236}">
                <a16:creationId xmlns:a16="http://schemas.microsoft.com/office/drawing/2014/main" id="{0DEEB3E2-D200-94F1-EB2C-1F94DD52C3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365" y="340845"/>
            <a:ext cx="1576712" cy="104932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EAC7020-766F-B0AF-849C-A72B60F880DB}"/>
              </a:ext>
            </a:extLst>
          </p:cNvPr>
          <p:cNvPicPr>
            <a:picLocks noChangeAspect="1"/>
          </p:cNvPicPr>
          <p:nvPr/>
        </p:nvPicPr>
        <p:blipFill>
          <a:blip r:embed="rId4"/>
          <a:stretch>
            <a:fillRect/>
          </a:stretch>
        </p:blipFill>
        <p:spPr>
          <a:xfrm>
            <a:off x="7012709" y="1714968"/>
            <a:ext cx="4606131" cy="4577873"/>
          </a:xfrm>
          <a:prstGeom prst="rect">
            <a:avLst/>
          </a:prstGeom>
        </p:spPr>
      </p:pic>
    </p:spTree>
    <p:extLst>
      <p:ext uri="{BB962C8B-B14F-4D97-AF65-F5344CB8AC3E}">
        <p14:creationId xmlns:p14="http://schemas.microsoft.com/office/powerpoint/2010/main" val="2528438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488E0-0485-9661-4A27-6423D1D98D68}"/>
              </a:ext>
            </a:extLst>
          </p:cNvPr>
          <p:cNvSpPr>
            <a:spLocks noGrp="1"/>
          </p:cNvSpPr>
          <p:nvPr>
            <p:ph type="title"/>
          </p:nvPr>
        </p:nvSpPr>
        <p:spPr/>
        <p:txBody>
          <a:bodyPr>
            <a:normAutofit/>
          </a:bodyPr>
          <a:lstStyle/>
          <a:p>
            <a:r>
              <a:rPr lang="en-US" sz="4000" dirty="0">
                <a:latin typeface="Helvetica" pitchFamily="2" charset="0"/>
              </a:rPr>
              <a:t>Workshop Structure</a:t>
            </a:r>
          </a:p>
        </p:txBody>
      </p:sp>
      <p:graphicFrame>
        <p:nvGraphicFramePr>
          <p:cNvPr id="4" name="Table 3">
            <a:extLst>
              <a:ext uri="{FF2B5EF4-FFF2-40B4-BE49-F238E27FC236}">
                <a16:creationId xmlns:a16="http://schemas.microsoft.com/office/drawing/2014/main" id="{0AC10CA1-46F0-A2BF-0272-C7AE93EEBB36}"/>
              </a:ext>
            </a:extLst>
          </p:cNvPr>
          <p:cNvGraphicFramePr>
            <a:graphicFrameLocks noGrp="1"/>
          </p:cNvGraphicFramePr>
          <p:nvPr>
            <p:extLst>
              <p:ext uri="{D42A27DB-BD31-4B8C-83A1-F6EECF244321}">
                <p14:modId xmlns:p14="http://schemas.microsoft.com/office/powerpoint/2010/main" val="2620639997"/>
              </p:ext>
            </p:extLst>
          </p:nvPr>
        </p:nvGraphicFramePr>
        <p:xfrm>
          <a:off x="838200" y="1647725"/>
          <a:ext cx="10366169" cy="4618153"/>
        </p:xfrm>
        <a:graphic>
          <a:graphicData uri="http://schemas.openxmlformats.org/drawingml/2006/table">
            <a:tbl>
              <a:tblPr firstRow="1" bandRow="1">
                <a:tableStyleId>{5940675A-B579-460E-94D1-54222C63F5DA}</a:tableStyleId>
              </a:tblPr>
              <a:tblGrid>
                <a:gridCol w="1600455">
                  <a:extLst>
                    <a:ext uri="{9D8B030D-6E8A-4147-A177-3AD203B41FA5}">
                      <a16:colId xmlns:a16="http://schemas.microsoft.com/office/drawing/2014/main" val="3588077064"/>
                    </a:ext>
                  </a:extLst>
                </a:gridCol>
                <a:gridCol w="1553775">
                  <a:extLst>
                    <a:ext uri="{9D8B030D-6E8A-4147-A177-3AD203B41FA5}">
                      <a16:colId xmlns:a16="http://schemas.microsoft.com/office/drawing/2014/main" val="2921729674"/>
                    </a:ext>
                  </a:extLst>
                </a:gridCol>
                <a:gridCol w="1494395">
                  <a:extLst>
                    <a:ext uri="{9D8B030D-6E8A-4147-A177-3AD203B41FA5}">
                      <a16:colId xmlns:a16="http://schemas.microsoft.com/office/drawing/2014/main" val="3051897964"/>
                    </a:ext>
                  </a:extLst>
                </a:gridCol>
                <a:gridCol w="1393727">
                  <a:extLst>
                    <a:ext uri="{9D8B030D-6E8A-4147-A177-3AD203B41FA5}">
                      <a16:colId xmlns:a16="http://schemas.microsoft.com/office/drawing/2014/main" val="2317395656"/>
                    </a:ext>
                  </a:extLst>
                </a:gridCol>
                <a:gridCol w="1393727">
                  <a:extLst>
                    <a:ext uri="{9D8B030D-6E8A-4147-A177-3AD203B41FA5}">
                      <a16:colId xmlns:a16="http://schemas.microsoft.com/office/drawing/2014/main" val="4058881113"/>
                    </a:ext>
                  </a:extLst>
                </a:gridCol>
                <a:gridCol w="1467082">
                  <a:extLst>
                    <a:ext uri="{9D8B030D-6E8A-4147-A177-3AD203B41FA5}">
                      <a16:colId xmlns:a16="http://schemas.microsoft.com/office/drawing/2014/main" val="1121361333"/>
                    </a:ext>
                  </a:extLst>
                </a:gridCol>
                <a:gridCol w="1463008">
                  <a:extLst>
                    <a:ext uri="{9D8B030D-6E8A-4147-A177-3AD203B41FA5}">
                      <a16:colId xmlns:a16="http://schemas.microsoft.com/office/drawing/2014/main" val="3820744059"/>
                    </a:ext>
                  </a:extLst>
                </a:gridCol>
              </a:tblGrid>
              <a:tr h="277386">
                <a:tc gridSpan="2">
                  <a:txBody>
                    <a:bodyPr/>
                    <a:lstStyle/>
                    <a:p>
                      <a:pPr algn="ctr"/>
                      <a:r>
                        <a:rPr lang="en-US" sz="1200" b="1" dirty="0">
                          <a:latin typeface="Helvetica" pitchFamily="2" charset="0"/>
                        </a:rPr>
                        <a:t>Day 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Day 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r>
                        <a:rPr lang="en-US" sz="1200" b="1" dirty="0">
                          <a:latin typeface="Helvetica" pitchFamily="2" charset="0"/>
                        </a:rPr>
                        <a:t>Day 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gridSpan="2">
                  <a:txBody>
                    <a:bodyPr/>
                    <a:lstStyle/>
                    <a:p>
                      <a:pPr algn="ctr"/>
                      <a:r>
                        <a:rPr lang="en-US" sz="1200" b="1" dirty="0">
                          <a:latin typeface="Helvetica" pitchFamily="2" charset="0"/>
                        </a:rPr>
                        <a:t>Day 4</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86561491"/>
                  </a:ext>
                </a:extLst>
              </a:tr>
              <a:tr h="888907">
                <a:tc>
                  <a:txBody>
                    <a:bodyPr/>
                    <a:lstStyle/>
                    <a:p>
                      <a:pPr algn="ctr"/>
                      <a:r>
                        <a:rPr lang="en-US" sz="1200" b="1" dirty="0">
                          <a:latin typeface="Helvetica" pitchFamily="2" charset="0"/>
                        </a:rPr>
                        <a:t>1. HPC fundamentals &amp; Introduction to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2. Running jobs on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3. Submitting job arrays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4. Job performance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5. Login node scripts with GNU parallel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6. Software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sz="1200" b="1" dirty="0">
                          <a:latin typeface="Helvetica" pitchFamily="2" charset="0"/>
                        </a:rPr>
                        <a:t>7. Data management + Globus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405070096"/>
                  </a:ext>
                </a:extLst>
              </a:tr>
              <a:tr h="3402714">
                <a:tc>
                  <a:txBody>
                    <a:bodyPr/>
                    <a:lstStyle/>
                    <a:p>
                      <a:pPr marL="171450" indent="-171450">
                        <a:buFont typeface="Arial" panose="020B0604020202020204" pitchFamily="34" charset="0"/>
                        <a:buChar char="•"/>
                      </a:pPr>
                      <a:r>
                        <a:rPr lang="en-US" sz="1050" dirty="0">
                          <a:latin typeface="Helvetica" pitchFamily="2" charset="0"/>
                        </a:rPr>
                        <a:t>Understand Core HPC Concepts (CPU/GPU, Node/Core)</a:t>
                      </a:r>
                    </a:p>
                    <a:p>
                      <a:pPr marL="171450" indent="-171450">
                        <a:buFont typeface="Arial" panose="020B0604020202020204" pitchFamily="34" charset="0"/>
                        <a:buChar char="•"/>
                      </a:pPr>
                      <a:r>
                        <a:rPr lang="en-US" sz="1050" dirty="0">
                          <a:latin typeface="Helvetica" pitchFamily="2" charset="0"/>
                        </a:rPr>
                        <a:t>Navigate the Hazel HPC Environment</a:t>
                      </a:r>
                    </a:p>
                    <a:p>
                      <a:pPr marL="171450" indent="-171450">
                        <a:buFont typeface="Arial" panose="020B0604020202020204" pitchFamily="34" charset="0"/>
                        <a:buChar char="•"/>
                      </a:pPr>
                      <a:r>
                        <a:rPr lang="en-US" sz="1050" dirty="0">
                          <a:latin typeface="Helvetica" pitchFamily="2" charset="0"/>
                        </a:rPr>
                        <a:t>Get started with obtaining a HPC account</a:t>
                      </a:r>
                    </a:p>
                    <a:p>
                      <a:pPr marL="171450" indent="-171450">
                        <a:buFont typeface="Arial" panose="020B0604020202020204" pitchFamily="34" charset="0"/>
                        <a:buChar char="•"/>
                      </a:pPr>
                      <a:r>
                        <a:rPr lang="en-US" sz="1050" dirty="0">
                          <a:latin typeface="Helvetica" pitchFamily="2" charset="0"/>
                        </a:rPr>
                        <a:t>Learning ways to transfer 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Bonus! Basics of Unix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LSF job submission </a:t>
                      </a:r>
                    </a:p>
                    <a:p>
                      <a:pPr marL="171450" indent="-171450">
                        <a:buFont typeface="Arial" panose="020B0604020202020204" pitchFamily="34" charset="0"/>
                        <a:buChar char="•"/>
                      </a:pPr>
                      <a:r>
                        <a:rPr lang="en-US" sz="1050" dirty="0">
                          <a:latin typeface="Helvetica" pitchFamily="2" charset="0"/>
                        </a:rPr>
                        <a:t>Running an interactive job</a:t>
                      </a:r>
                    </a:p>
                    <a:p>
                      <a:pPr marL="171450" indent="-171450">
                        <a:buFont typeface="Arial" panose="020B0604020202020204" pitchFamily="34" charset="0"/>
                        <a:buChar char="•"/>
                      </a:pPr>
                      <a:r>
                        <a:rPr lang="en-US" sz="1050" dirty="0">
                          <a:latin typeface="Helvetica" pitchFamily="2" charset="0"/>
                        </a:rPr>
                        <a:t>Create a first job script and submit it</a:t>
                      </a:r>
                    </a:p>
                    <a:p>
                      <a:pPr marL="171450" indent="-171450">
                        <a:buFont typeface="Arial" panose="020B0604020202020204" pitchFamily="34" charset="0"/>
                        <a:buChar char="•"/>
                      </a:pPr>
                      <a:r>
                        <a:rPr lang="en-US" sz="1050" dirty="0">
                          <a:latin typeface="Helvetica" pitchFamily="2" charset="0"/>
                        </a:rPr>
                        <a:t>Learn some commands to monitor your jobs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the use cases for job arrays</a:t>
                      </a:r>
                    </a:p>
                    <a:p>
                      <a:pPr marL="171450" indent="-171450">
                        <a:buFont typeface="Arial" panose="020B0604020202020204" pitchFamily="34" charset="0"/>
                        <a:buChar char="•"/>
                      </a:pPr>
                      <a:r>
                        <a:rPr lang="en-US" sz="1050" dirty="0">
                          <a:latin typeface="Helvetica" pitchFamily="2" charset="0"/>
                        </a:rPr>
                        <a:t>Learn about the computation behind job arrays</a:t>
                      </a:r>
                    </a:p>
                    <a:p>
                      <a:pPr marL="171450" indent="-171450">
                        <a:buFont typeface="Arial" panose="020B0604020202020204" pitchFamily="34" charset="0"/>
                        <a:buChar char="•"/>
                      </a:pPr>
                      <a:r>
                        <a:rPr lang="en-US" sz="1050" dirty="0">
                          <a:latin typeface="Helvetica" pitchFamily="2" charset="0"/>
                        </a:rPr>
                        <a:t>Create the scripts needed to submit a job array</a:t>
                      </a:r>
                    </a:p>
                    <a:p>
                      <a:pPr marL="171450" indent="-171450">
                        <a:buFont typeface="Arial" panose="020B0604020202020204" pitchFamily="34" charset="0"/>
                        <a:buChar char="•"/>
                      </a:pPr>
                      <a:r>
                        <a:rPr lang="en-US" sz="1050" dirty="0">
                          <a:latin typeface="Helvetica" pitchFamily="2" charset="0"/>
                        </a:rPr>
                        <a:t>Create a job array and submit it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Learn how to estimate job requirements</a:t>
                      </a:r>
                    </a:p>
                    <a:p>
                      <a:pPr marL="171450" indent="-171450">
                        <a:buFont typeface="Arial" panose="020B0604020202020204" pitchFamily="34" charset="0"/>
                        <a:buChar char="•"/>
                      </a:pPr>
                      <a:r>
                        <a:rPr lang="en-US" sz="1050" dirty="0">
                          <a:latin typeface="Helvetica" pitchFamily="2" charset="0"/>
                        </a:rPr>
                        <a:t>Analyze the performance of a job</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Perform basic scaling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how to run processes in the login node without causing issues</a:t>
                      </a:r>
                    </a:p>
                    <a:p>
                      <a:pPr marL="171450" indent="-171450">
                        <a:buFont typeface="Arial" panose="020B0604020202020204" pitchFamily="34" charset="0"/>
                        <a:buChar char="•"/>
                      </a:pPr>
                      <a:r>
                        <a:rPr lang="en-US" sz="1050" dirty="0">
                          <a:latin typeface="Helvetica" pitchFamily="2" charset="0"/>
                        </a:rPr>
                        <a:t>Learn about GNU parallel</a:t>
                      </a:r>
                    </a:p>
                    <a:p>
                      <a:pPr marL="171450" indent="-171450">
                        <a:buFont typeface="Arial" panose="020B0604020202020204" pitchFamily="34" charset="0"/>
                        <a:buChar char="•"/>
                      </a:pPr>
                      <a:r>
                        <a:rPr lang="en-US" sz="1050" dirty="0">
                          <a:latin typeface="Helvetica" pitchFamily="2" charset="0"/>
                        </a:rPr>
                        <a:t>Run two examples on data downloading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Introduction to modules</a:t>
                      </a:r>
                    </a:p>
                    <a:p>
                      <a:pPr marL="171450" indent="-171450">
                        <a:buFont typeface="Arial" panose="020B0604020202020204" pitchFamily="34" charset="0"/>
                        <a:buChar char="•"/>
                      </a:pPr>
                      <a:r>
                        <a:rPr lang="en-US" sz="1050" dirty="0">
                          <a:latin typeface="Helvetica" pitchFamily="2" charset="0"/>
                        </a:rPr>
                        <a:t>Introduction to virtual environments</a:t>
                      </a:r>
                    </a:p>
                    <a:p>
                      <a:pPr marL="171450" indent="-171450">
                        <a:buFont typeface="Arial" panose="020B0604020202020204" pitchFamily="34" charset="0"/>
                        <a:buChar char="•"/>
                      </a:pPr>
                      <a:r>
                        <a:rPr lang="en-US" sz="1050" dirty="0">
                          <a:latin typeface="Helvetica" pitchFamily="2" charset="0"/>
                        </a:rPr>
                        <a:t>Introduction to containers</a:t>
                      </a:r>
                    </a:p>
                    <a:p>
                      <a:pPr marL="171450" indent="-171450">
                        <a:buFont typeface="Arial" panose="020B0604020202020204" pitchFamily="34" charset="0"/>
                        <a:buChar char="•"/>
                      </a:pPr>
                      <a:r>
                        <a:rPr lang="en-US" sz="1050" dirty="0">
                          <a:latin typeface="Helvetica" pitchFamily="2" charset="0"/>
                        </a:rPr>
                        <a:t>Learn how to load software using modules, </a:t>
                      </a:r>
                      <a:r>
                        <a:rPr lang="en-US" sz="1050" dirty="0" err="1">
                          <a:latin typeface="Helvetica" pitchFamily="2" charset="0"/>
                        </a:rPr>
                        <a:t>conda</a:t>
                      </a:r>
                      <a:r>
                        <a:rPr lang="en-US" sz="1050" dirty="0">
                          <a:latin typeface="Helvetica" pitchFamily="2" charset="0"/>
                        </a:rPr>
                        <a:t>, containers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indent="0">
                        <a:buFontTx/>
                        <a:buNone/>
                      </a:pPr>
                      <a:r>
                        <a:rPr lang="en-US" sz="1050" dirty="0">
                          <a:latin typeface="Helvetica" pitchFamily="2" charset="0"/>
                        </a:rPr>
                        <a:t>Manage data across the Hazel storage system.</a:t>
                      </a:r>
                    </a:p>
                    <a:p>
                      <a:r>
                        <a:rPr lang="en-US" sz="1050" dirty="0">
                          <a:latin typeface="Helvetica" pitchFamily="2" charset="0"/>
                        </a:rPr>
                        <a:t>Know when and how to use: </a:t>
                      </a:r>
                    </a:p>
                    <a:p>
                      <a:pPr marL="171450" indent="-171450">
                        <a:buFont typeface="Arial" panose="020B0604020202020204" pitchFamily="34" charset="0"/>
                        <a:buChar char="•"/>
                      </a:pPr>
                      <a:r>
                        <a:rPr lang="en-US" sz="1050" dirty="0">
                          <a:latin typeface="Helvetica" pitchFamily="2" charset="0"/>
                        </a:rPr>
                        <a:t>Research Storage (RS1)</a:t>
                      </a:r>
                    </a:p>
                    <a:p>
                      <a:pPr marL="171450" indent="-171450">
                        <a:buFont typeface="Arial" panose="020B0604020202020204" pitchFamily="34" charset="0"/>
                        <a:buChar char="•"/>
                      </a:pPr>
                      <a:r>
                        <a:rPr lang="en-US" sz="1050" dirty="0" err="1">
                          <a:latin typeface="Helvetica" pitchFamily="2" charset="0"/>
                        </a:rPr>
                        <a:t>Usrapps</a:t>
                      </a:r>
                      <a:endParaRPr lang="en-US" sz="1050" dirty="0">
                        <a:latin typeface="Helvetica" pitchFamily="2" charset="0"/>
                      </a:endParaRPr>
                    </a:p>
                    <a:p>
                      <a:pPr marL="171450" indent="-171450">
                        <a:buFont typeface="Arial" panose="020B0604020202020204" pitchFamily="34" charset="0"/>
                        <a:buChar char="•"/>
                      </a:pPr>
                      <a:r>
                        <a:rPr lang="en-US" sz="1050" dirty="0">
                          <a:latin typeface="Helvetica" pitchFamily="2" charset="0"/>
                        </a:rPr>
                        <a:t>Scratch</a:t>
                      </a:r>
                    </a:p>
                    <a:p>
                      <a:pPr marL="171450" indent="-171450">
                        <a:buFont typeface="Arial" panose="020B0604020202020204" pitchFamily="34" charset="0"/>
                        <a:buChar char="•"/>
                      </a:pPr>
                      <a:r>
                        <a:rPr lang="en-US" sz="1050" dirty="0">
                          <a:latin typeface="Helvetica" pitchFamily="2" charset="0"/>
                        </a:rPr>
                        <a:t>How to mount your RS1</a:t>
                      </a:r>
                    </a:p>
                    <a:p>
                      <a:pPr marL="0" indent="0">
                        <a:buFontTx/>
                        <a:buNone/>
                      </a:pPr>
                      <a:endParaRPr lang="en-US" sz="1050" dirty="0">
                        <a:latin typeface="Helvetica" pitchFamily="2" charset="0"/>
                      </a:endParaRPr>
                    </a:p>
                    <a:p>
                      <a:pPr marL="0" indent="0">
                        <a:buFontTx/>
                        <a:buNone/>
                      </a:pPr>
                      <a:r>
                        <a:rPr lang="en-US" sz="1050" dirty="0">
                          <a:latin typeface="Helvetica" pitchFamily="2" charset="0"/>
                        </a:rPr>
                        <a:t>Globus:</a:t>
                      </a:r>
                    </a:p>
                    <a:p>
                      <a:pPr marL="171450" indent="-171450">
                        <a:buFont typeface="Arial" panose="020B0604020202020204" pitchFamily="34" charset="0"/>
                        <a:buChar char="•"/>
                      </a:pPr>
                      <a:r>
                        <a:rPr lang="en-US" sz="1050" dirty="0">
                          <a:latin typeface="Helvetica" pitchFamily="2" charset="0"/>
                        </a:rPr>
                        <a:t>Understand endpoints and transfers. </a:t>
                      </a:r>
                    </a:p>
                    <a:p>
                      <a:pPr marL="171450" indent="-171450">
                        <a:buFont typeface="Arial" panose="020B0604020202020204" pitchFamily="34" charset="0"/>
                        <a:buChar char="•"/>
                      </a:pPr>
                      <a:r>
                        <a:rPr lang="en-US" sz="1050" dirty="0">
                          <a:latin typeface="Helvetica" pitchFamily="2" charset="0"/>
                        </a:rPr>
                        <a:t>Create a local and Google Drive endpoint</a:t>
                      </a:r>
                    </a:p>
                    <a:p>
                      <a:pPr marL="171450" indent="-171450">
                        <a:buFont typeface="Arial" panose="020B0604020202020204" pitchFamily="34" charset="0"/>
                        <a:buChar char="•"/>
                      </a:pPr>
                      <a:r>
                        <a:rPr lang="en-US" sz="1050" dirty="0">
                          <a:latin typeface="Helvetica" pitchFamily="2" charset="0"/>
                        </a:rPr>
                        <a:t>Perform transfers with HPC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849758829"/>
                  </a:ext>
                </a:extLst>
              </a:tr>
            </a:tbl>
          </a:graphicData>
        </a:graphic>
      </p:graphicFrame>
    </p:spTree>
    <p:extLst>
      <p:ext uri="{BB962C8B-B14F-4D97-AF65-F5344CB8AC3E}">
        <p14:creationId xmlns:p14="http://schemas.microsoft.com/office/powerpoint/2010/main" val="203831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7E632-1B08-6D8A-3A25-87625934D76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EDBFA83-B7A1-3974-0E7E-4C0F70E71604}"/>
              </a:ext>
            </a:extLst>
          </p:cNvPr>
          <p:cNvSpPr txBox="1">
            <a:spLocks/>
          </p:cNvSpPr>
          <p:nvPr/>
        </p:nvSpPr>
        <p:spPr>
          <a:xfrm>
            <a:off x="1646320" y="2089105"/>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6. Software</a:t>
            </a:r>
          </a:p>
        </p:txBody>
      </p:sp>
      <p:pic>
        <p:nvPicPr>
          <p:cNvPr id="1026" name="Picture 2" descr="Software - Free computer icons">
            <a:extLst>
              <a:ext uri="{FF2B5EF4-FFF2-40B4-BE49-F238E27FC236}">
                <a16:creationId xmlns:a16="http://schemas.microsoft.com/office/drawing/2014/main" id="{90307FDE-986B-CAFD-B54C-EAD152D20F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7032" y="2451264"/>
            <a:ext cx="1248229" cy="1248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826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AF49B-F4D4-672E-CBAC-B59D767AF8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63F50-ADB6-FEBA-66C6-B06489CA27C4}"/>
              </a:ext>
            </a:extLst>
          </p:cNvPr>
          <p:cNvSpPr>
            <a:spLocks noGrp="1"/>
          </p:cNvSpPr>
          <p:nvPr>
            <p:ph type="title"/>
          </p:nvPr>
        </p:nvSpPr>
        <p:spPr/>
        <p:txBody>
          <a:bodyPr>
            <a:normAutofit/>
          </a:bodyPr>
          <a:lstStyle/>
          <a:p>
            <a:r>
              <a:rPr lang="en-US" sz="4000" dirty="0">
                <a:latin typeface="Helvetica" pitchFamily="2" charset="0"/>
              </a:rPr>
              <a:t>Software in the HPC</a:t>
            </a:r>
          </a:p>
        </p:txBody>
      </p:sp>
      <p:sp>
        <p:nvSpPr>
          <p:cNvPr id="6" name="TextBox 5">
            <a:extLst>
              <a:ext uri="{FF2B5EF4-FFF2-40B4-BE49-F238E27FC236}">
                <a16:creationId xmlns:a16="http://schemas.microsoft.com/office/drawing/2014/main" id="{CC014DC6-081A-2DDE-8E9F-F46235054A85}"/>
              </a:ext>
            </a:extLst>
          </p:cNvPr>
          <p:cNvSpPr txBox="1"/>
          <p:nvPr/>
        </p:nvSpPr>
        <p:spPr>
          <a:xfrm>
            <a:off x="1141022" y="4194749"/>
            <a:ext cx="9321140" cy="1200329"/>
          </a:xfrm>
          <a:prstGeom prst="rect">
            <a:avLst/>
          </a:prstGeom>
          <a:noFill/>
        </p:spPr>
        <p:txBody>
          <a:bodyPr wrap="square">
            <a:spAutoFit/>
          </a:bodyPr>
          <a:lstStyle/>
          <a:p>
            <a:r>
              <a:rPr lang="en-US" dirty="0"/>
              <a:t>Software import tools available: </a:t>
            </a:r>
          </a:p>
          <a:p>
            <a:pPr marL="285750" indent="-285750">
              <a:buFont typeface="Arial" panose="020B0604020202020204" pitchFamily="34" charset="0"/>
              <a:buChar char="•"/>
            </a:pPr>
            <a:r>
              <a:rPr lang="en-US" b="1" dirty="0"/>
              <a:t>Modules</a:t>
            </a:r>
            <a:r>
              <a:rPr lang="en-US" dirty="0"/>
              <a:t> — for software HPC staff have already installed and maintain</a:t>
            </a:r>
          </a:p>
          <a:p>
            <a:pPr marL="285750" indent="-285750">
              <a:buFont typeface="Arial" panose="020B0604020202020204" pitchFamily="34" charset="0"/>
              <a:buChar char="•"/>
            </a:pPr>
            <a:r>
              <a:rPr lang="en-US" b="1" dirty="0"/>
              <a:t>Conda environments</a:t>
            </a:r>
            <a:r>
              <a:rPr lang="en-US" dirty="0"/>
              <a:t> — for when you need to install and manage your own packages</a:t>
            </a:r>
          </a:p>
          <a:p>
            <a:pPr marL="285750" indent="-285750">
              <a:buFont typeface="Arial" panose="020B0604020202020204" pitchFamily="34" charset="0"/>
              <a:buChar char="•"/>
            </a:pPr>
            <a:r>
              <a:rPr lang="en-US" b="1" dirty="0"/>
              <a:t>Containers</a:t>
            </a:r>
            <a:r>
              <a:rPr lang="en-US" dirty="0"/>
              <a:t> — for when you need complete reproducibility or complex dependencies</a:t>
            </a:r>
          </a:p>
        </p:txBody>
      </p:sp>
      <p:grpSp>
        <p:nvGrpSpPr>
          <p:cNvPr id="12" name="Group 11">
            <a:extLst>
              <a:ext uri="{FF2B5EF4-FFF2-40B4-BE49-F238E27FC236}">
                <a16:creationId xmlns:a16="http://schemas.microsoft.com/office/drawing/2014/main" id="{EF4450A0-3018-C0D0-AF89-35066F28761E}"/>
              </a:ext>
            </a:extLst>
          </p:cNvPr>
          <p:cNvGrpSpPr/>
          <p:nvPr/>
        </p:nvGrpSpPr>
        <p:grpSpPr>
          <a:xfrm>
            <a:off x="2358941" y="1791869"/>
            <a:ext cx="1152496" cy="1250232"/>
            <a:chOff x="2051465" y="1473562"/>
            <a:chExt cx="1152496" cy="1250232"/>
          </a:xfrm>
        </p:grpSpPr>
        <p:pic>
          <p:nvPicPr>
            <p:cNvPr id="7" name="Picture 6" descr="What Is HPC? - UArizona HPC Documentation">
              <a:extLst>
                <a:ext uri="{FF2B5EF4-FFF2-40B4-BE49-F238E27FC236}">
                  <a16:creationId xmlns:a16="http://schemas.microsoft.com/office/drawing/2014/main" id="{347103D3-F691-6F49-3E3F-71ACF2B4B2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0664" r="57602"/>
            <a:stretch>
              <a:fillRect/>
            </a:stretch>
          </p:blipFill>
          <p:spPr bwMode="auto">
            <a:xfrm>
              <a:off x="2051465" y="1521481"/>
              <a:ext cx="1018308" cy="120231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E1B049C6-544D-D0B1-F5AC-9BB14922A3D4}"/>
                </a:ext>
              </a:extLst>
            </p:cNvPr>
            <p:cNvSpPr/>
            <p:nvPr/>
          </p:nvSpPr>
          <p:spPr>
            <a:xfrm>
              <a:off x="2402377" y="1473562"/>
              <a:ext cx="801584" cy="3681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extBox 18">
            <a:extLst>
              <a:ext uri="{FF2B5EF4-FFF2-40B4-BE49-F238E27FC236}">
                <a16:creationId xmlns:a16="http://schemas.microsoft.com/office/drawing/2014/main" id="{D26128E8-39CA-6D94-5FBF-1A1F7EEDA16A}"/>
              </a:ext>
            </a:extLst>
          </p:cNvPr>
          <p:cNvSpPr txBox="1"/>
          <p:nvPr/>
        </p:nvSpPr>
        <p:spPr>
          <a:xfrm>
            <a:off x="2223032" y="3141148"/>
            <a:ext cx="2333203" cy="646331"/>
          </a:xfrm>
          <a:prstGeom prst="rect">
            <a:avLst/>
          </a:prstGeom>
          <a:noFill/>
        </p:spPr>
        <p:txBody>
          <a:bodyPr wrap="none" rtlCol="0">
            <a:spAutoFit/>
          </a:bodyPr>
          <a:lstStyle/>
          <a:p>
            <a:r>
              <a:rPr lang="en-US" b="1" dirty="0"/>
              <a:t>Personal machine </a:t>
            </a:r>
            <a:r>
              <a:rPr lang="en-US" dirty="0"/>
              <a:t>– </a:t>
            </a:r>
          </a:p>
          <a:p>
            <a:r>
              <a:rPr lang="en-US" dirty="0"/>
              <a:t>1 installation –  simple </a:t>
            </a:r>
          </a:p>
        </p:txBody>
      </p:sp>
      <p:sp>
        <p:nvSpPr>
          <p:cNvPr id="20" name="TextBox 19">
            <a:extLst>
              <a:ext uri="{FF2B5EF4-FFF2-40B4-BE49-F238E27FC236}">
                <a16:creationId xmlns:a16="http://schemas.microsoft.com/office/drawing/2014/main" id="{45F13570-31BD-2DF3-4B97-702356F14DD9}"/>
              </a:ext>
            </a:extLst>
          </p:cNvPr>
          <p:cNvSpPr txBox="1"/>
          <p:nvPr/>
        </p:nvSpPr>
        <p:spPr>
          <a:xfrm>
            <a:off x="6640309" y="3100664"/>
            <a:ext cx="2709683" cy="646331"/>
          </a:xfrm>
          <a:prstGeom prst="rect">
            <a:avLst/>
          </a:prstGeom>
          <a:noFill/>
        </p:spPr>
        <p:txBody>
          <a:bodyPr wrap="square" rtlCol="0">
            <a:spAutoFit/>
          </a:bodyPr>
          <a:lstStyle/>
          <a:p>
            <a:r>
              <a:rPr lang="en-US" b="1" dirty="0"/>
              <a:t>HPC</a:t>
            </a:r>
            <a:r>
              <a:rPr lang="en-US" dirty="0"/>
              <a:t> – multiple installations – conflicts </a:t>
            </a:r>
          </a:p>
        </p:txBody>
      </p:sp>
      <p:sp>
        <p:nvSpPr>
          <p:cNvPr id="21" name="Rectangle 20">
            <a:extLst>
              <a:ext uri="{FF2B5EF4-FFF2-40B4-BE49-F238E27FC236}">
                <a16:creationId xmlns:a16="http://schemas.microsoft.com/office/drawing/2014/main" id="{8A5C3DD9-AAC2-9081-7949-832189ECB589}"/>
              </a:ext>
            </a:extLst>
          </p:cNvPr>
          <p:cNvSpPr/>
          <p:nvPr/>
        </p:nvSpPr>
        <p:spPr>
          <a:xfrm>
            <a:off x="2090058" y="1839788"/>
            <a:ext cx="2375064" cy="2003261"/>
          </a:xfrm>
          <a:prstGeom prst="rect">
            <a:avLst/>
          </a:prstGeom>
          <a:no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3B0DAC1-6932-CB49-F746-D5DCB116F160}"/>
              </a:ext>
            </a:extLst>
          </p:cNvPr>
          <p:cNvSpPr/>
          <p:nvPr/>
        </p:nvSpPr>
        <p:spPr>
          <a:xfrm>
            <a:off x="6528459" y="1084723"/>
            <a:ext cx="3108067" cy="2758326"/>
          </a:xfrm>
          <a:prstGeom prst="rect">
            <a:avLst/>
          </a:prstGeom>
          <a:no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5FA63460-9510-ABE2-3A9D-89D1A4149218}"/>
              </a:ext>
            </a:extLst>
          </p:cNvPr>
          <p:cNvGrpSpPr/>
          <p:nvPr/>
        </p:nvGrpSpPr>
        <p:grpSpPr>
          <a:xfrm>
            <a:off x="6654394" y="987033"/>
            <a:ext cx="2792427" cy="1968176"/>
            <a:chOff x="6654394" y="987033"/>
            <a:chExt cx="2792427" cy="1968176"/>
          </a:xfrm>
        </p:grpSpPr>
        <p:grpSp>
          <p:nvGrpSpPr>
            <p:cNvPr id="18" name="Group 17">
              <a:extLst>
                <a:ext uri="{FF2B5EF4-FFF2-40B4-BE49-F238E27FC236}">
                  <a16:creationId xmlns:a16="http://schemas.microsoft.com/office/drawing/2014/main" id="{6B9E793B-409E-3CBB-EBA4-FD5CE2AA626A}"/>
                </a:ext>
              </a:extLst>
            </p:cNvPr>
            <p:cNvGrpSpPr/>
            <p:nvPr/>
          </p:nvGrpSpPr>
          <p:grpSpPr>
            <a:xfrm>
              <a:off x="6754587" y="987033"/>
              <a:ext cx="2692234" cy="1968176"/>
              <a:chOff x="7441873" y="644510"/>
              <a:chExt cx="3420091" cy="2495088"/>
            </a:xfrm>
          </p:grpSpPr>
          <p:pic>
            <p:nvPicPr>
              <p:cNvPr id="8" name="Picture 7" descr="What Is HPC? - UArizona HPC Documentation">
                <a:extLst>
                  <a:ext uri="{FF2B5EF4-FFF2-40B4-BE49-F238E27FC236}">
                    <a16:creationId xmlns:a16="http://schemas.microsoft.com/office/drawing/2014/main" id="{65AB546E-5503-B817-1C34-157DD25B06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0181" y="1405560"/>
                <a:ext cx="2401783" cy="173403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What Is HPC? - UArizona HPC Documentation">
                <a:extLst>
                  <a:ext uri="{FF2B5EF4-FFF2-40B4-BE49-F238E27FC236}">
                    <a16:creationId xmlns:a16="http://schemas.microsoft.com/office/drawing/2014/main" id="{01D908A9-68B3-7395-16D9-507DCDEBF0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0664" r="57602"/>
              <a:stretch>
                <a:fillRect/>
              </a:stretch>
            </p:blipFill>
            <p:spPr bwMode="auto">
              <a:xfrm>
                <a:off x="7441873" y="1627030"/>
                <a:ext cx="1018308" cy="12023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What Is HPC? - UArizona HPC Documentation">
                <a:extLst>
                  <a:ext uri="{FF2B5EF4-FFF2-40B4-BE49-F238E27FC236}">
                    <a16:creationId xmlns:a16="http://schemas.microsoft.com/office/drawing/2014/main" id="{D6F13731-B45F-49C2-B74D-67FB39106E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0664" r="57602"/>
              <a:stretch>
                <a:fillRect/>
              </a:stretch>
            </p:blipFill>
            <p:spPr bwMode="auto">
              <a:xfrm>
                <a:off x="8508674" y="669410"/>
                <a:ext cx="1018308" cy="1202313"/>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FD74BA47-6333-17DB-DB29-150936889D09}"/>
                  </a:ext>
                </a:extLst>
              </p:cNvPr>
              <p:cNvSpPr/>
              <p:nvPr/>
            </p:nvSpPr>
            <p:spPr>
              <a:xfrm>
                <a:off x="8871364" y="644510"/>
                <a:ext cx="679865" cy="358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0DD9FD-8F16-3B6D-DD23-B6CF2F586CAB}"/>
                  </a:ext>
                </a:extLst>
              </p:cNvPr>
              <p:cNvSpPr/>
              <p:nvPr/>
            </p:nvSpPr>
            <p:spPr>
              <a:xfrm>
                <a:off x="7804562" y="1592946"/>
                <a:ext cx="679865" cy="358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07C784F-2F1A-7135-B28D-6B3D0CAD4344}"/>
                  </a:ext>
                </a:extLst>
              </p:cNvPr>
              <p:cNvSpPr/>
              <p:nvPr/>
            </p:nvSpPr>
            <p:spPr>
              <a:xfrm>
                <a:off x="8822870" y="1901519"/>
                <a:ext cx="679865" cy="358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F9F1F70-1117-3714-AE7C-779FC253ADAF}"/>
                  </a:ext>
                </a:extLst>
              </p:cNvPr>
              <p:cNvSpPr/>
              <p:nvPr/>
            </p:nvSpPr>
            <p:spPr>
              <a:xfrm>
                <a:off x="10011889" y="1306317"/>
                <a:ext cx="679865" cy="358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395FF2D7-14F0-A371-8002-DD80EF26F081}"/>
                </a:ext>
              </a:extLst>
            </p:cNvPr>
            <p:cNvSpPr txBox="1"/>
            <p:nvPr/>
          </p:nvSpPr>
          <p:spPr>
            <a:xfrm>
              <a:off x="8348011" y="1172997"/>
              <a:ext cx="1001981" cy="261610"/>
            </a:xfrm>
            <a:prstGeom prst="rect">
              <a:avLst/>
            </a:prstGeom>
            <a:noFill/>
          </p:spPr>
          <p:txBody>
            <a:bodyPr wrap="square">
              <a:spAutoFit/>
            </a:bodyPr>
            <a:lstStyle/>
            <a:p>
              <a:r>
                <a:rPr lang="en-US" sz="1100" dirty="0">
                  <a:solidFill>
                    <a:srgbClr val="C00000"/>
                  </a:solidFill>
                </a:rPr>
                <a:t>Python 3.12</a:t>
              </a:r>
            </a:p>
          </p:txBody>
        </p:sp>
        <p:sp>
          <p:nvSpPr>
            <p:cNvPr id="25" name="TextBox 24">
              <a:extLst>
                <a:ext uri="{FF2B5EF4-FFF2-40B4-BE49-F238E27FC236}">
                  <a16:creationId xmlns:a16="http://schemas.microsoft.com/office/drawing/2014/main" id="{F4D8C13D-F639-992F-4F8F-7FC84DF483AE}"/>
                </a:ext>
              </a:extLst>
            </p:cNvPr>
            <p:cNvSpPr txBox="1"/>
            <p:nvPr/>
          </p:nvSpPr>
          <p:spPr>
            <a:xfrm>
              <a:off x="6654394" y="1677522"/>
              <a:ext cx="1001981" cy="261610"/>
            </a:xfrm>
            <a:prstGeom prst="rect">
              <a:avLst/>
            </a:prstGeom>
            <a:noFill/>
          </p:spPr>
          <p:txBody>
            <a:bodyPr wrap="square">
              <a:spAutoFit/>
            </a:bodyPr>
            <a:lstStyle/>
            <a:p>
              <a:r>
                <a:rPr lang="en-US" sz="1100" dirty="0">
                  <a:solidFill>
                    <a:srgbClr val="C00000"/>
                  </a:solidFill>
                </a:rPr>
                <a:t>Python 3.9</a:t>
              </a:r>
            </a:p>
          </p:txBody>
        </p:sp>
        <p:sp>
          <p:nvSpPr>
            <p:cNvPr id="26" name="TextBox 25">
              <a:extLst>
                <a:ext uri="{FF2B5EF4-FFF2-40B4-BE49-F238E27FC236}">
                  <a16:creationId xmlns:a16="http://schemas.microsoft.com/office/drawing/2014/main" id="{91224570-2CF9-37A1-384C-77645919911B}"/>
                </a:ext>
              </a:extLst>
            </p:cNvPr>
            <p:cNvSpPr txBox="1"/>
            <p:nvPr/>
          </p:nvSpPr>
          <p:spPr>
            <a:xfrm>
              <a:off x="7556181" y="1954626"/>
              <a:ext cx="1001981" cy="261610"/>
            </a:xfrm>
            <a:prstGeom prst="rect">
              <a:avLst/>
            </a:prstGeom>
            <a:noFill/>
          </p:spPr>
          <p:txBody>
            <a:bodyPr wrap="square">
              <a:spAutoFit/>
            </a:bodyPr>
            <a:lstStyle/>
            <a:p>
              <a:r>
                <a:rPr lang="en-US" sz="1100" dirty="0">
                  <a:solidFill>
                    <a:srgbClr val="C00000"/>
                  </a:solidFill>
                </a:rPr>
                <a:t>Python 3.7</a:t>
              </a:r>
            </a:p>
          </p:txBody>
        </p:sp>
      </p:grpSp>
      <p:sp>
        <p:nvSpPr>
          <p:cNvPr id="27" name="TextBox 26">
            <a:extLst>
              <a:ext uri="{FF2B5EF4-FFF2-40B4-BE49-F238E27FC236}">
                <a16:creationId xmlns:a16="http://schemas.microsoft.com/office/drawing/2014/main" id="{51DFAEBE-B8A9-62B0-DE51-B6B0A3CE028E}"/>
              </a:ext>
            </a:extLst>
          </p:cNvPr>
          <p:cNvSpPr txBox="1"/>
          <p:nvPr/>
        </p:nvSpPr>
        <p:spPr>
          <a:xfrm>
            <a:off x="2727087" y="1954626"/>
            <a:ext cx="1001981" cy="261610"/>
          </a:xfrm>
          <a:prstGeom prst="rect">
            <a:avLst/>
          </a:prstGeom>
          <a:noFill/>
        </p:spPr>
        <p:txBody>
          <a:bodyPr wrap="square">
            <a:spAutoFit/>
          </a:bodyPr>
          <a:lstStyle/>
          <a:p>
            <a:r>
              <a:rPr lang="en-US" sz="1100" dirty="0">
                <a:solidFill>
                  <a:srgbClr val="C00000"/>
                </a:solidFill>
              </a:rPr>
              <a:t>Python 3.9</a:t>
            </a:r>
          </a:p>
        </p:txBody>
      </p:sp>
      <p:sp>
        <p:nvSpPr>
          <p:cNvPr id="29" name="TextBox 28">
            <a:extLst>
              <a:ext uri="{FF2B5EF4-FFF2-40B4-BE49-F238E27FC236}">
                <a16:creationId xmlns:a16="http://schemas.microsoft.com/office/drawing/2014/main" id="{37B5144A-FFC7-310A-EFFE-8C614F7BC649}"/>
              </a:ext>
            </a:extLst>
          </p:cNvPr>
          <p:cNvSpPr txBox="1"/>
          <p:nvPr/>
        </p:nvSpPr>
        <p:spPr>
          <a:xfrm>
            <a:off x="2682647" y="5646359"/>
            <a:ext cx="6095010" cy="646331"/>
          </a:xfrm>
          <a:prstGeom prst="rect">
            <a:avLst/>
          </a:prstGeom>
          <a:solidFill>
            <a:srgbClr val="FF0000">
              <a:alpha val="29804"/>
            </a:srgbClr>
          </a:solidFill>
        </p:spPr>
        <p:txBody>
          <a:bodyPr wrap="square">
            <a:spAutoFit/>
          </a:bodyPr>
          <a:lstStyle/>
          <a:p>
            <a:pPr>
              <a:buNone/>
            </a:pPr>
            <a:r>
              <a:rPr lang="en-US" dirty="0"/>
              <a:t>These </a:t>
            </a:r>
            <a:r>
              <a:rPr lang="en-US" b="1" dirty="0"/>
              <a:t>aren't competing approaches</a:t>
            </a:r>
            <a:r>
              <a:rPr lang="en-US" dirty="0"/>
              <a:t>, they're tools for different situations. You'll probably use all three at different points.</a:t>
            </a:r>
          </a:p>
        </p:txBody>
      </p:sp>
      <p:sp>
        <p:nvSpPr>
          <p:cNvPr id="3" name="TextBox 2">
            <a:extLst>
              <a:ext uri="{FF2B5EF4-FFF2-40B4-BE49-F238E27FC236}">
                <a16:creationId xmlns:a16="http://schemas.microsoft.com/office/drawing/2014/main" id="{3261A3D7-8C0F-95EE-70EB-AC86B14BE9B4}"/>
              </a:ext>
            </a:extLst>
          </p:cNvPr>
          <p:cNvSpPr txBox="1"/>
          <p:nvPr/>
        </p:nvSpPr>
        <p:spPr>
          <a:xfrm>
            <a:off x="5266716" y="2663251"/>
            <a:ext cx="453457" cy="369332"/>
          </a:xfrm>
          <a:prstGeom prst="rect">
            <a:avLst/>
          </a:prstGeom>
          <a:noFill/>
        </p:spPr>
        <p:txBody>
          <a:bodyPr wrap="none" rtlCol="0">
            <a:spAutoFit/>
          </a:bodyPr>
          <a:lstStyle/>
          <a:p>
            <a:r>
              <a:rPr lang="en-US" dirty="0"/>
              <a:t>Vs.</a:t>
            </a:r>
          </a:p>
        </p:txBody>
      </p:sp>
    </p:spTree>
    <p:extLst>
      <p:ext uri="{BB962C8B-B14F-4D97-AF65-F5344CB8AC3E}">
        <p14:creationId xmlns:p14="http://schemas.microsoft.com/office/powerpoint/2010/main" val="1907772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0E4AB-05F8-C9BB-CB2D-52165EBE2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16C6FA-F5FE-3562-170E-4DBD7F7B2F3A}"/>
              </a:ext>
            </a:extLst>
          </p:cNvPr>
          <p:cNvSpPr>
            <a:spLocks noGrp="1"/>
          </p:cNvSpPr>
          <p:nvPr>
            <p:ph type="title"/>
          </p:nvPr>
        </p:nvSpPr>
        <p:spPr/>
        <p:txBody>
          <a:bodyPr>
            <a:normAutofit/>
          </a:bodyPr>
          <a:lstStyle/>
          <a:p>
            <a:r>
              <a:rPr lang="en-US" sz="4000" dirty="0">
                <a:latin typeface="Helvetica" pitchFamily="2" charset="0"/>
              </a:rPr>
              <a:t>Introduction to modules</a:t>
            </a:r>
          </a:p>
        </p:txBody>
      </p:sp>
      <p:sp>
        <p:nvSpPr>
          <p:cNvPr id="5" name="TextBox 4">
            <a:extLst>
              <a:ext uri="{FF2B5EF4-FFF2-40B4-BE49-F238E27FC236}">
                <a16:creationId xmlns:a16="http://schemas.microsoft.com/office/drawing/2014/main" id="{4ABCB1A5-6A27-6CFE-186B-3584E5118D96}"/>
              </a:ext>
            </a:extLst>
          </p:cNvPr>
          <p:cNvSpPr txBox="1"/>
          <p:nvPr/>
        </p:nvSpPr>
        <p:spPr>
          <a:xfrm>
            <a:off x="951510" y="1423681"/>
            <a:ext cx="8311243" cy="3139321"/>
          </a:xfrm>
          <a:prstGeom prst="rect">
            <a:avLst/>
          </a:prstGeom>
          <a:noFill/>
        </p:spPr>
        <p:txBody>
          <a:bodyPr wrap="square">
            <a:spAutoFit/>
          </a:bodyPr>
          <a:lstStyle/>
          <a:p>
            <a:r>
              <a:rPr lang="en-US" dirty="0"/>
              <a:t>The </a:t>
            </a:r>
            <a:r>
              <a:rPr lang="en-US" b="1" dirty="0">
                <a:solidFill>
                  <a:schemeClr val="accent1"/>
                </a:solidFill>
              </a:rPr>
              <a:t>software is already installed on the cluster</a:t>
            </a:r>
            <a:r>
              <a:rPr lang="en-US" dirty="0"/>
              <a:t>, but it's switched off by default to avoid conflicts. </a:t>
            </a:r>
          </a:p>
          <a:p>
            <a:r>
              <a:rPr lang="en-US" dirty="0"/>
              <a:t>Load a module = "I want to use this version of this tool right now.”</a:t>
            </a:r>
          </a:p>
          <a:p>
            <a:endParaRPr lang="en-US" dirty="0"/>
          </a:p>
          <a:p>
            <a:pPr marL="285750" indent="-285750">
              <a:buFont typeface="Arial" panose="020B0604020202020204" pitchFamily="34" charset="0"/>
              <a:buChar char="•"/>
            </a:pPr>
            <a:r>
              <a:rPr lang="en-US" dirty="0"/>
              <a:t>Stable</a:t>
            </a:r>
          </a:p>
          <a:p>
            <a:pPr marL="285750" indent="-285750">
              <a:buFont typeface="Arial" panose="020B0604020202020204" pitchFamily="34" charset="0"/>
              <a:buChar char="•"/>
            </a:pPr>
            <a:r>
              <a:rPr lang="en-US" dirty="0"/>
              <a:t>Widely-used software</a:t>
            </a:r>
          </a:p>
          <a:p>
            <a:pPr marL="285750" indent="-285750">
              <a:buFont typeface="Arial" panose="020B0604020202020204" pitchFamily="34" charset="0"/>
              <a:buChar char="•"/>
            </a:pPr>
            <a:r>
              <a:rPr lang="en-US" dirty="0"/>
              <a:t>HPC staff maintain</a:t>
            </a:r>
          </a:p>
          <a:p>
            <a:endParaRPr lang="en-US" dirty="0"/>
          </a:p>
          <a:p>
            <a:endParaRPr lang="en-US" dirty="0"/>
          </a:p>
          <a:p>
            <a:endParaRPr lang="en-US" dirty="0"/>
          </a:p>
          <a:p>
            <a:endParaRPr lang="en-US" dirty="0"/>
          </a:p>
        </p:txBody>
      </p:sp>
      <p:sp>
        <p:nvSpPr>
          <p:cNvPr id="7" name="TextBox 6">
            <a:extLst>
              <a:ext uri="{FF2B5EF4-FFF2-40B4-BE49-F238E27FC236}">
                <a16:creationId xmlns:a16="http://schemas.microsoft.com/office/drawing/2014/main" id="{48DDBD63-2886-900F-0F92-CD8E5FC096A1}"/>
              </a:ext>
            </a:extLst>
          </p:cNvPr>
          <p:cNvSpPr txBox="1"/>
          <p:nvPr/>
        </p:nvSpPr>
        <p:spPr>
          <a:xfrm>
            <a:off x="1038898" y="3626297"/>
            <a:ext cx="5241472" cy="830997"/>
          </a:xfrm>
          <a:prstGeom prst="rect">
            <a:avLst/>
          </a:prstGeom>
          <a:solidFill>
            <a:schemeClr val="bg1">
              <a:lumMod val="95000"/>
            </a:schemeClr>
          </a:solidFill>
        </p:spPr>
        <p:txBody>
          <a:bodyPr wrap="square">
            <a:spAutoFit/>
          </a:bodyPr>
          <a:lstStyle/>
          <a:p>
            <a:r>
              <a:rPr lang="en-US" sz="1200" dirty="0">
                <a:latin typeface="Menlo" panose="020B0609030804020204" pitchFamily="49" charset="0"/>
                <a:ea typeface="Menlo" panose="020B0609030804020204" pitchFamily="49" charset="0"/>
                <a:cs typeface="Menlo" panose="020B0609030804020204" pitchFamily="49" charset="0"/>
              </a:rPr>
              <a:t>module avail 		</a:t>
            </a:r>
            <a:r>
              <a:rPr lang="en-US" sz="1200" dirty="0">
                <a:solidFill>
                  <a:schemeClr val="bg1">
                    <a:lumMod val="65000"/>
                  </a:schemeClr>
                </a:solidFill>
                <a:latin typeface="Menlo" panose="020B0609030804020204" pitchFamily="49" charset="0"/>
                <a:ea typeface="Menlo" panose="020B0609030804020204" pitchFamily="49" charset="0"/>
                <a:cs typeface="Menlo" panose="020B0609030804020204" pitchFamily="49" charset="0"/>
              </a:rPr>
              <a:t># what's available </a:t>
            </a:r>
          </a:p>
          <a:p>
            <a:r>
              <a:rPr lang="en-US" sz="1200" dirty="0">
                <a:latin typeface="Menlo" panose="020B0609030804020204" pitchFamily="49" charset="0"/>
                <a:ea typeface="Menlo" panose="020B0609030804020204" pitchFamily="49" charset="0"/>
                <a:cs typeface="Menlo" panose="020B0609030804020204" pitchFamily="49" charset="0"/>
              </a:rPr>
              <a:t>module load blast 		</a:t>
            </a:r>
            <a:r>
              <a:rPr lang="en-US" sz="1200" dirty="0">
                <a:solidFill>
                  <a:schemeClr val="bg1">
                    <a:lumMod val="65000"/>
                  </a:schemeClr>
                </a:solidFill>
                <a:latin typeface="Menlo" panose="020B0609030804020204" pitchFamily="49" charset="0"/>
                <a:ea typeface="Menlo" panose="020B0609030804020204" pitchFamily="49" charset="0"/>
                <a:cs typeface="Menlo" panose="020B0609030804020204" pitchFamily="49" charset="0"/>
              </a:rPr>
              <a:t># turn on BLAST </a:t>
            </a:r>
          </a:p>
          <a:p>
            <a:r>
              <a:rPr lang="en-US" sz="1200" dirty="0">
                <a:latin typeface="Menlo" panose="020B0609030804020204" pitchFamily="49" charset="0"/>
                <a:ea typeface="Menlo" panose="020B0609030804020204" pitchFamily="49" charset="0"/>
                <a:cs typeface="Menlo" panose="020B0609030804020204" pitchFamily="49" charset="0"/>
              </a:rPr>
              <a:t>module list 		</a:t>
            </a:r>
            <a:r>
              <a:rPr lang="en-US" sz="1200" dirty="0">
                <a:solidFill>
                  <a:schemeClr val="bg1">
                    <a:lumMod val="65000"/>
                  </a:schemeClr>
                </a:solidFill>
                <a:latin typeface="Menlo" panose="020B0609030804020204" pitchFamily="49" charset="0"/>
                <a:ea typeface="Menlo" panose="020B0609030804020204" pitchFamily="49" charset="0"/>
                <a:cs typeface="Menlo" panose="020B0609030804020204" pitchFamily="49" charset="0"/>
              </a:rPr>
              <a:t># what do I have loaded </a:t>
            </a:r>
          </a:p>
          <a:p>
            <a:r>
              <a:rPr lang="en-US" sz="1200" dirty="0">
                <a:latin typeface="Menlo" panose="020B0609030804020204" pitchFamily="49" charset="0"/>
                <a:ea typeface="Menlo" panose="020B0609030804020204" pitchFamily="49" charset="0"/>
                <a:cs typeface="Menlo" panose="020B0609030804020204" pitchFamily="49" charset="0"/>
              </a:rPr>
              <a:t>module unload blast 	</a:t>
            </a:r>
            <a:r>
              <a:rPr lang="en-US" sz="1200" dirty="0">
                <a:solidFill>
                  <a:schemeClr val="bg1">
                    <a:lumMod val="65000"/>
                  </a:schemeClr>
                </a:solidFill>
                <a:latin typeface="Menlo" panose="020B0609030804020204" pitchFamily="49" charset="0"/>
                <a:ea typeface="Menlo" panose="020B0609030804020204" pitchFamily="49" charset="0"/>
                <a:cs typeface="Menlo" panose="020B0609030804020204" pitchFamily="49" charset="0"/>
              </a:rPr>
              <a:t># turn it off</a:t>
            </a:r>
          </a:p>
        </p:txBody>
      </p:sp>
      <p:pic>
        <p:nvPicPr>
          <p:cNvPr id="4101" name="Picture 5" descr="Download Free Light switch Icons in PNG &amp; SVG">
            <a:extLst>
              <a:ext uri="{FF2B5EF4-FFF2-40B4-BE49-F238E27FC236}">
                <a16:creationId xmlns:a16="http://schemas.microsoft.com/office/drawing/2014/main" id="{4E2472E7-4A3A-8312-7D06-DB98DA06F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3822" y="3348365"/>
            <a:ext cx="1108929" cy="110892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2F17B75-4593-0C4D-316A-EB0BC8F083AD}"/>
              </a:ext>
            </a:extLst>
          </p:cNvPr>
          <p:cNvSpPr txBox="1"/>
          <p:nvPr/>
        </p:nvSpPr>
        <p:spPr>
          <a:xfrm>
            <a:off x="7693517" y="3134693"/>
            <a:ext cx="649537" cy="276999"/>
          </a:xfrm>
          <a:prstGeom prst="rect">
            <a:avLst/>
          </a:prstGeom>
          <a:noFill/>
        </p:spPr>
        <p:txBody>
          <a:bodyPr wrap="none" rtlCol="0">
            <a:spAutoFit/>
          </a:bodyPr>
          <a:lstStyle/>
          <a:p>
            <a:r>
              <a:rPr lang="en-US" sz="1200" dirty="0">
                <a:solidFill>
                  <a:srgbClr val="374850"/>
                </a:solidFill>
                <a:latin typeface="Menlo" panose="020B0609030804020204" pitchFamily="49" charset="0"/>
                <a:ea typeface="Menlo" panose="020B0609030804020204" pitchFamily="49" charset="0"/>
                <a:cs typeface="Menlo" panose="020B0609030804020204" pitchFamily="49" charset="0"/>
              </a:rPr>
              <a:t>blast</a:t>
            </a:r>
          </a:p>
        </p:txBody>
      </p:sp>
      <p:sp>
        <p:nvSpPr>
          <p:cNvPr id="10" name="TextBox 9">
            <a:extLst>
              <a:ext uri="{FF2B5EF4-FFF2-40B4-BE49-F238E27FC236}">
                <a16:creationId xmlns:a16="http://schemas.microsoft.com/office/drawing/2014/main" id="{5B6155DE-9C8D-7258-58D2-263C4C99215F}"/>
              </a:ext>
            </a:extLst>
          </p:cNvPr>
          <p:cNvSpPr txBox="1"/>
          <p:nvPr/>
        </p:nvSpPr>
        <p:spPr>
          <a:xfrm>
            <a:off x="8417807" y="3728949"/>
            <a:ext cx="1492716" cy="246221"/>
          </a:xfrm>
          <a:prstGeom prst="rect">
            <a:avLst/>
          </a:prstGeom>
          <a:noFill/>
        </p:spPr>
        <p:txBody>
          <a:bodyPr wrap="none" rtlCol="0">
            <a:spAutoFit/>
          </a:bodyPr>
          <a:lstStyle/>
          <a:p>
            <a:r>
              <a:rPr lang="en-US" sz="1000" dirty="0">
                <a:solidFill>
                  <a:schemeClr val="bg1">
                    <a:lumMod val="50000"/>
                  </a:schemeClr>
                </a:solidFill>
                <a:latin typeface="Menlo" panose="020B0609030804020204" pitchFamily="49" charset="0"/>
                <a:ea typeface="Menlo" panose="020B0609030804020204" pitchFamily="49" charset="0"/>
                <a:cs typeface="Menlo" panose="020B0609030804020204" pitchFamily="49" charset="0"/>
              </a:rPr>
              <a:t>module load blast</a:t>
            </a:r>
          </a:p>
        </p:txBody>
      </p:sp>
      <p:sp>
        <p:nvSpPr>
          <p:cNvPr id="11" name="TextBox 10">
            <a:extLst>
              <a:ext uri="{FF2B5EF4-FFF2-40B4-BE49-F238E27FC236}">
                <a16:creationId xmlns:a16="http://schemas.microsoft.com/office/drawing/2014/main" id="{5EF31190-6761-F2D2-3497-98E8D1892066}"/>
              </a:ext>
            </a:extLst>
          </p:cNvPr>
          <p:cNvSpPr txBox="1"/>
          <p:nvPr/>
        </p:nvSpPr>
        <p:spPr>
          <a:xfrm>
            <a:off x="1270660" y="5249653"/>
            <a:ext cx="9081269" cy="369332"/>
          </a:xfrm>
          <a:prstGeom prst="rect">
            <a:avLst/>
          </a:prstGeom>
          <a:solidFill>
            <a:schemeClr val="accent1">
              <a:lumMod val="20000"/>
              <a:lumOff val="80000"/>
            </a:schemeClr>
          </a:solidFill>
        </p:spPr>
        <p:txBody>
          <a:bodyPr wrap="none" rtlCol="0">
            <a:spAutoFit/>
          </a:bodyPr>
          <a:lstStyle/>
          <a:p>
            <a:r>
              <a:rPr lang="en-US" dirty="0"/>
              <a:t>This is always your </a:t>
            </a:r>
            <a:r>
              <a:rPr lang="en-US" b="1" dirty="0"/>
              <a:t>first stop</a:t>
            </a:r>
            <a:r>
              <a:rPr lang="en-US" dirty="0"/>
              <a:t>: check if it's already there before trying to install anything yourself.</a:t>
            </a:r>
          </a:p>
        </p:txBody>
      </p:sp>
    </p:spTree>
    <p:extLst>
      <p:ext uri="{BB962C8B-B14F-4D97-AF65-F5344CB8AC3E}">
        <p14:creationId xmlns:p14="http://schemas.microsoft.com/office/powerpoint/2010/main" val="705013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FE8DF-F006-4778-D0B6-4350C9BE11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CFE5E-9294-AF7F-CDC2-718F15E3ACD0}"/>
              </a:ext>
            </a:extLst>
          </p:cNvPr>
          <p:cNvSpPr>
            <a:spLocks noGrp="1"/>
          </p:cNvSpPr>
          <p:nvPr>
            <p:ph type="title"/>
          </p:nvPr>
        </p:nvSpPr>
        <p:spPr/>
        <p:txBody>
          <a:bodyPr>
            <a:normAutofit/>
          </a:bodyPr>
          <a:lstStyle/>
          <a:p>
            <a:r>
              <a:rPr lang="en-US" sz="4000" dirty="0">
                <a:latin typeface="Helvetica" pitchFamily="2" charset="0"/>
              </a:rPr>
              <a:t>Introduction to virtual environments</a:t>
            </a:r>
          </a:p>
        </p:txBody>
      </p:sp>
      <p:pic>
        <p:nvPicPr>
          <p:cNvPr id="5122" name="Picture 2" descr="Install Anaconda for Machine Learning and Data Science in Python">
            <a:extLst>
              <a:ext uri="{FF2B5EF4-FFF2-40B4-BE49-F238E27FC236}">
                <a16:creationId xmlns:a16="http://schemas.microsoft.com/office/drawing/2014/main" id="{DB388AC0-4A8D-2228-D858-5D92C74753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4234" y="365125"/>
            <a:ext cx="1779566" cy="8877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1509759-22F5-7062-D92A-964CB777A387}"/>
              </a:ext>
            </a:extLst>
          </p:cNvPr>
          <p:cNvSpPr txBox="1"/>
          <p:nvPr/>
        </p:nvSpPr>
        <p:spPr>
          <a:xfrm>
            <a:off x="840178" y="1567403"/>
            <a:ext cx="6095010" cy="2862322"/>
          </a:xfrm>
          <a:prstGeom prst="rect">
            <a:avLst/>
          </a:prstGeom>
          <a:noFill/>
        </p:spPr>
        <p:txBody>
          <a:bodyPr wrap="square">
            <a:spAutoFit/>
          </a:bodyPr>
          <a:lstStyle/>
          <a:p>
            <a:pPr>
              <a:buNone/>
            </a:pPr>
            <a:r>
              <a:rPr lang="en-US" dirty="0"/>
              <a:t>A </a:t>
            </a:r>
            <a:r>
              <a:rPr lang="en-US" dirty="0" err="1"/>
              <a:t>conda</a:t>
            </a:r>
            <a:r>
              <a:rPr lang="en-US" dirty="0"/>
              <a:t> environment is an </a:t>
            </a:r>
            <a:r>
              <a:rPr lang="en-US" b="1" dirty="0">
                <a:solidFill>
                  <a:schemeClr val="accent6"/>
                </a:solidFill>
              </a:rPr>
              <a:t>isolated box </a:t>
            </a:r>
            <a:r>
              <a:rPr lang="en-US" dirty="0"/>
              <a:t>where you can install whatever you want </a:t>
            </a:r>
            <a:r>
              <a:rPr lang="en-US" dirty="0">
                <a:solidFill>
                  <a:schemeClr val="accent6"/>
                </a:solidFill>
              </a:rPr>
              <a:t>without affecting anyone </a:t>
            </a:r>
            <a:r>
              <a:rPr lang="en-US" dirty="0"/>
              <a:t>else or anything else on the system. </a:t>
            </a:r>
          </a:p>
          <a:p>
            <a:pPr>
              <a:buNone/>
            </a:pPr>
            <a:endParaRPr lang="en-US" dirty="0"/>
          </a:p>
          <a:p>
            <a:pPr>
              <a:buNone/>
            </a:pPr>
            <a:r>
              <a:rPr lang="en-US" dirty="0"/>
              <a:t>You can have </a:t>
            </a:r>
            <a:r>
              <a:rPr lang="en-US" dirty="0">
                <a:solidFill>
                  <a:schemeClr val="accent6"/>
                </a:solidFill>
              </a:rPr>
              <a:t>multiple environments </a:t>
            </a:r>
            <a:r>
              <a:rPr lang="en-US" dirty="0"/>
              <a:t>each with different tools and versions, all coexisting peacefully.</a:t>
            </a:r>
          </a:p>
          <a:p>
            <a:pPr>
              <a:buNone/>
            </a:pPr>
            <a:endParaRPr lang="en-US" dirty="0"/>
          </a:p>
          <a:p>
            <a:pPr>
              <a:buNone/>
            </a:pPr>
            <a:r>
              <a:rPr lang="en-US" dirty="0"/>
              <a:t>A </a:t>
            </a:r>
            <a:r>
              <a:rPr lang="en-US" dirty="0">
                <a:solidFill>
                  <a:schemeClr val="accent1"/>
                </a:solidFill>
              </a:rPr>
              <a:t>module</a:t>
            </a:r>
            <a:r>
              <a:rPr lang="en-US" dirty="0"/>
              <a:t> is a light switch someone else installed. </a:t>
            </a:r>
          </a:p>
          <a:p>
            <a:pPr>
              <a:buNone/>
            </a:pPr>
            <a:r>
              <a:rPr lang="en-US" dirty="0"/>
              <a:t>A </a:t>
            </a:r>
            <a:r>
              <a:rPr lang="en-US" dirty="0" err="1">
                <a:solidFill>
                  <a:schemeClr val="accent6"/>
                </a:solidFill>
              </a:rPr>
              <a:t>conda</a:t>
            </a:r>
            <a:r>
              <a:rPr lang="en-US" dirty="0">
                <a:solidFill>
                  <a:schemeClr val="accent6"/>
                </a:solidFill>
              </a:rPr>
              <a:t> environment </a:t>
            </a:r>
            <a:r>
              <a:rPr lang="en-US" dirty="0"/>
              <a:t>is your own private room with its own switches.</a:t>
            </a:r>
          </a:p>
        </p:txBody>
      </p:sp>
      <p:sp>
        <p:nvSpPr>
          <p:cNvPr id="6" name="TextBox 5">
            <a:extLst>
              <a:ext uri="{FF2B5EF4-FFF2-40B4-BE49-F238E27FC236}">
                <a16:creationId xmlns:a16="http://schemas.microsoft.com/office/drawing/2014/main" id="{E9DBAB41-2D3E-946E-2362-169BC5E44CB9}"/>
              </a:ext>
            </a:extLst>
          </p:cNvPr>
          <p:cNvSpPr txBox="1"/>
          <p:nvPr/>
        </p:nvSpPr>
        <p:spPr>
          <a:xfrm>
            <a:off x="838200" y="4989383"/>
            <a:ext cx="6945581" cy="938719"/>
          </a:xfrm>
          <a:prstGeom prst="rect">
            <a:avLst/>
          </a:prstGeom>
          <a:solidFill>
            <a:schemeClr val="bg1">
              <a:lumMod val="95000"/>
            </a:schemeClr>
          </a:solidFill>
        </p:spPr>
        <p:txBody>
          <a:bodyPr wrap="square">
            <a:spAutoFit/>
          </a:bodyPr>
          <a:lstStyle/>
          <a:p>
            <a:r>
              <a:rPr lang="en-US" sz="1100" dirty="0">
                <a:latin typeface="Menlo" panose="020B0609030804020204" pitchFamily="49" charset="0"/>
                <a:ea typeface="Menlo" panose="020B0609030804020204" pitchFamily="49" charset="0"/>
                <a:cs typeface="Menlo" panose="020B0609030804020204" pitchFamily="49" charset="0"/>
              </a:rPr>
              <a:t>module load </a:t>
            </a:r>
            <a:r>
              <a:rPr lang="en-US" sz="1100" dirty="0" err="1">
                <a:latin typeface="Menlo" panose="020B0609030804020204" pitchFamily="49" charset="0"/>
                <a:ea typeface="Menlo" panose="020B0609030804020204" pitchFamily="49" charset="0"/>
                <a:cs typeface="Menlo" panose="020B0609030804020204" pitchFamily="49" charset="0"/>
              </a:rPr>
              <a:t>conda</a:t>
            </a:r>
            <a:r>
              <a:rPr lang="en-US" sz="1100" dirty="0">
                <a:latin typeface="Menlo" panose="020B0609030804020204" pitchFamily="49" charset="0"/>
                <a:ea typeface="Menlo" panose="020B0609030804020204" pitchFamily="49" charset="0"/>
                <a:cs typeface="Menlo" panose="020B0609030804020204" pitchFamily="49" charset="0"/>
              </a:rPr>
              <a:t> 			</a:t>
            </a:r>
            <a:r>
              <a:rPr lang="en-US" sz="1100" dirty="0">
                <a:solidFill>
                  <a:srgbClr val="6E7687"/>
                </a:solidFill>
                <a:effectLst/>
                <a:latin typeface="Menlo" panose="020B0609030804020204" pitchFamily="49" charset="0"/>
                <a:ea typeface="Menlo" panose="020B0609030804020204" pitchFamily="49" charset="0"/>
                <a:cs typeface="Menlo" panose="020B0609030804020204" pitchFamily="49" charset="0"/>
              </a:rPr>
              <a:t># first, load </a:t>
            </a:r>
            <a:r>
              <a:rPr lang="en-US" sz="1100" dirty="0" err="1">
                <a:solidFill>
                  <a:srgbClr val="6E7687"/>
                </a:solidFill>
                <a:effectLst/>
                <a:latin typeface="Menlo" panose="020B0609030804020204" pitchFamily="49" charset="0"/>
                <a:ea typeface="Menlo" panose="020B0609030804020204" pitchFamily="49" charset="0"/>
                <a:cs typeface="Menlo" panose="020B0609030804020204" pitchFamily="49" charset="0"/>
              </a:rPr>
              <a:t>conda</a:t>
            </a:r>
            <a:r>
              <a:rPr lang="en-US" sz="1100" dirty="0">
                <a:solidFill>
                  <a:srgbClr val="6E7687"/>
                </a:solidFill>
                <a:effectLst/>
                <a:latin typeface="Menlo" panose="020B0609030804020204" pitchFamily="49" charset="0"/>
                <a:ea typeface="Menlo" panose="020B0609030804020204" pitchFamily="49" charset="0"/>
                <a:cs typeface="Menlo" panose="020B0609030804020204" pitchFamily="49" charset="0"/>
              </a:rPr>
              <a:t> itself</a:t>
            </a:r>
            <a:r>
              <a:rPr lang="en-US" sz="1100" dirty="0">
                <a:latin typeface="Menlo" panose="020B0609030804020204" pitchFamily="49" charset="0"/>
                <a:ea typeface="Menlo" panose="020B0609030804020204" pitchFamily="49" charset="0"/>
                <a:cs typeface="Menlo" panose="020B0609030804020204" pitchFamily="49" charset="0"/>
              </a:rPr>
              <a:t> </a:t>
            </a:r>
          </a:p>
          <a:p>
            <a:r>
              <a:rPr lang="en-US" sz="1100" dirty="0" err="1">
                <a:latin typeface="Menlo" panose="020B0609030804020204" pitchFamily="49" charset="0"/>
                <a:ea typeface="Menlo" panose="020B0609030804020204" pitchFamily="49" charset="0"/>
                <a:cs typeface="Menlo" panose="020B0609030804020204" pitchFamily="49" charset="0"/>
              </a:rPr>
              <a:t>conda</a:t>
            </a:r>
            <a:r>
              <a:rPr lang="en-US" sz="1100" dirty="0">
                <a:latin typeface="Menlo" panose="020B0609030804020204" pitchFamily="49" charset="0"/>
                <a:ea typeface="Menlo" panose="020B0609030804020204" pitchFamily="49" charset="0"/>
                <a:cs typeface="Menlo" panose="020B0609030804020204" pitchFamily="49" charset="0"/>
              </a:rPr>
              <a:t> create -n </a:t>
            </a:r>
            <a:r>
              <a:rPr lang="en-US" sz="1100" dirty="0" err="1">
                <a:latin typeface="Menlo" panose="020B0609030804020204" pitchFamily="49" charset="0"/>
                <a:ea typeface="Menlo" panose="020B0609030804020204" pitchFamily="49" charset="0"/>
                <a:cs typeface="Menlo" panose="020B0609030804020204" pitchFamily="49" charset="0"/>
              </a:rPr>
              <a:t>myenv</a:t>
            </a:r>
            <a:r>
              <a:rPr lang="en-US" sz="1100" dirty="0">
                <a:latin typeface="Menlo" panose="020B0609030804020204" pitchFamily="49" charset="0"/>
                <a:ea typeface="Menlo" panose="020B0609030804020204" pitchFamily="49" charset="0"/>
                <a:cs typeface="Menlo" panose="020B0609030804020204" pitchFamily="49" charset="0"/>
              </a:rPr>
              <a:t> </a:t>
            </a:r>
            <a:r>
              <a:rPr lang="en-US" sz="1100" dirty="0">
                <a:solidFill>
                  <a:srgbClr val="B34A00"/>
                </a:solidFill>
                <a:effectLst/>
                <a:latin typeface="Menlo" panose="020B0609030804020204" pitchFamily="49" charset="0"/>
                <a:ea typeface="Menlo" panose="020B0609030804020204" pitchFamily="49" charset="0"/>
                <a:cs typeface="Menlo" panose="020B0609030804020204" pitchFamily="49" charset="0"/>
              </a:rPr>
              <a:t>python</a:t>
            </a:r>
            <a:r>
              <a:rPr lang="en-US" sz="1100"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1100" dirty="0">
                <a:solidFill>
                  <a:srgbClr val="008080"/>
                </a:solidFill>
                <a:effectLst/>
                <a:latin typeface="Menlo" panose="020B0609030804020204" pitchFamily="49" charset="0"/>
                <a:ea typeface="Menlo" panose="020B0609030804020204" pitchFamily="49" charset="0"/>
                <a:cs typeface="Menlo" panose="020B0609030804020204" pitchFamily="49" charset="0"/>
              </a:rPr>
              <a:t>3.11</a:t>
            </a:r>
            <a:r>
              <a:rPr lang="en-US" sz="1100" dirty="0">
                <a:latin typeface="Menlo" panose="020B0609030804020204" pitchFamily="49" charset="0"/>
                <a:ea typeface="Menlo" panose="020B0609030804020204" pitchFamily="49" charset="0"/>
                <a:cs typeface="Menlo" panose="020B0609030804020204" pitchFamily="49" charset="0"/>
              </a:rPr>
              <a:t> 	</a:t>
            </a:r>
            <a:r>
              <a:rPr lang="en-US" sz="1100" dirty="0">
                <a:solidFill>
                  <a:srgbClr val="6E7687"/>
                </a:solidFill>
                <a:effectLst/>
                <a:latin typeface="Menlo" panose="020B0609030804020204" pitchFamily="49" charset="0"/>
                <a:ea typeface="Menlo" panose="020B0609030804020204" pitchFamily="49" charset="0"/>
                <a:cs typeface="Menlo" panose="020B0609030804020204" pitchFamily="49" charset="0"/>
              </a:rPr>
              <a:t># create your room</a:t>
            </a:r>
            <a:r>
              <a:rPr lang="en-US" sz="1100" dirty="0">
                <a:latin typeface="Menlo" panose="020B0609030804020204" pitchFamily="49" charset="0"/>
                <a:ea typeface="Menlo" panose="020B0609030804020204" pitchFamily="49" charset="0"/>
                <a:cs typeface="Menlo" panose="020B0609030804020204" pitchFamily="49" charset="0"/>
              </a:rPr>
              <a:t> </a:t>
            </a:r>
          </a:p>
          <a:p>
            <a:r>
              <a:rPr lang="en-US" sz="1100" dirty="0" err="1">
                <a:latin typeface="Menlo" panose="020B0609030804020204" pitchFamily="49" charset="0"/>
                <a:ea typeface="Menlo" panose="020B0609030804020204" pitchFamily="49" charset="0"/>
                <a:cs typeface="Menlo" panose="020B0609030804020204" pitchFamily="49" charset="0"/>
              </a:rPr>
              <a:t>conda</a:t>
            </a:r>
            <a:r>
              <a:rPr lang="en-US" sz="1100" dirty="0">
                <a:latin typeface="Menlo" panose="020B0609030804020204" pitchFamily="49" charset="0"/>
                <a:ea typeface="Menlo" panose="020B0609030804020204" pitchFamily="49" charset="0"/>
                <a:cs typeface="Menlo" panose="020B0609030804020204" pitchFamily="49" charset="0"/>
              </a:rPr>
              <a:t> activate </a:t>
            </a:r>
            <a:r>
              <a:rPr lang="en-US" sz="1100" dirty="0" err="1">
                <a:latin typeface="Menlo" panose="020B0609030804020204" pitchFamily="49" charset="0"/>
                <a:ea typeface="Menlo" panose="020B0609030804020204" pitchFamily="49" charset="0"/>
                <a:cs typeface="Menlo" panose="020B0609030804020204" pitchFamily="49" charset="0"/>
              </a:rPr>
              <a:t>myenv</a:t>
            </a:r>
            <a:r>
              <a:rPr lang="en-US" sz="1100" dirty="0">
                <a:latin typeface="Menlo" panose="020B0609030804020204" pitchFamily="49" charset="0"/>
                <a:ea typeface="Menlo" panose="020B0609030804020204" pitchFamily="49" charset="0"/>
                <a:cs typeface="Menlo" panose="020B0609030804020204" pitchFamily="49" charset="0"/>
              </a:rPr>
              <a:t> 			</a:t>
            </a:r>
            <a:r>
              <a:rPr lang="en-US" sz="1100" dirty="0">
                <a:solidFill>
                  <a:srgbClr val="6E7687"/>
                </a:solidFill>
                <a:effectLst/>
                <a:latin typeface="Menlo" panose="020B0609030804020204" pitchFamily="49" charset="0"/>
                <a:ea typeface="Menlo" panose="020B0609030804020204" pitchFamily="49" charset="0"/>
                <a:cs typeface="Menlo" panose="020B0609030804020204" pitchFamily="49" charset="0"/>
              </a:rPr>
              <a:t># step into it</a:t>
            </a:r>
            <a:r>
              <a:rPr lang="en-US" sz="1100" dirty="0">
                <a:latin typeface="Menlo" panose="020B0609030804020204" pitchFamily="49" charset="0"/>
                <a:ea typeface="Menlo" panose="020B0609030804020204" pitchFamily="49" charset="0"/>
                <a:cs typeface="Menlo" panose="020B0609030804020204" pitchFamily="49" charset="0"/>
              </a:rPr>
              <a:t> </a:t>
            </a:r>
          </a:p>
          <a:p>
            <a:r>
              <a:rPr lang="en-US" sz="1100" dirty="0" err="1">
                <a:latin typeface="Menlo" panose="020B0609030804020204" pitchFamily="49" charset="0"/>
                <a:ea typeface="Menlo" panose="020B0609030804020204" pitchFamily="49" charset="0"/>
                <a:cs typeface="Menlo" panose="020B0609030804020204" pitchFamily="49" charset="0"/>
              </a:rPr>
              <a:t>conda</a:t>
            </a:r>
            <a:r>
              <a:rPr lang="en-US" sz="1100" dirty="0">
                <a:latin typeface="Menlo" panose="020B0609030804020204" pitchFamily="49" charset="0"/>
                <a:ea typeface="Menlo" panose="020B0609030804020204" pitchFamily="49" charset="0"/>
                <a:cs typeface="Menlo" panose="020B0609030804020204" pitchFamily="49" charset="0"/>
              </a:rPr>
              <a:t> </a:t>
            </a:r>
            <a:r>
              <a:rPr lang="en-US" sz="1100" dirty="0">
                <a:solidFill>
                  <a:srgbClr val="0051C2"/>
                </a:solidFill>
                <a:effectLst/>
                <a:latin typeface="Menlo" panose="020B0609030804020204" pitchFamily="49" charset="0"/>
                <a:ea typeface="Menlo" panose="020B0609030804020204" pitchFamily="49" charset="0"/>
                <a:cs typeface="Menlo" panose="020B0609030804020204" pitchFamily="49" charset="0"/>
              </a:rPr>
              <a:t>install</a:t>
            </a:r>
            <a:r>
              <a:rPr lang="en-US" sz="1100" dirty="0">
                <a:latin typeface="Menlo" panose="020B0609030804020204" pitchFamily="49" charset="0"/>
                <a:ea typeface="Menlo" panose="020B0609030804020204" pitchFamily="49" charset="0"/>
                <a:cs typeface="Menlo" panose="020B0609030804020204" pitchFamily="49" charset="0"/>
              </a:rPr>
              <a:t> -c </a:t>
            </a:r>
            <a:r>
              <a:rPr lang="en-US" sz="1100" dirty="0" err="1">
                <a:latin typeface="Menlo" panose="020B0609030804020204" pitchFamily="49" charset="0"/>
                <a:ea typeface="Menlo" panose="020B0609030804020204" pitchFamily="49" charset="0"/>
                <a:cs typeface="Menlo" panose="020B0609030804020204" pitchFamily="49" charset="0"/>
              </a:rPr>
              <a:t>bioconda</a:t>
            </a:r>
            <a:r>
              <a:rPr lang="en-US" sz="1100" dirty="0">
                <a:latin typeface="Menlo" panose="020B0609030804020204" pitchFamily="49" charset="0"/>
                <a:ea typeface="Menlo" panose="020B0609030804020204" pitchFamily="49" charset="0"/>
                <a:cs typeface="Menlo" panose="020B0609030804020204" pitchFamily="49" charset="0"/>
              </a:rPr>
              <a:t> </a:t>
            </a:r>
            <a:r>
              <a:rPr lang="en-US" sz="1100" dirty="0" err="1">
                <a:latin typeface="Menlo" panose="020B0609030804020204" pitchFamily="49" charset="0"/>
                <a:ea typeface="Menlo" panose="020B0609030804020204" pitchFamily="49" charset="0"/>
                <a:cs typeface="Menlo" panose="020B0609030804020204" pitchFamily="49" charset="0"/>
              </a:rPr>
              <a:t>trimmomatic</a:t>
            </a:r>
            <a:r>
              <a:rPr lang="en-US" sz="1100" dirty="0">
                <a:latin typeface="Menlo" panose="020B0609030804020204" pitchFamily="49" charset="0"/>
                <a:ea typeface="Menlo" panose="020B0609030804020204" pitchFamily="49" charset="0"/>
                <a:cs typeface="Menlo" panose="020B0609030804020204" pitchFamily="49" charset="0"/>
              </a:rPr>
              <a:t> 	</a:t>
            </a:r>
            <a:r>
              <a:rPr lang="en-US" sz="1100" dirty="0">
                <a:solidFill>
                  <a:srgbClr val="6E7687"/>
                </a:solidFill>
                <a:effectLst/>
                <a:latin typeface="Menlo" panose="020B0609030804020204" pitchFamily="49" charset="0"/>
                <a:ea typeface="Menlo" panose="020B0609030804020204" pitchFamily="49" charset="0"/>
                <a:cs typeface="Menlo" panose="020B0609030804020204" pitchFamily="49" charset="0"/>
              </a:rPr>
              <a:t># install what you need</a:t>
            </a:r>
            <a:r>
              <a:rPr lang="en-US" sz="1100" dirty="0">
                <a:latin typeface="Menlo" panose="020B0609030804020204" pitchFamily="49" charset="0"/>
                <a:ea typeface="Menlo" panose="020B0609030804020204" pitchFamily="49" charset="0"/>
                <a:cs typeface="Menlo" panose="020B0609030804020204" pitchFamily="49" charset="0"/>
              </a:rPr>
              <a:t> </a:t>
            </a:r>
          </a:p>
          <a:p>
            <a:r>
              <a:rPr lang="en-US" sz="1100" dirty="0">
                <a:latin typeface="Menlo" panose="020B0609030804020204" pitchFamily="49" charset="0"/>
                <a:ea typeface="Menlo" panose="020B0609030804020204" pitchFamily="49" charset="0"/>
                <a:cs typeface="Menlo" panose="020B0609030804020204" pitchFamily="49" charset="0"/>
              </a:rPr>
              <a:t>deactivate 			</a:t>
            </a:r>
            <a:r>
              <a:rPr lang="en-US" sz="1100" dirty="0">
                <a:solidFill>
                  <a:srgbClr val="6E7687"/>
                </a:solidFill>
                <a:effectLst/>
                <a:latin typeface="Menlo" panose="020B0609030804020204" pitchFamily="49" charset="0"/>
                <a:ea typeface="Menlo" panose="020B0609030804020204" pitchFamily="49" charset="0"/>
                <a:cs typeface="Menlo" panose="020B0609030804020204" pitchFamily="49" charset="0"/>
              </a:rPr>
              <a:t># step back out</a:t>
            </a:r>
            <a:endParaRPr lang="en-US" sz="1100" dirty="0">
              <a:latin typeface="Menlo" panose="020B0609030804020204" pitchFamily="49" charset="0"/>
              <a:ea typeface="Menlo" panose="020B0609030804020204" pitchFamily="49" charset="0"/>
              <a:cs typeface="Menlo" panose="020B0609030804020204" pitchFamily="49" charset="0"/>
            </a:endParaRPr>
          </a:p>
        </p:txBody>
      </p:sp>
      <p:grpSp>
        <p:nvGrpSpPr>
          <p:cNvPr id="3" name="Group 2">
            <a:extLst>
              <a:ext uri="{FF2B5EF4-FFF2-40B4-BE49-F238E27FC236}">
                <a16:creationId xmlns:a16="http://schemas.microsoft.com/office/drawing/2014/main" id="{E52D1738-5211-9BFB-4DC1-ED497598F84D}"/>
              </a:ext>
            </a:extLst>
          </p:cNvPr>
          <p:cNvGrpSpPr/>
          <p:nvPr/>
        </p:nvGrpSpPr>
        <p:grpSpPr>
          <a:xfrm>
            <a:off x="8212777" y="4317880"/>
            <a:ext cx="3141023" cy="2174995"/>
            <a:chOff x="6654394" y="987033"/>
            <a:chExt cx="2792427" cy="1968176"/>
          </a:xfrm>
        </p:grpSpPr>
        <p:grpSp>
          <p:nvGrpSpPr>
            <p:cNvPr id="5" name="Group 4">
              <a:extLst>
                <a:ext uri="{FF2B5EF4-FFF2-40B4-BE49-F238E27FC236}">
                  <a16:creationId xmlns:a16="http://schemas.microsoft.com/office/drawing/2014/main" id="{41961B6B-3AEA-A9B6-3327-9DECEA96D783}"/>
                </a:ext>
              </a:extLst>
            </p:cNvPr>
            <p:cNvGrpSpPr/>
            <p:nvPr/>
          </p:nvGrpSpPr>
          <p:grpSpPr>
            <a:xfrm>
              <a:off x="6754587" y="987033"/>
              <a:ext cx="2692234" cy="1968176"/>
              <a:chOff x="7441873" y="644510"/>
              <a:chExt cx="3420091" cy="2495088"/>
            </a:xfrm>
          </p:grpSpPr>
          <p:pic>
            <p:nvPicPr>
              <p:cNvPr id="10" name="Picture 9" descr="What Is HPC? - UArizona HPC Documentation">
                <a:extLst>
                  <a:ext uri="{FF2B5EF4-FFF2-40B4-BE49-F238E27FC236}">
                    <a16:creationId xmlns:a16="http://schemas.microsoft.com/office/drawing/2014/main" id="{6970FD71-C65B-B456-A4CF-CC7DA31EEB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0181" y="1405560"/>
                <a:ext cx="2401783" cy="173403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What Is HPC? - UArizona HPC Documentation">
                <a:extLst>
                  <a:ext uri="{FF2B5EF4-FFF2-40B4-BE49-F238E27FC236}">
                    <a16:creationId xmlns:a16="http://schemas.microsoft.com/office/drawing/2014/main" id="{AA1A282A-CA35-31BD-3A0D-551687E9902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664" r="57602"/>
              <a:stretch>
                <a:fillRect/>
              </a:stretch>
            </p:blipFill>
            <p:spPr bwMode="auto">
              <a:xfrm>
                <a:off x="7441873" y="1627030"/>
                <a:ext cx="1018308" cy="12023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What Is HPC? - UArizona HPC Documentation">
                <a:extLst>
                  <a:ext uri="{FF2B5EF4-FFF2-40B4-BE49-F238E27FC236}">
                    <a16:creationId xmlns:a16="http://schemas.microsoft.com/office/drawing/2014/main" id="{395B66B0-CC1F-0558-49BC-8CB85BE5055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664" r="57602"/>
              <a:stretch>
                <a:fillRect/>
              </a:stretch>
            </p:blipFill>
            <p:spPr bwMode="auto">
              <a:xfrm>
                <a:off x="8508674" y="669410"/>
                <a:ext cx="1018308" cy="1202313"/>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4D0033C9-43A9-CDC2-A761-D8EA74DE8520}"/>
                  </a:ext>
                </a:extLst>
              </p:cNvPr>
              <p:cNvSpPr/>
              <p:nvPr/>
            </p:nvSpPr>
            <p:spPr>
              <a:xfrm>
                <a:off x="8871364" y="644510"/>
                <a:ext cx="679865" cy="358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2FD602C-40D8-8A73-42A9-4ACF09C1007C}"/>
                  </a:ext>
                </a:extLst>
              </p:cNvPr>
              <p:cNvSpPr/>
              <p:nvPr/>
            </p:nvSpPr>
            <p:spPr>
              <a:xfrm>
                <a:off x="7804562" y="1592946"/>
                <a:ext cx="679865" cy="358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502F68F-780C-F288-531A-DAA0FDDF11FB}"/>
                  </a:ext>
                </a:extLst>
              </p:cNvPr>
              <p:cNvSpPr/>
              <p:nvPr/>
            </p:nvSpPr>
            <p:spPr>
              <a:xfrm>
                <a:off x="8822870" y="1901519"/>
                <a:ext cx="679865" cy="358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48FEFE0-2941-B746-3E11-2E805E5E75B3}"/>
                  </a:ext>
                </a:extLst>
              </p:cNvPr>
              <p:cNvSpPr/>
              <p:nvPr/>
            </p:nvSpPr>
            <p:spPr>
              <a:xfrm>
                <a:off x="10011889" y="1306317"/>
                <a:ext cx="679865" cy="358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D778033C-0E49-CDDC-A663-CCB69F294D31}"/>
                </a:ext>
              </a:extLst>
            </p:cNvPr>
            <p:cNvSpPr txBox="1"/>
            <p:nvPr/>
          </p:nvSpPr>
          <p:spPr>
            <a:xfrm>
              <a:off x="8348011" y="1172997"/>
              <a:ext cx="1001981" cy="236734"/>
            </a:xfrm>
            <a:prstGeom prst="rect">
              <a:avLst/>
            </a:prstGeom>
            <a:noFill/>
          </p:spPr>
          <p:txBody>
            <a:bodyPr wrap="square">
              <a:spAutoFit/>
            </a:bodyPr>
            <a:lstStyle/>
            <a:p>
              <a:r>
                <a:rPr lang="en-US" sz="1100" dirty="0">
                  <a:solidFill>
                    <a:schemeClr val="accent6">
                      <a:lumMod val="75000"/>
                    </a:schemeClr>
                  </a:solidFill>
                </a:rPr>
                <a:t>Python 3.12</a:t>
              </a:r>
            </a:p>
          </p:txBody>
        </p:sp>
        <p:sp>
          <p:nvSpPr>
            <p:cNvPr id="8" name="TextBox 7">
              <a:extLst>
                <a:ext uri="{FF2B5EF4-FFF2-40B4-BE49-F238E27FC236}">
                  <a16:creationId xmlns:a16="http://schemas.microsoft.com/office/drawing/2014/main" id="{F517445B-703A-C0D1-3B72-F36848D6C89A}"/>
                </a:ext>
              </a:extLst>
            </p:cNvPr>
            <p:cNvSpPr txBox="1"/>
            <p:nvPr/>
          </p:nvSpPr>
          <p:spPr>
            <a:xfrm>
              <a:off x="6654394" y="1677522"/>
              <a:ext cx="1001981" cy="236734"/>
            </a:xfrm>
            <a:prstGeom prst="rect">
              <a:avLst/>
            </a:prstGeom>
            <a:noFill/>
          </p:spPr>
          <p:txBody>
            <a:bodyPr wrap="square">
              <a:spAutoFit/>
            </a:bodyPr>
            <a:lstStyle/>
            <a:p>
              <a:r>
                <a:rPr lang="en-US" sz="1100" dirty="0">
                  <a:solidFill>
                    <a:schemeClr val="accent6">
                      <a:lumMod val="75000"/>
                    </a:schemeClr>
                  </a:solidFill>
                </a:rPr>
                <a:t>Python 3.9</a:t>
              </a:r>
            </a:p>
          </p:txBody>
        </p:sp>
        <p:sp>
          <p:nvSpPr>
            <p:cNvPr id="9" name="TextBox 8">
              <a:extLst>
                <a:ext uri="{FF2B5EF4-FFF2-40B4-BE49-F238E27FC236}">
                  <a16:creationId xmlns:a16="http://schemas.microsoft.com/office/drawing/2014/main" id="{267111EF-064A-1DB4-EF0F-9427AAE47F35}"/>
                </a:ext>
              </a:extLst>
            </p:cNvPr>
            <p:cNvSpPr txBox="1"/>
            <p:nvPr/>
          </p:nvSpPr>
          <p:spPr>
            <a:xfrm>
              <a:off x="7556181" y="1954626"/>
              <a:ext cx="1001981" cy="236734"/>
            </a:xfrm>
            <a:prstGeom prst="rect">
              <a:avLst/>
            </a:prstGeom>
            <a:noFill/>
          </p:spPr>
          <p:txBody>
            <a:bodyPr wrap="square">
              <a:spAutoFit/>
            </a:bodyPr>
            <a:lstStyle/>
            <a:p>
              <a:r>
                <a:rPr lang="en-US" sz="1100" dirty="0">
                  <a:solidFill>
                    <a:schemeClr val="accent6">
                      <a:lumMod val="75000"/>
                    </a:schemeClr>
                  </a:solidFill>
                </a:rPr>
                <a:t>Python 3.7</a:t>
              </a:r>
            </a:p>
          </p:txBody>
        </p:sp>
      </p:grpSp>
      <p:sp>
        <p:nvSpPr>
          <p:cNvPr id="17" name="Rectangle 16">
            <a:extLst>
              <a:ext uri="{FF2B5EF4-FFF2-40B4-BE49-F238E27FC236}">
                <a16:creationId xmlns:a16="http://schemas.microsoft.com/office/drawing/2014/main" id="{F77D2E23-8F9E-2770-F52F-1F23229496C7}"/>
              </a:ext>
            </a:extLst>
          </p:cNvPr>
          <p:cNvSpPr/>
          <p:nvPr/>
        </p:nvSpPr>
        <p:spPr>
          <a:xfrm>
            <a:off x="8267807" y="5022862"/>
            <a:ext cx="714688" cy="345429"/>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FDC282A-315E-B96D-264B-4B85CB9757EF}"/>
              </a:ext>
            </a:extLst>
          </p:cNvPr>
          <p:cNvSpPr/>
          <p:nvPr/>
        </p:nvSpPr>
        <p:spPr>
          <a:xfrm>
            <a:off x="10171740" y="4467056"/>
            <a:ext cx="756697" cy="345429"/>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B35D8C7-E462-D1E2-BE3F-4427A2FD2C02}"/>
              </a:ext>
            </a:extLst>
          </p:cNvPr>
          <p:cNvSpPr/>
          <p:nvPr/>
        </p:nvSpPr>
        <p:spPr>
          <a:xfrm>
            <a:off x="9284811" y="5383219"/>
            <a:ext cx="714688" cy="240389"/>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B0DA7DA8-6EC6-B324-4946-41A74617C167}"/>
              </a:ext>
            </a:extLst>
          </p:cNvPr>
          <p:cNvGrpSpPr/>
          <p:nvPr/>
        </p:nvGrpSpPr>
        <p:grpSpPr>
          <a:xfrm>
            <a:off x="8267807" y="1569156"/>
            <a:ext cx="2792427" cy="1968176"/>
            <a:chOff x="6654394" y="987033"/>
            <a:chExt cx="2792427" cy="1968176"/>
          </a:xfrm>
        </p:grpSpPr>
        <p:grpSp>
          <p:nvGrpSpPr>
            <p:cNvPr id="23" name="Group 22">
              <a:extLst>
                <a:ext uri="{FF2B5EF4-FFF2-40B4-BE49-F238E27FC236}">
                  <a16:creationId xmlns:a16="http://schemas.microsoft.com/office/drawing/2014/main" id="{23C8625E-0CF4-23A8-482C-39D653E81E08}"/>
                </a:ext>
              </a:extLst>
            </p:cNvPr>
            <p:cNvGrpSpPr/>
            <p:nvPr/>
          </p:nvGrpSpPr>
          <p:grpSpPr>
            <a:xfrm>
              <a:off x="6754587" y="987033"/>
              <a:ext cx="2692234" cy="1968176"/>
              <a:chOff x="7441873" y="644510"/>
              <a:chExt cx="3420091" cy="2495088"/>
            </a:xfrm>
          </p:grpSpPr>
          <p:pic>
            <p:nvPicPr>
              <p:cNvPr id="27" name="Picture 26" descr="What Is HPC? - UArizona HPC Documentation">
                <a:extLst>
                  <a:ext uri="{FF2B5EF4-FFF2-40B4-BE49-F238E27FC236}">
                    <a16:creationId xmlns:a16="http://schemas.microsoft.com/office/drawing/2014/main" id="{8170A3F6-BA2A-82F0-5B69-9D30D20377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0181" y="1405560"/>
                <a:ext cx="2401783" cy="173403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What Is HPC? - UArizona HPC Documentation">
                <a:extLst>
                  <a:ext uri="{FF2B5EF4-FFF2-40B4-BE49-F238E27FC236}">
                    <a16:creationId xmlns:a16="http://schemas.microsoft.com/office/drawing/2014/main" id="{0A86A1AA-9234-97EA-FF1B-AA7C3CB36BC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664" r="57602"/>
              <a:stretch>
                <a:fillRect/>
              </a:stretch>
            </p:blipFill>
            <p:spPr bwMode="auto">
              <a:xfrm>
                <a:off x="7441873" y="1627030"/>
                <a:ext cx="1018308" cy="12023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What Is HPC? - UArizona HPC Documentation">
                <a:extLst>
                  <a:ext uri="{FF2B5EF4-FFF2-40B4-BE49-F238E27FC236}">
                    <a16:creationId xmlns:a16="http://schemas.microsoft.com/office/drawing/2014/main" id="{8A6F1780-317F-2569-A7FA-54EA762BA81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664" r="57602"/>
              <a:stretch>
                <a:fillRect/>
              </a:stretch>
            </p:blipFill>
            <p:spPr bwMode="auto">
              <a:xfrm>
                <a:off x="8508674" y="669410"/>
                <a:ext cx="1018308" cy="1202313"/>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36252C8B-C10C-0F46-B62F-1F622874EBF7}"/>
                  </a:ext>
                </a:extLst>
              </p:cNvPr>
              <p:cNvSpPr/>
              <p:nvPr/>
            </p:nvSpPr>
            <p:spPr>
              <a:xfrm>
                <a:off x="8871364" y="644510"/>
                <a:ext cx="679865" cy="358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08FC90F-1C41-C255-0D93-B64C2C50BFB3}"/>
                  </a:ext>
                </a:extLst>
              </p:cNvPr>
              <p:cNvSpPr/>
              <p:nvPr/>
            </p:nvSpPr>
            <p:spPr>
              <a:xfrm>
                <a:off x="7804562" y="1592946"/>
                <a:ext cx="679865" cy="358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5291F9A-05E4-31AD-756F-68B5093433CD}"/>
                  </a:ext>
                </a:extLst>
              </p:cNvPr>
              <p:cNvSpPr/>
              <p:nvPr/>
            </p:nvSpPr>
            <p:spPr>
              <a:xfrm>
                <a:off x="8822870" y="1901519"/>
                <a:ext cx="679865" cy="358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026B49B-5F59-30B4-AF85-CEDCBEE3BE57}"/>
                  </a:ext>
                </a:extLst>
              </p:cNvPr>
              <p:cNvSpPr/>
              <p:nvPr/>
            </p:nvSpPr>
            <p:spPr>
              <a:xfrm>
                <a:off x="10011889" y="1306317"/>
                <a:ext cx="679865" cy="358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4A5CF5BF-2DC8-7D38-912F-4B81C54F63B9}"/>
                </a:ext>
              </a:extLst>
            </p:cNvPr>
            <p:cNvSpPr txBox="1"/>
            <p:nvPr/>
          </p:nvSpPr>
          <p:spPr>
            <a:xfrm>
              <a:off x="8348011" y="1172997"/>
              <a:ext cx="1001981" cy="261610"/>
            </a:xfrm>
            <a:prstGeom prst="rect">
              <a:avLst/>
            </a:prstGeom>
            <a:noFill/>
          </p:spPr>
          <p:txBody>
            <a:bodyPr wrap="square">
              <a:spAutoFit/>
            </a:bodyPr>
            <a:lstStyle/>
            <a:p>
              <a:r>
                <a:rPr lang="en-US" sz="1100" dirty="0">
                  <a:solidFill>
                    <a:srgbClr val="C00000"/>
                  </a:solidFill>
                </a:rPr>
                <a:t>Python 3.12</a:t>
              </a:r>
            </a:p>
          </p:txBody>
        </p:sp>
        <p:sp>
          <p:nvSpPr>
            <p:cNvPr id="25" name="TextBox 24">
              <a:extLst>
                <a:ext uri="{FF2B5EF4-FFF2-40B4-BE49-F238E27FC236}">
                  <a16:creationId xmlns:a16="http://schemas.microsoft.com/office/drawing/2014/main" id="{2685D945-1321-AEEF-36B1-7A579F337B5C}"/>
                </a:ext>
              </a:extLst>
            </p:cNvPr>
            <p:cNvSpPr txBox="1"/>
            <p:nvPr/>
          </p:nvSpPr>
          <p:spPr>
            <a:xfrm>
              <a:off x="6654394" y="1677522"/>
              <a:ext cx="1001981" cy="261610"/>
            </a:xfrm>
            <a:prstGeom prst="rect">
              <a:avLst/>
            </a:prstGeom>
            <a:noFill/>
          </p:spPr>
          <p:txBody>
            <a:bodyPr wrap="square">
              <a:spAutoFit/>
            </a:bodyPr>
            <a:lstStyle/>
            <a:p>
              <a:r>
                <a:rPr lang="en-US" sz="1100" dirty="0">
                  <a:solidFill>
                    <a:srgbClr val="C00000"/>
                  </a:solidFill>
                </a:rPr>
                <a:t>Python 3.9</a:t>
              </a:r>
            </a:p>
          </p:txBody>
        </p:sp>
        <p:sp>
          <p:nvSpPr>
            <p:cNvPr id="26" name="TextBox 25">
              <a:extLst>
                <a:ext uri="{FF2B5EF4-FFF2-40B4-BE49-F238E27FC236}">
                  <a16:creationId xmlns:a16="http://schemas.microsoft.com/office/drawing/2014/main" id="{D1E99496-A4DA-D0CD-367A-1DE27E2F0A6D}"/>
                </a:ext>
              </a:extLst>
            </p:cNvPr>
            <p:cNvSpPr txBox="1"/>
            <p:nvPr/>
          </p:nvSpPr>
          <p:spPr>
            <a:xfrm>
              <a:off x="7556181" y="1954626"/>
              <a:ext cx="1001981" cy="261610"/>
            </a:xfrm>
            <a:prstGeom prst="rect">
              <a:avLst/>
            </a:prstGeom>
            <a:noFill/>
          </p:spPr>
          <p:txBody>
            <a:bodyPr wrap="square">
              <a:spAutoFit/>
            </a:bodyPr>
            <a:lstStyle/>
            <a:p>
              <a:r>
                <a:rPr lang="en-US" sz="1100" dirty="0">
                  <a:solidFill>
                    <a:srgbClr val="C00000"/>
                  </a:solidFill>
                </a:rPr>
                <a:t>Python 3.7</a:t>
              </a:r>
            </a:p>
          </p:txBody>
        </p:sp>
      </p:grpSp>
      <p:cxnSp>
        <p:nvCxnSpPr>
          <p:cNvPr id="35" name="Straight Arrow Connector 34">
            <a:extLst>
              <a:ext uri="{FF2B5EF4-FFF2-40B4-BE49-F238E27FC236}">
                <a16:creationId xmlns:a16="http://schemas.microsoft.com/office/drawing/2014/main" id="{6098E80C-3B92-4648-5432-9E80F247CB76}"/>
              </a:ext>
            </a:extLst>
          </p:cNvPr>
          <p:cNvCxnSpPr/>
          <p:nvPr/>
        </p:nvCxnSpPr>
        <p:spPr>
          <a:xfrm>
            <a:off x="9670584" y="3693226"/>
            <a:ext cx="0" cy="564078"/>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0554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265C6-6F3E-E159-BCCB-BF81A9767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7C3F9-71A8-FC24-43BA-7CEEF829EBE2}"/>
              </a:ext>
            </a:extLst>
          </p:cNvPr>
          <p:cNvSpPr>
            <a:spLocks noGrp="1"/>
          </p:cNvSpPr>
          <p:nvPr>
            <p:ph type="title"/>
          </p:nvPr>
        </p:nvSpPr>
        <p:spPr/>
        <p:txBody>
          <a:bodyPr>
            <a:normAutofit/>
          </a:bodyPr>
          <a:lstStyle/>
          <a:p>
            <a:r>
              <a:rPr lang="en-US" sz="4000" dirty="0">
                <a:latin typeface="Helvetica" pitchFamily="2" charset="0"/>
              </a:rPr>
              <a:t>Introduction to containers</a:t>
            </a:r>
          </a:p>
        </p:txBody>
      </p:sp>
      <p:sp>
        <p:nvSpPr>
          <p:cNvPr id="3" name="TextBox 2">
            <a:extLst>
              <a:ext uri="{FF2B5EF4-FFF2-40B4-BE49-F238E27FC236}">
                <a16:creationId xmlns:a16="http://schemas.microsoft.com/office/drawing/2014/main" id="{B5AE2760-694B-59C8-C3B1-C3202ED4722D}"/>
              </a:ext>
            </a:extLst>
          </p:cNvPr>
          <p:cNvSpPr txBox="1"/>
          <p:nvPr/>
        </p:nvSpPr>
        <p:spPr>
          <a:xfrm>
            <a:off x="838200" y="1442549"/>
            <a:ext cx="6405465" cy="5355312"/>
          </a:xfrm>
          <a:prstGeom prst="rect">
            <a:avLst/>
          </a:prstGeom>
          <a:noFill/>
        </p:spPr>
        <p:txBody>
          <a:bodyPr wrap="square" rtlCol="0">
            <a:spAutoFit/>
          </a:bodyPr>
          <a:lstStyle/>
          <a:p>
            <a:r>
              <a:rPr lang="en-US" dirty="0"/>
              <a:t>We </a:t>
            </a:r>
            <a:r>
              <a:rPr lang="en-US" b="1" dirty="0"/>
              <a:t>have to</a:t>
            </a:r>
            <a:r>
              <a:rPr lang="en-US" dirty="0"/>
              <a:t> use containers when: </a:t>
            </a:r>
          </a:p>
          <a:p>
            <a:pPr marL="285750" indent="-285750">
              <a:buFontTx/>
              <a:buChar char="-"/>
            </a:pPr>
            <a:r>
              <a:rPr lang="en-US" dirty="0"/>
              <a:t>extremely complex dependencies</a:t>
            </a:r>
          </a:p>
          <a:p>
            <a:pPr marL="285750" indent="-285750">
              <a:buFontTx/>
              <a:buChar char="-"/>
            </a:pPr>
            <a:r>
              <a:rPr lang="en-US" dirty="0"/>
              <a:t>require a specific operating system configuration</a:t>
            </a:r>
          </a:p>
          <a:p>
            <a:pPr marL="285750" indent="-285750">
              <a:buFontTx/>
              <a:buChar char="-"/>
            </a:pPr>
            <a:r>
              <a:rPr lang="en-US" dirty="0"/>
              <a:t>need to guarantee that analysis will run identically on any system — not just Hazel</a:t>
            </a:r>
          </a:p>
          <a:p>
            <a:endParaRPr lang="en-US" dirty="0"/>
          </a:p>
          <a:p>
            <a:r>
              <a:rPr lang="en-US" dirty="0"/>
              <a:t>We </a:t>
            </a:r>
            <a:r>
              <a:rPr lang="en-US" b="1" dirty="0">
                <a:solidFill>
                  <a:schemeClr val="accent2">
                    <a:lumMod val="75000"/>
                  </a:schemeClr>
                </a:solidFill>
              </a:rPr>
              <a:t>should generally use containers</a:t>
            </a:r>
            <a:endParaRPr lang="en-US" dirty="0"/>
          </a:p>
          <a:p>
            <a:endParaRPr lang="en-US" dirty="0"/>
          </a:p>
          <a:p>
            <a:r>
              <a:rPr lang="en-US" dirty="0"/>
              <a:t>A container is like a complete mini-computer: </a:t>
            </a:r>
          </a:p>
          <a:p>
            <a:pPr marL="285750" indent="-285750">
              <a:buFontTx/>
              <a:buChar char="-"/>
            </a:pPr>
            <a:r>
              <a:rPr lang="en-US" dirty="0"/>
              <a:t>Operating system</a:t>
            </a:r>
          </a:p>
          <a:p>
            <a:pPr marL="285750" indent="-285750">
              <a:buFontTx/>
              <a:buChar char="-"/>
            </a:pPr>
            <a:r>
              <a:rPr lang="en-US" dirty="0"/>
              <a:t>Libraries</a:t>
            </a:r>
          </a:p>
          <a:p>
            <a:pPr marL="285750" indent="-285750">
              <a:buFontTx/>
              <a:buChar char="-"/>
            </a:pPr>
            <a:r>
              <a:rPr lang="en-US" dirty="0"/>
              <a:t>Software</a:t>
            </a:r>
          </a:p>
          <a:p>
            <a:r>
              <a:rPr lang="en-US" dirty="0"/>
              <a:t>You don't install the software — you just run the container. </a:t>
            </a:r>
          </a:p>
          <a:p>
            <a:pPr marL="285750" indent="-285750">
              <a:buFontTx/>
              <a:buChar char="-"/>
            </a:pPr>
            <a:endParaRPr lang="en-US" dirty="0"/>
          </a:p>
          <a:p>
            <a:r>
              <a:rPr lang="en-US" dirty="0">
                <a:solidFill>
                  <a:schemeClr val="accent1"/>
                </a:solidFill>
              </a:rPr>
              <a:t>Module</a:t>
            </a:r>
            <a:r>
              <a:rPr lang="en-US" dirty="0"/>
              <a:t> = switch</a:t>
            </a:r>
          </a:p>
          <a:p>
            <a:r>
              <a:rPr lang="en-US" dirty="0">
                <a:solidFill>
                  <a:schemeClr val="accent6"/>
                </a:solidFill>
              </a:rPr>
              <a:t>Conda environment </a:t>
            </a:r>
            <a:r>
              <a:rPr lang="en-US" dirty="0"/>
              <a:t>= private room with switches</a:t>
            </a:r>
          </a:p>
          <a:p>
            <a:r>
              <a:rPr lang="en-US" dirty="0">
                <a:solidFill>
                  <a:schemeClr val="accent2">
                    <a:lumMod val="75000"/>
                  </a:schemeClr>
                </a:solidFill>
              </a:rPr>
              <a:t>Container</a:t>
            </a:r>
            <a:r>
              <a:rPr lang="en-US" dirty="0"/>
              <a:t> = fully furnished apartment you can pick up and move anywhere.</a:t>
            </a:r>
          </a:p>
          <a:p>
            <a:endParaRPr lang="en-US" dirty="0"/>
          </a:p>
        </p:txBody>
      </p:sp>
      <p:pic>
        <p:nvPicPr>
          <p:cNvPr id="4" name="Picture 3">
            <a:extLst>
              <a:ext uri="{FF2B5EF4-FFF2-40B4-BE49-F238E27FC236}">
                <a16:creationId xmlns:a16="http://schemas.microsoft.com/office/drawing/2014/main" id="{1A5E3C14-0703-76A5-5414-7B911F52189B}"/>
              </a:ext>
            </a:extLst>
          </p:cNvPr>
          <p:cNvPicPr>
            <a:picLocks noChangeAspect="1"/>
          </p:cNvPicPr>
          <p:nvPr/>
        </p:nvPicPr>
        <p:blipFill>
          <a:blip r:embed="rId3"/>
          <a:stretch>
            <a:fillRect/>
          </a:stretch>
        </p:blipFill>
        <p:spPr>
          <a:xfrm>
            <a:off x="6531428" y="1590990"/>
            <a:ext cx="6165273" cy="4281440"/>
          </a:xfrm>
          <a:prstGeom prst="rect">
            <a:avLst/>
          </a:prstGeom>
        </p:spPr>
      </p:pic>
    </p:spTree>
    <p:extLst>
      <p:ext uri="{BB962C8B-B14F-4D97-AF65-F5344CB8AC3E}">
        <p14:creationId xmlns:p14="http://schemas.microsoft.com/office/powerpoint/2010/main" val="2364049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7E178-611C-4A10-AB68-2E8C2C7D8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8F1C3-1BB9-9B74-0597-520B1FC41047}"/>
              </a:ext>
            </a:extLst>
          </p:cNvPr>
          <p:cNvSpPr>
            <a:spLocks noGrp="1"/>
          </p:cNvSpPr>
          <p:nvPr>
            <p:ph type="title"/>
          </p:nvPr>
        </p:nvSpPr>
        <p:spPr/>
        <p:txBody>
          <a:bodyPr>
            <a:normAutofit/>
          </a:bodyPr>
          <a:lstStyle/>
          <a:p>
            <a:r>
              <a:rPr lang="en-US" sz="4000" dirty="0">
                <a:latin typeface="Helvetica" pitchFamily="2" charset="0"/>
              </a:rPr>
              <a:t>Introduction to containers</a:t>
            </a:r>
          </a:p>
        </p:txBody>
      </p:sp>
      <p:sp>
        <p:nvSpPr>
          <p:cNvPr id="3" name="TextBox 2">
            <a:extLst>
              <a:ext uri="{FF2B5EF4-FFF2-40B4-BE49-F238E27FC236}">
                <a16:creationId xmlns:a16="http://schemas.microsoft.com/office/drawing/2014/main" id="{943C4728-1E7E-65B9-D493-3DE384802022}"/>
              </a:ext>
            </a:extLst>
          </p:cNvPr>
          <p:cNvSpPr txBox="1"/>
          <p:nvPr/>
        </p:nvSpPr>
        <p:spPr>
          <a:xfrm>
            <a:off x="838200" y="1598911"/>
            <a:ext cx="4339442" cy="461665"/>
          </a:xfrm>
          <a:prstGeom prst="rect">
            <a:avLst/>
          </a:prstGeom>
          <a:solidFill>
            <a:schemeClr val="bg1">
              <a:lumMod val="95000"/>
            </a:schemeClr>
          </a:solidFill>
        </p:spPr>
        <p:txBody>
          <a:bodyPr wrap="square" rtlCol="0">
            <a:spAutoFit/>
          </a:bodyPr>
          <a:lstStyle/>
          <a:p>
            <a:r>
              <a:rPr lang="en-US" sz="1200" dirty="0">
                <a:latin typeface="Menlo" panose="020B0609030804020204" pitchFamily="49" charset="0"/>
                <a:ea typeface="Menlo" panose="020B0609030804020204" pitchFamily="49" charset="0"/>
                <a:cs typeface="Menlo" panose="020B0609030804020204" pitchFamily="49" charset="0"/>
              </a:rPr>
              <a:t>module load </a:t>
            </a:r>
            <a:r>
              <a:rPr lang="en-US" sz="1200" dirty="0" err="1">
                <a:latin typeface="Menlo" panose="020B0609030804020204" pitchFamily="49" charset="0"/>
                <a:ea typeface="Menlo" panose="020B0609030804020204" pitchFamily="49" charset="0"/>
                <a:cs typeface="Menlo" panose="020B0609030804020204" pitchFamily="49" charset="0"/>
              </a:rPr>
              <a:t>apptainer</a:t>
            </a:r>
            <a:r>
              <a:rPr lang="en-US" sz="1200" dirty="0">
                <a:latin typeface="Menlo" panose="020B0609030804020204" pitchFamily="49" charset="0"/>
                <a:ea typeface="Menlo" panose="020B0609030804020204" pitchFamily="49" charset="0"/>
                <a:cs typeface="Menlo" panose="020B0609030804020204" pitchFamily="49" charset="0"/>
              </a:rPr>
              <a:t> </a:t>
            </a:r>
          </a:p>
          <a:p>
            <a:r>
              <a:rPr lang="en-US" sz="1200" dirty="0" err="1">
                <a:latin typeface="Menlo" panose="020B0609030804020204" pitchFamily="49" charset="0"/>
                <a:ea typeface="Menlo" panose="020B0609030804020204" pitchFamily="49" charset="0"/>
                <a:cs typeface="Menlo" panose="020B0609030804020204" pitchFamily="49" charset="0"/>
              </a:rPr>
              <a:t>apptainer</a:t>
            </a:r>
            <a:r>
              <a:rPr lang="en-US" sz="1200" dirty="0">
                <a:latin typeface="Menlo" panose="020B0609030804020204" pitchFamily="49" charset="0"/>
                <a:ea typeface="Menlo" panose="020B0609030804020204" pitchFamily="49" charset="0"/>
                <a:cs typeface="Menlo" panose="020B0609030804020204" pitchFamily="49" charset="0"/>
              </a:rPr>
              <a:t> exec </a:t>
            </a:r>
            <a:r>
              <a:rPr lang="en-US" sz="1200" dirty="0" err="1">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mycontainer.sif</a:t>
            </a:r>
            <a:r>
              <a:rPr lang="en-US" sz="12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 </a:t>
            </a:r>
            <a:r>
              <a:rPr lang="en-US" sz="1200" dirty="0" err="1">
                <a:latin typeface="Menlo" panose="020B0609030804020204" pitchFamily="49" charset="0"/>
                <a:ea typeface="Menlo" panose="020B0609030804020204" pitchFamily="49" charset="0"/>
                <a:cs typeface="Menlo" panose="020B0609030804020204" pitchFamily="49" charset="0"/>
              </a:rPr>
              <a:t>fastqc</a:t>
            </a:r>
            <a:r>
              <a:rPr lang="en-US" sz="1200" dirty="0">
                <a:latin typeface="Menlo" panose="020B0609030804020204" pitchFamily="49" charset="0"/>
                <a:ea typeface="Menlo" panose="020B0609030804020204" pitchFamily="49" charset="0"/>
                <a:cs typeface="Menlo" panose="020B0609030804020204" pitchFamily="49" charset="0"/>
              </a:rPr>
              <a:t> –help</a:t>
            </a:r>
          </a:p>
        </p:txBody>
      </p:sp>
      <p:sp>
        <p:nvSpPr>
          <p:cNvPr id="4" name="TextBox 3">
            <a:extLst>
              <a:ext uri="{FF2B5EF4-FFF2-40B4-BE49-F238E27FC236}">
                <a16:creationId xmlns:a16="http://schemas.microsoft.com/office/drawing/2014/main" id="{E6861FA9-7AF1-DC19-E5DD-5BA7E6730003}"/>
              </a:ext>
            </a:extLst>
          </p:cNvPr>
          <p:cNvSpPr txBox="1"/>
          <p:nvPr/>
        </p:nvSpPr>
        <p:spPr>
          <a:xfrm>
            <a:off x="838200" y="2270149"/>
            <a:ext cx="9233425" cy="1477328"/>
          </a:xfrm>
          <a:prstGeom prst="rect">
            <a:avLst/>
          </a:prstGeom>
          <a:noFill/>
        </p:spPr>
        <p:txBody>
          <a:bodyPr wrap="none" rtlCol="0">
            <a:spAutoFit/>
          </a:bodyPr>
          <a:lstStyle/>
          <a:p>
            <a:r>
              <a:rPr lang="en-US" b="1" dirty="0"/>
              <a:t>Where do containers come from?</a:t>
            </a:r>
            <a:endParaRPr lang="en-US" dirty="0"/>
          </a:p>
          <a:p>
            <a:r>
              <a:rPr lang="en-US" b="1" dirty="0"/>
              <a:t>- Docker Hub</a:t>
            </a:r>
            <a:r>
              <a:rPr lang="en-US" dirty="0"/>
              <a:t> — the largest repository; </a:t>
            </a:r>
            <a:r>
              <a:rPr lang="en-US" dirty="0" err="1"/>
              <a:t>Apptainer</a:t>
            </a:r>
            <a:r>
              <a:rPr lang="en-US" dirty="0"/>
              <a:t> can pull and convert Docker containers directly</a:t>
            </a:r>
          </a:p>
          <a:p>
            <a:r>
              <a:rPr lang="en-US" b="1" dirty="0"/>
              <a:t>- </a:t>
            </a:r>
            <a:r>
              <a:rPr lang="en-US" b="1" dirty="0" err="1"/>
              <a:t>Biocontainers</a:t>
            </a:r>
            <a:r>
              <a:rPr lang="en-US" dirty="0"/>
              <a:t> — bioinformatics-specific containers, one per tool</a:t>
            </a:r>
          </a:p>
          <a:p>
            <a:r>
              <a:rPr lang="en-US" b="1" dirty="0"/>
              <a:t>- You build your own</a:t>
            </a:r>
            <a:r>
              <a:rPr lang="en-US" dirty="0"/>
              <a:t> — advanced</a:t>
            </a:r>
          </a:p>
          <a:p>
            <a:r>
              <a:rPr lang="en-US" dirty="0"/>
              <a:t>For most bioinformatics tools, a container already exists and you just need to pull it:</a:t>
            </a:r>
          </a:p>
        </p:txBody>
      </p:sp>
      <p:sp>
        <p:nvSpPr>
          <p:cNvPr id="6" name="TextBox 5">
            <a:extLst>
              <a:ext uri="{FF2B5EF4-FFF2-40B4-BE49-F238E27FC236}">
                <a16:creationId xmlns:a16="http://schemas.microsoft.com/office/drawing/2014/main" id="{37AC0079-8786-5697-F3BD-C094A7DFBFC5}"/>
              </a:ext>
            </a:extLst>
          </p:cNvPr>
          <p:cNvSpPr txBox="1"/>
          <p:nvPr/>
        </p:nvSpPr>
        <p:spPr>
          <a:xfrm>
            <a:off x="892134" y="3957050"/>
            <a:ext cx="5051466" cy="276999"/>
          </a:xfrm>
          <a:prstGeom prst="rect">
            <a:avLst/>
          </a:prstGeom>
          <a:solidFill>
            <a:schemeClr val="bg1">
              <a:lumMod val="95000"/>
            </a:schemeClr>
          </a:solidFill>
        </p:spPr>
        <p:txBody>
          <a:bodyPr wrap="square">
            <a:spAutoFit/>
          </a:bodyPr>
          <a:lstStyle/>
          <a:p>
            <a:r>
              <a:rPr lang="en-US" sz="1200" dirty="0" err="1">
                <a:latin typeface="Menlo" panose="020B0609030804020204" pitchFamily="49" charset="0"/>
                <a:ea typeface="Menlo" panose="020B0609030804020204" pitchFamily="49" charset="0"/>
                <a:cs typeface="Menlo" panose="020B0609030804020204" pitchFamily="49" charset="0"/>
              </a:rPr>
              <a:t>apptainer</a:t>
            </a:r>
            <a:r>
              <a:rPr lang="en-US" sz="1200" dirty="0">
                <a:latin typeface="Menlo" panose="020B0609030804020204" pitchFamily="49" charset="0"/>
                <a:ea typeface="Menlo" panose="020B0609030804020204" pitchFamily="49" charset="0"/>
                <a:cs typeface="Menlo" panose="020B0609030804020204" pitchFamily="49" charset="0"/>
              </a:rPr>
              <a:t> pull docker://</a:t>
            </a:r>
            <a:r>
              <a:rPr lang="en-US" sz="1200" dirty="0" err="1">
                <a:latin typeface="Menlo" panose="020B0609030804020204" pitchFamily="49" charset="0"/>
                <a:ea typeface="Menlo" panose="020B0609030804020204" pitchFamily="49" charset="0"/>
                <a:cs typeface="Menlo" panose="020B0609030804020204" pitchFamily="49" charset="0"/>
              </a:rPr>
              <a:t>biocontainers</a:t>
            </a:r>
            <a:r>
              <a:rPr lang="en-US" sz="1200" dirty="0">
                <a:latin typeface="Menlo" panose="020B0609030804020204" pitchFamily="49" charset="0"/>
                <a:ea typeface="Menlo" panose="020B0609030804020204" pitchFamily="49" charset="0"/>
                <a:cs typeface="Menlo" panose="020B0609030804020204" pitchFamily="49" charset="0"/>
              </a:rPr>
              <a:t>/</a:t>
            </a:r>
            <a:r>
              <a:rPr lang="en-US" sz="1200" dirty="0" err="1">
                <a:latin typeface="Menlo" panose="020B0609030804020204" pitchFamily="49" charset="0"/>
                <a:ea typeface="Menlo" panose="020B0609030804020204" pitchFamily="49" charset="0"/>
                <a:cs typeface="Menlo" panose="020B0609030804020204" pitchFamily="49" charset="0"/>
              </a:rPr>
              <a:t>fastqc:latest</a:t>
            </a:r>
            <a:endParaRPr lang="en-US" sz="1200" dirty="0">
              <a:latin typeface="Menlo" panose="020B0609030804020204" pitchFamily="49" charset="0"/>
              <a:ea typeface="Menlo" panose="020B0609030804020204" pitchFamily="49" charset="0"/>
              <a:cs typeface="Menlo" panose="020B0609030804020204" pitchFamily="49" charset="0"/>
            </a:endParaRPr>
          </a:p>
        </p:txBody>
      </p:sp>
      <p:pic>
        <p:nvPicPr>
          <p:cNvPr id="1026" name="Picture 2" descr="Track how many times docker image was pulled | by Huseyn Gasimov |  FAUN.dev() 🐾">
            <a:extLst>
              <a:ext uri="{FF2B5EF4-FFF2-40B4-BE49-F238E27FC236}">
                <a16:creationId xmlns:a16="http://schemas.microsoft.com/office/drawing/2014/main" id="{3D8E1CF5-2AFA-7011-15DB-FDD032F33B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3667" y="1068928"/>
            <a:ext cx="2382322" cy="124352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D25BDE24-2625-9843-3D38-D73FE62CF1A1}"/>
              </a:ext>
            </a:extLst>
          </p:cNvPr>
          <p:cNvPicPr>
            <a:picLocks noChangeAspect="1"/>
          </p:cNvPicPr>
          <p:nvPr/>
        </p:nvPicPr>
        <p:blipFill>
          <a:blip r:embed="rId4"/>
          <a:stretch>
            <a:fillRect/>
          </a:stretch>
        </p:blipFill>
        <p:spPr>
          <a:xfrm>
            <a:off x="2321626" y="4443622"/>
            <a:ext cx="7405254" cy="2318846"/>
          </a:xfrm>
          <a:prstGeom prst="rect">
            <a:avLst/>
          </a:prstGeom>
        </p:spPr>
      </p:pic>
    </p:spTree>
    <p:extLst>
      <p:ext uri="{BB962C8B-B14F-4D97-AF65-F5344CB8AC3E}">
        <p14:creationId xmlns:p14="http://schemas.microsoft.com/office/powerpoint/2010/main" val="493050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0F7F9-5493-0008-74A9-38BC2DB17CE7}"/>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861B58A-3584-2A75-CE4A-BC1665079C8A}"/>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Try it yourself!</a:t>
            </a:r>
          </a:p>
        </p:txBody>
      </p:sp>
      <p:pic>
        <p:nvPicPr>
          <p:cNvPr id="8" name="Picture 6" descr="coding Symbol mark in filled style 47628836 Vector Art at Vecteezy">
            <a:extLst>
              <a:ext uri="{FF2B5EF4-FFF2-40B4-BE49-F238E27FC236}">
                <a16:creationId xmlns:a16="http://schemas.microsoft.com/office/drawing/2014/main" id="{80925230-2674-741D-DBBC-632AEE001FDB}"/>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4917440" y="626429"/>
            <a:ext cx="904240" cy="90424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53177BE-CC3B-D76D-CEB2-FE40A73BA1D7}"/>
              </a:ext>
            </a:extLst>
          </p:cNvPr>
          <p:cNvSpPr txBox="1"/>
          <p:nvPr/>
        </p:nvSpPr>
        <p:spPr>
          <a:xfrm>
            <a:off x="990600" y="2094496"/>
            <a:ext cx="6486584" cy="3373359"/>
          </a:xfrm>
          <a:prstGeom prst="rect">
            <a:avLst/>
          </a:prstGeom>
          <a:noFill/>
        </p:spPr>
        <p:txBody>
          <a:bodyPr wrap="none" rtlCol="0">
            <a:spAutoFit/>
          </a:bodyPr>
          <a:lstStyle/>
          <a:p>
            <a:pPr marL="342900" indent="-342900">
              <a:lnSpc>
                <a:spcPct val="150000"/>
              </a:lnSpc>
              <a:buAutoNum type="arabicPeriod"/>
            </a:pPr>
            <a:r>
              <a:rPr lang="en-US" dirty="0"/>
              <a:t>Start an interactive job</a:t>
            </a:r>
          </a:p>
          <a:p>
            <a:pPr marL="342900" indent="-342900">
              <a:lnSpc>
                <a:spcPct val="150000"/>
              </a:lnSpc>
              <a:buAutoNum type="arabicPeriod"/>
            </a:pPr>
            <a:r>
              <a:rPr lang="en-US" dirty="0"/>
              <a:t>Look up the available modules in Hazel</a:t>
            </a:r>
          </a:p>
          <a:p>
            <a:pPr marL="342900" indent="-342900">
              <a:lnSpc>
                <a:spcPct val="150000"/>
              </a:lnSpc>
              <a:buAutoNum type="arabicPeriod"/>
            </a:pPr>
            <a:r>
              <a:rPr lang="en-US" dirty="0"/>
              <a:t>Choose one and load it, then try to run it with the –h (help) flag</a:t>
            </a:r>
          </a:p>
          <a:p>
            <a:pPr marL="342900" indent="-342900">
              <a:lnSpc>
                <a:spcPct val="150000"/>
              </a:lnSpc>
              <a:buAutoNum type="arabicPeriod"/>
            </a:pPr>
            <a:endParaRPr lang="en-US" dirty="0"/>
          </a:p>
          <a:p>
            <a:pPr marL="342900" indent="-342900">
              <a:lnSpc>
                <a:spcPct val="150000"/>
              </a:lnSpc>
              <a:buAutoNum type="arabicPeriod"/>
            </a:pPr>
            <a:r>
              <a:rPr lang="en-US" dirty="0"/>
              <a:t>Look up a </a:t>
            </a:r>
            <a:r>
              <a:rPr lang="en-US" dirty="0" err="1"/>
              <a:t>biocontainer</a:t>
            </a:r>
            <a:r>
              <a:rPr lang="en-US" dirty="0"/>
              <a:t> for a software you normally use</a:t>
            </a:r>
          </a:p>
          <a:p>
            <a:pPr marL="342900" indent="-342900">
              <a:lnSpc>
                <a:spcPct val="150000"/>
              </a:lnSpc>
              <a:buAutoNum type="arabicPeriod"/>
            </a:pPr>
            <a:r>
              <a:rPr lang="en-US" dirty="0"/>
              <a:t>Try to pull it using </a:t>
            </a:r>
            <a:r>
              <a:rPr lang="en-US" dirty="0" err="1"/>
              <a:t>apptainer</a:t>
            </a:r>
            <a:r>
              <a:rPr lang="en-US" dirty="0"/>
              <a:t> pull</a:t>
            </a:r>
          </a:p>
          <a:p>
            <a:pPr marL="342900" indent="-342900">
              <a:lnSpc>
                <a:spcPct val="150000"/>
              </a:lnSpc>
              <a:buAutoNum type="arabicPeriod"/>
            </a:pPr>
            <a:r>
              <a:rPr lang="en-US" dirty="0"/>
              <a:t>Test it! </a:t>
            </a:r>
          </a:p>
          <a:p>
            <a:pPr marL="342900" indent="-342900">
              <a:lnSpc>
                <a:spcPct val="150000"/>
              </a:lnSpc>
              <a:buAutoNum type="arabicPeriod"/>
            </a:pPr>
            <a:endParaRPr lang="en-US" dirty="0"/>
          </a:p>
        </p:txBody>
      </p:sp>
      <p:sp>
        <p:nvSpPr>
          <p:cNvPr id="3" name="TextBox 2">
            <a:extLst>
              <a:ext uri="{FF2B5EF4-FFF2-40B4-BE49-F238E27FC236}">
                <a16:creationId xmlns:a16="http://schemas.microsoft.com/office/drawing/2014/main" id="{7880EB4B-0CE6-A8A7-05ED-239E2A66FC09}"/>
              </a:ext>
            </a:extLst>
          </p:cNvPr>
          <p:cNvSpPr txBox="1"/>
          <p:nvPr/>
        </p:nvSpPr>
        <p:spPr>
          <a:xfrm>
            <a:off x="7980218" y="2152591"/>
            <a:ext cx="2483885" cy="2862322"/>
          </a:xfrm>
          <a:prstGeom prst="rect">
            <a:avLst/>
          </a:prstGeom>
          <a:noFill/>
        </p:spPr>
        <p:txBody>
          <a:bodyPr wrap="none" rtlCol="0">
            <a:spAutoFit/>
          </a:bodyPr>
          <a:lstStyle/>
          <a:p>
            <a:r>
              <a:rPr lang="en-US" dirty="0"/>
              <a:t>Interactive </a:t>
            </a:r>
          </a:p>
          <a:p>
            <a:r>
              <a:rPr lang="en-US" dirty="0"/>
              <a:t>Module avail</a:t>
            </a:r>
          </a:p>
          <a:p>
            <a:r>
              <a:rPr lang="en-US" dirty="0"/>
              <a:t>Module load </a:t>
            </a:r>
            <a:r>
              <a:rPr lang="en-US" dirty="0" err="1"/>
              <a:t>apptainer</a:t>
            </a:r>
            <a:endParaRPr lang="en-US" dirty="0"/>
          </a:p>
          <a:p>
            <a:r>
              <a:rPr lang="en-US" dirty="0" err="1"/>
              <a:t>Apptainer</a:t>
            </a:r>
            <a:r>
              <a:rPr lang="en-US" dirty="0"/>
              <a:t> –h</a:t>
            </a:r>
          </a:p>
          <a:p>
            <a:endParaRPr lang="en-US" dirty="0"/>
          </a:p>
          <a:p>
            <a:endParaRPr lang="en-US" dirty="0"/>
          </a:p>
          <a:p>
            <a:r>
              <a:rPr lang="en-US" dirty="0" err="1"/>
              <a:t>Apptainer</a:t>
            </a:r>
            <a:r>
              <a:rPr lang="en-US" dirty="0"/>
              <a:t> pull </a:t>
            </a:r>
          </a:p>
          <a:p>
            <a:r>
              <a:rPr lang="en-US" dirty="0" err="1"/>
              <a:t>Apptainer</a:t>
            </a:r>
            <a:r>
              <a:rPr lang="en-US" dirty="0"/>
              <a:t> </a:t>
            </a:r>
            <a:r>
              <a:rPr lang="en-US" dirty="0" err="1"/>
              <a:t>program.sif</a:t>
            </a:r>
            <a:r>
              <a:rPr lang="en-US" dirty="0"/>
              <a:t> -h</a:t>
            </a:r>
          </a:p>
          <a:p>
            <a:endParaRPr lang="en-US" dirty="0"/>
          </a:p>
          <a:p>
            <a:endParaRPr lang="en-US" dirty="0"/>
          </a:p>
        </p:txBody>
      </p:sp>
    </p:spTree>
    <p:extLst>
      <p:ext uri="{BB962C8B-B14F-4D97-AF65-F5344CB8AC3E}">
        <p14:creationId xmlns:p14="http://schemas.microsoft.com/office/powerpoint/2010/main" val="1820864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3FCFC-5B5A-48C4-991E-88A3B828AF7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EF8470A-62C7-5CDA-7431-1EF86C6C1BF2}"/>
              </a:ext>
            </a:extLst>
          </p:cNvPr>
          <p:cNvSpPr txBox="1">
            <a:spLocks/>
          </p:cNvSpPr>
          <p:nvPr/>
        </p:nvSpPr>
        <p:spPr>
          <a:xfrm>
            <a:off x="1646320" y="2089105"/>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7. Data management</a:t>
            </a:r>
          </a:p>
        </p:txBody>
      </p:sp>
      <p:pic>
        <p:nvPicPr>
          <p:cNvPr id="2050" name="Picture 2" descr="Data management - Free seo and web icons">
            <a:extLst>
              <a:ext uri="{FF2B5EF4-FFF2-40B4-BE49-F238E27FC236}">
                <a16:creationId xmlns:a16="http://schemas.microsoft.com/office/drawing/2014/main" id="{795F056A-A7D0-3B26-1938-3D7EF394BC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8725" y="2238499"/>
            <a:ext cx="1365992" cy="1365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8796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D9C26-8755-B56F-F5E2-215BBF6A7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03FE1D-C385-9FFC-1AE0-9CF766669222}"/>
              </a:ext>
            </a:extLst>
          </p:cNvPr>
          <p:cNvSpPr>
            <a:spLocks noGrp="1"/>
          </p:cNvSpPr>
          <p:nvPr>
            <p:ph type="title"/>
          </p:nvPr>
        </p:nvSpPr>
        <p:spPr/>
        <p:txBody>
          <a:bodyPr>
            <a:normAutofit/>
          </a:bodyPr>
          <a:lstStyle/>
          <a:p>
            <a:r>
              <a:rPr lang="en-US" sz="4000" dirty="0">
                <a:latin typeface="Helvetica" pitchFamily="2" charset="0"/>
              </a:rPr>
              <a:t>Hazel storage system</a:t>
            </a:r>
          </a:p>
        </p:txBody>
      </p:sp>
      <p:pic>
        <p:nvPicPr>
          <p:cNvPr id="3" name="Picture 2">
            <a:extLst>
              <a:ext uri="{FF2B5EF4-FFF2-40B4-BE49-F238E27FC236}">
                <a16:creationId xmlns:a16="http://schemas.microsoft.com/office/drawing/2014/main" id="{762D3296-56FB-D0E5-DF87-A05D5872483B}"/>
              </a:ext>
            </a:extLst>
          </p:cNvPr>
          <p:cNvPicPr>
            <a:picLocks noChangeAspect="1"/>
          </p:cNvPicPr>
          <p:nvPr/>
        </p:nvPicPr>
        <p:blipFill>
          <a:blip r:embed="rId3"/>
          <a:stretch>
            <a:fillRect/>
          </a:stretch>
        </p:blipFill>
        <p:spPr>
          <a:xfrm>
            <a:off x="6208698" y="2004436"/>
            <a:ext cx="5035602" cy="3463081"/>
          </a:xfrm>
          <a:prstGeom prst="rect">
            <a:avLst/>
          </a:prstGeom>
        </p:spPr>
      </p:pic>
    </p:spTree>
    <p:extLst>
      <p:ext uri="{BB962C8B-B14F-4D97-AF65-F5344CB8AC3E}">
        <p14:creationId xmlns:p14="http://schemas.microsoft.com/office/powerpoint/2010/main" val="2880837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9E945-2B20-1F2B-6D96-7D7ECF814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791DE7-5804-43E5-C000-0715F59E697A}"/>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BD8AEF68-DF10-A822-53D6-C16263716C27}"/>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44A21048-9EAD-BB71-CEF7-6E293C3621E1}"/>
              </a:ext>
            </a:extLst>
          </p:cNvPr>
          <p:cNvSpPr txBox="1"/>
          <p:nvPr/>
        </p:nvSpPr>
        <p:spPr>
          <a:xfrm>
            <a:off x="631915" y="1406434"/>
            <a:ext cx="6097088" cy="4678204"/>
          </a:xfrm>
          <a:prstGeom prst="rect">
            <a:avLst/>
          </a:prstGeom>
          <a:noFill/>
        </p:spPr>
        <p:txBody>
          <a:bodyPr wrap="square">
            <a:spAutoFit/>
          </a:bodyPr>
          <a:lstStyle/>
          <a:p>
            <a:pPr>
              <a:buNone/>
            </a:pPr>
            <a:r>
              <a:rPr lang="en-US" b="1" dirty="0">
                <a:latin typeface="Helvetica" pitchFamily="2" charset="0"/>
                <a:cs typeface="Arial" panose="020B0604020202020204" pitchFamily="34" charset="0"/>
              </a:rPr>
              <a:t>Home Directory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/home/[</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UnityID</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Size:</a:t>
            </a:r>
            <a:r>
              <a:rPr lang="en-US" sz="1400" dirty="0">
                <a:latin typeface="Helvetica" pitchFamily="2" charset="0"/>
                <a:cs typeface="Arial" panose="020B0604020202020204" pitchFamily="34" charset="0"/>
              </a:rPr>
              <a:t> 1 GB per user</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Speed:</a:t>
            </a:r>
            <a:r>
              <a:rPr lang="en-US" sz="1400" dirty="0">
                <a:latin typeface="Helvetica" pitchFamily="2" charset="0"/>
                <a:cs typeface="Arial" panose="020B0604020202020204" pitchFamily="34" charset="0"/>
              </a:rPr>
              <a:t> Moderate</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Persistence:</a:t>
            </a:r>
            <a:r>
              <a:rPr lang="en-US" sz="1400" dirty="0">
                <a:latin typeface="Helvetica" pitchFamily="2" charset="0"/>
                <a:cs typeface="Arial" panose="020B0604020202020204" pitchFamily="34" charset="0"/>
              </a:rPr>
              <a:t> Permanent</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Backup:</a:t>
            </a:r>
            <a:r>
              <a:rPr lang="en-US" sz="1400" dirty="0">
                <a:latin typeface="Helvetica" pitchFamily="2" charset="0"/>
                <a:cs typeface="Arial" panose="020B0604020202020204" pitchFamily="34" charset="0"/>
              </a:rPr>
              <a:t> Yes</a:t>
            </a:r>
          </a:p>
          <a:p>
            <a:pPr>
              <a:buFont typeface="Arial" panose="020B0604020202020204" pitchFamily="34" charset="0"/>
              <a:buChar char="•"/>
            </a:pPr>
            <a:endParaRPr lang="en-US" sz="1600" dirty="0">
              <a:latin typeface="Helvetica" pitchFamily="2" charset="0"/>
              <a:cs typeface="Arial" panose="020B0604020202020204" pitchFamily="34" charset="0"/>
            </a:endParaRPr>
          </a:p>
          <a:p>
            <a:r>
              <a:rPr lang="en-US" sz="1400" b="1" dirty="0">
                <a:latin typeface="Helvetica" pitchFamily="2" charset="0"/>
                <a:cs typeface="Arial" panose="020B0604020202020204" pitchFamily="34" charset="0"/>
              </a:rPr>
              <a:t>What to store here:</a:t>
            </a:r>
            <a:endParaRPr lang="en-US" sz="1400" dirty="0">
              <a:latin typeface="Helvetica" pitchFamily="2" charset="0"/>
              <a:cs typeface="Arial" panose="020B0604020202020204" pitchFamily="34" charset="0"/>
            </a:endParaRP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a:t>
            </a:r>
            <a:r>
              <a:rPr lang="en-US" sz="1400" dirty="0" err="1">
                <a:latin typeface="Helvetica" pitchFamily="2" charset="0"/>
                <a:cs typeface="Arial" panose="020B0604020202020204" pitchFamily="34" charset="0"/>
              </a:rPr>
              <a:t>bashrc</a:t>
            </a:r>
            <a:r>
              <a:rPr lang="en-US" sz="1400" dirty="0">
                <a:latin typeface="Helvetica" pitchFamily="2" charset="0"/>
                <a:cs typeface="Arial" panose="020B0604020202020204" pitchFamily="34" charset="0"/>
              </a:rPr>
              <a:t> and other configuration files</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Small utility scripts</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SSH keys </a:t>
            </a:r>
            <a:r>
              <a:rPr lang="en-US" sz="1400" dirty="0">
                <a:solidFill>
                  <a:srgbClr val="FF0000"/>
                </a:solidFill>
                <a:latin typeface="Helvetica" pitchFamily="2" charset="0"/>
                <a:cs typeface="Arial" panose="020B0604020202020204" pitchFamily="34" charset="0"/>
              </a:rPr>
              <a:t>(not available for Hazel!)</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Personal settings</a:t>
            </a:r>
          </a:p>
          <a:p>
            <a:r>
              <a:rPr lang="en-US" sz="1400" b="1" dirty="0">
                <a:latin typeface="Helvetica" pitchFamily="2" charset="0"/>
                <a:cs typeface="Arial" panose="020B0604020202020204" pitchFamily="34" charset="0"/>
              </a:rPr>
              <a:t>What NOT to store here:</a:t>
            </a:r>
            <a:endParaRPr lang="en-US" sz="1400" dirty="0">
              <a:latin typeface="Helvetica" pitchFamily="2" charset="0"/>
              <a:cs typeface="Arial" panose="020B0604020202020204" pitchFamily="34" charset="0"/>
            </a:endParaRP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Raw sequencing data (too large)</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Analysis results (too large)</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Conda environments (will exceed quota quickly)</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Any data files</a:t>
            </a:r>
          </a:p>
          <a:p>
            <a:pPr marL="285750" indent="-285750">
              <a:buFont typeface="Arial" panose="020B0604020202020204" pitchFamily="34" charset="0"/>
              <a:buChar char="•"/>
            </a:pPr>
            <a:endParaRPr lang="en-US" sz="1400" dirty="0">
              <a:latin typeface="Helvetica" pitchFamily="2" charset="0"/>
              <a:cs typeface="Arial" panose="020B0604020202020204" pitchFamily="34" charset="0"/>
            </a:endParaRPr>
          </a:p>
          <a:p>
            <a:r>
              <a:rPr lang="en-US" sz="1400" b="1" dirty="0">
                <a:latin typeface="Helvetica" pitchFamily="2" charset="0"/>
                <a:cs typeface="Arial" panose="020B0604020202020204" pitchFamily="34" charset="0"/>
              </a:rPr>
              <a:t>Why it's small:</a:t>
            </a:r>
            <a:r>
              <a:rPr lang="en-US" sz="1400" dirty="0">
                <a:latin typeface="Helvetica" pitchFamily="2" charset="0"/>
                <a:cs typeface="Arial" panose="020B0604020202020204" pitchFamily="34" charset="0"/>
              </a:rPr>
              <a:t> Home directories are backed up and designed only for personal configuration, not data storage.</a:t>
            </a:r>
          </a:p>
          <a:p>
            <a:pPr>
              <a:buFont typeface="Arial" panose="020B0604020202020204" pitchFamily="34" charset="0"/>
              <a:buChar char="•"/>
            </a:pPr>
            <a:endParaRPr lang="en-US" dirty="0">
              <a:latin typeface="Helvetica" pitchFamily="2" charset="0"/>
              <a:cs typeface="Arial" panose="020B0604020202020204" pitchFamily="34" charset="0"/>
            </a:endParaRPr>
          </a:p>
        </p:txBody>
      </p:sp>
      <p:sp>
        <p:nvSpPr>
          <p:cNvPr id="4" name="Oval 3">
            <a:extLst>
              <a:ext uri="{FF2B5EF4-FFF2-40B4-BE49-F238E27FC236}">
                <a16:creationId xmlns:a16="http://schemas.microsoft.com/office/drawing/2014/main" id="{B61BA87A-A58C-58EB-26DC-E4966C5A3C0F}"/>
              </a:ext>
            </a:extLst>
          </p:cNvPr>
          <p:cNvSpPr/>
          <p:nvPr/>
        </p:nvSpPr>
        <p:spPr>
          <a:xfrm>
            <a:off x="10032274" y="2984863"/>
            <a:ext cx="796835" cy="760673"/>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âB Shipping Container Tiny Home - Tiny Living">
            <a:extLst>
              <a:ext uri="{FF2B5EF4-FFF2-40B4-BE49-F238E27FC236}">
                <a16:creationId xmlns:a16="http://schemas.microsoft.com/office/drawing/2014/main" id="{442E58FB-6572-CA80-A250-A13DBC354F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914" y="1514103"/>
            <a:ext cx="1523086" cy="10090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265F0AC-B819-084D-03D9-94C0AB6559AE}"/>
              </a:ext>
            </a:extLst>
          </p:cNvPr>
          <p:cNvSpPr txBox="1"/>
          <p:nvPr/>
        </p:nvSpPr>
        <p:spPr>
          <a:xfrm>
            <a:off x="4834961" y="2523147"/>
            <a:ext cx="998991" cy="261610"/>
          </a:xfrm>
          <a:prstGeom prst="rect">
            <a:avLst/>
          </a:prstGeom>
          <a:noFill/>
        </p:spPr>
        <p:txBody>
          <a:bodyPr wrap="none" rtlCol="0">
            <a:spAutoFit/>
          </a:bodyPr>
          <a:lstStyle/>
          <a:p>
            <a:r>
              <a:rPr lang="en-US" sz="1100" dirty="0">
                <a:solidFill>
                  <a:srgbClr val="FF0000"/>
                </a:solidFill>
                <a:latin typeface="Helvetica" pitchFamily="2" charset="0"/>
              </a:rPr>
              <a:t>Home is tiny!</a:t>
            </a:r>
          </a:p>
        </p:txBody>
      </p:sp>
    </p:spTree>
    <p:extLst>
      <p:ext uri="{BB962C8B-B14F-4D97-AF65-F5344CB8AC3E}">
        <p14:creationId xmlns:p14="http://schemas.microsoft.com/office/powerpoint/2010/main" val="2067369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A03C2-4A92-E738-5690-FB464C6E4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95156-C867-D675-EDBE-C45CD75DD2DC}"/>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0A56FC8C-3009-B5C9-BEAC-86C3DFEC2DDD}"/>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6B28F258-CDB6-5601-476A-3EC12AA260FF}"/>
              </a:ext>
            </a:extLst>
          </p:cNvPr>
          <p:cNvSpPr txBox="1"/>
          <p:nvPr/>
        </p:nvSpPr>
        <p:spPr>
          <a:xfrm>
            <a:off x="631915" y="1406434"/>
            <a:ext cx="6097088" cy="4893647"/>
          </a:xfrm>
          <a:prstGeom prst="rect">
            <a:avLst/>
          </a:prstGeom>
          <a:noFill/>
        </p:spPr>
        <p:txBody>
          <a:bodyPr wrap="square">
            <a:spAutoFit/>
          </a:bodyPr>
          <a:lstStyle/>
          <a:p>
            <a:r>
              <a:rPr lang="en-US" b="1" dirty="0">
                <a:latin typeface="Helvetica" pitchFamily="2" charset="0"/>
              </a:rPr>
              <a:t>Scratch Space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/share/$GROUP/$USER</a:t>
            </a:r>
          </a:p>
          <a:p>
            <a:pPr marL="285750" indent="-285750">
              <a:buFont typeface="Arial" panose="020B0604020202020204" pitchFamily="34" charset="0"/>
              <a:buChar char="•"/>
            </a:pPr>
            <a:r>
              <a:rPr lang="en-US" sz="1400" b="1" dirty="0">
                <a:latin typeface="Helvetica" pitchFamily="2" charset="0"/>
              </a:rPr>
              <a:t>Size:</a:t>
            </a:r>
            <a:r>
              <a:rPr lang="en-US" sz="1400" dirty="0">
                <a:latin typeface="Helvetica" pitchFamily="2" charset="0"/>
              </a:rPr>
              <a:t> 20 TB per research group</a:t>
            </a:r>
          </a:p>
          <a:p>
            <a:pPr marL="285750" indent="-285750">
              <a:buFont typeface="Arial" panose="020B0604020202020204" pitchFamily="34" charset="0"/>
              <a:buChar char="•"/>
            </a:pPr>
            <a:r>
              <a:rPr lang="en-US" sz="1400" b="1" dirty="0">
                <a:latin typeface="Helvetica" pitchFamily="2" charset="0"/>
              </a:rPr>
              <a:t>Speed:</a:t>
            </a:r>
            <a:r>
              <a:rPr lang="en-US" sz="1400" dirty="0">
                <a:latin typeface="Helvetica" pitchFamily="2" charset="0"/>
              </a:rPr>
              <a:t> VERY FAST (optimized for parallel I/O)</a:t>
            </a:r>
          </a:p>
          <a:p>
            <a:pPr marL="285750" indent="-285750">
              <a:buFont typeface="Arial" panose="020B0604020202020204" pitchFamily="34" charset="0"/>
              <a:buChar char="•"/>
            </a:pPr>
            <a:r>
              <a:rPr lang="en-US" sz="1400" b="1" dirty="0">
                <a:latin typeface="Helvetica" pitchFamily="2" charset="0"/>
              </a:rPr>
              <a:t>Persistence:</a:t>
            </a:r>
            <a:r>
              <a:rPr lang="en-US" sz="1400" dirty="0">
                <a:latin typeface="Helvetica" pitchFamily="2" charset="0"/>
              </a:rPr>
              <a:t> 30-day automatic deletion</a:t>
            </a:r>
          </a:p>
          <a:p>
            <a:pPr marL="285750" indent="-285750">
              <a:buFont typeface="Arial" panose="020B0604020202020204" pitchFamily="34" charset="0"/>
              <a:buChar char="•"/>
            </a:pPr>
            <a:r>
              <a:rPr lang="en-US" sz="1400" b="1" dirty="0">
                <a:latin typeface="Helvetica" pitchFamily="2" charset="0"/>
              </a:rPr>
              <a:t>Backup:</a:t>
            </a:r>
            <a:r>
              <a:rPr lang="en-US" sz="1400" dirty="0">
                <a:latin typeface="Helvetica" pitchFamily="2" charset="0"/>
              </a:rPr>
              <a:t> No</a:t>
            </a:r>
          </a:p>
          <a:p>
            <a:endParaRPr lang="en-US" sz="1400" dirty="0">
              <a:latin typeface="Helvetica" pitchFamily="2" charset="0"/>
            </a:endParaRPr>
          </a:p>
          <a:p>
            <a:r>
              <a:rPr lang="en-US" sz="1400" b="1" dirty="0">
                <a:latin typeface="Helvetica" pitchFamily="2" charset="0"/>
              </a:rPr>
              <a:t>What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Intermediate files during analysis (unsorted BAMs, temporary assembly files)</a:t>
            </a:r>
          </a:p>
          <a:p>
            <a:pPr marL="285750" indent="-285750">
              <a:buFont typeface="Arial" panose="020B0604020202020204" pitchFamily="34" charset="0"/>
              <a:buChar char="•"/>
            </a:pPr>
            <a:r>
              <a:rPr lang="en-US" sz="1400" dirty="0">
                <a:latin typeface="Helvetica" pitchFamily="2" charset="0"/>
              </a:rPr>
              <a:t>Job-specific temporary data</a:t>
            </a:r>
          </a:p>
          <a:p>
            <a:pPr marL="285750" indent="-285750">
              <a:buFont typeface="Arial" panose="020B0604020202020204" pitchFamily="34" charset="0"/>
              <a:buChar char="•"/>
            </a:pPr>
            <a:r>
              <a:rPr lang="en-US" sz="1400" dirty="0">
                <a:latin typeface="Helvetica" pitchFamily="2" charset="0"/>
              </a:rPr>
              <a:t>Conda package cache (.</a:t>
            </a:r>
            <a:r>
              <a:rPr lang="en-US" sz="1400" dirty="0" err="1">
                <a:latin typeface="Helvetica" pitchFamily="2" charset="0"/>
              </a:rPr>
              <a:t>conda</a:t>
            </a:r>
            <a:r>
              <a:rPr lang="en-US" sz="1400" dirty="0">
                <a:latin typeface="Helvetica" pitchFamily="2" charset="0"/>
              </a:rPr>
              <a:t>/pkgs)</a:t>
            </a:r>
          </a:p>
          <a:p>
            <a:pPr marL="285750" indent="-285750">
              <a:buFont typeface="Arial" panose="020B0604020202020204" pitchFamily="34" charset="0"/>
              <a:buChar char="•"/>
            </a:pPr>
            <a:r>
              <a:rPr lang="en-US" sz="1400" dirty="0">
                <a:latin typeface="Helvetica" pitchFamily="2" charset="0"/>
              </a:rPr>
              <a:t>Any large files that are only needed briefly</a:t>
            </a:r>
          </a:p>
          <a:p>
            <a:endParaRPr lang="en-US" sz="1400" dirty="0">
              <a:latin typeface="Helvetica" pitchFamily="2" charset="0"/>
            </a:endParaRPr>
          </a:p>
          <a:p>
            <a:r>
              <a:rPr lang="en-US" sz="1400" b="1" dirty="0">
                <a:latin typeface="Helvetica" pitchFamily="2" charset="0"/>
              </a:rPr>
              <a:t>What NOT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Raw data (will be deleted after 30 days!)</a:t>
            </a:r>
          </a:p>
          <a:p>
            <a:pPr marL="285750" indent="-285750">
              <a:buFont typeface="Arial" panose="020B0604020202020204" pitchFamily="34" charset="0"/>
              <a:buChar char="•"/>
            </a:pPr>
            <a:r>
              <a:rPr lang="en-US" sz="1400" dirty="0">
                <a:latin typeface="Helvetica" pitchFamily="2" charset="0"/>
              </a:rPr>
              <a:t>Final results (will be deleted!)</a:t>
            </a:r>
          </a:p>
          <a:p>
            <a:pPr marL="285750" indent="-285750">
              <a:buFont typeface="Arial" panose="020B0604020202020204" pitchFamily="34" charset="0"/>
              <a:buChar char="•"/>
            </a:pPr>
            <a:r>
              <a:rPr lang="en-US" sz="1400" dirty="0">
                <a:latin typeface="Helvetica" pitchFamily="2" charset="0"/>
              </a:rPr>
              <a:t>Anything you want to keep</a:t>
            </a:r>
          </a:p>
          <a:p>
            <a:endParaRPr lang="en-US" sz="1400" dirty="0">
              <a:latin typeface="Helvetica" pitchFamily="2" charset="0"/>
            </a:endParaRPr>
          </a:p>
          <a:p>
            <a:r>
              <a:rPr lang="en-US" sz="1400" b="1" dirty="0">
                <a:latin typeface="Helvetica" pitchFamily="2" charset="0"/>
              </a:rPr>
              <a:t>Why use scratch:</a:t>
            </a:r>
            <a:endParaRPr lang="en-US" sz="1400" dirty="0">
              <a:latin typeface="Helvetica" pitchFamily="2" charset="0"/>
            </a:endParaRPr>
          </a:p>
          <a:p>
            <a:r>
              <a:rPr lang="en-US" sz="1400" dirty="0">
                <a:latin typeface="Helvetica" pitchFamily="2" charset="0"/>
              </a:rPr>
              <a:t>Fastest filesystem on Hazel</a:t>
            </a:r>
          </a:p>
          <a:p>
            <a:r>
              <a:rPr lang="en-US" sz="1400" dirty="0">
                <a:latin typeface="Helvetica" pitchFamily="2" charset="0"/>
              </a:rPr>
              <a:t>Perfect for large intermediate files that would slow down other filesystems</a:t>
            </a:r>
          </a:p>
          <a:p>
            <a:r>
              <a:rPr lang="en-US" sz="1400" dirty="0">
                <a:latin typeface="Helvetica" pitchFamily="2" charset="0"/>
              </a:rPr>
              <a:t>Your job runs faster when reading/writing many large files</a:t>
            </a:r>
          </a:p>
        </p:txBody>
      </p:sp>
      <p:sp>
        <p:nvSpPr>
          <p:cNvPr id="4" name="Oval 3">
            <a:extLst>
              <a:ext uri="{FF2B5EF4-FFF2-40B4-BE49-F238E27FC236}">
                <a16:creationId xmlns:a16="http://schemas.microsoft.com/office/drawing/2014/main" id="{30DEDC0A-E109-8341-1337-013EFD9C0ED9}"/>
              </a:ext>
            </a:extLst>
          </p:cNvPr>
          <p:cNvSpPr/>
          <p:nvPr/>
        </p:nvSpPr>
        <p:spPr>
          <a:xfrm>
            <a:off x="10841082" y="3128554"/>
            <a:ext cx="1025435" cy="89480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F61B977-1D15-08AE-2E21-16BAADB5E69C}"/>
              </a:ext>
            </a:extLst>
          </p:cNvPr>
          <p:cNvSpPr txBox="1"/>
          <p:nvPr/>
        </p:nvSpPr>
        <p:spPr>
          <a:xfrm>
            <a:off x="6875962" y="5567290"/>
            <a:ext cx="4888643" cy="738664"/>
          </a:xfrm>
          <a:prstGeom prst="rect">
            <a:avLst/>
          </a:prstGeom>
          <a:noFill/>
          <a:ln w="19050">
            <a:solidFill>
              <a:srgbClr val="D80003"/>
            </a:solidFill>
          </a:ln>
        </p:spPr>
        <p:txBody>
          <a:bodyPr wrap="square">
            <a:spAutoFit/>
          </a:bodyPr>
          <a:lstStyle/>
          <a:p>
            <a:r>
              <a:rPr lang="en-US" sz="1400" b="1" dirty="0">
                <a:latin typeface="Helvetica" pitchFamily="2" charset="0"/>
              </a:rPr>
              <a:t>⚠️ Critical feature:</a:t>
            </a:r>
            <a:r>
              <a:rPr lang="en-US" sz="1400" dirty="0">
                <a:latin typeface="Helvetica" pitchFamily="2" charset="0"/>
              </a:rPr>
              <a:t> Files untouched for 30 days are AUTOMATICALLY DELETED. The system does this cleanup without warning.</a:t>
            </a:r>
          </a:p>
        </p:txBody>
      </p:sp>
    </p:spTree>
    <p:extLst>
      <p:ext uri="{BB962C8B-B14F-4D97-AF65-F5344CB8AC3E}">
        <p14:creationId xmlns:p14="http://schemas.microsoft.com/office/powerpoint/2010/main" val="3963319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3197D-2CAD-2A56-3265-311375BE7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C33E5-E879-6A3B-3922-C0266F7C219E}"/>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3CE6D684-8820-4B6B-1553-41FD88AEABD2}"/>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7A7F6715-B3E4-F537-F31D-4BC473A24CA9}"/>
              </a:ext>
            </a:extLst>
          </p:cNvPr>
          <p:cNvSpPr txBox="1"/>
          <p:nvPr/>
        </p:nvSpPr>
        <p:spPr>
          <a:xfrm>
            <a:off x="631915" y="1412307"/>
            <a:ext cx="6097088" cy="3600986"/>
          </a:xfrm>
          <a:prstGeom prst="rect">
            <a:avLst/>
          </a:prstGeom>
          <a:noFill/>
        </p:spPr>
        <p:txBody>
          <a:bodyPr wrap="square">
            <a:spAutoFit/>
          </a:bodyPr>
          <a:lstStyle/>
          <a:p>
            <a:r>
              <a:rPr lang="en-US" b="1" dirty="0">
                <a:latin typeface="Helvetica" pitchFamily="2" charset="0"/>
              </a:rPr>
              <a:t>Applications Directory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usr</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/local/</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usrapps</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/$GROUP</a:t>
            </a:r>
            <a:endParaRPr lang="en-US" b="1" dirty="0">
              <a:solidFill>
                <a:schemeClr val="accent2"/>
              </a:solidFill>
              <a:latin typeface="Menlo" panose="020B0609030804020204" pitchFamily="49" charset="0"/>
              <a:ea typeface="Menlo" panose="020B0609030804020204" pitchFamily="49" charset="0"/>
              <a:cs typeface="Menlo" panose="020B0609030804020204" pitchFamily="49" charset="0"/>
            </a:endParaRPr>
          </a:p>
          <a:p>
            <a:pPr marL="285750" indent="-285750">
              <a:buFont typeface="Arial" panose="020B0604020202020204" pitchFamily="34" charset="0"/>
              <a:buChar char="•"/>
            </a:pPr>
            <a:r>
              <a:rPr lang="en-US" sz="1400" b="1" dirty="0">
                <a:latin typeface="Helvetica" pitchFamily="2" charset="0"/>
              </a:rPr>
              <a:t>Size:</a:t>
            </a:r>
            <a:r>
              <a:rPr lang="en-US" sz="1400" dirty="0">
                <a:latin typeface="Helvetica" pitchFamily="2" charset="0"/>
              </a:rPr>
              <a:t> 2 Tb</a:t>
            </a:r>
          </a:p>
          <a:p>
            <a:pPr marL="285750" indent="-285750">
              <a:buFont typeface="Arial" panose="020B0604020202020204" pitchFamily="34" charset="0"/>
              <a:buChar char="•"/>
            </a:pPr>
            <a:r>
              <a:rPr lang="en-US" sz="1400" b="1" dirty="0">
                <a:latin typeface="Helvetica" pitchFamily="2" charset="0"/>
              </a:rPr>
              <a:t>Speed:</a:t>
            </a:r>
            <a:r>
              <a:rPr lang="en-US" sz="1400" dirty="0">
                <a:latin typeface="Helvetica" pitchFamily="2" charset="0"/>
              </a:rPr>
              <a:t> Moderate</a:t>
            </a:r>
          </a:p>
          <a:p>
            <a:pPr marL="285750" indent="-285750">
              <a:buFont typeface="Arial" panose="020B0604020202020204" pitchFamily="34" charset="0"/>
              <a:buChar char="•"/>
            </a:pPr>
            <a:r>
              <a:rPr lang="en-US" sz="1400" b="1" dirty="0">
                <a:latin typeface="Helvetica" pitchFamily="2" charset="0"/>
              </a:rPr>
              <a:t>Persistence:</a:t>
            </a:r>
            <a:r>
              <a:rPr lang="en-US" sz="1400" dirty="0">
                <a:latin typeface="Helvetica" pitchFamily="2" charset="0"/>
              </a:rPr>
              <a:t> Permanent</a:t>
            </a:r>
          </a:p>
          <a:p>
            <a:pPr marL="285750" indent="-285750">
              <a:buFont typeface="Arial" panose="020B0604020202020204" pitchFamily="34" charset="0"/>
              <a:buChar char="•"/>
            </a:pPr>
            <a:r>
              <a:rPr lang="en-US" sz="1400" b="1" dirty="0">
                <a:latin typeface="Helvetica" pitchFamily="2" charset="0"/>
              </a:rPr>
              <a:t>Backup:</a:t>
            </a:r>
            <a:r>
              <a:rPr lang="en-US" sz="1400" dirty="0">
                <a:latin typeface="Helvetica" pitchFamily="2" charset="0"/>
              </a:rPr>
              <a:t> Limited</a:t>
            </a:r>
          </a:p>
          <a:p>
            <a:endParaRPr lang="en-US" sz="1400" dirty="0">
              <a:latin typeface="Helvetica" pitchFamily="2" charset="0"/>
            </a:endParaRPr>
          </a:p>
          <a:p>
            <a:r>
              <a:rPr lang="en-US" sz="1400" b="1" dirty="0">
                <a:latin typeface="Helvetica" pitchFamily="2" charset="0"/>
              </a:rPr>
              <a:t>What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Conda environments</a:t>
            </a:r>
          </a:p>
          <a:p>
            <a:pPr marL="285750" indent="-285750">
              <a:buFont typeface="Arial" panose="020B0604020202020204" pitchFamily="34" charset="0"/>
              <a:buChar char="•"/>
            </a:pPr>
            <a:r>
              <a:rPr lang="en-US" sz="1400" dirty="0">
                <a:latin typeface="Helvetica" pitchFamily="2" charset="0"/>
              </a:rPr>
              <a:t>Singularity/</a:t>
            </a:r>
            <a:r>
              <a:rPr lang="en-US" sz="1400" dirty="0" err="1">
                <a:latin typeface="Helvetica" pitchFamily="2" charset="0"/>
              </a:rPr>
              <a:t>Apptainer</a:t>
            </a:r>
            <a:r>
              <a:rPr lang="en-US" sz="1400" dirty="0">
                <a:latin typeface="Helvetica" pitchFamily="2" charset="0"/>
              </a:rPr>
              <a:t> containers</a:t>
            </a:r>
          </a:p>
          <a:p>
            <a:pPr marL="285750" indent="-285750">
              <a:buFont typeface="Arial" panose="020B0604020202020204" pitchFamily="34" charset="0"/>
              <a:buChar char="•"/>
            </a:pPr>
            <a:r>
              <a:rPr lang="en-US" sz="1400" dirty="0">
                <a:latin typeface="Helvetica" pitchFamily="2" charset="0"/>
              </a:rPr>
              <a:t>Compiled software and binaries</a:t>
            </a:r>
          </a:p>
          <a:p>
            <a:pPr marL="285750" indent="-285750">
              <a:buFont typeface="Arial" panose="020B0604020202020204" pitchFamily="34" charset="0"/>
              <a:buChar char="•"/>
            </a:pPr>
            <a:r>
              <a:rPr lang="en-US" sz="1400" dirty="0">
                <a:latin typeface="Helvetica" pitchFamily="2" charset="0"/>
              </a:rPr>
              <a:t>Shared tools used by your research group</a:t>
            </a:r>
          </a:p>
          <a:p>
            <a:endParaRPr lang="en-US" sz="1400" dirty="0">
              <a:latin typeface="Helvetica" pitchFamily="2" charset="0"/>
            </a:endParaRPr>
          </a:p>
          <a:p>
            <a:r>
              <a:rPr lang="en-US" sz="1400" b="1" dirty="0">
                <a:latin typeface="Helvetica" pitchFamily="2" charset="0"/>
              </a:rPr>
              <a:t>What NOT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Data files</a:t>
            </a:r>
          </a:p>
          <a:p>
            <a:pPr marL="285750" indent="-285750">
              <a:buFont typeface="Arial" panose="020B0604020202020204" pitchFamily="34" charset="0"/>
              <a:buChar char="•"/>
            </a:pPr>
            <a:r>
              <a:rPr lang="en-US" sz="1400" dirty="0">
                <a:latin typeface="Helvetica" pitchFamily="2" charset="0"/>
              </a:rPr>
              <a:t>Analysis scripts (use RS1 instead)</a:t>
            </a:r>
          </a:p>
          <a:p>
            <a:pPr marL="285750" indent="-285750">
              <a:buFont typeface="Arial" panose="020B0604020202020204" pitchFamily="34" charset="0"/>
              <a:buChar char="•"/>
            </a:pPr>
            <a:r>
              <a:rPr lang="en-US" sz="1400" dirty="0">
                <a:latin typeface="Helvetica" pitchFamily="2" charset="0"/>
              </a:rPr>
              <a:t>Job outputs</a:t>
            </a:r>
          </a:p>
        </p:txBody>
      </p:sp>
      <p:sp>
        <p:nvSpPr>
          <p:cNvPr id="4" name="Oval 3">
            <a:extLst>
              <a:ext uri="{FF2B5EF4-FFF2-40B4-BE49-F238E27FC236}">
                <a16:creationId xmlns:a16="http://schemas.microsoft.com/office/drawing/2014/main" id="{3DF1FA85-D55C-3D05-F0A8-5DF2F36B5461}"/>
              </a:ext>
            </a:extLst>
          </p:cNvPr>
          <p:cNvSpPr/>
          <p:nvPr/>
        </p:nvSpPr>
        <p:spPr>
          <a:xfrm>
            <a:off x="8825527" y="3148148"/>
            <a:ext cx="821394"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6CF562E-788E-E30F-481C-CA33D79AC647}"/>
              </a:ext>
            </a:extLst>
          </p:cNvPr>
          <p:cNvSpPr txBox="1"/>
          <p:nvPr/>
        </p:nvSpPr>
        <p:spPr>
          <a:xfrm>
            <a:off x="6875962" y="5567290"/>
            <a:ext cx="4888643" cy="738664"/>
          </a:xfrm>
          <a:prstGeom prst="rect">
            <a:avLst/>
          </a:prstGeom>
          <a:noFill/>
          <a:ln w="19050">
            <a:solidFill>
              <a:srgbClr val="D80003"/>
            </a:solidFill>
          </a:ln>
        </p:spPr>
        <p:txBody>
          <a:bodyPr wrap="square">
            <a:spAutoFit/>
          </a:bodyPr>
          <a:lstStyle/>
          <a:p>
            <a:r>
              <a:rPr lang="en-US" sz="1400" b="1" dirty="0">
                <a:latin typeface="Helvetica" pitchFamily="2" charset="0"/>
              </a:rPr>
              <a:t>⚠️ Critical limitation:</a:t>
            </a:r>
            <a:r>
              <a:rPr lang="en-US" sz="1400" dirty="0">
                <a:latin typeface="Helvetica" pitchFamily="2" charset="0"/>
              </a:rPr>
              <a:t> You can only WRITE to this directory from the LOGIN NODE. Compute nodes can READ from it but cannot write.</a:t>
            </a:r>
          </a:p>
        </p:txBody>
      </p:sp>
    </p:spTree>
    <p:extLst>
      <p:ext uri="{BB962C8B-B14F-4D97-AF65-F5344CB8AC3E}">
        <p14:creationId xmlns:p14="http://schemas.microsoft.com/office/powerpoint/2010/main" val="3001670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EFD12-0680-68D6-9899-C0CD8C498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C94DE-0880-90E9-D1C9-729C57CDF643}"/>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02A96519-5FE8-BC85-5327-B066BB0F5B48}"/>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067A7D1C-761A-EEEC-FE27-4634C3E019D9}"/>
              </a:ext>
            </a:extLst>
          </p:cNvPr>
          <p:cNvSpPr txBox="1"/>
          <p:nvPr/>
        </p:nvSpPr>
        <p:spPr>
          <a:xfrm>
            <a:off x="690698" y="1366140"/>
            <a:ext cx="6017145" cy="5324535"/>
          </a:xfrm>
          <a:prstGeom prst="rect">
            <a:avLst/>
          </a:prstGeom>
          <a:noFill/>
        </p:spPr>
        <p:txBody>
          <a:bodyPr wrap="square">
            <a:spAutoFit/>
          </a:bodyPr>
          <a:lstStyle/>
          <a:p>
            <a:r>
              <a:rPr lang="en-US" b="1" dirty="0">
                <a:latin typeface="Helvetica" pitchFamily="2" charset="0"/>
              </a:rPr>
              <a:t>Research Storage (RS1)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/rs1/researchers/[letter]/[name] or /</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rsstu</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/users/[letter]/[</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projectname</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400" b="1" dirty="0">
                <a:latin typeface="Helvetica" pitchFamily="2" charset="0"/>
              </a:rPr>
              <a:t>Size:</a:t>
            </a:r>
            <a:r>
              <a:rPr lang="en-US" sz="1400" dirty="0">
                <a:latin typeface="Helvetica" pitchFamily="2" charset="0"/>
              </a:rPr>
              <a:t> 30 TB per PI/project</a:t>
            </a:r>
          </a:p>
          <a:p>
            <a:pPr marL="285750" indent="-285750">
              <a:buFont typeface="Arial" panose="020B0604020202020204" pitchFamily="34" charset="0"/>
              <a:buChar char="•"/>
            </a:pPr>
            <a:r>
              <a:rPr lang="en-US" sz="1400" b="1" dirty="0">
                <a:latin typeface="Helvetica" pitchFamily="2" charset="0"/>
              </a:rPr>
              <a:t>Speed:</a:t>
            </a:r>
            <a:r>
              <a:rPr lang="en-US" sz="1400" dirty="0">
                <a:latin typeface="Helvetica" pitchFamily="2" charset="0"/>
              </a:rPr>
              <a:t> Moderate (slower than scratch for many small files)</a:t>
            </a:r>
          </a:p>
          <a:p>
            <a:pPr marL="285750" indent="-285750">
              <a:buFont typeface="Arial" panose="020B0604020202020204" pitchFamily="34" charset="0"/>
              <a:buChar char="•"/>
            </a:pPr>
            <a:r>
              <a:rPr lang="en-US" sz="1400" b="1" dirty="0">
                <a:latin typeface="Helvetica" pitchFamily="2" charset="0"/>
              </a:rPr>
              <a:t>Persistence:</a:t>
            </a:r>
            <a:r>
              <a:rPr lang="en-US" sz="1400" dirty="0">
                <a:latin typeface="Helvetica" pitchFamily="2" charset="0"/>
              </a:rPr>
              <a:t> Permanent</a:t>
            </a:r>
          </a:p>
          <a:p>
            <a:pPr marL="285750" indent="-285750">
              <a:buFont typeface="Arial" panose="020B0604020202020204" pitchFamily="34" charset="0"/>
              <a:buChar char="•"/>
            </a:pPr>
            <a:r>
              <a:rPr lang="en-US" sz="1400" b="1" dirty="0">
                <a:latin typeface="Helvetica" pitchFamily="2" charset="0"/>
              </a:rPr>
              <a:t>Backup:</a:t>
            </a:r>
            <a:r>
              <a:rPr lang="en-US" sz="1400" dirty="0">
                <a:latin typeface="Helvetica" pitchFamily="2" charset="0"/>
              </a:rPr>
              <a:t> Yes</a:t>
            </a:r>
          </a:p>
          <a:p>
            <a:pPr marL="285750" indent="-285750">
              <a:buFont typeface="Arial" panose="020B0604020202020204" pitchFamily="34" charset="0"/>
              <a:buChar char="•"/>
            </a:pPr>
            <a:endParaRPr lang="en-US" sz="1400" dirty="0">
              <a:latin typeface="Helvetica" pitchFamily="2" charset="0"/>
            </a:endParaRPr>
          </a:p>
          <a:p>
            <a:r>
              <a:rPr lang="en-US" sz="1400" b="1" dirty="0">
                <a:latin typeface="Helvetica" pitchFamily="2" charset="0"/>
              </a:rPr>
              <a:t>What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Raw sequencing data (FASTQ files)</a:t>
            </a:r>
          </a:p>
          <a:p>
            <a:pPr marL="285750" indent="-285750">
              <a:buFont typeface="Arial" panose="020B0604020202020204" pitchFamily="34" charset="0"/>
              <a:buChar char="•"/>
            </a:pPr>
            <a:r>
              <a:rPr lang="en-US" sz="1400" dirty="0">
                <a:latin typeface="Helvetica" pitchFamily="2" charset="0"/>
              </a:rPr>
              <a:t>Final analysis results (BAM, VCF, count matrices)</a:t>
            </a:r>
          </a:p>
          <a:p>
            <a:pPr marL="285750" indent="-285750">
              <a:buFont typeface="Arial" panose="020B0604020202020204" pitchFamily="34" charset="0"/>
              <a:buChar char="•"/>
            </a:pPr>
            <a:r>
              <a:rPr lang="en-US" sz="1400" dirty="0">
                <a:latin typeface="Helvetica" pitchFamily="2" charset="0"/>
              </a:rPr>
              <a:t>Analysis scripts and pipelines</a:t>
            </a:r>
          </a:p>
          <a:p>
            <a:pPr marL="285750" indent="-285750">
              <a:buFont typeface="Arial" panose="020B0604020202020204" pitchFamily="34" charset="0"/>
              <a:buChar char="•"/>
            </a:pPr>
            <a:r>
              <a:rPr lang="en-US" sz="1400" dirty="0">
                <a:latin typeface="Helvetica" pitchFamily="2" charset="0"/>
              </a:rPr>
              <a:t>GitHub repositories</a:t>
            </a:r>
          </a:p>
          <a:p>
            <a:pPr marL="285750" indent="-285750">
              <a:buFont typeface="Arial" panose="020B0604020202020204" pitchFamily="34" charset="0"/>
              <a:buChar char="•"/>
            </a:pPr>
            <a:r>
              <a:rPr lang="en-US" sz="1400" dirty="0">
                <a:latin typeface="Helvetica" pitchFamily="2" charset="0"/>
              </a:rPr>
              <a:t>Anything you need to keep long-term</a:t>
            </a:r>
          </a:p>
          <a:p>
            <a:endParaRPr lang="en-US" sz="1400" dirty="0">
              <a:latin typeface="Helvetica" pitchFamily="2" charset="0"/>
            </a:endParaRPr>
          </a:p>
          <a:p>
            <a:r>
              <a:rPr lang="en-US" sz="1400" b="1" dirty="0">
                <a:latin typeface="Helvetica" pitchFamily="2" charset="0"/>
              </a:rPr>
              <a:t>What NOT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Large intermediate files (use scratch)</a:t>
            </a:r>
          </a:p>
          <a:p>
            <a:pPr marL="285750" indent="-285750">
              <a:buFont typeface="Arial" panose="020B0604020202020204" pitchFamily="34" charset="0"/>
              <a:buChar char="•"/>
            </a:pPr>
            <a:r>
              <a:rPr lang="en-US" sz="1400" dirty="0">
                <a:latin typeface="Helvetica" pitchFamily="2" charset="0"/>
              </a:rPr>
              <a:t>Temporary files</a:t>
            </a:r>
          </a:p>
          <a:p>
            <a:pPr marL="285750" indent="-285750">
              <a:buFont typeface="Arial" panose="020B0604020202020204" pitchFamily="34" charset="0"/>
              <a:buChar char="•"/>
            </a:pPr>
            <a:r>
              <a:rPr lang="en-US" sz="1400" dirty="0">
                <a:latin typeface="Helvetica" pitchFamily="2" charset="0"/>
              </a:rPr>
              <a:t>Software installations (use </a:t>
            </a:r>
            <a:r>
              <a:rPr lang="en-US" sz="1400" dirty="0" err="1">
                <a:latin typeface="Helvetica" pitchFamily="2" charset="0"/>
              </a:rPr>
              <a:t>usrapps</a:t>
            </a:r>
            <a:r>
              <a:rPr lang="en-US" sz="1400" dirty="0">
                <a:latin typeface="Helvetica" pitchFamily="2" charset="0"/>
              </a:rPr>
              <a:t>)</a:t>
            </a:r>
          </a:p>
          <a:p>
            <a:endParaRPr lang="en-US" sz="1400" dirty="0">
              <a:latin typeface="Helvetica" pitchFamily="2" charset="0"/>
            </a:endParaRPr>
          </a:p>
          <a:p>
            <a:r>
              <a:rPr lang="en-US" sz="1400" b="1" dirty="0">
                <a:latin typeface="Helvetica" pitchFamily="2" charset="0"/>
              </a:rPr>
              <a:t>Performance note:</a:t>
            </a:r>
            <a:r>
              <a:rPr lang="en-US" sz="1400" dirty="0">
                <a:latin typeface="Helvetica" pitchFamily="2" charset="0"/>
              </a:rPr>
              <a:t> RS1 is slower than scratch when working with many small files in parallel. For analyses that create thousands of temporary files, work in scratch first, then move final results to RS1.</a:t>
            </a:r>
          </a:p>
          <a:p>
            <a:endParaRPr lang="en-US" sz="1400" dirty="0">
              <a:latin typeface="Helvetica" pitchFamily="2" charset="0"/>
            </a:endParaRPr>
          </a:p>
        </p:txBody>
      </p:sp>
      <p:sp>
        <p:nvSpPr>
          <p:cNvPr id="4" name="Oval 3">
            <a:extLst>
              <a:ext uri="{FF2B5EF4-FFF2-40B4-BE49-F238E27FC236}">
                <a16:creationId xmlns:a16="http://schemas.microsoft.com/office/drawing/2014/main" id="{048BB2B0-7976-D12C-187C-D8355F7CFD48}"/>
              </a:ext>
            </a:extLst>
          </p:cNvPr>
          <p:cNvSpPr/>
          <p:nvPr/>
        </p:nvSpPr>
        <p:spPr>
          <a:xfrm>
            <a:off x="10353881" y="3579222"/>
            <a:ext cx="821394"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14B0AB0-775E-5CEC-C44C-FE8B30BD4017}"/>
              </a:ext>
            </a:extLst>
          </p:cNvPr>
          <p:cNvSpPr txBox="1"/>
          <p:nvPr/>
        </p:nvSpPr>
        <p:spPr>
          <a:xfrm>
            <a:off x="6879771" y="5445916"/>
            <a:ext cx="4792849" cy="1107996"/>
          </a:xfrm>
          <a:prstGeom prst="rect">
            <a:avLst/>
          </a:prstGeom>
          <a:noFill/>
          <a:ln w="19050">
            <a:solidFill>
              <a:srgbClr val="D80003"/>
            </a:solidFill>
          </a:ln>
        </p:spPr>
        <p:txBody>
          <a:bodyPr wrap="square">
            <a:spAutoFit/>
          </a:bodyPr>
          <a:lstStyle/>
          <a:p>
            <a:r>
              <a:rPr lang="en-US" sz="1100" b="1" dirty="0">
                <a:latin typeface="Helvetica" pitchFamily="2" charset="0"/>
              </a:rPr>
              <a:t>Allocation details:</a:t>
            </a:r>
            <a:endParaRPr lang="en-US" sz="1100" dirty="0">
              <a:latin typeface="Helvetica" pitchFamily="2" charset="0"/>
            </a:endParaRPr>
          </a:p>
          <a:p>
            <a:r>
              <a:rPr lang="en-US" sz="1100" dirty="0">
                <a:latin typeface="Helvetica" pitchFamily="2" charset="0"/>
              </a:rPr>
              <a:t>Every PI automatically gets one 30 TB project space</a:t>
            </a:r>
          </a:p>
          <a:p>
            <a:r>
              <a:rPr lang="en-US" sz="1100" dirty="0">
                <a:latin typeface="Helvetica" pitchFamily="2" charset="0"/>
              </a:rPr>
              <a:t>Additional projects can be requested with grant funding</a:t>
            </a:r>
          </a:p>
          <a:p>
            <a:r>
              <a:rPr lang="en-US" sz="1100" dirty="0">
                <a:latin typeface="Helvetica" pitchFamily="2" charset="0"/>
              </a:rPr>
              <a:t>If grant expires, additional project space is removed (after data migration period)</a:t>
            </a:r>
          </a:p>
          <a:p>
            <a:r>
              <a:rPr lang="en-US" sz="1100" dirty="0">
                <a:latin typeface="Helvetica" pitchFamily="2" charset="0"/>
              </a:rPr>
              <a:t>Can request quota increases on primary project if needed</a:t>
            </a:r>
          </a:p>
        </p:txBody>
      </p:sp>
    </p:spTree>
    <p:extLst>
      <p:ext uri="{BB962C8B-B14F-4D97-AF65-F5344CB8AC3E}">
        <p14:creationId xmlns:p14="http://schemas.microsoft.com/office/powerpoint/2010/main" val="3453448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31357-9FE2-BFA2-B6D4-3D643634F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FF5E3-E374-7D6E-8444-FE255ABC76B3}"/>
              </a:ext>
            </a:extLst>
          </p:cNvPr>
          <p:cNvSpPr>
            <a:spLocks noGrp="1"/>
          </p:cNvSpPr>
          <p:nvPr>
            <p:ph type="title"/>
          </p:nvPr>
        </p:nvSpPr>
        <p:spPr/>
        <p:txBody>
          <a:bodyPr>
            <a:normAutofit/>
          </a:bodyPr>
          <a:lstStyle/>
          <a:p>
            <a:r>
              <a:rPr lang="en-US" sz="4000" dirty="0">
                <a:latin typeface="Helvetica" pitchFamily="2" charset="0"/>
              </a:rPr>
              <a:t>Moving data in and out of hazel</a:t>
            </a:r>
          </a:p>
        </p:txBody>
      </p:sp>
      <p:sp>
        <p:nvSpPr>
          <p:cNvPr id="4" name="TextBox 3">
            <a:extLst>
              <a:ext uri="{FF2B5EF4-FFF2-40B4-BE49-F238E27FC236}">
                <a16:creationId xmlns:a16="http://schemas.microsoft.com/office/drawing/2014/main" id="{E2C155B8-2756-474B-E81F-C4230EB3C6A4}"/>
              </a:ext>
            </a:extLst>
          </p:cNvPr>
          <p:cNvSpPr txBox="1"/>
          <p:nvPr/>
        </p:nvSpPr>
        <p:spPr>
          <a:xfrm>
            <a:off x="671945" y="1643650"/>
            <a:ext cx="10681855" cy="4524315"/>
          </a:xfrm>
          <a:prstGeom prst="rect">
            <a:avLst/>
          </a:prstGeom>
          <a:noFill/>
        </p:spPr>
        <p:txBody>
          <a:bodyPr wrap="square">
            <a:spAutoFit/>
          </a:bodyPr>
          <a:lstStyle/>
          <a:p>
            <a:pPr marL="285750" indent="-285750" algn="l">
              <a:buFont typeface="Arial" panose="020B0604020202020204" pitchFamily="34" charset="0"/>
              <a:buChar char="•"/>
            </a:pPr>
            <a:r>
              <a:rPr lang="en-US" b="1" i="0" dirty="0">
                <a:solidFill>
                  <a:srgbClr val="373A3C"/>
                </a:solidFill>
                <a:effectLst/>
                <a:latin typeface="Source Sans Pro" panose="020B0503030403020204" pitchFamily="34" charset="0"/>
              </a:rPr>
              <a:t>Option 1: Open OnDemand: </a:t>
            </a:r>
            <a:r>
              <a:rPr lang="en-US" i="0" dirty="0">
                <a:solidFill>
                  <a:srgbClr val="373A3C"/>
                </a:solidFill>
                <a:effectLst/>
                <a:latin typeface="Source Sans Pro" panose="020B0503030403020204" pitchFamily="34" charset="0"/>
              </a:rPr>
              <a:t>web platform for HPC</a:t>
            </a:r>
          </a:p>
          <a:p>
            <a:pPr marL="285750" indent="-285750" algn="l">
              <a:buFont typeface="Arial" panose="020B0604020202020204" pitchFamily="34" charset="0"/>
              <a:buChar char="•"/>
            </a:pPr>
            <a:endParaRPr lang="en-US" b="1" dirty="0">
              <a:solidFill>
                <a:srgbClr val="373A3C"/>
              </a:solidFill>
              <a:latin typeface="Source Sans Pro" panose="020B0503030403020204" pitchFamily="34" charset="0"/>
            </a:endParaRPr>
          </a:p>
          <a:p>
            <a:pPr marL="285750" indent="-285750" algn="l">
              <a:buFont typeface="Arial" panose="020B0604020202020204" pitchFamily="34" charset="0"/>
              <a:buChar char="•"/>
            </a:pPr>
            <a:endParaRPr lang="en-US" b="1"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endParaRPr lang="en-US" b="1" dirty="0">
              <a:solidFill>
                <a:srgbClr val="373A3C"/>
              </a:solidFill>
              <a:latin typeface="Source Sans Pro" panose="020B0503030403020204" pitchFamily="34" charset="0"/>
            </a:endParaRPr>
          </a:p>
          <a:p>
            <a:pPr marL="285750" indent="-285750" algn="l">
              <a:buFont typeface="Arial" panose="020B0604020202020204" pitchFamily="34" charset="0"/>
              <a:buChar char="•"/>
            </a:pPr>
            <a:endParaRPr lang="en-US" b="1"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endParaRPr lang="en-US" b="1" dirty="0">
              <a:solidFill>
                <a:srgbClr val="373A3C"/>
              </a:solidFill>
              <a:latin typeface="Source Sans Pro" panose="020B0503030403020204" pitchFamily="34" charset="0"/>
            </a:endParaRPr>
          </a:p>
          <a:p>
            <a:pPr marL="285750" indent="-285750" algn="l">
              <a:buFont typeface="Arial" panose="020B0604020202020204" pitchFamily="34" charset="0"/>
              <a:buChar char="•"/>
            </a:pPr>
            <a:endParaRPr lang="en-US" b="1"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endParaRPr lang="en-US" b="1" dirty="0">
              <a:solidFill>
                <a:srgbClr val="373A3C"/>
              </a:solidFill>
              <a:latin typeface="Source Sans Pro" panose="020B0503030403020204" pitchFamily="34" charset="0"/>
            </a:endParaRPr>
          </a:p>
          <a:p>
            <a:pPr marL="285750" indent="-285750" algn="l">
              <a:buFont typeface="Arial" panose="020B0604020202020204" pitchFamily="34" charset="0"/>
              <a:buChar char="•"/>
            </a:pPr>
            <a:endParaRPr lang="en-US" b="1"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endParaRPr lang="en-US" b="1"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r>
              <a:rPr lang="en-US" b="1" dirty="0">
                <a:solidFill>
                  <a:srgbClr val="373A3C"/>
                </a:solidFill>
                <a:latin typeface="Source Sans Pro" panose="020B0503030403020204" pitchFamily="34" charset="0"/>
              </a:rPr>
              <a:t>Option 2: </a:t>
            </a:r>
            <a:r>
              <a:rPr lang="en-US" b="1" dirty="0" err="1">
                <a:solidFill>
                  <a:srgbClr val="373A3C"/>
                </a:solidFill>
                <a:latin typeface="Source Sans Pro" panose="020B0503030403020204" pitchFamily="34" charset="0"/>
              </a:rPr>
              <a:t>scp</a:t>
            </a:r>
            <a:endParaRPr lang="en-US" b="1" dirty="0">
              <a:solidFill>
                <a:srgbClr val="373A3C"/>
              </a:solidFill>
              <a:latin typeface="Source Sans Pro" panose="020B0503030403020204" pitchFamily="34" charset="0"/>
            </a:endParaRPr>
          </a:p>
          <a:p>
            <a:pPr algn="l"/>
            <a:endParaRPr lang="en-US" b="1" dirty="0">
              <a:solidFill>
                <a:srgbClr val="373A3C"/>
              </a:solidFill>
              <a:latin typeface="Source Sans Pro" panose="020B0503030403020204" pitchFamily="34" charset="0"/>
            </a:endParaRPr>
          </a:p>
          <a:p>
            <a:r>
              <a:rPr lang="en-US" b="1" dirty="0">
                <a:solidFill>
                  <a:srgbClr val="373A3C"/>
                </a:solidFill>
                <a:latin typeface="Source Sans Pro" panose="020B0503030403020204" pitchFamily="34" charset="0"/>
              </a:rPr>
              <a:t>	</a:t>
            </a:r>
            <a:r>
              <a:rPr lang="en-US" sz="1200" b="1" dirty="0">
                <a:solidFill>
                  <a:schemeClr val="accent2"/>
                </a:solidFill>
                <a:latin typeface="Menlo" panose="020B0609030804020204" pitchFamily="49" charset="0"/>
                <a:ea typeface="Menlo" panose="020B0609030804020204" pitchFamily="49" charset="0"/>
                <a:cs typeface="Menlo" panose="020B0609030804020204" pitchFamily="49" charset="0"/>
              </a:rPr>
              <a:t> $ </a:t>
            </a:r>
            <a:r>
              <a:rPr lang="en-US" sz="1200" b="1" dirty="0" err="1">
                <a:solidFill>
                  <a:schemeClr val="accent2"/>
                </a:solidFill>
                <a:latin typeface="Menlo" panose="020B0609030804020204" pitchFamily="49" charset="0"/>
                <a:ea typeface="Menlo" panose="020B0609030804020204" pitchFamily="49" charset="0"/>
                <a:cs typeface="Menlo" panose="020B0609030804020204" pitchFamily="49" charset="0"/>
              </a:rPr>
              <a:t>scp</a:t>
            </a:r>
            <a:r>
              <a:rPr lang="en-US" sz="1200" b="1" dirty="0">
                <a:solidFill>
                  <a:schemeClr val="accent2"/>
                </a:solidFill>
                <a:latin typeface="Menlo" panose="020B0609030804020204" pitchFamily="49" charset="0"/>
                <a:ea typeface="Menlo" panose="020B0609030804020204" pitchFamily="49" charset="0"/>
                <a:cs typeface="Menlo" panose="020B0609030804020204" pitchFamily="49" charset="0"/>
              </a:rPr>
              <a:t> </a:t>
            </a:r>
            <a:r>
              <a:rPr lang="en-US" sz="1200" b="1" dirty="0" err="1">
                <a:solidFill>
                  <a:schemeClr val="accent6"/>
                </a:solidFill>
                <a:latin typeface="Menlo" panose="020B0609030804020204" pitchFamily="49" charset="0"/>
                <a:ea typeface="Menlo" panose="020B0609030804020204" pitchFamily="49" charset="0"/>
                <a:cs typeface="Menlo" panose="020B0609030804020204" pitchFamily="49" charset="0"/>
              </a:rPr>
              <a:t>UnityID@login.hpc.ncsu.edu</a:t>
            </a:r>
            <a:r>
              <a:rPr lang="en-US" sz="1200" b="1" dirty="0">
                <a:solidFill>
                  <a:schemeClr val="accent6"/>
                </a:solidFill>
                <a:latin typeface="Menlo" panose="020B0609030804020204" pitchFamily="49" charset="0"/>
                <a:ea typeface="Menlo" panose="020B0609030804020204" pitchFamily="49" charset="0"/>
                <a:cs typeface="Menlo" panose="020B0609030804020204" pitchFamily="49" charset="0"/>
              </a:rPr>
              <a:t>:/rs1/researchers/[letter]/[name]/file </a:t>
            </a:r>
            <a:r>
              <a:rPr lang="en-US" sz="1200" b="1" dirty="0">
                <a:solidFill>
                  <a:schemeClr val="accent2"/>
                </a:solidFill>
                <a:latin typeface="Menlo" panose="020B0609030804020204" pitchFamily="49" charset="0"/>
                <a:ea typeface="Menlo" panose="020B0609030804020204" pitchFamily="49" charset="0"/>
                <a:cs typeface="Menlo" panose="020B0609030804020204" pitchFamily="49" charset="0"/>
              </a:rPr>
              <a:t>~/Documents/data </a:t>
            </a:r>
            <a:endParaRPr lang="en-US" b="1" dirty="0">
              <a:solidFill>
                <a:schemeClr val="accent2">
                  <a:lumMod val="75000"/>
                </a:schemeClr>
              </a:solidFill>
              <a:latin typeface="Source Sans Pro" panose="020B0503030403020204" pitchFamily="34" charset="0"/>
            </a:endParaRPr>
          </a:p>
          <a:p>
            <a:pPr algn="l"/>
            <a:endParaRPr lang="en-US" b="1" dirty="0">
              <a:solidFill>
                <a:srgbClr val="373A3C"/>
              </a:solidFill>
              <a:latin typeface="Source Sans Pro" panose="020B0503030403020204" pitchFamily="34" charset="0"/>
            </a:endParaRPr>
          </a:p>
          <a:p>
            <a:pPr algn="l"/>
            <a:endParaRPr lang="en-US" b="1" dirty="0">
              <a:solidFill>
                <a:srgbClr val="373A3C"/>
              </a:solidFill>
              <a:latin typeface="Source Sans Pro" panose="020B0503030403020204" pitchFamily="34" charset="0"/>
            </a:endParaRPr>
          </a:p>
          <a:p>
            <a:pPr marL="285750" indent="-285750" algn="l">
              <a:buFont typeface="Arial" panose="020B0604020202020204" pitchFamily="34" charset="0"/>
              <a:buChar char="•"/>
            </a:pPr>
            <a:r>
              <a:rPr lang="en-US" b="1" i="0" dirty="0">
                <a:solidFill>
                  <a:srgbClr val="373A3C"/>
                </a:solidFill>
                <a:effectLst/>
                <a:latin typeface="Source Sans Pro" panose="020B0503030403020204" pitchFamily="34" charset="0"/>
              </a:rPr>
              <a:t>Option 3: Globus</a:t>
            </a:r>
            <a:endParaRPr lang="en-US" b="0" i="0" dirty="0">
              <a:solidFill>
                <a:srgbClr val="373A3C"/>
              </a:solidFill>
              <a:effectLst/>
              <a:latin typeface="Source Sans Pro" panose="020B0503030403020204" pitchFamily="34" charset="0"/>
            </a:endParaRPr>
          </a:p>
        </p:txBody>
      </p:sp>
      <p:pic>
        <p:nvPicPr>
          <p:cNvPr id="3" name="Picture 2">
            <a:extLst>
              <a:ext uri="{FF2B5EF4-FFF2-40B4-BE49-F238E27FC236}">
                <a16:creationId xmlns:a16="http://schemas.microsoft.com/office/drawing/2014/main" id="{CFE38399-58F7-A6B9-6D47-F2E373006202}"/>
              </a:ext>
            </a:extLst>
          </p:cNvPr>
          <p:cNvPicPr>
            <a:picLocks noChangeAspect="1"/>
          </p:cNvPicPr>
          <p:nvPr/>
        </p:nvPicPr>
        <p:blipFill>
          <a:blip r:embed="rId3"/>
          <a:stretch>
            <a:fillRect/>
          </a:stretch>
        </p:blipFill>
        <p:spPr>
          <a:xfrm>
            <a:off x="2734917" y="2108237"/>
            <a:ext cx="6722165" cy="2224408"/>
          </a:xfrm>
          <a:prstGeom prst="rect">
            <a:avLst/>
          </a:prstGeom>
        </p:spPr>
      </p:pic>
    </p:spTree>
    <p:extLst>
      <p:ext uri="{BB962C8B-B14F-4D97-AF65-F5344CB8AC3E}">
        <p14:creationId xmlns:p14="http://schemas.microsoft.com/office/powerpoint/2010/main" val="3629241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A824A-14EB-39B9-08BC-29344D38B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4430C3-1A32-A4BC-DF58-BBE460EE1482}"/>
              </a:ext>
            </a:extLst>
          </p:cNvPr>
          <p:cNvSpPr>
            <a:spLocks noGrp="1"/>
          </p:cNvSpPr>
          <p:nvPr>
            <p:ph type="title"/>
          </p:nvPr>
        </p:nvSpPr>
        <p:spPr/>
        <p:txBody>
          <a:bodyPr>
            <a:normAutofit/>
          </a:bodyPr>
          <a:lstStyle/>
          <a:p>
            <a:r>
              <a:rPr lang="en-US" sz="4000" dirty="0">
                <a:latin typeface="Helvetica" pitchFamily="2" charset="0"/>
              </a:rPr>
              <a:t>Globus transfers</a:t>
            </a:r>
          </a:p>
        </p:txBody>
      </p:sp>
      <p:sp>
        <p:nvSpPr>
          <p:cNvPr id="4" name="TextBox 3">
            <a:extLst>
              <a:ext uri="{FF2B5EF4-FFF2-40B4-BE49-F238E27FC236}">
                <a16:creationId xmlns:a16="http://schemas.microsoft.com/office/drawing/2014/main" id="{11B2F18F-75D9-9083-4A4B-2BC51DD84358}"/>
              </a:ext>
            </a:extLst>
          </p:cNvPr>
          <p:cNvSpPr txBox="1"/>
          <p:nvPr/>
        </p:nvSpPr>
        <p:spPr>
          <a:xfrm>
            <a:off x="671945" y="1643650"/>
            <a:ext cx="6227619" cy="4801314"/>
          </a:xfrm>
          <a:prstGeom prst="rect">
            <a:avLst/>
          </a:prstGeom>
          <a:noFill/>
        </p:spPr>
        <p:txBody>
          <a:bodyPr wrap="square">
            <a:spAutoFit/>
          </a:bodyPr>
          <a:lstStyle/>
          <a:p>
            <a:pPr marL="285750" indent="-285750" algn="l">
              <a:buFont typeface="Arial" panose="020B0604020202020204" pitchFamily="34" charset="0"/>
              <a:buChar char="•"/>
            </a:pPr>
            <a:r>
              <a:rPr lang="en-US" b="1" i="0" dirty="0">
                <a:solidFill>
                  <a:srgbClr val="373A3C"/>
                </a:solidFill>
                <a:effectLst/>
                <a:latin typeface="Source Sans Pro" panose="020B0503030403020204" pitchFamily="34" charset="0"/>
              </a:rPr>
              <a:t>Reliability</a:t>
            </a:r>
            <a:r>
              <a:rPr lang="en-US" b="0" i="0" dirty="0">
                <a:solidFill>
                  <a:srgbClr val="373A3C"/>
                </a:solidFill>
                <a:effectLst/>
                <a:latin typeface="Source Sans Pro" panose="020B0503030403020204" pitchFamily="34" charset="0"/>
              </a:rPr>
              <a:t>: Automatic retry and resume capabilities for interrupted transfers</a:t>
            </a:r>
          </a:p>
          <a:p>
            <a:pPr algn="l"/>
            <a:endParaRPr lang="en-US" b="0"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r>
              <a:rPr lang="en-US" b="1" i="0" dirty="0">
                <a:solidFill>
                  <a:srgbClr val="373A3C"/>
                </a:solidFill>
                <a:effectLst/>
                <a:latin typeface="Source Sans Pro" panose="020B0503030403020204" pitchFamily="34" charset="0"/>
              </a:rPr>
              <a:t>Speed</a:t>
            </a:r>
            <a:r>
              <a:rPr lang="en-US" b="0" i="0" dirty="0">
                <a:solidFill>
                  <a:srgbClr val="373A3C"/>
                </a:solidFill>
                <a:effectLst/>
                <a:latin typeface="Source Sans Pro" panose="020B0503030403020204" pitchFamily="34" charset="0"/>
              </a:rPr>
              <a:t>: Optimized for high-performance transfers, especially for large datasets</a:t>
            </a:r>
          </a:p>
          <a:p>
            <a:pPr algn="l"/>
            <a:endParaRPr lang="en-US" b="0"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r>
              <a:rPr lang="en-US" b="1" i="0" dirty="0">
                <a:solidFill>
                  <a:srgbClr val="373A3C"/>
                </a:solidFill>
                <a:effectLst/>
                <a:latin typeface="Source Sans Pro" panose="020B0503030403020204" pitchFamily="34" charset="0"/>
              </a:rPr>
              <a:t>Convenience</a:t>
            </a:r>
            <a:r>
              <a:rPr lang="en-US" b="0" i="0" dirty="0">
                <a:solidFill>
                  <a:srgbClr val="373A3C"/>
                </a:solidFill>
                <a:effectLst/>
                <a:latin typeface="Source Sans Pro" panose="020B0503030403020204" pitchFamily="34" charset="0"/>
              </a:rPr>
              <a:t>: Transfers continue in the background; no need to keep your browser open</a:t>
            </a:r>
          </a:p>
          <a:p>
            <a:pPr algn="l"/>
            <a:endParaRPr lang="en-US" b="0"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r>
              <a:rPr lang="en-US" b="1" i="0" dirty="0">
                <a:solidFill>
                  <a:srgbClr val="373A3C"/>
                </a:solidFill>
                <a:effectLst/>
                <a:latin typeface="Source Sans Pro" panose="020B0503030403020204" pitchFamily="34" charset="0"/>
              </a:rPr>
              <a:t>Security</a:t>
            </a:r>
            <a:r>
              <a:rPr lang="en-US" b="0" i="0" dirty="0">
                <a:solidFill>
                  <a:srgbClr val="373A3C"/>
                </a:solidFill>
                <a:effectLst/>
                <a:latin typeface="Source Sans Pro" panose="020B0503030403020204" pitchFamily="34" charset="0"/>
              </a:rPr>
              <a:t>: End-to-end encryption and authentication through institutional credentials</a:t>
            </a:r>
          </a:p>
          <a:p>
            <a:pPr algn="l"/>
            <a:endParaRPr lang="en-US" b="0"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r>
              <a:rPr lang="en-US" b="1" i="0" dirty="0">
                <a:solidFill>
                  <a:srgbClr val="373A3C"/>
                </a:solidFill>
                <a:effectLst/>
                <a:latin typeface="Source Sans Pro" panose="020B0503030403020204" pitchFamily="34" charset="0"/>
              </a:rPr>
              <a:t>Scalability</a:t>
            </a:r>
            <a:r>
              <a:rPr lang="en-US" b="0" i="0" dirty="0">
                <a:solidFill>
                  <a:srgbClr val="373A3C"/>
                </a:solidFill>
                <a:effectLst/>
                <a:latin typeface="Source Sans Pro" panose="020B0503030403020204" pitchFamily="34" charset="0"/>
              </a:rPr>
              <a:t>: Efficiently handles transfers from single files to millions of files</a:t>
            </a:r>
          </a:p>
          <a:p>
            <a:pPr algn="l"/>
            <a:endParaRPr lang="en-US" b="0"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r>
              <a:rPr lang="en-US" b="1" i="0" dirty="0">
                <a:solidFill>
                  <a:srgbClr val="373A3C"/>
                </a:solidFill>
                <a:effectLst/>
                <a:latin typeface="Source Sans Pro" panose="020B0503030403020204" pitchFamily="34" charset="0"/>
              </a:rPr>
              <a:t>Sharing</a:t>
            </a:r>
            <a:r>
              <a:rPr lang="en-US" b="0" i="0" dirty="0">
                <a:solidFill>
                  <a:srgbClr val="373A3C"/>
                </a:solidFill>
                <a:effectLst/>
                <a:latin typeface="Source Sans Pro" panose="020B0503030403020204" pitchFamily="34" charset="0"/>
              </a:rPr>
              <a:t>: Easy and secure data sharing with collaborators at other institutions</a:t>
            </a:r>
          </a:p>
        </p:txBody>
      </p:sp>
      <p:pic>
        <p:nvPicPr>
          <p:cNvPr id="3074" name="Picture 2" descr="HOWTO: Use Globus (Overview) | Ohio Supercomputer Center">
            <a:extLst>
              <a:ext uri="{FF2B5EF4-FFF2-40B4-BE49-F238E27FC236}">
                <a16:creationId xmlns:a16="http://schemas.microsoft.com/office/drawing/2014/main" id="{E3EF264F-404F-3931-11F1-3BA3BE58E8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9577" y="286645"/>
            <a:ext cx="1069649" cy="96535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Data Transfer With Globus">
            <a:extLst>
              <a:ext uri="{FF2B5EF4-FFF2-40B4-BE49-F238E27FC236}">
                <a16:creationId xmlns:a16="http://schemas.microsoft.com/office/drawing/2014/main" id="{06FFD12A-74F3-061B-2636-083AE8DB4F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5539" y="1925678"/>
            <a:ext cx="4064516" cy="3269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9862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9598-BD4D-70E9-70C2-7215FDC05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1D083-096E-849D-8015-B191ED5D6A34}"/>
              </a:ext>
            </a:extLst>
          </p:cNvPr>
          <p:cNvSpPr>
            <a:spLocks noGrp="1"/>
          </p:cNvSpPr>
          <p:nvPr>
            <p:ph type="title"/>
          </p:nvPr>
        </p:nvSpPr>
        <p:spPr/>
        <p:txBody>
          <a:bodyPr>
            <a:normAutofit/>
          </a:bodyPr>
          <a:lstStyle/>
          <a:p>
            <a:r>
              <a:rPr lang="en-US" sz="4000" dirty="0">
                <a:latin typeface="Helvetica" pitchFamily="2" charset="0"/>
              </a:rPr>
              <a:t>Leave us your feedback!</a:t>
            </a:r>
          </a:p>
        </p:txBody>
      </p:sp>
      <p:pic>
        <p:nvPicPr>
          <p:cNvPr id="2050" name="Picture 2" descr="Suggestion - Free communications icons">
            <a:extLst>
              <a:ext uri="{FF2B5EF4-FFF2-40B4-BE49-F238E27FC236}">
                <a16:creationId xmlns:a16="http://schemas.microsoft.com/office/drawing/2014/main" id="{5020596A-D3B5-18D2-1D37-3B88E5CD78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760" y="1866375"/>
            <a:ext cx="611909" cy="6119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C98279-5765-9BFA-2B15-04A8FEDAA130}"/>
              </a:ext>
            </a:extLst>
          </p:cNvPr>
          <p:cNvSpPr txBox="1"/>
          <p:nvPr/>
        </p:nvSpPr>
        <p:spPr>
          <a:xfrm>
            <a:off x="1794669" y="2206232"/>
            <a:ext cx="4606131" cy="2031325"/>
          </a:xfrm>
          <a:prstGeom prst="rect">
            <a:avLst/>
          </a:prstGeom>
          <a:noFill/>
        </p:spPr>
        <p:txBody>
          <a:bodyPr wrap="square" rtlCol="0">
            <a:spAutoFit/>
          </a:bodyPr>
          <a:lstStyle/>
          <a:p>
            <a:r>
              <a:rPr lang="en-US" dirty="0">
                <a:latin typeface="Helvetica" pitchFamily="2" charset="0"/>
              </a:rPr>
              <a:t>Please let us know if you have suggestions!</a:t>
            </a:r>
          </a:p>
          <a:p>
            <a:endParaRPr lang="en-US" dirty="0">
              <a:latin typeface="Helvetica" pitchFamily="2" charset="0"/>
            </a:endParaRPr>
          </a:p>
          <a:p>
            <a:pPr marL="342900" indent="-342900">
              <a:buAutoNum type="arabicPeriod"/>
            </a:pPr>
            <a:r>
              <a:rPr lang="en-US" dirty="0">
                <a:latin typeface="Helvetica" pitchFamily="2" charset="0"/>
              </a:rPr>
              <a:t>What did you like about this workshop?</a:t>
            </a:r>
          </a:p>
          <a:p>
            <a:pPr marL="342900" indent="-342900">
              <a:buAutoNum type="arabicPeriod"/>
            </a:pPr>
            <a:r>
              <a:rPr lang="en-US" dirty="0">
                <a:latin typeface="Helvetica" pitchFamily="2" charset="0"/>
              </a:rPr>
              <a:t>What could be improved?</a:t>
            </a:r>
          </a:p>
          <a:p>
            <a:pPr marL="342900" indent="-342900">
              <a:buAutoNum type="arabicPeriod"/>
            </a:pPr>
            <a:r>
              <a:rPr lang="en-US" dirty="0">
                <a:latin typeface="Helvetica" pitchFamily="2" charset="0"/>
              </a:rPr>
              <a:t>Any suggestions for the following sessions (i.e. change in order, other topics, special interests)</a:t>
            </a:r>
          </a:p>
        </p:txBody>
      </p:sp>
      <p:pic>
        <p:nvPicPr>
          <p:cNvPr id="5122" name="Picture 2" descr="Pen Icon Graphic by rudezstudio · Creative Fabrica">
            <a:extLst>
              <a:ext uri="{FF2B5EF4-FFF2-40B4-BE49-F238E27FC236}">
                <a16:creationId xmlns:a16="http://schemas.microsoft.com/office/drawing/2014/main" id="{0DEEB3E2-D200-94F1-EB2C-1F94DD52C3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365" y="340845"/>
            <a:ext cx="1576712" cy="104932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EAC7020-766F-B0AF-849C-A72B60F880DB}"/>
              </a:ext>
            </a:extLst>
          </p:cNvPr>
          <p:cNvPicPr>
            <a:picLocks noChangeAspect="1"/>
          </p:cNvPicPr>
          <p:nvPr/>
        </p:nvPicPr>
        <p:blipFill>
          <a:blip r:embed="rId4"/>
          <a:stretch>
            <a:fillRect/>
          </a:stretch>
        </p:blipFill>
        <p:spPr>
          <a:xfrm>
            <a:off x="7012709" y="1714968"/>
            <a:ext cx="4606131" cy="4577873"/>
          </a:xfrm>
          <a:prstGeom prst="rect">
            <a:avLst/>
          </a:prstGeom>
        </p:spPr>
      </p:pic>
    </p:spTree>
    <p:extLst>
      <p:ext uri="{BB962C8B-B14F-4D97-AF65-F5344CB8AC3E}">
        <p14:creationId xmlns:p14="http://schemas.microsoft.com/office/powerpoint/2010/main" val="830814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488</TotalTime>
  <Words>1615</Words>
  <Application>Microsoft Macintosh PowerPoint</Application>
  <PresentationFormat>Widescreen</PresentationFormat>
  <Paragraphs>285</Paragraphs>
  <Slides>19</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Helvetica</vt:lpstr>
      <vt:lpstr>Helvetica Light</vt:lpstr>
      <vt:lpstr>Menlo</vt:lpstr>
      <vt:lpstr>Source Sans Pro</vt:lpstr>
      <vt:lpstr>Office Theme</vt:lpstr>
      <vt:lpstr>BRC workshops: Hazel HPC</vt:lpstr>
      <vt:lpstr>Leave us your feedback!</vt:lpstr>
      <vt:lpstr>Workshop Structure</vt:lpstr>
      <vt:lpstr>PowerPoint Presentation</vt:lpstr>
      <vt:lpstr>Software in the HPC</vt:lpstr>
      <vt:lpstr>Introduction to modules</vt:lpstr>
      <vt:lpstr>Introduction to virtual environments</vt:lpstr>
      <vt:lpstr>Introduction to containers</vt:lpstr>
      <vt:lpstr>Introduction to containers</vt:lpstr>
      <vt:lpstr>PowerPoint Presentation</vt:lpstr>
      <vt:lpstr>PowerPoint Presentation</vt:lpstr>
      <vt:lpstr>Hazel storage system</vt:lpstr>
      <vt:lpstr>Hazel HPC Storage</vt:lpstr>
      <vt:lpstr>Hazel HPC Storage</vt:lpstr>
      <vt:lpstr>Hazel HPC Storage</vt:lpstr>
      <vt:lpstr>Hazel HPC Storage</vt:lpstr>
      <vt:lpstr>Moving data in and out of hazel</vt:lpstr>
      <vt:lpstr>Globus transfers</vt:lpstr>
      <vt:lpstr>Leave us your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Touceda Suarez</dc:creator>
  <cp:lastModifiedBy>Maria Touceda Suarez</cp:lastModifiedBy>
  <cp:revision>5</cp:revision>
  <dcterms:created xsi:type="dcterms:W3CDTF">2026-04-16T17:48:47Z</dcterms:created>
  <dcterms:modified xsi:type="dcterms:W3CDTF">2026-05-11T15:13:58Z</dcterms:modified>
</cp:coreProperties>
</file>