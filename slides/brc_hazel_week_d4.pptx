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7" r:id="rId2"/>
    <p:sldId id="301" r:id="rId3"/>
    <p:sldId id="258" r:id="rId4"/>
    <p:sldId id="260" r:id="rId5"/>
    <p:sldId id="303" r:id="rId6"/>
    <p:sldId id="308" r:id="rId7"/>
    <p:sldId id="304" r:id="rId8"/>
    <p:sldId id="305" r:id="rId9"/>
    <p:sldId id="309" r:id="rId10"/>
    <p:sldId id="302" r:id="rId11"/>
    <p:sldId id="306" r:id="rId12"/>
    <p:sldId id="30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7485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106"/>
    <p:restoredTop sz="94720"/>
  </p:normalViewPr>
  <p:slideViewPr>
    <p:cSldViewPr snapToGrid="0">
      <p:cViewPr varScale="1">
        <p:scale>
          <a:sx n="215" d="100"/>
          <a:sy n="215" d="100"/>
        </p:scale>
        <p:origin x="13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3B9CC4-35C2-F643-8821-8A26B4C2EFBC}" type="datetimeFigureOut">
              <a:rPr lang="en-US" smtClean="0"/>
              <a:t>4/21/26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EF6A67-FBC6-F54C-BBC9-1BD757A835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368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5845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635D4-F734-C573-2A24-CD94C09A3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EB2439-E69F-F5C4-9126-5E66298AF7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68540D-111F-DAA4-E2E6-7A34FFD2A0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5614E0-5C3B-5B0E-C407-AC2A814514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2247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A51FF-142D-BAB4-0EAB-5E0DE4A21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1FD182-8092-7B65-A44D-049B2737FC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D17822-D831-67C5-E45F-D4F9E198D0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149C68-614D-A7AC-EFB5-4C217D30F9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2985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CCF3F-4650-B3D0-7F67-CF42CEAE0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7D2B0-6C64-D955-B783-0D7E7A6AC0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D6A5BB-D763-47B3-F8A7-2B2055D88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realpython.com</a:t>
            </a:r>
            <a:r>
              <a:rPr lang="en-US" dirty="0"/>
              <a:t>/python-virtual-environments-a-primer/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3F343-2CD5-1569-DF70-73256235FE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0474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FCC0C-E0D9-F3F0-5FAB-084E6BCE8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C3E39-CBCB-34D5-5F6B-BCAA790582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4E61E1-4FFC-B3AC-A1C3-A0B772F4EE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A5970-D072-FD1F-21FF-0BD6BF068E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3968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24F4C-2561-D993-E2AF-6C2F448C3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158F02-F0A9-5C7F-59D3-45CF137DF2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A752F2-053D-BAF3-4747-65889D1D8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6C9165-5886-2A22-7869-3C7F2BB53B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9205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B57B1-8152-0CAF-1148-5F11ADB38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9C6D49-0EC3-8BF0-5064-41EF54C39D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D6E57E-8910-59DE-B293-7EB43AD3D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B7AFDC-D1E8-D0D1-63A2-7BD604432C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7042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EC249-14DD-35C3-7AA4-D4BD8CCC8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DE9EB2-BFA1-0FC8-6716-E36E2FD50F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5EE962-FD7B-D588-6F3D-26A5404EE5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011D55-FC6F-64CA-45BA-AD0CEBCB29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861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B38D1-052F-2C61-9535-819B1D0B13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0F261A-0EEB-A8C1-50BA-85BEDAC392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99849E-F07F-5C38-939C-AD1725958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22428-1601-1349-B82F-394AB362B94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C405C2-1BE2-1D52-2F6E-4933DDF8A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F59C0D-6EB3-73D0-E3EB-8CA8A46D3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431B7-7D8C-7642-A2CB-A7FEB0746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7243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E451E-C1EC-91C9-0D7C-9567BF656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C9C9D9-35A2-E564-18AE-A6685D9C54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F43C56-B41C-6C34-1587-069942096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22428-1601-1349-B82F-394AB362B94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DCFA0C-59DD-8412-53EC-310703474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57B104-27CA-CACD-30A6-0D3E56C8B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431B7-7D8C-7642-A2CB-A7FEB0746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3462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603C5-2336-90B0-AD08-B0BF59237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5C7875-10EF-259B-9EED-40163B6B5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0536A-EDCD-9FFE-34BA-7674600AD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22428-1601-1349-B82F-394AB362B94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96235C-BB47-FE6B-DFB8-718A88470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DA01A-66BC-1F72-14F5-FB6DB8241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431B7-7D8C-7642-A2CB-A7FEB0746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687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EC452-94A0-5773-E061-DE3079BE3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973F24-9009-74D5-4E32-A0A0698DA9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62716B-9F45-BF2C-D13F-1ADC741BE2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9FD5F9-3E5F-F4AD-CAFD-DC9CEC389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22428-1601-1349-B82F-394AB362B94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C24050-D0D3-5217-7B70-376395A54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7DD9A4-864E-43DA-6FC1-3D2E335EC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431B7-7D8C-7642-A2CB-A7FEB0746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847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92DF6-7E93-B3C7-AC7A-7202576C8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AD892A-846D-A4F6-32B2-27CF5DA9E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466E12-415C-A0AD-672A-F016EC30B2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E13C645-D0BF-D046-9DD3-8EF6C76F97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B7F2E0-3DDA-2E4B-D117-90EE3D61CF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E5D443-8D94-DC1E-529D-C6FA9E9B8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22428-1601-1349-B82F-394AB362B94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43828A-18E1-C827-1D62-6DB6CF0AD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63EE5F-F0B5-5E55-63DB-EBDD9962D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431B7-7D8C-7642-A2CB-A7FEB0746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88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92354-0A99-5AFB-4E34-4D92C88F1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9C66D1-CACC-A620-97CB-FC78281CD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22428-1601-1349-B82F-394AB362B94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F009DF-3632-4582-BF98-441F1806F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544697-8960-0456-51A8-4405EB1DA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431B7-7D8C-7642-A2CB-A7FEB0746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2258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8F576E-1195-AB50-B3CD-07979D789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22428-1601-1349-B82F-394AB362B94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E70E8C-70D2-9B4E-F981-CCF0A9EE0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9EA036-D501-8FF9-0652-BC6D41579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431B7-7D8C-7642-A2CB-A7FEB0746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762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60720-0F51-3B0A-BAF9-3946B7D84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E4ADA-4777-000B-90C5-D999BFE1FE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42598B-4362-01CC-051F-9AAE4AE491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34B61-7FD1-C22D-4160-0507EDE14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22428-1601-1349-B82F-394AB362B94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05C159-47C7-7260-4C47-36A5DE7F9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207B9A-418B-0EF1-5E9C-847CE5F54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431B7-7D8C-7642-A2CB-A7FEB0746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762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4DAF3-399D-8543-FF6F-4245E8136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BEBA84-61A2-B9C6-B971-51AE817F47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476E39-F099-8DBE-EC98-9F10F0A944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7BDA98-0533-8E59-257F-7C75E3193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22428-1601-1349-B82F-394AB362B94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F83B01-9F29-39EA-227F-34EF12F44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3110DE-EDAB-3C11-9FD3-8D81EBD88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431B7-7D8C-7642-A2CB-A7FEB0746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550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C1674-3B1F-0CD4-CE72-1E1C8096D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9A1A92-34CC-4F0A-21C0-B0CDDFEE9F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53651F-5D5F-CC46-436E-96B4F8818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22428-1601-1349-B82F-394AB362B94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1FADE5-9BC4-CCE6-325D-DAD449AAF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B7C382-DAF4-6712-DA7D-0DF01C855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431B7-7D8C-7642-A2CB-A7FEB0746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056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217DDD-02A9-2077-F376-C84B9E9F72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2EC972-B4D5-C5DE-D69D-3BD30A08D9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4E9B3-A115-0D94-7F9A-996A94DAF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22428-1601-1349-B82F-394AB362B94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B65ED-50D3-90F9-0F11-E816A447B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59BAFE-C456-C878-91BA-6BEC91F81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431B7-7D8C-7642-A2CB-A7FEB0746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2774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484F9-E3A4-9023-0A8A-B8111DB97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A26391-2579-2F34-0548-DF5103CCD3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ADE1D4-D183-5761-4561-CF4F9B0C32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922428-1601-1349-B82F-394AB362B94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1DDE92-6270-2F5A-8B14-B2E45CC898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F438A6-74EF-DE90-FB41-4176630FD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B431B7-7D8C-7642-A2CB-A7FEB0746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44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267C0-23A6-8F2C-1689-D8BD4A6495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6446" y="-317832"/>
            <a:ext cx="9144000" cy="2387600"/>
          </a:xfrm>
        </p:spPr>
        <p:txBody>
          <a:bodyPr>
            <a:normAutofit/>
          </a:bodyPr>
          <a:lstStyle/>
          <a:p>
            <a:r>
              <a:rPr lang="en-US" sz="5400" dirty="0">
                <a:latin typeface="Helvetica" pitchFamily="2" charset="0"/>
              </a:rPr>
              <a:t>BRC workshops: Hazel HPC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475B53-3C78-14C7-0A86-007CDFBEE5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6304" y="5083907"/>
            <a:ext cx="4571707" cy="1655762"/>
          </a:xfrm>
        </p:spPr>
        <p:txBody>
          <a:bodyPr/>
          <a:lstStyle/>
          <a:p>
            <a:pPr algn="l"/>
            <a:r>
              <a:rPr lang="en-US" sz="1800" dirty="0">
                <a:latin typeface="Helvetica" pitchFamily="2" charset="0"/>
              </a:rPr>
              <a:t>María (Mery) Touceda-Suárez, PhD</a:t>
            </a:r>
          </a:p>
          <a:p>
            <a:pPr algn="l"/>
            <a:r>
              <a:rPr lang="en-US" sz="1800" dirty="0">
                <a:latin typeface="Helvetica" pitchFamily="2" charset="0"/>
              </a:rPr>
              <a:t>Bonnie Hurwitz, PhD</a:t>
            </a:r>
          </a:p>
          <a:p>
            <a:pPr algn="l"/>
            <a:r>
              <a:rPr lang="en-US" sz="1800" dirty="0">
                <a:latin typeface="Helvetica" pitchFamily="2" charset="0"/>
              </a:rPr>
              <a:t>February 4</a:t>
            </a:r>
            <a:r>
              <a:rPr lang="en-US" sz="1800" baseline="30000" dirty="0">
                <a:latin typeface="Helvetica" pitchFamily="2" charset="0"/>
              </a:rPr>
              <a:t>th</a:t>
            </a:r>
            <a:r>
              <a:rPr lang="en-US" sz="1800" dirty="0">
                <a:latin typeface="Helvetica" pitchFamily="2" charset="0"/>
              </a:rPr>
              <a:t> 2025</a:t>
            </a:r>
          </a:p>
          <a:p>
            <a:pPr algn="l"/>
            <a:endParaRPr lang="en-US" sz="1800" dirty="0">
              <a:latin typeface="Helvetica" pitchFamily="2" charset="0"/>
            </a:endParaRPr>
          </a:p>
          <a:p>
            <a:pPr algn="l"/>
            <a:endParaRPr lang="en-US" dirty="0">
              <a:latin typeface="Helvetica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F7AC2D-444B-731B-DFF6-6109D5E95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304" y="1083584"/>
            <a:ext cx="990499" cy="986184"/>
          </a:xfrm>
          <a:prstGeom prst="rect">
            <a:avLst/>
          </a:prstGeom>
        </p:spPr>
      </p:pic>
      <p:pic>
        <p:nvPicPr>
          <p:cNvPr id="1028" name="Picture 4" descr="MareNostrum | BSC-CNS">
            <a:extLst>
              <a:ext uri="{FF2B5EF4-FFF2-40B4-BE49-F238E27FC236}">
                <a16:creationId xmlns:a16="http://schemas.microsoft.com/office/drawing/2014/main" id="{EF184E16-8F51-53FC-F99E-1F365F6BB9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5930" y="2331378"/>
            <a:ext cx="5682192" cy="3782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184E01-97E4-E0D9-7385-12F68039586B}"/>
              </a:ext>
            </a:extLst>
          </p:cNvPr>
          <p:cNvSpPr txBox="1"/>
          <p:nvPr/>
        </p:nvSpPr>
        <p:spPr>
          <a:xfrm>
            <a:off x="8591678" y="6113669"/>
            <a:ext cx="27991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Helvetica Light" panose="020B0403020202020204" pitchFamily="34" charset="0"/>
              </a:rPr>
              <a:t>Mare Nostrum supercomputer, Barcelona</a:t>
            </a:r>
          </a:p>
        </p:txBody>
      </p:sp>
    </p:spTree>
    <p:extLst>
      <p:ext uri="{BB962C8B-B14F-4D97-AF65-F5344CB8AC3E}">
        <p14:creationId xmlns:p14="http://schemas.microsoft.com/office/powerpoint/2010/main" val="1315758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49598-BD4D-70E9-70C2-7215FDC05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1D083-096E-849D-8015-B191ED5D6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Leave us your feedback!</a:t>
            </a:r>
          </a:p>
        </p:txBody>
      </p:sp>
      <p:pic>
        <p:nvPicPr>
          <p:cNvPr id="2050" name="Picture 2" descr="Suggestion - Free communications icons">
            <a:extLst>
              <a:ext uri="{FF2B5EF4-FFF2-40B4-BE49-F238E27FC236}">
                <a16:creationId xmlns:a16="http://schemas.microsoft.com/office/drawing/2014/main" id="{5020596A-D3B5-18D2-1D37-3B88E5CD78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2760" y="1866375"/>
            <a:ext cx="611909" cy="611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C98279-5765-9BFA-2B15-04A8FEDAA130}"/>
              </a:ext>
            </a:extLst>
          </p:cNvPr>
          <p:cNvSpPr txBox="1"/>
          <p:nvPr/>
        </p:nvSpPr>
        <p:spPr>
          <a:xfrm>
            <a:off x="1794669" y="2206232"/>
            <a:ext cx="659150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" pitchFamily="2" charset="0"/>
              </a:rPr>
              <a:t>Please let us know if you have suggestions!</a:t>
            </a:r>
          </a:p>
          <a:p>
            <a:endParaRPr lang="en-US" dirty="0">
              <a:latin typeface="Helvetica" pitchFamily="2" charset="0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Helvetica" pitchFamily="2" charset="0"/>
              </a:rPr>
              <a:t>What did you like about this workshop?</a:t>
            </a:r>
          </a:p>
          <a:p>
            <a:pPr marL="342900" indent="-342900">
              <a:buAutoNum type="arabicPeriod"/>
            </a:pPr>
            <a:r>
              <a:rPr lang="en-US" dirty="0">
                <a:latin typeface="Helvetica" pitchFamily="2" charset="0"/>
              </a:rPr>
              <a:t>What could be improved?</a:t>
            </a:r>
          </a:p>
          <a:p>
            <a:pPr marL="342900" indent="-342900">
              <a:buAutoNum type="arabicPeriod"/>
            </a:pPr>
            <a:r>
              <a:rPr lang="en-US" dirty="0">
                <a:latin typeface="Helvetica" pitchFamily="2" charset="0"/>
              </a:rPr>
              <a:t>Any suggestions for the following sessions (i.e. change in order, other topics, special interests)</a:t>
            </a:r>
          </a:p>
        </p:txBody>
      </p:sp>
      <p:pic>
        <p:nvPicPr>
          <p:cNvPr id="5122" name="Picture 2" descr="Pen Icon Graphic by rudezstudio · Creative Fabrica">
            <a:extLst>
              <a:ext uri="{FF2B5EF4-FFF2-40B4-BE49-F238E27FC236}">
                <a16:creationId xmlns:a16="http://schemas.microsoft.com/office/drawing/2014/main" id="{0DEEB3E2-D200-94F1-EB2C-1F94DD52C3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1365" y="340845"/>
            <a:ext cx="1576712" cy="1049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84383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488E0-0485-9661-4A27-6423D1D98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Workshop 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AC10CA1-46F0-A2BF-0272-C7AE93EEBB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0639997"/>
              </p:ext>
            </p:extLst>
          </p:nvPr>
        </p:nvGraphicFramePr>
        <p:xfrm>
          <a:off x="838200" y="1647725"/>
          <a:ext cx="10366169" cy="461815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00455">
                  <a:extLst>
                    <a:ext uri="{9D8B030D-6E8A-4147-A177-3AD203B41FA5}">
                      <a16:colId xmlns:a16="http://schemas.microsoft.com/office/drawing/2014/main" val="3588077064"/>
                    </a:ext>
                  </a:extLst>
                </a:gridCol>
                <a:gridCol w="1553775">
                  <a:extLst>
                    <a:ext uri="{9D8B030D-6E8A-4147-A177-3AD203B41FA5}">
                      <a16:colId xmlns:a16="http://schemas.microsoft.com/office/drawing/2014/main" val="2921729674"/>
                    </a:ext>
                  </a:extLst>
                </a:gridCol>
                <a:gridCol w="1494395">
                  <a:extLst>
                    <a:ext uri="{9D8B030D-6E8A-4147-A177-3AD203B41FA5}">
                      <a16:colId xmlns:a16="http://schemas.microsoft.com/office/drawing/2014/main" val="3051897964"/>
                    </a:ext>
                  </a:extLst>
                </a:gridCol>
                <a:gridCol w="1393727">
                  <a:extLst>
                    <a:ext uri="{9D8B030D-6E8A-4147-A177-3AD203B41FA5}">
                      <a16:colId xmlns:a16="http://schemas.microsoft.com/office/drawing/2014/main" val="2317395656"/>
                    </a:ext>
                  </a:extLst>
                </a:gridCol>
                <a:gridCol w="1393727">
                  <a:extLst>
                    <a:ext uri="{9D8B030D-6E8A-4147-A177-3AD203B41FA5}">
                      <a16:colId xmlns:a16="http://schemas.microsoft.com/office/drawing/2014/main" val="4058881113"/>
                    </a:ext>
                  </a:extLst>
                </a:gridCol>
                <a:gridCol w="1467082">
                  <a:extLst>
                    <a:ext uri="{9D8B030D-6E8A-4147-A177-3AD203B41FA5}">
                      <a16:colId xmlns:a16="http://schemas.microsoft.com/office/drawing/2014/main" val="1121361333"/>
                    </a:ext>
                  </a:extLst>
                </a:gridCol>
                <a:gridCol w="1463008">
                  <a:extLst>
                    <a:ext uri="{9D8B030D-6E8A-4147-A177-3AD203B41FA5}">
                      <a16:colId xmlns:a16="http://schemas.microsoft.com/office/drawing/2014/main" val="3820744059"/>
                    </a:ext>
                  </a:extLst>
                </a:gridCol>
              </a:tblGrid>
              <a:tr h="277386">
                <a:tc gridSpan="2"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Day 1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latin typeface="Helvetica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Day 2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Day 3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latin typeface="Helvetica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Day 4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latin typeface="Helvetica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61491"/>
                  </a:ext>
                </a:extLst>
              </a:tr>
              <a:tr h="888907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1. HPC fundamentals &amp; Introduction to Hazel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2. Running jobs on Hazel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3. Submitting job arrays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4. Job performance analysis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5. Login node scripts with GNU parallel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6. Software 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7. Data management + Globus 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070096"/>
                  </a:ext>
                </a:extLst>
              </a:tr>
              <a:tr h="3402714"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Understand Core HPC Concepts (CPU/GPU, Node/Core)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Navigate the Hazel HPC Environment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Get started with obtaining a HPC account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Learning ways to transfer files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050" dirty="0">
                          <a:latin typeface="Helvetica" pitchFamily="2" charset="0"/>
                        </a:rPr>
                        <a:t>Bonus! Basics of Unix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Understand LSF job submission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Running an interactive job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Create a first job script and submit it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Learn some commands to monitor your jobs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Understand the use cases for job arrays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Learn about the computation behind job arrays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Create the scripts needed to submit a job array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Create a job array and submit it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Learn how to estimate job requirements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Analyze the performance of a job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050" dirty="0">
                          <a:latin typeface="Helvetica" pitchFamily="2" charset="0"/>
                        </a:rPr>
                        <a:t>Perform basic scaling analysis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Understand how to run processes in the login node without causing issues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Learn about GNU parallel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Run two examples on data downloading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Introduction to modules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Introduction to virtual environments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Introduction to containers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Learn how to load software using modules, </a:t>
                      </a:r>
                      <a:r>
                        <a:rPr lang="en-US" sz="1050" dirty="0" err="1">
                          <a:latin typeface="Helvetica" pitchFamily="2" charset="0"/>
                        </a:rPr>
                        <a:t>conda</a:t>
                      </a:r>
                      <a:r>
                        <a:rPr lang="en-US" sz="1050" dirty="0">
                          <a:latin typeface="Helvetica" pitchFamily="2" charset="0"/>
                        </a:rPr>
                        <a:t>, containers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050" dirty="0">
                          <a:latin typeface="Helvetica" pitchFamily="2" charset="0"/>
                        </a:rPr>
                        <a:t>Manage data across the Hazel storage system.</a:t>
                      </a:r>
                    </a:p>
                    <a:p>
                      <a:r>
                        <a:rPr lang="en-US" sz="1050" dirty="0">
                          <a:latin typeface="Helvetica" pitchFamily="2" charset="0"/>
                        </a:rPr>
                        <a:t>Know when and how to use: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Research Storage (RS1)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 err="1">
                          <a:latin typeface="Helvetica" pitchFamily="2" charset="0"/>
                        </a:rPr>
                        <a:t>Usrapps</a:t>
                      </a:r>
                      <a:endParaRPr lang="en-US" sz="1050" dirty="0">
                        <a:latin typeface="Helvetica" pitchFamily="2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Scratch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How to mount your RS1</a:t>
                      </a:r>
                    </a:p>
                    <a:p>
                      <a:pPr marL="0" indent="0">
                        <a:buFontTx/>
                        <a:buNone/>
                      </a:pPr>
                      <a:endParaRPr lang="en-US" sz="1050" dirty="0">
                        <a:latin typeface="Helvetica" pitchFamily="2" charset="0"/>
                      </a:endParaRP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1050" dirty="0">
                          <a:latin typeface="Helvetica" pitchFamily="2" charset="0"/>
                        </a:rPr>
                        <a:t>Globus: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Understand endpoints and transfers.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Create a local and Google Drive endpoint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Perform transfers with HPC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97588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831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7E632-1B08-6D8A-3A25-87625934D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EDBFA83-B7A1-3974-0E7E-4C0F70E71604}"/>
              </a:ext>
            </a:extLst>
          </p:cNvPr>
          <p:cNvSpPr txBox="1">
            <a:spLocks/>
          </p:cNvSpPr>
          <p:nvPr/>
        </p:nvSpPr>
        <p:spPr>
          <a:xfrm>
            <a:off x="1646320" y="2089105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>
                <a:latin typeface="Helvetica" pitchFamily="2" charset="0"/>
              </a:rPr>
              <a:t>6. Software</a:t>
            </a:r>
          </a:p>
        </p:txBody>
      </p:sp>
      <p:pic>
        <p:nvPicPr>
          <p:cNvPr id="1026" name="Picture 2" descr="Software - Free computer icons">
            <a:extLst>
              <a:ext uri="{FF2B5EF4-FFF2-40B4-BE49-F238E27FC236}">
                <a16:creationId xmlns:a16="http://schemas.microsoft.com/office/drawing/2014/main" id="{90307FDE-986B-CAFD-B54C-EAD152D20F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7032" y="2451264"/>
            <a:ext cx="1248229" cy="1248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2826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AF49B-F4D4-672E-CBAC-B59D767AF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63F50-ADB6-FEBA-66C6-B06489CA2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Software in the HPC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014DC6-081A-2DDE-8E9F-F46235054A85}"/>
              </a:ext>
            </a:extLst>
          </p:cNvPr>
          <p:cNvSpPr txBox="1"/>
          <p:nvPr/>
        </p:nvSpPr>
        <p:spPr>
          <a:xfrm>
            <a:off x="1141022" y="4194749"/>
            <a:ext cx="93211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Software import tools available: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Modules</a:t>
            </a:r>
            <a:r>
              <a:rPr lang="en-US" dirty="0"/>
              <a:t> — for software HPC staff have already installed and maintain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Conda environments</a:t>
            </a:r>
            <a:r>
              <a:rPr lang="en-US" dirty="0"/>
              <a:t> — for when you need to install and manage your own packages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Containers</a:t>
            </a:r>
            <a:r>
              <a:rPr lang="en-US" dirty="0"/>
              <a:t> — for when you need complete reproducibility or complex dependencies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F4450A0-3018-C0D0-AF89-35066F28761E}"/>
              </a:ext>
            </a:extLst>
          </p:cNvPr>
          <p:cNvGrpSpPr/>
          <p:nvPr/>
        </p:nvGrpSpPr>
        <p:grpSpPr>
          <a:xfrm>
            <a:off x="2358941" y="1791869"/>
            <a:ext cx="1152496" cy="1250232"/>
            <a:chOff x="2051465" y="1473562"/>
            <a:chExt cx="1152496" cy="1250232"/>
          </a:xfrm>
        </p:grpSpPr>
        <p:pic>
          <p:nvPicPr>
            <p:cNvPr id="7" name="Picture 6" descr="What Is HPC? - UArizona HPC Documentation">
              <a:extLst>
                <a:ext uri="{FF2B5EF4-FFF2-40B4-BE49-F238E27FC236}">
                  <a16:creationId xmlns:a16="http://schemas.microsoft.com/office/drawing/2014/main" id="{347103D3-F691-6F49-3E3F-71ACF2B4B28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0664" r="57602"/>
            <a:stretch>
              <a:fillRect/>
            </a:stretch>
          </p:blipFill>
          <p:spPr bwMode="auto">
            <a:xfrm>
              <a:off x="2051465" y="1521481"/>
              <a:ext cx="1018308" cy="1202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1B049C6-544D-D0B1-F5AC-9BB14922A3D4}"/>
                </a:ext>
              </a:extLst>
            </p:cNvPr>
            <p:cNvSpPr/>
            <p:nvPr/>
          </p:nvSpPr>
          <p:spPr>
            <a:xfrm>
              <a:off x="2402377" y="1473562"/>
              <a:ext cx="801584" cy="368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D26128E8-39CA-6D94-5FBF-1A1F7EEDA16A}"/>
              </a:ext>
            </a:extLst>
          </p:cNvPr>
          <p:cNvSpPr txBox="1"/>
          <p:nvPr/>
        </p:nvSpPr>
        <p:spPr>
          <a:xfrm>
            <a:off x="2223032" y="3141148"/>
            <a:ext cx="23332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Personal machine </a:t>
            </a:r>
            <a:r>
              <a:rPr lang="en-US" dirty="0"/>
              <a:t>– </a:t>
            </a:r>
          </a:p>
          <a:p>
            <a:r>
              <a:rPr lang="en-US" dirty="0"/>
              <a:t>1 installation –  simple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F13570-31BD-2DF3-4B97-702356F14DD9}"/>
              </a:ext>
            </a:extLst>
          </p:cNvPr>
          <p:cNvSpPr txBox="1"/>
          <p:nvPr/>
        </p:nvSpPr>
        <p:spPr>
          <a:xfrm>
            <a:off x="6640309" y="3100664"/>
            <a:ext cx="27096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HPC</a:t>
            </a:r>
            <a:r>
              <a:rPr lang="en-US" dirty="0"/>
              <a:t> – multiple installations – conflicts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5C3DD9-AAC2-9081-7949-832189ECB589}"/>
              </a:ext>
            </a:extLst>
          </p:cNvPr>
          <p:cNvSpPr/>
          <p:nvPr/>
        </p:nvSpPr>
        <p:spPr>
          <a:xfrm>
            <a:off x="2090058" y="1839788"/>
            <a:ext cx="2375064" cy="2003261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3B0DAC1-6932-CB49-F746-D5DCB116F160}"/>
              </a:ext>
            </a:extLst>
          </p:cNvPr>
          <p:cNvSpPr/>
          <p:nvPr/>
        </p:nvSpPr>
        <p:spPr>
          <a:xfrm>
            <a:off x="6528459" y="1084723"/>
            <a:ext cx="3108067" cy="2758326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A63460-9510-ABE2-3A9D-89D1A4149218}"/>
              </a:ext>
            </a:extLst>
          </p:cNvPr>
          <p:cNvGrpSpPr/>
          <p:nvPr/>
        </p:nvGrpSpPr>
        <p:grpSpPr>
          <a:xfrm>
            <a:off x="6654394" y="987033"/>
            <a:ext cx="2792427" cy="1968176"/>
            <a:chOff x="6654394" y="987033"/>
            <a:chExt cx="2792427" cy="196817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B9E793B-409E-3CBB-EBA4-FD5CE2AA626A}"/>
                </a:ext>
              </a:extLst>
            </p:cNvPr>
            <p:cNvGrpSpPr/>
            <p:nvPr/>
          </p:nvGrpSpPr>
          <p:grpSpPr>
            <a:xfrm>
              <a:off x="6754587" y="987033"/>
              <a:ext cx="2692234" cy="1968176"/>
              <a:chOff x="7441873" y="644510"/>
              <a:chExt cx="3420091" cy="2495088"/>
            </a:xfrm>
          </p:grpSpPr>
          <p:pic>
            <p:nvPicPr>
              <p:cNvPr id="8" name="Picture 7" descr="What Is HPC? - UArizona HPC Documentation">
                <a:extLst>
                  <a:ext uri="{FF2B5EF4-FFF2-40B4-BE49-F238E27FC236}">
                    <a16:creationId xmlns:a16="http://schemas.microsoft.com/office/drawing/2014/main" id="{65AB546E-5503-B817-1C34-157DD25B069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460181" y="1405560"/>
                <a:ext cx="2401783" cy="17340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" name="Picture 8" descr="What Is HPC? - UArizona HPC Documentation">
                <a:extLst>
                  <a:ext uri="{FF2B5EF4-FFF2-40B4-BE49-F238E27FC236}">
                    <a16:creationId xmlns:a16="http://schemas.microsoft.com/office/drawing/2014/main" id="{01D908A9-68B3-7395-16D9-507DCDEBF05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30664" r="57602"/>
              <a:stretch>
                <a:fillRect/>
              </a:stretch>
            </p:blipFill>
            <p:spPr bwMode="auto">
              <a:xfrm>
                <a:off x="7441873" y="1627030"/>
                <a:ext cx="1018308" cy="1202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Picture 9" descr="What Is HPC? - UArizona HPC Documentation">
                <a:extLst>
                  <a:ext uri="{FF2B5EF4-FFF2-40B4-BE49-F238E27FC236}">
                    <a16:creationId xmlns:a16="http://schemas.microsoft.com/office/drawing/2014/main" id="{D6F13731-B45F-49C2-B74D-67FB39106EE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30664" r="57602"/>
              <a:stretch>
                <a:fillRect/>
              </a:stretch>
            </p:blipFill>
            <p:spPr bwMode="auto">
              <a:xfrm>
                <a:off x="8508674" y="669410"/>
                <a:ext cx="1018308" cy="1202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FD74BA47-6333-17DB-DB29-150936889D09}"/>
                  </a:ext>
                </a:extLst>
              </p:cNvPr>
              <p:cNvSpPr/>
              <p:nvPr/>
            </p:nvSpPr>
            <p:spPr>
              <a:xfrm>
                <a:off x="8871364" y="644510"/>
                <a:ext cx="679865" cy="35849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30DD9FD-8F16-3B6D-DD23-B6CF2F586CAB}"/>
                  </a:ext>
                </a:extLst>
              </p:cNvPr>
              <p:cNvSpPr/>
              <p:nvPr/>
            </p:nvSpPr>
            <p:spPr>
              <a:xfrm>
                <a:off x="7804562" y="1592946"/>
                <a:ext cx="679865" cy="35849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07C784F-2F1A-7135-B28D-6B3D0CAD4344}"/>
                  </a:ext>
                </a:extLst>
              </p:cNvPr>
              <p:cNvSpPr/>
              <p:nvPr/>
            </p:nvSpPr>
            <p:spPr>
              <a:xfrm>
                <a:off x="8822870" y="1901519"/>
                <a:ext cx="679865" cy="35849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F9F1F70-1117-3714-AE7C-779FC253ADAF}"/>
                  </a:ext>
                </a:extLst>
              </p:cNvPr>
              <p:cNvSpPr/>
              <p:nvPr/>
            </p:nvSpPr>
            <p:spPr>
              <a:xfrm>
                <a:off x="10011889" y="1306317"/>
                <a:ext cx="679865" cy="35849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95FF2D7-14F0-A371-8002-DD80EF26F081}"/>
                </a:ext>
              </a:extLst>
            </p:cNvPr>
            <p:cNvSpPr txBox="1"/>
            <p:nvPr/>
          </p:nvSpPr>
          <p:spPr>
            <a:xfrm>
              <a:off x="8348011" y="1172997"/>
              <a:ext cx="1001981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>
                  <a:solidFill>
                    <a:srgbClr val="C00000"/>
                  </a:solidFill>
                </a:rPr>
                <a:t>Python 3.12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4D8C13D-F639-992F-4F8F-7FC84DF483AE}"/>
                </a:ext>
              </a:extLst>
            </p:cNvPr>
            <p:cNvSpPr txBox="1"/>
            <p:nvPr/>
          </p:nvSpPr>
          <p:spPr>
            <a:xfrm>
              <a:off x="6654394" y="1677522"/>
              <a:ext cx="1001981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>
                  <a:solidFill>
                    <a:srgbClr val="C00000"/>
                  </a:solidFill>
                </a:rPr>
                <a:t>Python 3.9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1224570-2CF9-37A1-384C-77645919911B}"/>
                </a:ext>
              </a:extLst>
            </p:cNvPr>
            <p:cNvSpPr txBox="1"/>
            <p:nvPr/>
          </p:nvSpPr>
          <p:spPr>
            <a:xfrm>
              <a:off x="7556181" y="1954626"/>
              <a:ext cx="1001981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>
                  <a:solidFill>
                    <a:srgbClr val="C00000"/>
                  </a:solidFill>
                </a:rPr>
                <a:t>Python 3.7</a:t>
              </a: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51DFAEBE-B8A9-62B0-DE51-B6B0A3CE028E}"/>
              </a:ext>
            </a:extLst>
          </p:cNvPr>
          <p:cNvSpPr txBox="1"/>
          <p:nvPr/>
        </p:nvSpPr>
        <p:spPr>
          <a:xfrm>
            <a:off x="2727087" y="1954626"/>
            <a:ext cx="100198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C00000"/>
                </a:solidFill>
              </a:rPr>
              <a:t>Python 3.9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B5144A-FFC7-310A-EFFE-8C614F7BC649}"/>
              </a:ext>
            </a:extLst>
          </p:cNvPr>
          <p:cNvSpPr txBox="1"/>
          <p:nvPr/>
        </p:nvSpPr>
        <p:spPr>
          <a:xfrm>
            <a:off x="2682647" y="5646359"/>
            <a:ext cx="6095010" cy="646331"/>
          </a:xfrm>
          <a:prstGeom prst="rect">
            <a:avLst/>
          </a:prstGeom>
          <a:solidFill>
            <a:srgbClr val="FF0000">
              <a:alpha val="29804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These </a:t>
            </a:r>
            <a:r>
              <a:rPr lang="en-US" b="1" dirty="0"/>
              <a:t>aren't competing approaches</a:t>
            </a:r>
            <a:r>
              <a:rPr lang="en-US" dirty="0"/>
              <a:t>, they're tools for different situations. You'll probably use all three at different points.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61A3D7-8C0F-95EE-70EB-AC86B14BE9B4}"/>
              </a:ext>
            </a:extLst>
          </p:cNvPr>
          <p:cNvSpPr txBox="1"/>
          <p:nvPr/>
        </p:nvSpPr>
        <p:spPr>
          <a:xfrm>
            <a:off x="5266716" y="2663251"/>
            <a:ext cx="453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Vs.</a:t>
            </a:r>
          </a:p>
        </p:txBody>
      </p:sp>
    </p:spTree>
    <p:extLst>
      <p:ext uri="{BB962C8B-B14F-4D97-AF65-F5344CB8AC3E}">
        <p14:creationId xmlns:p14="http://schemas.microsoft.com/office/powerpoint/2010/main" val="19077724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0E4AB-05F8-C9BB-CB2D-52165EBE2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6C6FA-F5FE-3562-170E-4DBD7F7B2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Introduction to modules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BCB1A5-6A27-6CFE-186B-3584E5118D96}"/>
              </a:ext>
            </a:extLst>
          </p:cNvPr>
          <p:cNvSpPr txBox="1"/>
          <p:nvPr/>
        </p:nvSpPr>
        <p:spPr>
          <a:xfrm>
            <a:off x="951510" y="1423681"/>
            <a:ext cx="8311243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chemeClr val="accent1"/>
                </a:solidFill>
              </a:rPr>
              <a:t>software is already installed on the cluster</a:t>
            </a:r>
            <a:r>
              <a:rPr lang="en-US" dirty="0"/>
              <a:t>, but it's switched off by default to avoid conflicts. </a:t>
            </a:r>
          </a:p>
          <a:p>
            <a:r>
              <a:rPr lang="en-US" dirty="0"/>
              <a:t>Load a module = "I want to use this version of this tool right now.”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Widely-used software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HPC staff maintain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DDBD63-2886-900F-0F92-CD8E5FC096A1}"/>
              </a:ext>
            </a:extLst>
          </p:cNvPr>
          <p:cNvSpPr txBox="1"/>
          <p:nvPr/>
        </p:nvSpPr>
        <p:spPr>
          <a:xfrm>
            <a:off x="1038898" y="3626297"/>
            <a:ext cx="5241472" cy="83099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module avail 		</a:t>
            </a:r>
            <a:r>
              <a:rPr lang="en-US" sz="1200" dirty="0">
                <a:solidFill>
                  <a:schemeClr val="bg1">
                    <a:lumMod val="6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what's available </a:t>
            </a:r>
          </a:p>
          <a:p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module load blast 		</a:t>
            </a:r>
            <a:r>
              <a:rPr lang="en-US" sz="1200" dirty="0">
                <a:solidFill>
                  <a:schemeClr val="bg1">
                    <a:lumMod val="6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turn on BLAST </a:t>
            </a:r>
          </a:p>
          <a:p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module list 		</a:t>
            </a:r>
            <a:r>
              <a:rPr lang="en-US" sz="1200" dirty="0">
                <a:solidFill>
                  <a:schemeClr val="bg1">
                    <a:lumMod val="6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what do I have loaded </a:t>
            </a:r>
          </a:p>
          <a:p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module unload blast 	</a:t>
            </a:r>
            <a:r>
              <a:rPr lang="en-US" sz="1200" dirty="0">
                <a:solidFill>
                  <a:schemeClr val="bg1">
                    <a:lumMod val="6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turn it off</a:t>
            </a:r>
          </a:p>
        </p:txBody>
      </p:sp>
      <p:pic>
        <p:nvPicPr>
          <p:cNvPr id="4101" name="Picture 5" descr="Download Free Light switch Icons in PNG &amp; SVG">
            <a:extLst>
              <a:ext uri="{FF2B5EF4-FFF2-40B4-BE49-F238E27FC236}">
                <a16:creationId xmlns:a16="http://schemas.microsoft.com/office/drawing/2014/main" id="{4E2472E7-4A3A-8312-7D06-DB98DA06FC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3822" y="3348365"/>
            <a:ext cx="1108929" cy="11089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2F17B75-4593-0C4D-316A-EB0BC8F083AD}"/>
              </a:ext>
            </a:extLst>
          </p:cNvPr>
          <p:cNvSpPr txBox="1"/>
          <p:nvPr/>
        </p:nvSpPr>
        <p:spPr>
          <a:xfrm>
            <a:off x="7693517" y="3134693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3748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blast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6155DE-9C8D-7258-58D2-263C4C99215F}"/>
              </a:ext>
            </a:extLst>
          </p:cNvPr>
          <p:cNvSpPr txBox="1"/>
          <p:nvPr/>
        </p:nvSpPr>
        <p:spPr>
          <a:xfrm>
            <a:off x="8417807" y="3728949"/>
            <a:ext cx="149271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module load blast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F31190-6761-F2D2-3497-98E8D1892066}"/>
              </a:ext>
            </a:extLst>
          </p:cNvPr>
          <p:cNvSpPr txBox="1"/>
          <p:nvPr/>
        </p:nvSpPr>
        <p:spPr>
          <a:xfrm>
            <a:off x="1270660" y="5249653"/>
            <a:ext cx="908126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This is always your </a:t>
            </a:r>
            <a:r>
              <a:rPr lang="en-US" b="1" dirty="0"/>
              <a:t>first stop</a:t>
            </a:r>
            <a:r>
              <a:rPr lang="en-US" dirty="0"/>
              <a:t>: check if it's already there before trying to install anything yourself.</a:t>
            </a:r>
          </a:p>
        </p:txBody>
      </p:sp>
    </p:spTree>
    <p:extLst>
      <p:ext uri="{BB962C8B-B14F-4D97-AF65-F5344CB8AC3E}">
        <p14:creationId xmlns:p14="http://schemas.microsoft.com/office/powerpoint/2010/main" val="7050134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FE8DF-F006-4778-D0B6-4350C9BE1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CFE5E-9294-AF7F-CDC2-718F15E3A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Introduction to virtual environments</a:t>
            </a:r>
          </a:p>
        </p:txBody>
      </p:sp>
      <p:pic>
        <p:nvPicPr>
          <p:cNvPr id="5122" name="Picture 2" descr="Install Anaconda for Machine Learning and Data Science in Python">
            <a:extLst>
              <a:ext uri="{FF2B5EF4-FFF2-40B4-BE49-F238E27FC236}">
                <a16:creationId xmlns:a16="http://schemas.microsoft.com/office/drawing/2014/main" id="{DB388AC0-4A8D-2228-D858-5D92C7475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4234" y="365125"/>
            <a:ext cx="1779566" cy="887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1509759-22F5-7062-D92A-964CB777A387}"/>
              </a:ext>
            </a:extLst>
          </p:cNvPr>
          <p:cNvSpPr txBox="1"/>
          <p:nvPr/>
        </p:nvSpPr>
        <p:spPr>
          <a:xfrm>
            <a:off x="840178" y="1567403"/>
            <a:ext cx="609501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A </a:t>
            </a:r>
            <a:r>
              <a:rPr lang="en-US" dirty="0" err="1"/>
              <a:t>conda</a:t>
            </a:r>
            <a:r>
              <a:rPr lang="en-US" dirty="0"/>
              <a:t> environment is an </a:t>
            </a:r>
            <a:r>
              <a:rPr lang="en-US" b="1" dirty="0">
                <a:solidFill>
                  <a:schemeClr val="accent6"/>
                </a:solidFill>
              </a:rPr>
              <a:t>isolated box </a:t>
            </a:r>
            <a:r>
              <a:rPr lang="en-US" dirty="0"/>
              <a:t>where you can install whatever you want </a:t>
            </a:r>
            <a:r>
              <a:rPr lang="en-US" dirty="0">
                <a:solidFill>
                  <a:schemeClr val="accent6"/>
                </a:solidFill>
              </a:rPr>
              <a:t>without affecting anyone </a:t>
            </a:r>
            <a:r>
              <a:rPr lang="en-US" dirty="0"/>
              <a:t>else or anything else on the system. 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You can have </a:t>
            </a:r>
            <a:r>
              <a:rPr lang="en-US" dirty="0">
                <a:solidFill>
                  <a:schemeClr val="accent6"/>
                </a:solidFill>
              </a:rPr>
              <a:t>multiple environments </a:t>
            </a:r>
            <a:r>
              <a:rPr lang="en-US" dirty="0"/>
              <a:t>each with different tools and versions, all coexisting peacefully.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A </a:t>
            </a:r>
            <a:r>
              <a:rPr lang="en-US" dirty="0">
                <a:solidFill>
                  <a:schemeClr val="accent1"/>
                </a:solidFill>
              </a:rPr>
              <a:t>module</a:t>
            </a:r>
            <a:r>
              <a:rPr lang="en-US" dirty="0"/>
              <a:t> is a light switch someone else installed. </a:t>
            </a:r>
          </a:p>
          <a:p>
            <a:pPr>
              <a:buNone/>
            </a:pPr>
            <a:r>
              <a:rPr lang="en-US" dirty="0"/>
              <a:t>A </a:t>
            </a:r>
            <a:r>
              <a:rPr lang="en-US" dirty="0" err="1">
                <a:solidFill>
                  <a:schemeClr val="accent6"/>
                </a:solidFill>
              </a:rPr>
              <a:t>conda</a:t>
            </a:r>
            <a:r>
              <a:rPr lang="en-US" dirty="0">
                <a:solidFill>
                  <a:schemeClr val="accent6"/>
                </a:solidFill>
              </a:rPr>
              <a:t> environment </a:t>
            </a:r>
            <a:r>
              <a:rPr lang="en-US" dirty="0"/>
              <a:t>is your own private room with its own switches.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DBAB41-2D3E-946E-2362-169BC5E44CB9}"/>
              </a:ext>
            </a:extLst>
          </p:cNvPr>
          <p:cNvSpPr txBox="1"/>
          <p:nvPr/>
        </p:nvSpPr>
        <p:spPr>
          <a:xfrm>
            <a:off x="838200" y="4989383"/>
            <a:ext cx="6945581" cy="93871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module load 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conda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			</a:t>
            </a:r>
            <a:r>
              <a:rPr lang="en-US" sz="1100" dirty="0">
                <a:solidFill>
                  <a:srgbClr val="6E7687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first, load </a:t>
            </a:r>
            <a:r>
              <a:rPr lang="en-US" sz="1100" dirty="0" err="1">
                <a:solidFill>
                  <a:srgbClr val="6E7687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conda</a:t>
            </a:r>
            <a:r>
              <a:rPr lang="en-US" sz="1100" dirty="0">
                <a:solidFill>
                  <a:srgbClr val="6E7687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itself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</a:p>
          <a:p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conda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create -n 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myenv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B34A00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python</a:t>
            </a:r>
            <a:r>
              <a:rPr lang="en-US" sz="1100" dirty="0">
                <a:solidFill>
                  <a:srgbClr val="14181F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</a:t>
            </a:r>
            <a:r>
              <a:rPr lang="en-US" sz="1100" dirty="0">
                <a:solidFill>
                  <a:srgbClr val="008080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3.11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	</a:t>
            </a:r>
            <a:r>
              <a:rPr lang="en-US" sz="1100" dirty="0">
                <a:solidFill>
                  <a:srgbClr val="6E7687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create your room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</a:p>
          <a:p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conda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activate 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myenv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			</a:t>
            </a:r>
            <a:r>
              <a:rPr lang="en-US" sz="1100" dirty="0">
                <a:solidFill>
                  <a:srgbClr val="6E7687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step into it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</a:p>
          <a:p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conda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0051C2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install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-c 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bioconda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trimmomatic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	</a:t>
            </a:r>
            <a:r>
              <a:rPr lang="en-US" sz="1100" dirty="0">
                <a:solidFill>
                  <a:srgbClr val="6E7687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install what you need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deactivate 			</a:t>
            </a:r>
            <a:r>
              <a:rPr lang="en-US" sz="1100" dirty="0">
                <a:solidFill>
                  <a:srgbClr val="6E7687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step back out</a:t>
            </a:r>
            <a:endParaRPr lang="en-US" sz="11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52D1738-5211-9BFB-4DC1-ED497598F84D}"/>
              </a:ext>
            </a:extLst>
          </p:cNvPr>
          <p:cNvGrpSpPr/>
          <p:nvPr/>
        </p:nvGrpSpPr>
        <p:grpSpPr>
          <a:xfrm>
            <a:off x="8212777" y="4317880"/>
            <a:ext cx="3141023" cy="2174995"/>
            <a:chOff x="6654394" y="987033"/>
            <a:chExt cx="2792427" cy="196817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1961B6B-3AEA-A9B6-3327-9DECEA96D783}"/>
                </a:ext>
              </a:extLst>
            </p:cNvPr>
            <p:cNvGrpSpPr/>
            <p:nvPr/>
          </p:nvGrpSpPr>
          <p:grpSpPr>
            <a:xfrm>
              <a:off x="6754587" y="987033"/>
              <a:ext cx="2692234" cy="1968176"/>
              <a:chOff x="7441873" y="644510"/>
              <a:chExt cx="3420091" cy="2495088"/>
            </a:xfrm>
          </p:grpSpPr>
          <p:pic>
            <p:nvPicPr>
              <p:cNvPr id="10" name="Picture 9" descr="What Is HPC? - UArizona HPC Documentation">
                <a:extLst>
                  <a:ext uri="{FF2B5EF4-FFF2-40B4-BE49-F238E27FC236}">
                    <a16:creationId xmlns:a16="http://schemas.microsoft.com/office/drawing/2014/main" id="{6970FD71-C65B-B456-A4CF-CC7DA31EEB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460181" y="1405560"/>
                <a:ext cx="2401783" cy="17340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" name="Picture 10" descr="What Is HPC? - UArizona HPC Documentation">
                <a:extLst>
                  <a:ext uri="{FF2B5EF4-FFF2-40B4-BE49-F238E27FC236}">
                    <a16:creationId xmlns:a16="http://schemas.microsoft.com/office/drawing/2014/main" id="{AA1A282A-CA35-31BD-3A0D-551687E990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30664" r="57602"/>
              <a:stretch>
                <a:fillRect/>
              </a:stretch>
            </p:blipFill>
            <p:spPr bwMode="auto">
              <a:xfrm>
                <a:off x="7441873" y="1627030"/>
                <a:ext cx="1018308" cy="1202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" name="Picture 11" descr="What Is HPC? - UArizona HPC Documentation">
                <a:extLst>
                  <a:ext uri="{FF2B5EF4-FFF2-40B4-BE49-F238E27FC236}">
                    <a16:creationId xmlns:a16="http://schemas.microsoft.com/office/drawing/2014/main" id="{395B66B0-CC1F-0558-49BC-8CB85BE5055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30664" r="57602"/>
              <a:stretch>
                <a:fillRect/>
              </a:stretch>
            </p:blipFill>
            <p:spPr bwMode="auto">
              <a:xfrm>
                <a:off x="8508674" y="669410"/>
                <a:ext cx="1018308" cy="1202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4D0033C9-43A9-CDC2-A761-D8EA74DE8520}"/>
                  </a:ext>
                </a:extLst>
              </p:cNvPr>
              <p:cNvSpPr/>
              <p:nvPr/>
            </p:nvSpPr>
            <p:spPr>
              <a:xfrm>
                <a:off x="8871364" y="644510"/>
                <a:ext cx="679865" cy="35849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2FD602C-40D8-8A73-42A9-4ACF09C1007C}"/>
                  </a:ext>
                </a:extLst>
              </p:cNvPr>
              <p:cNvSpPr/>
              <p:nvPr/>
            </p:nvSpPr>
            <p:spPr>
              <a:xfrm>
                <a:off x="7804562" y="1592946"/>
                <a:ext cx="679865" cy="35849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502F68F-780C-F288-531A-DAA0FDDF11FB}"/>
                  </a:ext>
                </a:extLst>
              </p:cNvPr>
              <p:cNvSpPr/>
              <p:nvPr/>
            </p:nvSpPr>
            <p:spPr>
              <a:xfrm>
                <a:off x="8822870" y="1901519"/>
                <a:ext cx="679865" cy="35849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048FEFE0-2941-B746-3E11-2E805E5E75B3}"/>
                  </a:ext>
                </a:extLst>
              </p:cNvPr>
              <p:cNvSpPr/>
              <p:nvPr/>
            </p:nvSpPr>
            <p:spPr>
              <a:xfrm>
                <a:off x="10011889" y="1306317"/>
                <a:ext cx="679865" cy="35849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778033C-0E49-CDDC-A663-CCB69F294D31}"/>
                </a:ext>
              </a:extLst>
            </p:cNvPr>
            <p:cNvSpPr txBox="1"/>
            <p:nvPr/>
          </p:nvSpPr>
          <p:spPr>
            <a:xfrm>
              <a:off x="8348011" y="1172997"/>
              <a:ext cx="1001981" cy="2367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>
                  <a:solidFill>
                    <a:schemeClr val="accent6">
                      <a:lumMod val="75000"/>
                    </a:schemeClr>
                  </a:solidFill>
                </a:rPr>
                <a:t>Python 3.12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517445B-703A-C0D1-3B72-F36848D6C89A}"/>
                </a:ext>
              </a:extLst>
            </p:cNvPr>
            <p:cNvSpPr txBox="1"/>
            <p:nvPr/>
          </p:nvSpPr>
          <p:spPr>
            <a:xfrm>
              <a:off x="6654394" y="1677522"/>
              <a:ext cx="1001981" cy="2367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>
                  <a:solidFill>
                    <a:schemeClr val="accent6">
                      <a:lumMod val="75000"/>
                    </a:schemeClr>
                  </a:solidFill>
                </a:rPr>
                <a:t>Python 3.9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67111EF-064A-1DB4-EF0F-9427AAE47F35}"/>
                </a:ext>
              </a:extLst>
            </p:cNvPr>
            <p:cNvSpPr txBox="1"/>
            <p:nvPr/>
          </p:nvSpPr>
          <p:spPr>
            <a:xfrm>
              <a:off x="7556181" y="1954626"/>
              <a:ext cx="1001981" cy="2367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>
                  <a:solidFill>
                    <a:schemeClr val="accent6">
                      <a:lumMod val="75000"/>
                    </a:schemeClr>
                  </a:solidFill>
                </a:rPr>
                <a:t>Python 3.7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F77D2E23-8F9E-2770-F52F-1F23229496C7}"/>
              </a:ext>
            </a:extLst>
          </p:cNvPr>
          <p:cNvSpPr/>
          <p:nvPr/>
        </p:nvSpPr>
        <p:spPr>
          <a:xfrm>
            <a:off x="8267807" y="5022862"/>
            <a:ext cx="714688" cy="345429"/>
          </a:xfrm>
          <a:prstGeom prst="rect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FDC282A-315E-B96D-264B-4B85CB9757EF}"/>
              </a:ext>
            </a:extLst>
          </p:cNvPr>
          <p:cNvSpPr/>
          <p:nvPr/>
        </p:nvSpPr>
        <p:spPr>
          <a:xfrm>
            <a:off x="10171740" y="4467056"/>
            <a:ext cx="756697" cy="345429"/>
          </a:xfrm>
          <a:prstGeom prst="rect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B35D8C7-E462-D1E2-BE3F-4427A2FD2C02}"/>
              </a:ext>
            </a:extLst>
          </p:cNvPr>
          <p:cNvSpPr/>
          <p:nvPr/>
        </p:nvSpPr>
        <p:spPr>
          <a:xfrm>
            <a:off x="9284811" y="5383219"/>
            <a:ext cx="714688" cy="240389"/>
          </a:xfrm>
          <a:prstGeom prst="rect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0DA7DA8-6EC6-B324-4946-41A74617C167}"/>
              </a:ext>
            </a:extLst>
          </p:cNvPr>
          <p:cNvGrpSpPr/>
          <p:nvPr/>
        </p:nvGrpSpPr>
        <p:grpSpPr>
          <a:xfrm>
            <a:off x="8267807" y="1569156"/>
            <a:ext cx="2792427" cy="1968176"/>
            <a:chOff x="6654394" y="987033"/>
            <a:chExt cx="2792427" cy="1968176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23C8625E-0CF4-23A8-482C-39D653E81E08}"/>
                </a:ext>
              </a:extLst>
            </p:cNvPr>
            <p:cNvGrpSpPr/>
            <p:nvPr/>
          </p:nvGrpSpPr>
          <p:grpSpPr>
            <a:xfrm>
              <a:off x="6754587" y="987033"/>
              <a:ext cx="2692234" cy="1968176"/>
              <a:chOff x="7441873" y="644510"/>
              <a:chExt cx="3420091" cy="2495088"/>
            </a:xfrm>
          </p:grpSpPr>
          <p:pic>
            <p:nvPicPr>
              <p:cNvPr id="27" name="Picture 26" descr="What Is HPC? - UArizona HPC Documentation">
                <a:extLst>
                  <a:ext uri="{FF2B5EF4-FFF2-40B4-BE49-F238E27FC236}">
                    <a16:creationId xmlns:a16="http://schemas.microsoft.com/office/drawing/2014/main" id="{8170A3F6-BA2A-82F0-5B69-9D30D203773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460181" y="1405560"/>
                <a:ext cx="2401783" cy="17340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8" name="Picture 27" descr="What Is HPC? - UArizona HPC Documentation">
                <a:extLst>
                  <a:ext uri="{FF2B5EF4-FFF2-40B4-BE49-F238E27FC236}">
                    <a16:creationId xmlns:a16="http://schemas.microsoft.com/office/drawing/2014/main" id="{0A86A1AA-9234-97EA-FF1B-AA7C3CB36B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30664" r="57602"/>
              <a:stretch>
                <a:fillRect/>
              </a:stretch>
            </p:blipFill>
            <p:spPr bwMode="auto">
              <a:xfrm>
                <a:off x="7441873" y="1627030"/>
                <a:ext cx="1018308" cy="1202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9" name="Picture 28" descr="What Is HPC? - UArizona HPC Documentation">
                <a:extLst>
                  <a:ext uri="{FF2B5EF4-FFF2-40B4-BE49-F238E27FC236}">
                    <a16:creationId xmlns:a16="http://schemas.microsoft.com/office/drawing/2014/main" id="{8A6F1780-317F-2569-A7FA-54EA762BA8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30664" r="57602"/>
              <a:stretch>
                <a:fillRect/>
              </a:stretch>
            </p:blipFill>
            <p:spPr bwMode="auto">
              <a:xfrm>
                <a:off x="8508674" y="669410"/>
                <a:ext cx="1018308" cy="1202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36252C8B-C10C-0F46-B62F-1F622874EBF7}"/>
                  </a:ext>
                </a:extLst>
              </p:cNvPr>
              <p:cNvSpPr/>
              <p:nvPr/>
            </p:nvSpPr>
            <p:spPr>
              <a:xfrm>
                <a:off x="8871364" y="644510"/>
                <a:ext cx="679865" cy="35849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408FC90F-1C41-C255-0D93-B64C2C50BFB3}"/>
                  </a:ext>
                </a:extLst>
              </p:cNvPr>
              <p:cNvSpPr/>
              <p:nvPr/>
            </p:nvSpPr>
            <p:spPr>
              <a:xfrm>
                <a:off x="7804562" y="1592946"/>
                <a:ext cx="679865" cy="35849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55291F9A-05E4-31AD-756F-68B5093433CD}"/>
                  </a:ext>
                </a:extLst>
              </p:cNvPr>
              <p:cNvSpPr/>
              <p:nvPr/>
            </p:nvSpPr>
            <p:spPr>
              <a:xfrm>
                <a:off x="8822870" y="1901519"/>
                <a:ext cx="679865" cy="35849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2026B49B-5F59-30B4-AF85-CEDCBEE3BE57}"/>
                  </a:ext>
                </a:extLst>
              </p:cNvPr>
              <p:cNvSpPr/>
              <p:nvPr/>
            </p:nvSpPr>
            <p:spPr>
              <a:xfrm>
                <a:off x="10011889" y="1306317"/>
                <a:ext cx="679865" cy="35849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5CF5BF-2DC8-7D38-912F-4B81C54F63B9}"/>
                </a:ext>
              </a:extLst>
            </p:cNvPr>
            <p:cNvSpPr txBox="1"/>
            <p:nvPr/>
          </p:nvSpPr>
          <p:spPr>
            <a:xfrm>
              <a:off x="8348011" y="1172997"/>
              <a:ext cx="1001981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>
                  <a:solidFill>
                    <a:srgbClr val="C00000"/>
                  </a:solidFill>
                </a:rPr>
                <a:t>Python 3.12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685D945-1321-AEEF-36B1-7A579F337B5C}"/>
                </a:ext>
              </a:extLst>
            </p:cNvPr>
            <p:cNvSpPr txBox="1"/>
            <p:nvPr/>
          </p:nvSpPr>
          <p:spPr>
            <a:xfrm>
              <a:off x="6654394" y="1677522"/>
              <a:ext cx="1001981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>
                  <a:solidFill>
                    <a:srgbClr val="C00000"/>
                  </a:solidFill>
                </a:rPr>
                <a:t>Python 3.9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1E99496-A4DA-D0CD-367A-1DE27E2F0A6D}"/>
                </a:ext>
              </a:extLst>
            </p:cNvPr>
            <p:cNvSpPr txBox="1"/>
            <p:nvPr/>
          </p:nvSpPr>
          <p:spPr>
            <a:xfrm>
              <a:off x="7556181" y="1954626"/>
              <a:ext cx="1001981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>
                  <a:solidFill>
                    <a:srgbClr val="C00000"/>
                  </a:solidFill>
                </a:rPr>
                <a:t>Python 3.7</a:t>
              </a:r>
            </a:p>
          </p:txBody>
        </p: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098E80C-3B92-4648-5432-9E80F247CB76}"/>
              </a:ext>
            </a:extLst>
          </p:cNvPr>
          <p:cNvCxnSpPr/>
          <p:nvPr/>
        </p:nvCxnSpPr>
        <p:spPr>
          <a:xfrm>
            <a:off x="9670584" y="3693226"/>
            <a:ext cx="0" cy="564078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0554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265C6-6F3E-E159-BCCB-BF81A9767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7C3F9-71A8-FC24-43BA-7CEEF829E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Introduction to containers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AE2760-694B-59C8-C3B1-C3202ED4722D}"/>
              </a:ext>
            </a:extLst>
          </p:cNvPr>
          <p:cNvSpPr txBox="1"/>
          <p:nvPr/>
        </p:nvSpPr>
        <p:spPr>
          <a:xfrm>
            <a:off x="838200" y="1442549"/>
            <a:ext cx="640546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</a:t>
            </a:r>
            <a:r>
              <a:rPr lang="en-US" b="1" dirty="0"/>
              <a:t>have to</a:t>
            </a:r>
            <a:r>
              <a:rPr lang="en-US" dirty="0"/>
              <a:t> use containers when: </a:t>
            </a:r>
          </a:p>
          <a:p>
            <a:pPr marL="285750" indent="-285750">
              <a:buFontTx/>
              <a:buChar char="-"/>
            </a:pPr>
            <a:r>
              <a:rPr lang="en-US" dirty="0"/>
              <a:t>extremely complex dependencies</a:t>
            </a:r>
          </a:p>
          <a:p>
            <a:pPr marL="285750" indent="-285750">
              <a:buFontTx/>
              <a:buChar char="-"/>
            </a:pPr>
            <a:r>
              <a:rPr lang="en-US" dirty="0"/>
              <a:t>require a specific operating system configuration</a:t>
            </a:r>
          </a:p>
          <a:p>
            <a:pPr marL="285750" indent="-285750">
              <a:buFontTx/>
              <a:buChar char="-"/>
            </a:pPr>
            <a:r>
              <a:rPr lang="en-US" dirty="0"/>
              <a:t>need to guarantee that analysis will run identically on any system — not just Hazel</a:t>
            </a:r>
          </a:p>
          <a:p>
            <a:endParaRPr lang="en-US" dirty="0"/>
          </a:p>
          <a:p>
            <a:r>
              <a:rPr lang="en-US" dirty="0"/>
              <a:t>We 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should generally use containers</a:t>
            </a:r>
            <a:endParaRPr lang="en-US" dirty="0"/>
          </a:p>
          <a:p>
            <a:endParaRPr lang="en-US" dirty="0"/>
          </a:p>
          <a:p>
            <a:r>
              <a:rPr lang="en-US" dirty="0"/>
              <a:t>A container is like a complete mini-computer: </a:t>
            </a:r>
          </a:p>
          <a:p>
            <a:pPr marL="285750" indent="-285750">
              <a:buFontTx/>
              <a:buChar char="-"/>
            </a:pPr>
            <a:r>
              <a:rPr lang="en-US" dirty="0"/>
              <a:t>Operating system</a:t>
            </a:r>
          </a:p>
          <a:p>
            <a:pPr marL="285750" indent="-285750">
              <a:buFontTx/>
              <a:buChar char="-"/>
            </a:pPr>
            <a:r>
              <a:rPr lang="en-US" dirty="0"/>
              <a:t>Libraries</a:t>
            </a:r>
          </a:p>
          <a:p>
            <a:pPr marL="285750" indent="-285750">
              <a:buFontTx/>
              <a:buChar char="-"/>
            </a:pPr>
            <a:r>
              <a:rPr lang="en-US" dirty="0"/>
              <a:t>Software</a:t>
            </a:r>
          </a:p>
          <a:p>
            <a:r>
              <a:rPr lang="en-US" dirty="0"/>
              <a:t>You don't install the software — you just run the container. 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Module</a:t>
            </a:r>
            <a:r>
              <a:rPr lang="en-US" dirty="0"/>
              <a:t> = switch</a:t>
            </a:r>
          </a:p>
          <a:p>
            <a:r>
              <a:rPr lang="en-US" dirty="0">
                <a:solidFill>
                  <a:schemeClr val="accent6"/>
                </a:solidFill>
              </a:rPr>
              <a:t>Conda environment </a:t>
            </a:r>
            <a:r>
              <a:rPr lang="en-US" dirty="0"/>
              <a:t>= private room with switches</a:t>
            </a: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Container</a:t>
            </a:r>
            <a:r>
              <a:rPr lang="en-US" dirty="0"/>
              <a:t> = fully furnished apartment you can pick up and move anywhere.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5E3C14-0703-76A5-5414-7B911F521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428" y="1590990"/>
            <a:ext cx="6165273" cy="4281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049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7E178-611C-4A10-AB68-2E8C2C7D8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8F1C3-1BB9-9B74-0597-520B1FC41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Introduction to containers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3C4728-1E7E-65B9-D493-3DE384802022}"/>
              </a:ext>
            </a:extLst>
          </p:cNvPr>
          <p:cNvSpPr txBox="1"/>
          <p:nvPr/>
        </p:nvSpPr>
        <p:spPr>
          <a:xfrm>
            <a:off x="838200" y="1598911"/>
            <a:ext cx="4339442" cy="46166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module load </a:t>
            </a:r>
            <a:r>
              <a:rPr lang="en-US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apptainer</a:t>
            </a:r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</a:p>
          <a:p>
            <a:r>
              <a:rPr lang="en-US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apptainer</a:t>
            </a:r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exec </a:t>
            </a:r>
            <a:r>
              <a:rPr lang="en-US" sz="1200" dirty="0" err="1">
                <a:solidFill>
                  <a:schemeClr val="accent2">
                    <a:lumMod val="7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mycontainer.sif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fastqc</a:t>
            </a:r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–help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861FA9-7AF1-DC19-E5DD-5BA7E6730003}"/>
              </a:ext>
            </a:extLst>
          </p:cNvPr>
          <p:cNvSpPr txBox="1"/>
          <p:nvPr/>
        </p:nvSpPr>
        <p:spPr>
          <a:xfrm>
            <a:off x="838200" y="2270149"/>
            <a:ext cx="923342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Where do containers come from?</a:t>
            </a:r>
            <a:endParaRPr lang="en-US" dirty="0"/>
          </a:p>
          <a:p>
            <a:r>
              <a:rPr lang="en-US" b="1" dirty="0"/>
              <a:t>- Docker Hub</a:t>
            </a:r>
            <a:r>
              <a:rPr lang="en-US" dirty="0"/>
              <a:t> — the largest repository; </a:t>
            </a:r>
            <a:r>
              <a:rPr lang="en-US" dirty="0" err="1"/>
              <a:t>Apptainer</a:t>
            </a:r>
            <a:r>
              <a:rPr lang="en-US" dirty="0"/>
              <a:t> can pull and convert Docker containers directly</a:t>
            </a:r>
          </a:p>
          <a:p>
            <a:r>
              <a:rPr lang="en-US" b="1" dirty="0"/>
              <a:t>- </a:t>
            </a:r>
            <a:r>
              <a:rPr lang="en-US" b="1" dirty="0" err="1"/>
              <a:t>Biocontainers</a:t>
            </a:r>
            <a:r>
              <a:rPr lang="en-US" dirty="0"/>
              <a:t> — bioinformatics-specific containers, one per tool</a:t>
            </a:r>
          </a:p>
          <a:p>
            <a:r>
              <a:rPr lang="en-US" b="1" dirty="0"/>
              <a:t>- You build your own</a:t>
            </a:r>
            <a:r>
              <a:rPr lang="en-US" dirty="0"/>
              <a:t> — advanced</a:t>
            </a:r>
          </a:p>
          <a:p>
            <a:r>
              <a:rPr lang="en-US" dirty="0"/>
              <a:t>For most bioinformatics tools, a container already exists and you just need to pull it: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AC0079-8786-5697-F3BD-C094A7DFBFC5}"/>
              </a:ext>
            </a:extLst>
          </p:cNvPr>
          <p:cNvSpPr txBox="1"/>
          <p:nvPr/>
        </p:nvSpPr>
        <p:spPr>
          <a:xfrm>
            <a:off x="892134" y="3957050"/>
            <a:ext cx="5051466" cy="276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apptainer</a:t>
            </a:r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pull docker://</a:t>
            </a:r>
            <a:r>
              <a:rPr lang="en-US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biocontainers</a:t>
            </a:r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</a:t>
            </a:r>
            <a:r>
              <a:rPr lang="en-US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fastqc:latest</a:t>
            </a:r>
            <a:endParaRPr lang="en-US" sz="12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pic>
        <p:nvPicPr>
          <p:cNvPr id="1026" name="Picture 2" descr="Track how many times docker image was pulled | by Huseyn Gasimov |  FAUN.dev() 🐾">
            <a:extLst>
              <a:ext uri="{FF2B5EF4-FFF2-40B4-BE49-F238E27FC236}">
                <a16:creationId xmlns:a16="http://schemas.microsoft.com/office/drawing/2014/main" id="{3D8E1CF5-2AFA-7011-15DB-FDD032F33B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3667" y="1068928"/>
            <a:ext cx="2382322" cy="1243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25BDE24-2625-9843-3D38-D73FE62CF1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1626" y="4443622"/>
            <a:ext cx="7405254" cy="2318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0506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3FCFC-5B5A-48C4-991E-88A3B828A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EF8470A-62C7-5CDA-7431-1EF86C6C1BF2}"/>
              </a:ext>
            </a:extLst>
          </p:cNvPr>
          <p:cNvSpPr txBox="1">
            <a:spLocks/>
          </p:cNvSpPr>
          <p:nvPr/>
        </p:nvSpPr>
        <p:spPr>
          <a:xfrm>
            <a:off x="1646320" y="2089105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>
                <a:latin typeface="Helvetica" pitchFamily="2" charset="0"/>
              </a:rPr>
              <a:t>7. Data management</a:t>
            </a:r>
          </a:p>
        </p:txBody>
      </p:sp>
      <p:pic>
        <p:nvPicPr>
          <p:cNvPr id="2050" name="Picture 2" descr="Data management - Free seo and web icons">
            <a:extLst>
              <a:ext uri="{FF2B5EF4-FFF2-40B4-BE49-F238E27FC236}">
                <a16:creationId xmlns:a16="http://schemas.microsoft.com/office/drawing/2014/main" id="{795F056A-A7D0-3B26-1938-3D7EF394BC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8725" y="2238499"/>
            <a:ext cx="1365992" cy="1365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87964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D9C26-8755-B56F-F5E2-215BBF6A7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3FE1D-C385-9FFC-1AE0-9CF766669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Hazel storage system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2D3296-56FB-D0E5-DF87-A05D587248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8698" y="2004436"/>
            <a:ext cx="5035602" cy="3463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8375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31357-9FE2-BFA2-B6D4-3D643634F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FF5E3-E374-7D6E-8444-FE255ABC7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Globus transfers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C155B8-2756-474B-E81F-C4230EB3C6A4}"/>
              </a:ext>
            </a:extLst>
          </p:cNvPr>
          <p:cNvSpPr txBox="1"/>
          <p:nvPr/>
        </p:nvSpPr>
        <p:spPr>
          <a:xfrm>
            <a:off x="671945" y="1643650"/>
            <a:ext cx="622761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373A3C"/>
                </a:solidFill>
                <a:effectLst/>
                <a:latin typeface="Source Sans Pro" panose="020B0503030403020204" pitchFamily="34" charset="0"/>
              </a:rPr>
              <a:t>Reliability</a:t>
            </a:r>
            <a:r>
              <a:rPr lang="en-US" b="0" i="0" dirty="0">
                <a:solidFill>
                  <a:srgbClr val="373A3C"/>
                </a:solidFill>
                <a:effectLst/>
                <a:latin typeface="Source Sans Pro" panose="020B0503030403020204" pitchFamily="34" charset="0"/>
              </a:rPr>
              <a:t>: Automatic retry and resume capabilities for interrupted transfers</a:t>
            </a:r>
          </a:p>
          <a:p>
            <a:pPr algn="l"/>
            <a:endParaRPr lang="en-US" b="0" i="0" dirty="0">
              <a:solidFill>
                <a:srgbClr val="373A3C"/>
              </a:solidFill>
              <a:effectLst/>
              <a:latin typeface="Source Sans Pro" panose="020B0503030403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373A3C"/>
                </a:solidFill>
                <a:effectLst/>
                <a:latin typeface="Source Sans Pro" panose="020B0503030403020204" pitchFamily="34" charset="0"/>
              </a:rPr>
              <a:t>Speed</a:t>
            </a:r>
            <a:r>
              <a:rPr lang="en-US" b="0" i="0" dirty="0">
                <a:solidFill>
                  <a:srgbClr val="373A3C"/>
                </a:solidFill>
                <a:effectLst/>
                <a:latin typeface="Source Sans Pro" panose="020B0503030403020204" pitchFamily="34" charset="0"/>
              </a:rPr>
              <a:t>: Optimized for high-performance transfers, especially for large datasets</a:t>
            </a:r>
          </a:p>
          <a:p>
            <a:pPr algn="l"/>
            <a:endParaRPr lang="en-US" b="0" i="0" dirty="0">
              <a:solidFill>
                <a:srgbClr val="373A3C"/>
              </a:solidFill>
              <a:effectLst/>
              <a:latin typeface="Source Sans Pro" panose="020B0503030403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373A3C"/>
                </a:solidFill>
                <a:effectLst/>
                <a:latin typeface="Source Sans Pro" panose="020B0503030403020204" pitchFamily="34" charset="0"/>
              </a:rPr>
              <a:t>Convenience</a:t>
            </a:r>
            <a:r>
              <a:rPr lang="en-US" b="0" i="0" dirty="0">
                <a:solidFill>
                  <a:srgbClr val="373A3C"/>
                </a:solidFill>
                <a:effectLst/>
                <a:latin typeface="Source Sans Pro" panose="020B0503030403020204" pitchFamily="34" charset="0"/>
              </a:rPr>
              <a:t>: Transfers continue in the background; no need to keep your browser open</a:t>
            </a:r>
          </a:p>
          <a:p>
            <a:pPr algn="l"/>
            <a:endParaRPr lang="en-US" b="0" i="0" dirty="0">
              <a:solidFill>
                <a:srgbClr val="373A3C"/>
              </a:solidFill>
              <a:effectLst/>
              <a:latin typeface="Source Sans Pro" panose="020B0503030403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373A3C"/>
                </a:solidFill>
                <a:effectLst/>
                <a:latin typeface="Source Sans Pro" panose="020B0503030403020204" pitchFamily="34" charset="0"/>
              </a:rPr>
              <a:t>Security</a:t>
            </a:r>
            <a:r>
              <a:rPr lang="en-US" b="0" i="0" dirty="0">
                <a:solidFill>
                  <a:srgbClr val="373A3C"/>
                </a:solidFill>
                <a:effectLst/>
                <a:latin typeface="Source Sans Pro" panose="020B0503030403020204" pitchFamily="34" charset="0"/>
              </a:rPr>
              <a:t>: End-to-end encryption and authentication through institutional credentials</a:t>
            </a:r>
          </a:p>
          <a:p>
            <a:pPr algn="l"/>
            <a:endParaRPr lang="en-US" b="0" i="0" dirty="0">
              <a:solidFill>
                <a:srgbClr val="373A3C"/>
              </a:solidFill>
              <a:effectLst/>
              <a:latin typeface="Source Sans Pro" panose="020B0503030403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373A3C"/>
                </a:solidFill>
                <a:effectLst/>
                <a:latin typeface="Source Sans Pro" panose="020B0503030403020204" pitchFamily="34" charset="0"/>
              </a:rPr>
              <a:t>Scalability</a:t>
            </a:r>
            <a:r>
              <a:rPr lang="en-US" b="0" i="0" dirty="0">
                <a:solidFill>
                  <a:srgbClr val="373A3C"/>
                </a:solidFill>
                <a:effectLst/>
                <a:latin typeface="Source Sans Pro" panose="020B0503030403020204" pitchFamily="34" charset="0"/>
              </a:rPr>
              <a:t>: Efficiently handles transfers from single files to millions of files</a:t>
            </a:r>
          </a:p>
          <a:p>
            <a:pPr algn="l"/>
            <a:endParaRPr lang="en-US" b="0" i="0" dirty="0">
              <a:solidFill>
                <a:srgbClr val="373A3C"/>
              </a:solidFill>
              <a:effectLst/>
              <a:latin typeface="Source Sans Pro" panose="020B0503030403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373A3C"/>
                </a:solidFill>
                <a:effectLst/>
                <a:latin typeface="Source Sans Pro" panose="020B0503030403020204" pitchFamily="34" charset="0"/>
              </a:rPr>
              <a:t>Sharing</a:t>
            </a:r>
            <a:r>
              <a:rPr lang="en-US" b="0" i="0" dirty="0">
                <a:solidFill>
                  <a:srgbClr val="373A3C"/>
                </a:solidFill>
                <a:effectLst/>
                <a:latin typeface="Source Sans Pro" panose="020B0503030403020204" pitchFamily="34" charset="0"/>
              </a:rPr>
              <a:t>: Easy and secure data sharing with collaborators at other institutions</a:t>
            </a:r>
          </a:p>
        </p:txBody>
      </p:sp>
      <p:pic>
        <p:nvPicPr>
          <p:cNvPr id="3074" name="Picture 2" descr="HOWTO: Use Globus (Overview) | Ohio Supercomputer Center">
            <a:extLst>
              <a:ext uri="{FF2B5EF4-FFF2-40B4-BE49-F238E27FC236}">
                <a16:creationId xmlns:a16="http://schemas.microsoft.com/office/drawing/2014/main" id="{6E875A50-2BF4-7213-911D-34D145F06D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9577" y="286645"/>
            <a:ext cx="1069649" cy="965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Data Transfer With Globus">
            <a:extLst>
              <a:ext uri="{FF2B5EF4-FFF2-40B4-BE49-F238E27FC236}">
                <a16:creationId xmlns:a16="http://schemas.microsoft.com/office/drawing/2014/main" id="{81C90500-73EC-108C-ABDE-9B8D021DB2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5539" y="1925678"/>
            <a:ext cx="4064516" cy="3269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9241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901</Words>
  <Application>Microsoft Macintosh PowerPoint</Application>
  <PresentationFormat>Widescreen</PresentationFormat>
  <Paragraphs>155</Paragraphs>
  <Slides>12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Arial</vt:lpstr>
      <vt:lpstr>Calibri</vt:lpstr>
      <vt:lpstr>Calibri Light</vt:lpstr>
      <vt:lpstr>Helvetica</vt:lpstr>
      <vt:lpstr>Helvetica Light</vt:lpstr>
      <vt:lpstr>Menlo</vt:lpstr>
      <vt:lpstr>Source Sans Pro</vt:lpstr>
      <vt:lpstr>Office Theme</vt:lpstr>
      <vt:lpstr>BRC workshops: Hazel HPC</vt:lpstr>
      <vt:lpstr>Leave us your feedback!</vt:lpstr>
      <vt:lpstr>Workshop Structure</vt:lpstr>
      <vt:lpstr>PowerPoint Presentation</vt:lpstr>
      <vt:lpstr>Software in the HPC</vt:lpstr>
      <vt:lpstr>Introduction to modules</vt:lpstr>
      <vt:lpstr>Introduction to virtual environments</vt:lpstr>
      <vt:lpstr>Introduction to containers</vt:lpstr>
      <vt:lpstr>Introduction to containers</vt:lpstr>
      <vt:lpstr>PowerPoint Presentation</vt:lpstr>
      <vt:lpstr>Hazel storage system</vt:lpstr>
      <vt:lpstr>Globus transfers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Touceda Suarez</dc:creator>
  <cp:lastModifiedBy>Maria Touceda Suarez</cp:lastModifiedBy>
  <cp:revision>3</cp:revision>
  <dcterms:created xsi:type="dcterms:W3CDTF">2026-04-16T17:48:47Z</dcterms:created>
  <dcterms:modified xsi:type="dcterms:W3CDTF">2026-04-21T14:43:17Z</dcterms:modified>
</cp:coreProperties>
</file>