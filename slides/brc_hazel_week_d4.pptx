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301" r:id="rId3"/>
    <p:sldId id="258" r:id="rId4"/>
    <p:sldId id="260" r:id="rId5"/>
    <p:sldId id="303" r:id="rId6"/>
    <p:sldId id="308" r:id="rId7"/>
    <p:sldId id="304" r:id="rId8"/>
    <p:sldId id="305" r:id="rId9"/>
    <p:sldId id="302" r:id="rId10"/>
    <p:sldId id="306" r:id="rId11"/>
    <p:sldId id="30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485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9"/>
    <p:restoredTop sz="94720"/>
  </p:normalViewPr>
  <p:slideViewPr>
    <p:cSldViewPr snapToGrid="0">
      <p:cViewPr varScale="1">
        <p:scale>
          <a:sx n="204" d="100"/>
          <a:sy n="204" d="100"/>
        </p:scale>
        <p:origin x="232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9CC4-35C2-F643-8821-8A26B4C2EFBC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F6A67-FBC6-F54C-BBC9-1BD757A835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84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35D4-F734-C573-2A24-CD94C09A3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2439-E69F-F5C4-9126-5E66298AF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8540D-111F-DAA4-E2E6-7A34FFD2A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614E0-5C3B-5B0E-C407-AC2A81451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4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A51FF-142D-BAB4-0EAB-5E0DE4A2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FD182-8092-7B65-A44D-049B2737F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17822-D831-67C5-E45F-D4F9E198D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49C68-614D-A7AC-EFB5-4C217D30F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2985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CF3F-4650-B3D0-7F67-CF42CEAE0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7D2B0-6C64-D955-B783-0D7E7A6AC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6A5BB-D763-47B3-F8A7-2B2055D88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realpython.com</a:t>
            </a:r>
            <a:r>
              <a:rPr lang="en-US" dirty="0"/>
              <a:t>/python-virtual-environments-a-primer/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3F343-2CD5-1569-DF70-73256235F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474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CC0C-E0D9-F3F0-5FAB-084E6BCE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C3E39-CBCB-34D5-5F6B-BCAA79058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E61E1-4FFC-B3AC-A1C3-A0B772F4E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A5970-D072-FD1F-21FF-0BD6BF068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B57B1-8152-0CAF-1148-5F11ADB3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C6D49-0EC3-8BF0-5064-41EF54C39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D6E57E-8910-59DE-B293-7EB43AD3D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7AFDC-D1E8-D0D1-63A2-7BD604432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04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EC249-14DD-35C3-7AA4-D4BD8CCC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E9EB2-BFA1-0FC8-6716-E36E2FD50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5EE962-FD7B-D588-6F3D-26A5404EE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11D55-FC6F-64CA-45BA-AD0CEBCB2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61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B38D1-052F-2C61-9535-819B1D0B1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0F261A-0EEB-A8C1-50BA-85BEDAC392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849E-F07F-5C38-939C-AD172595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405C2-1BE2-1D52-2F6E-4933DDF8A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59C0D-6EB3-73D0-E3EB-8CA8A46D3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724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E451E-C1EC-91C9-0D7C-9567BF656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9C9D9-35A2-E564-18AE-A6685D9C5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43C56-B41C-6C34-1587-069942096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DCFA0C-59DD-8412-53EC-31070347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7B104-27CA-CACD-30A6-0D3E56C8B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46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603C5-2336-90B0-AD08-B0BF59237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C7875-10EF-259B-9EED-40163B6B5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0536A-EDCD-9FFE-34BA-7674600AD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6235C-BB47-FE6B-DFB8-718A88470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DA01A-66BC-1F72-14F5-FB6DB8241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687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C452-94A0-5773-E061-DE3079BE3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73F24-9009-74D5-4E32-A0A0698DA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2716B-9F45-BF2C-D13F-1ADC741BE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FD5F9-3E5F-F4AD-CAFD-DC9CEC38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24050-D0D3-5217-7B70-376395A54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7DD9A4-864E-43DA-6FC1-3D2E335EC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847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2DF6-7E93-B3C7-AC7A-7202576C8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AD892A-846D-A4F6-32B2-27CF5DA9E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66E12-415C-A0AD-672A-F016EC30B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13C645-D0BF-D046-9DD3-8EF6C76F97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B7F2E0-3DDA-2E4B-D117-90EE3D61CF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E5D443-8D94-DC1E-529D-C6FA9E9B8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43828A-18E1-C827-1D62-6DB6CF0AD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63EE5F-F0B5-5E55-63DB-EBDD9962D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8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2354-0A99-5AFB-4E34-4D92C88F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9C66D1-CACC-A620-97CB-FC78281CD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009DF-3632-4582-BF98-441F1806F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44697-8960-0456-51A8-4405EB1D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225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8F576E-1195-AB50-B3CD-07979D789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E70E8C-70D2-9B4E-F981-CCF0A9EE0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036-D501-8FF9-0652-BC6D4157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6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60720-0F51-3B0A-BAF9-3946B7D84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4ADA-4777-000B-90C5-D999BFE1F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42598B-4362-01CC-051F-9AAE4AE491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34B61-7FD1-C22D-4160-0507EDE14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05C159-47C7-7260-4C47-36A5DE7F9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07B9A-418B-0EF1-5E9C-847CE5F54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762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4DAF3-399D-8543-FF6F-4245E8136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BEBA84-61A2-B9C6-B971-51AE817F47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476E39-F099-8DBE-EC98-9F10F0A944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BDA98-0533-8E59-257F-7C75E319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F83B01-9F29-39EA-227F-34EF12F44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3110DE-EDAB-3C11-9FD3-8D81EBD88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50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1674-3B1F-0CD4-CE72-1E1C8096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9A1A92-34CC-4F0A-21C0-B0CDDFEE9F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3651F-5D5F-CC46-436E-96B4F8818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FADE5-9BC4-CCE6-325D-DAD449AAF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7C382-DAF4-6712-DA7D-0DF01C855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056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217DDD-02A9-2077-F376-C84B9E9F72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2EC972-B4D5-C5DE-D69D-3BD30A08D9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4E9B3-A115-0D94-7F9A-996A94DAF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B65ED-50D3-90F9-0F11-E816A447B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9BAFE-C456-C878-91BA-6BEC91F8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277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484F9-E3A4-9023-0A8A-B8111DB97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A26391-2579-2F34-0548-DF5103CCD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DE1D4-D183-5761-4561-CF4F9B0C32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22428-1601-1349-B82F-394AB362B94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DDE92-6270-2F5A-8B14-B2E45CC89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438A6-74EF-DE90-FB41-4176630FD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B431B7-7D8C-7642-A2CB-A7FEB0746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4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67C0-23A6-8F2C-1689-D8BD4A649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446" y="-317832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" pitchFamily="2" charset="0"/>
              </a:rPr>
              <a:t>BRC workshops: Hazel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475B53-3C78-14C7-0A86-007CDFBEE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6304" y="5083907"/>
            <a:ext cx="4571707" cy="1655762"/>
          </a:xfrm>
        </p:spPr>
        <p:txBody>
          <a:bodyPr/>
          <a:lstStyle/>
          <a:p>
            <a:pPr algn="l"/>
            <a:r>
              <a:rPr lang="en-US" sz="1800" dirty="0">
                <a:latin typeface="Helvetica" pitchFamily="2" charset="0"/>
              </a:rPr>
              <a:t>María (Mery) Touceda-Suárez,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Bonnie Hurwitz, PhD</a:t>
            </a:r>
          </a:p>
          <a:p>
            <a:pPr algn="l"/>
            <a:r>
              <a:rPr lang="en-US" sz="1800" dirty="0">
                <a:latin typeface="Helvetica" pitchFamily="2" charset="0"/>
              </a:rPr>
              <a:t>February 4</a:t>
            </a:r>
            <a:r>
              <a:rPr lang="en-US" sz="1800" baseline="30000" dirty="0">
                <a:latin typeface="Helvetica" pitchFamily="2" charset="0"/>
              </a:rPr>
              <a:t>th</a:t>
            </a:r>
            <a:r>
              <a:rPr lang="en-US" sz="1800" dirty="0">
                <a:latin typeface="Helvetica" pitchFamily="2" charset="0"/>
              </a:rPr>
              <a:t> 2025</a:t>
            </a:r>
          </a:p>
          <a:p>
            <a:pPr algn="l"/>
            <a:endParaRPr lang="en-US" sz="1800" dirty="0">
              <a:latin typeface="Helvetica" pitchFamily="2" charset="0"/>
            </a:endParaRPr>
          </a:p>
          <a:p>
            <a:pPr algn="l"/>
            <a:endParaRPr lang="en-US" dirty="0">
              <a:latin typeface="Helvetica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7AC2D-444B-731B-DFF6-6109D5E95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304" y="1083584"/>
            <a:ext cx="990499" cy="986184"/>
          </a:xfrm>
          <a:prstGeom prst="rect">
            <a:avLst/>
          </a:prstGeom>
        </p:spPr>
      </p:pic>
      <p:pic>
        <p:nvPicPr>
          <p:cNvPr id="1028" name="Picture 4" descr="MareNostrum | BSC-CNS">
            <a:extLst>
              <a:ext uri="{FF2B5EF4-FFF2-40B4-BE49-F238E27FC236}">
                <a16:creationId xmlns:a16="http://schemas.microsoft.com/office/drawing/2014/main" id="{EF184E16-8F51-53FC-F99E-1F365F6BB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930" y="2331378"/>
            <a:ext cx="5682192" cy="378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184E01-97E4-E0D9-7385-12F68039586B}"/>
              </a:ext>
            </a:extLst>
          </p:cNvPr>
          <p:cNvSpPr txBox="1"/>
          <p:nvPr/>
        </p:nvSpPr>
        <p:spPr>
          <a:xfrm>
            <a:off x="8591678" y="6113669"/>
            <a:ext cx="27991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Helvetica Light" panose="020B0403020202020204" pitchFamily="34" charset="0"/>
              </a:rPr>
              <a:t>Mare Nostrum supercomputer, Barcelona</a:t>
            </a:r>
          </a:p>
        </p:txBody>
      </p:sp>
    </p:spTree>
    <p:extLst>
      <p:ext uri="{BB962C8B-B14F-4D97-AF65-F5344CB8AC3E}">
        <p14:creationId xmlns:p14="http://schemas.microsoft.com/office/powerpoint/2010/main" val="131575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49598-BD4D-70E9-70C2-7215FDC05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1D083-096E-849D-8015-B191ED5D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Leave us your feedback!</a:t>
            </a:r>
          </a:p>
        </p:txBody>
      </p:sp>
      <p:pic>
        <p:nvPicPr>
          <p:cNvPr id="2050" name="Picture 2" descr="Suggestion - Free communications icons">
            <a:extLst>
              <a:ext uri="{FF2B5EF4-FFF2-40B4-BE49-F238E27FC236}">
                <a16:creationId xmlns:a16="http://schemas.microsoft.com/office/drawing/2014/main" id="{5020596A-D3B5-18D2-1D37-3B88E5CD7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2760" y="1866375"/>
            <a:ext cx="611909" cy="61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C98279-5765-9BFA-2B15-04A8FEDAA130}"/>
              </a:ext>
            </a:extLst>
          </p:cNvPr>
          <p:cNvSpPr txBox="1"/>
          <p:nvPr/>
        </p:nvSpPr>
        <p:spPr>
          <a:xfrm>
            <a:off x="1794669" y="2206232"/>
            <a:ext cx="65915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Please let us know if you have suggestions!</a:t>
            </a:r>
          </a:p>
          <a:p>
            <a:endParaRPr lang="en-US" dirty="0">
              <a:latin typeface="Helvetica" pitchFamily="2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What did you like about this workshop?</a:t>
            </a: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What could be improved?</a:t>
            </a:r>
          </a:p>
          <a:p>
            <a:pPr marL="342900" indent="-342900">
              <a:buAutoNum type="arabicPeriod"/>
            </a:pPr>
            <a:r>
              <a:rPr lang="en-US" dirty="0">
                <a:latin typeface="Helvetica" pitchFamily="2" charset="0"/>
              </a:rPr>
              <a:t>Any suggestions for the following sessions (i.e. change in order, other topics, special interests)</a:t>
            </a:r>
          </a:p>
        </p:txBody>
      </p:sp>
      <p:pic>
        <p:nvPicPr>
          <p:cNvPr id="5122" name="Picture 2" descr="Pen Icon Graphic by rudezstudio · Creative Fabrica">
            <a:extLst>
              <a:ext uri="{FF2B5EF4-FFF2-40B4-BE49-F238E27FC236}">
                <a16:creationId xmlns:a16="http://schemas.microsoft.com/office/drawing/2014/main" id="{0DEEB3E2-D200-94F1-EB2C-1F94DD52C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365" y="340845"/>
            <a:ext cx="1576712" cy="1049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438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88E0-0485-9661-4A27-6423D1D9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Workshop 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C10CA1-46F0-A2BF-0272-C7AE93EEBB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639997"/>
              </p:ext>
            </p:extLst>
          </p:nvPr>
        </p:nvGraphicFramePr>
        <p:xfrm>
          <a:off x="838200" y="1647725"/>
          <a:ext cx="10366169" cy="461815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455">
                  <a:extLst>
                    <a:ext uri="{9D8B030D-6E8A-4147-A177-3AD203B41FA5}">
                      <a16:colId xmlns:a16="http://schemas.microsoft.com/office/drawing/2014/main" val="3588077064"/>
                    </a:ext>
                  </a:extLst>
                </a:gridCol>
                <a:gridCol w="1553775">
                  <a:extLst>
                    <a:ext uri="{9D8B030D-6E8A-4147-A177-3AD203B41FA5}">
                      <a16:colId xmlns:a16="http://schemas.microsoft.com/office/drawing/2014/main" val="2921729674"/>
                    </a:ext>
                  </a:extLst>
                </a:gridCol>
                <a:gridCol w="1494395">
                  <a:extLst>
                    <a:ext uri="{9D8B030D-6E8A-4147-A177-3AD203B41FA5}">
                      <a16:colId xmlns:a16="http://schemas.microsoft.com/office/drawing/2014/main" val="3051897964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2317395656"/>
                    </a:ext>
                  </a:extLst>
                </a:gridCol>
                <a:gridCol w="1393727">
                  <a:extLst>
                    <a:ext uri="{9D8B030D-6E8A-4147-A177-3AD203B41FA5}">
                      <a16:colId xmlns:a16="http://schemas.microsoft.com/office/drawing/2014/main" val="4058881113"/>
                    </a:ext>
                  </a:extLst>
                </a:gridCol>
                <a:gridCol w="1467082">
                  <a:extLst>
                    <a:ext uri="{9D8B030D-6E8A-4147-A177-3AD203B41FA5}">
                      <a16:colId xmlns:a16="http://schemas.microsoft.com/office/drawing/2014/main" val="1121361333"/>
                    </a:ext>
                  </a:extLst>
                </a:gridCol>
                <a:gridCol w="1463008">
                  <a:extLst>
                    <a:ext uri="{9D8B030D-6E8A-4147-A177-3AD203B41FA5}">
                      <a16:colId xmlns:a16="http://schemas.microsoft.com/office/drawing/2014/main" val="3820744059"/>
                    </a:ext>
                  </a:extLst>
                </a:gridCol>
              </a:tblGrid>
              <a:tr h="277386"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Day 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latin typeface="Helvetica" pitchFamily="2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561491"/>
                  </a:ext>
                </a:extLst>
              </a:tr>
              <a:tr h="888907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1. HPC fundamentals &amp; Introduction to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2. Running jobs on Hazel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3. Submitting job arrays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4. Job performance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5. Login node scripts with GNU parallel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6. Software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Helvetica" pitchFamily="2" charset="0"/>
                        </a:rPr>
                        <a:t>7. Data management + Globus 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070096"/>
                  </a:ext>
                </a:extLst>
              </a:tr>
              <a:tr h="3402714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Core HPC Concepts (CPU/GPU, Node/Core)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Navigate the Hazel HPC Environment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Get started with obtaining a HPC account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Learning ways to transfer files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Bonus! Basics of Unix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LSF job submission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Running an interactive job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first job script and submit it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some commands to monitor your jobs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the use cases for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the computation behind job arrays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the scripts needed to submit a job array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job array and submit it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estimate job requirements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Analyze the performance of a job</a:t>
                      </a: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basic scaling analysis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how to run processes in the login node without causing issues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about GNU parallel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Run two examples on data downloading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modules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virtual environments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Introduction to containers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Learn how to load software using modules, </a:t>
                      </a:r>
                      <a:r>
                        <a:rPr lang="en-US" sz="1050" dirty="0" err="1">
                          <a:latin typeface="Helvetica" pitchFamily="2" charset="0"/>
                        </a:rPr>
                        <a:t>conda</a:t>
                      </a:r>
                      <a:r>
                        <a:rPr lang="en-US" sz="1050" dirty="0">
                          <a:latin typeface="Helvetica" pitchFamily="2" charset="0"/>
                        </a:rPr>
                        <a:t>, containers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Manage data across the Hazel storage system.</a:t>
                      </a:r>
                    </a:p>
                    <a:p>
                      <a:r>
                        <a:rPr lang="en-US" sz="1050" dirty="0">
                          <a:latin typeface="Helvetica" pitchFamily="2" charset="0"/>
                        </a:rPr>
                        <a:t>Know when and how to use: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Research Storage (RS1)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 err="1">
                          <a:latin typeface="Helvetica" pitchFamily="2" charset="0"/>
                        </a:rPr>
                        <a:t>Usrapps</a:t>
                      </a: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Scratch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How to mount your RS1</a:t>
                      </a:r>
                    </a:p>
                    <a:p>
                      <a:pPr marL="0" indent="0">
                        <a:buFontTx/>
                        <a:buNone/>
                      </a:pPr>
                      <a:endParaRPr lang="en-US" sz="1050" dirty="0">
                        <a:latin typeface="Helvetica" pitchFamily="2" charset="0"/>
                      </a:endParaRP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050" dirty="0">
                          <a:latin typeface="Helvetica" pitchFamily="2" charset="0"/>
                        </a:rPr>
                        <a:t>Globus: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Understand endpoints and transfers. 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Create a local and Google Drive endpoint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50" dirty="0">
                          <a:latin typeface="Helvetica" pitchFamily="2" charset="0"/>
                        </a:rPr>
                        <a:t>Perform transfers with HPC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8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31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" pitchFamily="2" charset="0"/>
              </a:rPr>
              <a:t>6. Software</a:t>
            </a:r>
          </a:p>
        </p:txBody>
      </p:sp>
      <p:pic>
        <p:nvPicPr>
          <p:cNvPr id="1026" name="Picture 2" descr="Software - Free computer icons">
            <a:extLst>
              <a:ext uri="{FF2B5EF4-FFF2-40B4-BE49-F238E27FC236}">
                <a16:creationId xmlns:a16="http://schemas.microsoft.com/office/drawing/2014/main" id="{90307FDE-986B-CAFD-B54C-EAD152D20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032" y="2451264"/>
            <a:ext cx="1248229" cy="1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AF49B-F4D4-672E-CBAC-B59D767AF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3F50-ADB6-FEBA-66C6-B06489CA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Software in the HPC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014DC6-081A-2DDE-8E9F-F46235054A85}"/>
              </a:ext>
            </a:extLst>
          </p:cNvPr>
          <p:cNvSpPr txBox="1"/>
          <p:nvPr/>
        </p:nvSpPr>
        <p:spPr>
          <a:xfrm>
            <a:off x="1141022" y="4194749"/>
            <a:ext cx="93211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Software import tools available: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Modules</a:t>
            </a:r>
            <a:r>
              <a:rPr lang="en-US" dirty="0"/>
              <a:t> — for software HPC staff have already installed and maintain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Conda environments</a:t>
            </a:r>
            <a:r>
              <a:rPr lang="en-US" dirty="0"/>
              <a:t> — for when you need to install and manage your own packages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Containers</a:t>
            </a:r>
            <a:r>
              <a:rPr lang="en-US" dirty="0"/>
              <a:t> — for when you need complete reproducibility or complex dependencies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F4450A0-3018-C0D0-AF89-35066F28761E}"/>
              </a:ext>
            </a:extLst>
          </p:cNvPr>
          <p:cNvGrpSpPr/>
          <p:nvPr/>
        </p:nvGrpSpPr>
        <p:grpSpPr>
          <a:xfrm>
            <a:off x="2358941" y="1791869"/>
            <a:ext cx="1152496" cy="1250232"/>
            <a:chOff x="2051465" y="1473562"/>
            <a:chExt cx="1152496" cy="1250232"/>
          </a:xfrm>
        </p:grpSpPr>
        <p:pic>
          <p:nvPicPr>
            <p:cNvPr id="7" name="Picture 6" descr="What Is HPC? - UArizona HPC Documentation">
              <a:extLst>
                <a:ext uri="{FF2B5EF4-FFF2-40B4-BE49-F238E27FC236}">
                  <a16:creationId xmlns:a16="http://schemas.microsoft.com/office/drawing/2014/main" id="{347103D3-F691-6F49-3E3F-71ACF2B4B2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664" r="57602"/>
            <a:stretch>
              <a:fillRect/>
            </a:stretch>
          </p:blipFill>
          <p:spPr bwMode="auto">
            <a:xfrm>
              <a:off x="2051465" y="1521481"/>
              <a:ext cx="1018308" cy="1202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1B049C6-544D-D0B1-F5AC-9BB14922A3D4}"/>
                </a:ext>
              </a:extLst>
            </p:cNvPr>
            <p:cNvSpPr/>
            <p:nvPr/>
          </p:nvSpPr>
          <p:spPr>
            <a:xfrm>
              <a:off x="2402377" y="1473562"/>
              <a:ext cx="801584" cy="368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9E793B-409E-3CBB-EBA4-FD5CE2AA626A}"/>
              </a:ext>
            </a:extLst>
          </p:cNvPr>
          <p:cNvGrpSpPr/>
          <p:nvPr/>
        </p:nvGrpSpPr>
        <p:grpSpPr>
          <a:xfrm>
            <a:off x="6754587" y="987033"/>
            <a:ext cx="2692234" cy="1968176"/>
            <a:chOff x="7441873" y="644510"/>
            <a:chExt cx="3420091" cy="2495088"/>
          </a:xfrm>
        </p:grpSpPr>
        <p:pic>
          <p:nvPicPr>
            <p:cNvPr id="8" name="Picture 7" descr="What Is HPC? - UArizona HPC Documentation">
              <a:extLst>
                <a:ext uri="{FF2B5EF4-FFF2-40B4-BE49-F238E27FC236}">
                  <a16:creationId xmlns:a16="http://schemas.microsoft.com/office/drawing/2014/main" id="{65AB546E-5503-B817-1C34-157DD25B06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0181" y="1405560"/>
              <a:ext cx="2401783" cy="173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What Is HPC? - UArizona HPC Documentation">
              <a:extLst>
                <a:ext uri="{FF2B5EF4-FFF2-40B4-BE49-F238E27FC236}">
                  <a16:creationId xmlns:a16="http://schemas.microsoft.com/office/drawing/2014/main" id="{01D908A9-68B3-7395-16D9-507DCDEBF0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664" r="57602"/>
            <a:stretch>
              <a:fillRect/>
            </a:stretch>
          </p:blipFill>
          <p:spPr bwMode="auto">
            <a:xfrm>
              <a:off x="7441873" y="1627030"/>
              <a:ext cx="1018308" cy="1202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What Is HPC? - UArizona HPC Documentation">
              <a:extLst>
                <a:ext uri="{FF2B5EF4-FFF2-40B4-BE49-F238E27FC236}">
                  <a16:creationId xmlns:a16="http://schemas.microsoft.com/office/drawing/2014/main" id="{D6F13731-B45F-49C2-B74D-67FB39106E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664" r="57602"/>
            <a:stretch>
              <a:fillRect/>
            </a:stretch>
          </p:blipFill>
          <p:spPr bwMode="auto">
            <a:xfrm>
              <a:off x="8508674" y="669410"/>
              <a:ext cx="1018308" cy="1202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74BA47-6333-17DB-DB29-150936889D09}"/>
                </a:ext>
              </a:extLst>
            </p:cNvPr>
            <p:cNvSpPr/>
            <p:nvPr/>
          </p:nvSpPr>
          <p:spPr>
            <a:xfrm>
              <a:off x="8871364" y="644510"/>
              <a:ext cx="679865" cy="3584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0DD9FD-8F16-3B6D-DD23-B6CF2F586CAB}"/>
                </a:ext>
              </a:extLst>
            </p:cNvPr>
            <p:cNvSpPr/>
            <p:nvPr/>
          </p:nvSpPr>
          <p:spPr>
            <a:xfrm>
              <a:off x="7804562" y="1592946"/>
              <a:ext cx="679865" cy="3584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07C784F-2F1A-7135-B28D-6B3D0CAD4344}"/>
                </a:ext>
              </a:extLst>
            </p:cNvPr>
            <p:cNvSpPr/>
            <p:nvPr/>
          </p:nvSpPr>
          <p:spPr>
            <a:xfrm>
              <a:off x="8822870" y="1901519"/>
              <a:ext cx="679865" cy="3584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9F1F70-1117-3714-AE7C-779FC253ADAF}"/>
                </a:ext>
              </a:extLst>
            </p:cNvPr>
            <p:cNvSpPr/>
            <p:nvPr/>
          </p:nvSpPr>
          <p:spPr>
            <a:xfrm>
              <a:off x="10011889" y="1306317"/>
              <a:ext cx="679865" cy="3584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26128E8-39CA-6D94-5FBF-1A1F7EEDA16A}"/>
              </a:ext>
            </a:extLst>
          </p:cNvPr>
          <p:cNvSpPr txBox="1"/>
          <p:nvPr/>
        </p:nvSpPr>
        <p:spPr>
          <a:xfrm>
            <a:off x="2223032" y="3141148"/>
            <a:ext cx="21745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Personal machine; </a:t>
            </a:r>
          </a:p>
          <a:p>
            <a:r>
              <a:rPr lang="en-US" dirty="0"/>
              <a:t>1 installation; simple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F13570-31BD-2DF3-4B97-702356F14DD9}"/>
              </a:ext>
            </a:extLst>
          </p:cNvPr>
          <p:cNvSpPr txBox="1"/>
          <p:nvPr/>
        </p:nvSpPr>
        <p:spPr>
          <a:xfrm>
            <a:off x="6640309" y="3100664"/>
            <a:ext cx="2709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HPC – multiple installations – conflicts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C3DD9-AAC2-9081-7949-832189ECB589}"/>
              </a:ext>
            </a:extLst>
          </p:cNvPr>
          <p:cNvSpPr/>
          <p:nvPr/>
        </p:nvSpPr>
        <p:spPr>
          <a:xfrm>
            <a:off x="2090058" y="1839788"/>
            <a:ext cx="2375064" cy="2003261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B0DAC1-6932-CB49-F746-D5DCB116F160}"/>
              </a:ext>
            </a:extLst>
          </p:cNvPr>
          <p:cNvSpPr/>
          <p:nvPr/>
        </p:nvSpPr>
        <p:spPr>
          <a:xfrm>
            <a:off x="6528459" y="1084723"/>
            <a:ext cx="3108067" cy="2758326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5FF2D7-14F0-A371-8002-DD80EF26F081}"/>
              </a:ext>
            </a:extLst>
          </p:cNvPr>
          <p:cNvSpPr txBox="1"/>
          <p:nvPr/>
        </p:nvSpPr>
        <p:spPr>
          <a:xfrm>
            <a:off x="8348011" y="1172997"/>
            <a:ext cx="10019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Python 3.12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8C13D-F639-992F-4F8F-7FC84DF483AE}"/>
              </a:ext>
            </a:extLst>
          </p:cNvPr>
          <p:cNvSpPr txBox="1"/>
          <p:nvPr/>
        </p:nvSpPr>
        <p:spPr>
          <a:xfrm>
            <a:off x="6654394" y="1677522"/>
            <a:ext cx="10019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Python 3.9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224570-2CF9-37A1-384C-77645919911B}"/>
              </a:ext>
            </a:extLst>
          </p:cNvPr>
          <p:cNvSpPr txBox="1"/>
          <p:nvPr/>
        </p:nvSpPr>
        <p:spPr>
          <a:xfrm>
            <a:off x="7556181" y="1954626"/>
            <a:ext cx="10019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Python 3.7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DFAEBE-B8A9-62B0-DE51-B6B0A3CE028E}"/>
              </a:ext>
            </a:extLst>
          </p:cNvPr>
          <p:cNvSpPr txBox="1"/>
          <p:nvPr/>
        </p:nvSpPr>
        <p:spPr>
          <a:xfrm>
            <a:off x="2727087" y="1954626"/>
            <a:ext cx="100198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Python 3.9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B5144A-FFC7-310A-EFFE-8C614F7BC649}"/>
              </a:ext>
            </a:extLst>
          </p:cNvPr>
          <p:cNvSpPr txBox="1"/>
          <p:nvPr/>
        </p:nvSpPr>
        <p:spPr>
          <a:xfrm>
            <a:off x="2682647" y="5646359"/>
            <a:ext cx="6095010" cy="646331"/>
          </a:xfrm>
          <a:prstGeom prst="rect">
            <a:avLst/>
          </a:prstGeom>
          <a:solidFill>
            <a:srgbClr val="FF0000">
              <a:alpha val="29804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These </a:t>
            </a:r>
            <a:r>
              <a:rPr lang="en-US" b="1" dirty="0"/>
              <a:t>aren't competing approaches</a:t>
            </a:r>
            <a:r>
              <a:rPr lang="en-US" dirty="0"/>
              <a:t>, they're tools for different situations. You'll probably use all three at different points.</a:t>
            </a:r>
          </a:p>
        </p:txBody>
      </p:sp>
    </p:spTree>
    <p:extLst>
      <p:ext uri="{BB962C8B-B14F-4D97-AF65-F5344CB8AC3E}">
        <p14:creationId xmlns:p14="http://schemas.microsoft.com/office/powerpoint/2010/main" val="1907772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0E4AB-05F8-C9BB-CB2D-52165EBE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6C6FA-F5FE-3562-170E-4DBD7F7B2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modules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BCB1A5-6A27-6CFE-186B-3584E5118D96}"/>
              </a:ext>
            </a:extLst>
          </p:cNvPr>
          <p:cNvSpPr txBox="1"/>
          <p:nvPr/>
        </p:nvSpPr>
        <p:spPr>
          <a:xfrm>
            <a:off x="951510" y="1423681"/>
            <a:ext cx="831124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software is already installed on the cluster, but it's switched off by default to avoid conflicts. </a:t>
            </a:r>
          </a:p>
          <a:p>
            <a:r>
              <a:rPr lang="en-US" dirty="0"/>
              <a:t>Load a module = "I want to use this version of this tool right now.”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Widely-used software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HPC staff maintain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DDBD63-2886-900F-0F92-CD8E5FC096A1}"/>
              </a:ext>
            </a:extLst>
          </p:cNvPr>
          <p:cNvSpPr txBox="1"/>
          <p:nvPr/>
        </p:nvSpPr>
        <p:spPr>
          <a:xfrm>
            <a:off x="1038898" y="3626297"/>
            <a:ext cx="5241472" cy="8309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avail 		</a:t>
            </a:r>
            <a:r>
              <a: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what's available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blast 		</a:t>
            </a:r>
            <a:r>
              <a: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turn on BLAST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list 		</a:t>
            </a:r>
            <a:r>
              <a: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what do I have loaded </a:t>
            </a:r>
          </a:p>
          <a:p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unload blast 	</a:t>
            </a:r>
            <a:r>
              <a: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turn it off</a:t>
            </a:r>
          </a:p>
        </p:txBody>
      </p:sp>
      <p:pic>
        <p:nvPicPr>
          <p:cNvPr id="4101" name="Picture 5" descr="Download Free Light switch Icons in PNG &amp; SVG">
            <a:extLst>
              <a:ext uri="{FF2B5EF4-FFF2-40B4-BE49-F238E27FC236}">
                <a16:creationId xmlns:a16="http://schemas.microsoft.com/office/drawing/2014/main" id="{4E2472E7-4A3A-8312-7D06-DB98DA06F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822" y="3348365"/>
            <a:ext cx="1108929" cy="1108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2F17B75-4593-0C4D-316A-EB0BC8F083AD}"/>
              </a:ext>
            </a:extLst>
          </p:cNvPr>
          <p:cNvSpPr txBox="1"/>
          <p:nvPr/>
        </p:nvSpPr>
        <p:spPr>
          <a:xfrm>
            <a:off x="7693517" y="3134693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3748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blast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6155DE-9C8D-7258-58D2-263C4C99215F}"/>
              </a:ext>
            </a:extLst>
          </p:cNvPr>
          <p:cNvSpPr txBox="1"/>
          <p:nvPr/>
        </p:nvSpPr>
        <p:spPr>
          <a:xfrm>
            <a:off x="8417807" y="3728949"/>
            <a:ext cx="1492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blast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F31190-6761-F2D2-3497-98E8D1892066}"/>
              </a:ext>
            </a:extLst>
          </p:cNvPr>
          <p:cNvSpPr txBox="1"/>
          <p:nvPr/>
        </p:nvSpPr>
        <p:spPr>
          <a:xfrm>
            <a:off x="1270660" y="5249653"/>
            <a:ext cx="908126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This is always your </a:t>
            </a:r>
            <a:r>
              <a:rPr lang="en-US" b="1" dirty="0"/>
              <a:t>first stop</a:t>
            </a:r>
            <a:r>
              <a:rPr lang="en-US" dirty="0"/>
              <a:t>: check if it's already there before trying to install anything yourself.</a:t>
            </a:r>
          </a:p>
        </p:txBody>
      </p:sp>
    </p:spTree>
    <p:extLst>
      <p:ext uri="{BB962C8B-B14F-4D97-AF65-F5344CB8AC3E}">
        <p14:creationId xmlns:p14="http://schemas.microsoft.com/office/powerpoint/2010/main" val="705013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FE8DF-F006-4778-D0B6-4350C9BE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CFE5E-9294-AF7F-CDC2-718F15E3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virtual environments</a:t>
            </a:r>
          </a:p>
        </p:txBody>
      </p:sp>
      <p:pic>
        <p:nvPicPr>
          <p:cNvPr id="5122" name="Picture 2" descr="Install Anaconda for Machine Learning and Data Science in Python">
            <a:extLst>
              <a:ext uri="{FF2B5EF4-FFF2-40B4-BE49-F238E27FC236}">
                <a16:creationId xmlns:a16="http://schemas.microsoft.com/office/drawing/2014/main" id="{DB388AC0-4A8D-2228-D858-5D92C7475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4234" y="365125"/>
            <a:ext cx="1779566" cy="88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ow to create a Virtual Environment in Python? | by Kiran Mohan | Medium">
            <a:extLst>
              <a:ext uri="{FF2B5EF4-FFF2-40B4-BE49-F238E27FC236}">
                <a16:creationId xmlns:a16="http://schemas.microsoft.com/office/drawing/2014/main" id="{BA9ADBF2-96F2-9072-BE48-0CE182B25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188" y="2283794"/>
            <a:ext cx="4841339" cy="2666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509759-22F5-7062-D92A-964CB777A387}"/>
              </a:ext>
            </a:extLst>
          </p:cNvPr>
          <p:cNvSpPr txBox="1"/>
          <p:nvPr/>
        </p:nvSpPr>
        <p:spPr>
          <a:xfrm>
            <a:off x="840178" y="1567403"/>
            <a:ext cx="609501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A </a:t>
            </a:r>
            <a:r>
              <a:rPr lang="en-US" dirty="0" err="1"/>
              <a:t>conda</a:t>
            </a:r>
            <a:r>
              <a:rPr lang="en-US" dirty="0"/>
              <a:t> environment is an isolated box where you can install whatever you want without affecting anyone else or anything else on the system. You can have multiple environments — one for your RNA-seq pipeline, one for your phylogenetics work — each with different tools and versions, all coexisting peacefully.</a:t>
            </a:r>
          </a:p>
          <a:p>
            <a:pPr>
              <a:buNone/>
            </a:pPr>
            <a:r>
              <a:rPr lang="en-US" dirty="0"/>
              <a:t>The mental model: a module is a light switch someone else installed. A </a:t>
            </a:r>
            <a:r>
              <a:rPr lang="en-US" dirty="0" err="1"/>
              <a:t>conda</a:t>
            </a:r>
            <a:r>
              <a:rPr lang="en-US" dirty="0"/>
              <a:t> environment is your own private room with its own switches.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DBAB41-2D3E-946E-2362-169BC5E44CB9}"/>
              </a:ext>
            </a:extLst>
          </p:cNvPr>
          <p:cNvSpPr txBox="1"/>
          <p:nvPr/>
        </p:nvSpPr>
        <p:spPr>
          <a:xfrm>
            <a:off x="838200" y="3967885"/>
            <a:ext cx="6945581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first, load </a:t>
            </a:r>
            <a:r>
              <a:rPr lang="en-US" sz="1100" dirty="0" err="1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itself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create -n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myenv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B34A00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python</a:t>
            </a:r>
            <a:r>
              <a:rPr lang="en-US" sz="1100" dirty="0">
                <a:solidFill>
                  <a:srgbClr val="14181F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008080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3.11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create your room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activate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myenv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step into it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0051C2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install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-c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bioconda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sz="11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trimmomatic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install what you need</a:t>
            </a:r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</a:p>
          <a:p>
            <a:r>
              <a:rPr lang="en-US" sz="11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deactivate 			</a:t>
            </a:r>
            <a:r>
              <a:rPr lang="en-US" sz="1100" dirty="0">
                <a:solidFill>
                  <a:srgbClr val="6E7687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step back out</a:t>
            </a:r>
            <a:endParaRPr lang="en-US" sz="11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55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65C6-6F3E-E159-BCCB-BF81A976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7C3F9-71A8-FC24-43BA-7CEEF829E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E2760-694B-59C8-C3B1-C3202ED4722D}"/>
              </a:ext>
            </a:extLst>
          </p:cNvPr>
          <p:cNvSpPr txBox="1"/>
          <p:nvPr/>
        </p:nvSpPr>
        <p:spPr>
          <a:xfrm>
            <a:off x="785044" y="1315233"/>
            <a:ext cx="10568756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Sometimes even </a:t>
            </a:r>
            <a:r>
              <a:rPr lang="en-US" dirty="0" err="1"/>
              <a:t>conda</a:t>
            </a:r>
            <a:r>
              <a:rPr lang="en-US" dirty="0"/>
              <a:t> isn't enough. Some tools have extremely complex dependencies, require a specific operating system configuration, or you need to guarantee that your analysis will run identically on any system — not just Hazel. That's what containers solve.</a:t>
            </a:r>
          </a:p>
          <a:p>
            <a:r>
              <a:rPr lang="en-US" dirty="0"/>
              <a:t>A container is like a complete mini-computer with its own operating system, libraries, and software all bundled together. You don't install the software — you just run the container. On Hazel, the container system is called </a:t>
            </a:r>
            <a:r>
              <a:rPr lang="en-US" dirty="0" err="1"/>
              <a:t>Apptainer</a:t>
            </a:r>
            <a:r>
              <a:rPr lang="en-US" dirty="0"/>
              <a:t> (formerly Singularity).</a:t>
            </a:r>
          </a:p>
          <a:p>
            <a:r>
              <a:rPr lang="en-US" dirty="0"/>
              <a:t>The analogy: if a </a:t>
            </a:r>
            <a:r>
              <a:rPr lang="en-US" dirty="0" err="1"/>
              <a:t>conda</a:t>
            </a:r>
            <a:r>
              <a:rPr lang="en-US" dirty="0"/>
              <a:t> environment is your private room, a container is a fully furnished apartment you can pick up and move anywhere.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module load </a:t>
            </a:r>
            <a:r>
              <a:rPr lang="en-US" dirty="0" err="1"/>
              <a:t>apptainer</a:t>
            </a:r>
            <a:r>
              <a:rPr lang="en-US" dirty="0"/>
              <a:t> </a:t>
            </a:r>
          </a:p>
          <a:p>
            <a:r>
              <a:rPr lang="en-US" dirty="0" err="1"/>
              <a:t>apptainer</a:t>
            </a:r>
            <a:r>
              <a:rPr lang="en-US" dirty="0"/>
              <a:t> exec </a:t>
            </a:r>
            <a:r>
              <a:rPr lang="en-US" dirty="0" err="1"/>
              <a:t>mycontainer.sif</a:t>
            </a:r>
            <a:r>
              <a:rPr lang="en-US" dirty="0"/>
              <a:t> </a:t>
            </a:r>
            <a:r>
              <a:rPr lang="en-US" dirty="0" err="1"/>
              <a:t>fastqc</a:t>
            </a:r>
            <a:r>
              <a:rPr lang="en-US" dirty="0"/>
              <a:t> –help</a:t>
            </a:r>
          </a:p>
          <a:p>
            <a:endParaRPr lang="en-US" dirty="0"/>
          </a:p>
          <a:p>
            <a:r>
              <a:rPr lang="en-US" b="1" dirty="0"/>
              <a:t>Slide: Where do containers come from?</a:t>
            </a:r>
            <a:endParaRPr lang="en-US" dirty="0"/>
          </a:p>
          <a:p>
            <a:r>
              <a:rPr lang="en-US" dirty="0"/>
              <a:t>Beginners immediately ask this. Three main sources:</a:t>
            </a:r>
          </a:p>
          <a:p>
            <a:r>
              <a:rPr lang="en-US" b="1" dirty="0"/>
              <a:t>Docker Hub</a:t>
            </a:r>
            <a:r>
              <a:rPr lang="en-US" dirty="0"/>
              <a:t> — the largest repository; </a:t>
            </a:r>
            <a:r>
              <a:rPr lang="en-US" dirty="0" err="1"/>
              <a:t>Apptainer</a:t>
            </a:r>
            <a:r>
              <a:rPr lang="en-US" dirty="0"/>
              <a:t> can pull and convert Docker containers directly</a:t>
            </a:r>
          </a:p>
          <a:p>
            <a:r>
              <a:rPr lang="en-US" b="1" dirty="0" err="1"/>
              <a:t>Biocontainers</a:t>
            </a:r>
            <a:r>
              <a:rPr lang="en-US" dirty="0"/>
              <a:t> — bioinformatics-specific containers, one per tool</a:t>
            </a:r>
          </a:p>
          <a:p>
            <a:r>
              <a:rPr lang="en-US" b="1" dirty="0"/>
              <a:t>You build your own</a:t>
            </a:r>
            <a:r>
              <a:rPr lang="en-US" dirty="0"/>
              <a:t> — advanced use, not needed for most beginners</a:t>
            </a:r>
          </a:p>
          <a:p>
            <a:r>
              <a:rPr lang="en-US" dirty="0"/>
              <a:t>For most bioinformatics tools, a container already exists and you just need to pull it:</a:t>
            </a:r>
          </a:p>
          <a:p>
            <a:endParaRPr lang="en-US" dirty="0"/>
          </a:p>
          <a:p>
            <a:r>
              <a:rPr lang="en-US" dirty="0" err="1"/>
              <a:t>apptainer</a:t>
            </a:r>
            <a:r>
              <a:rPr lang="en-US" dirty="0"/>
              <a:t> pull docker://</a:t>
            </a:r>
            <a:r>
              <a:rPr lang="en-US" dirty="0" err="1"/>
              <a:t>biocontainers</a:t>
            </a:r>
            <a:r>
              <a:rPr lang="en-US" dirty="0"/>
              <a:t>/</a:t>
            </a:r>
            <a:r>
              <a:rPr lang="en-US" dirty="0" err="1"/>
              <a:t>fastqc:latest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049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3FCFC-5B5A-48C4-991E-88A3B828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F8470A-62C7-5CDA-7431-1EF86C6C1BF2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" pitchFamily="2" charset="0"/>
              </a:rPr>
              <a:t>7. Data management</a:t>
            </a:r>
          </a:p>
        </p:txBody>
      </p:sp>
      <p:pic>
        <p:nvPicPr>
          <p:cNvPr id="2050" name="Picture 2" descr="Data management - Free seo and web icons">
            <a:extLst>
              <a:ext uri="{FF2B5EF4-FFF2-40B4-BE49-F238E27FC236}">
                <a16:creationId xmlns:a16="http://schemas.microsoft.com/office/drawing/2014/main" id="{795F056A-A7D0-3B26-1938-3D7EF394B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725" y="2238499"/>
            <a:ext cx="1365992" cy="1365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8796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D9C26-8755-B56F-F5E2-215BBF6A7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3FE1D-C385-9FFC-1AE0-9CF766669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Hazel storage system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2D3296-56FB-D0E5-DF87-A05D58724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698" y="2004436"/>
            <a:ext cx="5035602" cy="346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837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31357-9FE2-BFA2-B6D4-3D643634F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FF5E3-E374-7D6E-8444-FE255ABC7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Globus transfers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C155B8-2756-474B-E81F-C4230EB3C6A4}"/>
              </a:ext>
            </a:extLst>
          </p:cNvPr>
          <p:cNvSpPr txBox="1"/>
          <p:nvPr/>
        </p:nvSpPr>
        <p:spPr>
          <a:xfrm>
            <a:off x="671945" y="1643650"/>
            <a:ext cx="622761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Reliability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Automatic retry and resume capabilities for interrupted transfers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Speed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Optimized for high-performance transfers, especially for large datasets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Convenience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Transfers continue in the background; no need to keep your browser open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Security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End-to-end encryption and authentication through institutional credentials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Scalability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Efficiently handles transfers from single files to millions of files</a:t>
            </a:r>
          </a:p>
          <a:p>
            <a:pPr algn="l"/>
            <a:endParaRPr lang="en-US" b="0" i="0" dirty="0">
              <a:solidFill>
                <a:srgbClr val="373A3C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Sharing</a:t>
            </a:r>
            <a:r>
              <a:rPr lang="en-US" b="0" i="0" dirty="0">
                <a:solidFill>
                  <a:srgbClr val="373A3C"/>
                </a:solidFill>
                <a:effectLst/>
                <a:latin typeface="Source Sans Pro" panose="020B0503030403020204" pitchFamily="34" charset="0"/>
              </a:rPr>
              <a:t>: Easy and secure data sharing with collaborators at other institutions</a:t>
            </a:r>
          </a:p>
        </p:txBody>
      </p:sp>
      <p:pic>
        <p:nvPicPr>
          <p:cNvPr id="3074" name="Picture 2" descr="HOWTO: Use Globus (Overview) | Ohio Supercomputer Center">
            <a:extLst>
              <a:ext uri="{FF2B5EF4-FFF2-40B4-BE49-F238E27FC236}">
                <a16:creationId xmlns:a16="http://schemas.microsoft.com/office/drawing/2014/main" id="{6E875A50-2BF4-7213-911D-34D145F06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577" y="286645"/>
            <a:ext cx="1069649" cy="965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ata Transfer With Globus">
            <a:extLst>
              <a:ext uri="{FF2B5EF4-FFF2-40B4-BE49-F238E27FC236}">
                <a16:creationId xmlns:a16="http://schemas.microsoft.com/office/drawing/2014/main" id="{81C90500-73EC-108C-ABDE-9B8D021DB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5539" y="1925678"/>
            <a:ext cx="4064516" cy="3269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9241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949</Words>
  <Application>Microsoft Macintosh PowerPoint</Application>
  <PresentationFormat>Widescreen</PresentationFormat>
  <Paragraphs>134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Helvetica</vt:lpstr>
      <vt:lpstr>Helvetica Light</vt:lpstr>
      <vt:lpstr>Menlo</vt:lpstr>
      <vt:lpstr>Source Sans Pro</vt:lpstr>
      <vt:lpstr>Office Theme</vt:lpstr>
      <vt:lpstr>BRC workshops: Hazel HPC</vt:lpstr>
      <vt:lpstr>Leave us your feedback!</vt:lpstr>
      <vt:lpstr>Workshop Structure</vt:lpstr>
      <vt:lpstr>PowerPoint Presentation</vt:lpstr>
      <vt:lpstr>Software in the HPC</vt:lpstr>
      <vt:lpstr>Introduction to modules</vt:lpstr>
      <vt:lpstr>Introduction to virtual environments</vt:lpstr>
      <vt:lpstr>Introduction to containers</vt:lpstr>
      <vt:lpstr>PowerPoint Presentation</vt:lpstr>
      <vt:lpstr>Hazel storage system</vt:lpstr>
      <vt:lpstr>Globus transfers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2</cp:revision>
  <dcterms:created xsi:type="dcterms:W3CDTF">2026-04-16T17:48:47Z</dcterms:created>
  <dcterms:modified xsi:type="dcterms:W3CDTF">2026-04-16T18:46:51Z</dcterms:modified>
</cp:coreProperties>
</file>