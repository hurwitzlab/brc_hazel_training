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7" r:id="rId2"/>
    <p:sldId id="258" r:id="rId3"/>
    <p:sldId id="301" r:id="rId4"/>
    <p:sldId id="260" r:id="rId5"/>
    <p:sldId id="271" r:id="rId6"/>
    <p:sldId id="307" r:id="rId7"/>
    <p:sldId id="309" r:id="rId8"/>
    <p:sldId id="311" r:id="rId9"/>
    <p:sldId id="312" r:id="rId10"/>
    <p:sldId id="310" r:id="rId11"/>
    <p:sldId id="302" r:id="rId12"/>
    <p:sldId id="305" r:id="rId13"/>
    <p:sldId id="303" r:id="rId14"/>
    <p:sldId id="304" r:id="rId15"/>
    <p:sldId id="313" r:id="rId16"/>
    <p:sldId id="31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58"/>
    <p:restoredTop sz="94694"/>
  </p:normalViewPr>
  <p:slideViewPr>
    <p:cSldViewPr snapToGrid="0">
      <p:cViewPr varScale="1">
        <p:scale>
          <a:sx n="121" d="100"/>
          <a:sy n="121" d="100"/>
        </p:scale>
        <p:origin x="13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4471E7-7CE5-9D40-BD1B-52AB22D8FAB0}" type="datetimeFigureOut">
              <a:rPr lang="en-US" smtClean="0"/>
              <a:t>5/12/26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F2FD8A-B602-9346-B6DC-6E040174BB3A}" type="slidenum">
              <a:rPr lang="en-US" smtClean="0"/>
              <a:t>‹#›</a:t>
            </a:fld>
            <a:endParaRPr lang="en-US"/>
          </a:p>
        </p:txBody>
      </p:sp>
    </p:spTree>
    <p:extLst>
      <p:ext uri="{BB962C8B-B14F-4D97-AF65-F5344CB8AC3E}">
        <p14:creationId xmlns:p14="http://schemas.microsoft.com/office/powerpoint/2010/main" val="2861753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2</a:t>
            </a:fld>
            <a:endParaRPr lang="en-US"/>
          </a:p>
        </p:txBody>
      </p:sp>
    </p:spTree>
    <p:extLst>
      <p:ext uri="{BB962C8B-B14F-4D97-AF65-F5344CB8AC3E}">
        <p14:creationId xmlns:p14="http://schemas.microsoft.com/office/powerpoint/2010/main" val="935584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FF41-CC3F-5A0E-418C-1D40D7AE1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67B53-6DF2-B104-2BD0-930901CF2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DD57C-C4C4-9EAE-E160-B526DB1FD7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1B777-880E-7E79-34BA-0435F7700F41}"/>
              </a:ext>
            </a:extLst>
          </p:cNvPr>
          <p:cNvSpPr>
            <a:spLocks noGrp="1"/>
          </p:cNvSpPr>
          <p:nvPr>
            <p:ph type="sldNum" sz="quarter" idx="5"/>
          </p:nvPr>
        </p:nvSpPr>
        <p:spPr/>
        <p:txBody>
          <a:bodyPr/>
          <a:lstStyle/>
          <a:p>
            <a:fld id="{13FC26C8-C37B-D543-9AB9-4FE91B5DFE38}" type="slidenum">
              <a:rPr lang="en-US" smtClean="0"/>
              <a:t>5</a:t>
            </a:fld>
            <a:endParaRPr lang="en-US"/>
          </a:p>
        </p:txBody>
      </p:sp>
    </p:spTree>
    <p:extLst>
      <p:ext uri="{BB962C8B-B14F-4D97-AF65-F5344CB8AC3E}">
        <p14:creationId xmlns:p14="http://schemas.microsoft.com/office/powerpoint/2010/main" val="1896466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DC0BA-49F6-E91B-35FD-FC8FCF83C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98739-71C4-4D50-71E0-753086C727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38555-A198-7196-75FC-6027B9D24A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77B92B-1554-FCBF-84C9-483B3D60A439}"/>
              </a:ext>
            </a:extLst>
          </p:cNvPr>
          <p:cNvSpPr>
            <a:spLocks noGrp="1"/>
          </p:cNvSpPr>
          <p:nvPr>
            <p:ph type="sldNum" sz="quarter" idx="5"/>
          </p:nvPr>
        </p:nvSpPr>
        <p:spPr/>
        <p:txBody>
          <a:bodyPr/>
          <a:lstStyle/>
          <a:p>
            <a:fld id="{13FC26C8-C37B-D543-9AB9-4FE91B5DFE38}" type="slidenum">
              <a:rPr lang="en-US" smtClean="0"/>
              <a:t>6</a:t>
            </a:fld>
            <a:endParaRPr lang="en-US"/>
          </a:p>
        </p:txBody>
      </p:sp>
    </p:spTree>
    <p:extLst>
      <p:ext uri="{BB962C8B-B14F-4D97-AF65-F5344CB8AC3E}">
        <p14:creationId xmlns:p14="http://schemas.microsoft.com/office/powerpoint/2010/main" val="4021467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33484-76DC-9DFB-03D2-641D05C64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561F4-056F-EC13-BA5D-F1468386A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7D1AE-0127-C71D-E782-4672A9A295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7CACCA-B6B1-8B20-1797-1341197DC640}"/>
              </a:ext>
            </a:extLst>
          </p:cNvPr>
          <p:cNvSpPr>
            <a:spLocks noGrp="1"/>
          </p:cNvSpPr>
          <p:nvPr>
            <p:ph type="sldNum" sz="quarter" idx="5"/>
          </p:nvPr>
        </p:nvSpPr>
        <p:spPr/>
        <p:txBody>
          <a:bodyPr/>
          <a:lstStyle/>
          <a:p>
            <a:fld id="{13FC26C8-C37B-D543-9AB9-4FE91B5DFE38}" type="slidenum">
              <a:rPr lang="en-US" smtClean="0"/>
              <a:t>7</a:t>
            </a:fld>
            <a:endParaRPr lang="en-US"/>
          </a:p>
        </p:txBody>
      </p:sp>
    </p:spTree>
    <p:extLst>
      <p:ext uri="{BB962C8B-B14F-4D97-AF65-F5344CB8AC3E}">
        <p14:creationId xmlns:p14="http://schemas.microsoft.com/office/powerpoint/2010/main" val="3877812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D314-6E04-6B54-9DF1-DAB17A4EF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5D66E-05F4-B9EB-958D-7357DB2DF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338B0B-0D55-1D97-98F8-3B26EC9DEF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A19CE2-150D-D1F6-387C-8CB6B38DC530}"/>
              </a:ext>
            </a:extLst>
          </p:cNvPr>
          <p:cNvSpPr>
            <a:spLocks noGrp="1"/>
          </p:cNvSpPr>
          <p:nvPr>
            <p:ph type="sldNum" sz="quarter" idx="5"/>
          </p:nvPr>
        </p:nvSpPr>
        <p:spPr/>
        <p:txBody>
          <a:bodyPr/>
          <a:lstStyle/>
          <a:p>
            <a:fld id="{13FC26C8-C37B-D543-9AB9-4FE91B5DFE38}" type="slidenum">
              <a:rPr lang="en-US" smtClean="0"/>
              <a:t>8</a:t>
            </a:fld>
            <a:endParaRPr lang="en-US"/>
          </a:p>
        </p:txBody>
      </p:sp>
    </p:spTree>
    <p:extLst>
      <p:ext uri="{BB962C8B-B14F-4D97-AF65-F5344CB8AC3E}">
        <p14:creationId xmlns:p14="http://schemas.microsoft.com/office/powerpoint/2010/main" val="2359956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070D-1C9A-A2E1-9541-6F55D4EE6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32308-2AB6-B3B2-8210-7DED77130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E6FF4-089C-BA14-07D7-BF3B7405F3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046D8B-D01D-38D6-EC40-955AE99B0009}"/>
              </a:ext>
            </a:extLst>
          </p:cNvPr>
          <p:cNvSpPr>
            <a:spLocks noGrp="1"/>
          </p:cNvSpPr>
          <p:nvPr>
            <p:ph type="sldNum" sz="quarter" idx="5"/>
          </p:nvPr>
        </p:nvSpPr>
        <p:spPr/>
        <p:txBody>
          <a:bodyPr/>
          <a:lstStyle/>
          <a:p>
            <a:fld id="{13FC26C8-C37B-D543-9AB9-4FE91B5DFE38}" type="slidenum">
              <a:rPr lang="en-US" smtClean="0"/>
              <a:t>9</a:t>
            </a:fld>
            <a:endParaRPr lang="en-US"/>
          </a:p>
        </p:txBody>
      </p:sp>
    </p:spTree>
    <p:extLst>
      <p:ext uri="{BB962C8B-B14F-4D97-AF65-F5344CB8AC3E}">
        <p14:creationId xmlns:p14="http://schemas.microsoft.com/office/powerpoint/2010/main" val="152671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89AB9-44D0-3999-7A7F-6E3306C52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A6DC0-A7E8-C462-0ACD-108F227E9F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EBB6B-65FE-3B2B-B3E0-B9DB20CB24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BBF922-4C34-0E28-B023-503A83B9C9ED}"/>
              </a:ext>
            </a:extLst>
          </p:cNvPr>
          <p:cNvSpPr>
            <a:spLocks noGrp="1"/>
          </p:cNvSpPr>
          <p:nvPr>
            <p:ph type="sldNum" sz="quarter" idx="5"/>
          </p:nvPr>
        </p:nvSpPr>
        <p:spPr/>
        <p:txBody>
          <a:bodyPr/>
          <a:lstStyle/>
          <a:p>
            <a:fld id="{13FC26C8-C37B-D543-9AB9-4FE91B5DFE38}" type="slidenum">
              <a:rPr lang="en-US" smtClean="0"/>
              <a:t>12</a:t>
            </a:fld>
            <a:endParaRPr lang="en-US"/>
          </a:p>
        </p:txBody>
      </p:sp>
    </p:spTree>
    <p:extLst>
      <p:ext uri="{BB962C8B-B14F-4D97-AF65-F5344CB8AC3E}">
        <p14:creationId xmlns:p14="http://schemas.microsoft.com/office/powerpoint/2010/main" val="1698687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5890C-9E56-C05F-D461-24608374B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AC4A4-0183-8255-E158-75FF84B40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B0ABD-0BDD-3285-65B2-2E1B64995E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5DCFAB-99E8-169B-4889-8BE5799E302F}"/>
              </a:ext>
            </a:extLst>
          </p:cNvPr>
          <p:cNvSpPr>
            <a:spLocks noGrp="1"/>
          </p:cNvSpPr>
          <p:nvPr>
            <p:ph type="sldNum" sz="quarter" idx="5"/>
          </p:nvPr>
        </p:nvSpPr>
        <p:spPr/>
        <p:txBody>
          <a:bodyPr/>
          <a:lstStyle/>
          <a:p>
            <a:fld id="{13FC26C8-C37B-D543-9AB9-4FE91B5DFE38}" type="slidenum">
              <a:rPr lang="en-US" smtClean="0"/>
              <a:t>13</a:t>
            </a:fld>
            <a:endParaRPr lang="en-US"/>
          </a:p>
        </p:txBody>
      </p:sp>
    </p:spTree>
    <p:extLst>
      <p:ext uri="{BB962C8B-B14F-4D97-AF65-F5344CB8AC3E}">
        <p14:creationId xmlns:p14="http://schemas.microsoft.com/office/powerpoint/2010/main" val="1875452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FF557-F637-82E3-A86D-6E670E920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37B55-C4B5-4969-3BC4-58A6CDD4C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73D5A-0DC1-97A9-BC64-F5795B61F9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245AFD-64AC-DC01-9AD8-A997C667FBFB}"/>
              </a:ext>
            </a:extLst>
          </p:cNvPr>
          <p:cNvSpPr>
            <a:spLocks noGrp="1"/>
          </p:cNvSpPr>
          <p:nvPr>
            <p:ph type="sldNum" sz="quarter" idx="5"/>
          </p:nvPr>
        </p:nvSpPr>
        <p:spPr/>
        <p:txBody>
          <a:bodyPr/>
          <a:lstStyle/>
          <a:p>
            <a:fld id="{13FC26C8-C37B-D543-9AB9-4FE91B5DFE38}" type="slidenum">
              <a:rPr lang="en-US" smtClean="0"/>
              <a:t>14</a:t>
            </a:fld>
            <a:endParaRPr lang="en-US"/>
          </a:p>
        </p:txBody>
      </p:sp>
    </p:spTree>
    <p:extLst>
      <p:ext uri="{BB962C8B-B14F-4D97-AF65-F5344CB8AC3E}">
        <p14:creationId xmlns:p14="http://schemas.microsoft.com/office/powerpoint/2010/main" val="3271841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40632-7223-CA77-68D6-225373F83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7D589-EB41-9A9B-C24C-C8018FC14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CF290C-E7A6-C30B-FAB1-035B8F5062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538447-4CAB-0C20-34A0-49B415FB4D56}"/>
              </a:ext>
            </a:extLst>
          </p:cNvPr>
          <p:cNvSpPr>
            <a:spLocks noGrp="1"/>
          </p:cNvSpPr>
          <p:nvPr>
            <p:ph type="sldNum" sz="quarter" idx="5"/>
          </p:nvPr>
        </p:nvSpPr>
        <p:spPr/>
        <p:txBody>
          <a:bodyPr/>
          <a:lstStyle/>
          <a:p>
            <a:fld id="{13FC26C8-C37B-D543-9AB9-4FE91B5DFE38}" type="slidenum">
              <a:rPr lang="en-US" smtClean="0"/>
              <a:t>15</a:t>
            </a:fld>
            <a:endParaRPr lang="en-US"/>
          </a:p>
        </p:txBody>
      </p:sp>
    </p:spTree>
    <p:extLst>
      <p:ext uri="{BB962C8B-B14F-4D97-AF65-F5344CB8AC3E}">
        <p14:creationId xmlns:p14="http://schemas.microsoft.com/office/powerpoint/2010/main" val="3015492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1DBBF-3629-4AAB-FE81-3E2B543C96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14924C-616D-FAB8-7239-5C22CD019D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F240CB-E271-C924-B909-C6CFCD498094}"/>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5" name="Footer Placeholder 4">
            <a:extLst>
              <a:ext uri="{FF2B5EF4-FFF2-40B4-BE49-F238E27FC236}">
                <a16:creationId xmlns:a16="http://schemas.microsoft.com/office/drawing/2014/main" id="{B5BF92FE-BE68-4DC2-AA49-BFC510817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ADC00B-5028-6133-810C-999ACC471782}"/>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1957179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FF7E-D229-20AA-95E2-FAF21F9448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24638-0C70-F364-CCFB-6B75113220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99BCE0-60C6-43F8-9176-B6EBB7AF4E7D}"/>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5" name="Footer Placeholder 4">
            <a:extLst>
              <a:ext uri="{FF2B5EF4-FFF2-40B4-BE49-F238E27FC236}">
                <a16:creationId xmlns:a16="http://schemas.microsoft.com/office/drawing/2014/main" id="{EBFA9DA7-6F88-927E-2483-7635F1D6BE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249A3-69F5-8B5A-9627-A7A4D051C12E}"/>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1902240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F67E4-6E32-0911-4F7B-CE8395942D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DF6EB6-0E27-3580-3142-96F663994E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24C364-BFDD-46E2-46DE-47664A839D8C}"/>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5" name="Footer Placeholder 4">
            <a:extLst>
              <a:ext uri="{FF2B5EF4-FFF2-40B4-BE49-F238E27FC236}">
                <a16:creationId xmlns:a16="http://schemas.microsoft.com/office/drawing/2014/main" id="{807CBC3C-40B1-EA97-B663-43327C25C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627AA5-A8C6-0002-8D07-73AB9BD59208}"/>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13868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5C6C1-6BC8-2206-0D13-0B1A29C04F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6C94F8-5A3A-B2EE-C06E-A1B43C093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77FAE7-36E2-CACF-10AA-0034013BA6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25102-800F-CDA2-1DD4-72735333064B}"/>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6" name="Footer Placeholder 5">
            <a:extLst>
              <a:ext uri="{FF2B5EF4-FFF2-40B4-BE49-F238E27FC236}">
                <a16:creationId xmlns:a16="http://schemas.microsoft.com/office/drawing/2014/main" id="{1B8F3FA9-10E6-2AE1-04A7-241A1EA9E9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5A0B04-44A8-AFC1-2252-DE447A077DF5}"/>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2386256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A384-5D70-65FA-93B7-FCBF9736E8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E03595-E85A-D508-3605-3879535963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5AB643-878F-54B0-4EB2-A98CA5C38F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17C6C3-B0CE-638B-823B-D7EF49D536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885594-AB6B-7A55-7A6A-89D5D1F13E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B6FEB2-8051-6503-5EB5-365739C5E7DE}"/>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8" name="Footer Placeholder 7">
            <a:extLst>
              <a:ext uri="{FF2B5EF4-FFF2-40B4-BE49-F238E27FC236}">
                <a16:creationId xmlns:a16="http://schemas.microsoft.com/office/drawing/2014/main" id="{DB96FEED-B8DF-8EDB-A4EF-E580686DC8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8BAF51-93E3-9F59-F07D-283FB80272A0}"/>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2196885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9232-3D58-B92C-FB91-A017EE4336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D1F1DC-B45C-A6FD-0169-F8F6AE31ED1D}"/>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4" name="Footer Placeholder 3">
            <a:extLst>
              <a:ext uri="{FF2B5EF4-FFF2-40B4-BE49-F238E27FC236}">
                <a16:creationId xmlns:a16="http://schemas.microsoft.com/office/drawing/2014/main" id="{4C4584B5-2ED0-7F24-17FF-E494427120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6F4FB9-5AAD-A89B-1F39-8C34A0621B31}"/>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629646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0D4B85-04BD-7B5B-1BA0-34CC70097F25}"/>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3" name="Footer Placeholder 2">
            <a:extLst>
              <a:ext uri="{FF2B5EF4-FFF2-40B4-BE49-F238E27FC236}">
                <a16:creationId xmlns:a16="http://schemas.microsoft.com/office/drawing/2014/main" id="{715F97C8-D391-E4A3-76E7-559B02BEDA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E808E2-8480-08D1-C8B2-6E8F47A69B14}"/>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2492255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3D7F1-9A21-8D28-EBEB-2E358D8A68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9CF0B05-FC18-552E-DA87-6BFA49F0A2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ED3C2B-968C-CA30-2F7D-D4B60C2A17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6684FA-3473-75E8-CB1D-AEB948D7DC29}"/>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6" name="Footer Placeholder 5">
            <a:extLst>
              <a:ext uri="{FF2B5EF4-FFF2-40B4-BE49-F238E27FC236}">
                <a16:creationId xmlns:a16="http://schemas.microsoft.com/office/drawing/2014/main" id="{FF710031-482B-955F-985F-26529F410C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96D542-CB89-9BB1-6925-9F019AE96573}"/>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3620219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EA2EE-478B-C9BD-A13F-0CF6643066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E226A8-4AC8-1539-2F6A-5926A4D892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7C7453-6644-22E2-8041-B495FB552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D98310-535B-7610-0042-2F33F8A102C1}"/>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6" name="Footer Placeholder 5">
            <a:extLst>
              <a:ext uri="{FF2B5EF4-FFF2-40B4-BE49-F238E27FC236}">
                <a16:creationId xmlns:a16="http://schemas.microsoft.com/office/drawing/2014/main" id="{EA05A127-9FA6-B4A5-80ED-D1A9C133A9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BD5D3F-74F4-B390-F7E7-F2154C41B39A}"/>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3303476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525B-FE0A-223E-139E-72D637655E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4E40D3-70D2-253C-9E90-7ED6658CA8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6D0BB-18B5-DF12-C4C2-4E6B0716BB13}"/>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5" name="Footer Placeholder 4">
            <a:extLst>
              <a:ext uri="{FF2B5EF4-FFF2-40B4-BE49-F238E27FC236}">
                <a16:creationId xmlns:a16="http://schemas.microsoft.com/office/drawing/2014/main" id="{9037AF00-208E-83E5-AB0F-8F1EE4ABE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C51933-BD15-60A9-0542-E39C1D3A8291}"/>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534638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47D231-A751-9C1C-BA12-97E2D41D07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AFAB05-62A4-72C9-CD0C-F6567E4713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3D0680-A514-0F97-899F-E614731A9D95}"/>
              </a:ext>
            </a:extLst>
          </p:cNvPr>
          <p:cNvSpPr>
            <a:spLocks noGrp="1"/>
          </p:cNvSpPr>
          <p:nvPr>
            <p:ph type="dt" sz="half" idx="10"/>
          </p:nvPr>
        </p:nvSpPr>
        <p:spPr/>
        <p:txBody>
          <a:bodyPr/>
          <a:lstStyle/>
          <a:p>
            <a:fld id="{FDED4967-6235-1D43-8395-C7AE9E7B6672}" type="datetimeFigureOut">
              <a:rPr lang="en-US" smtClean="0"/>
              <a:t>5/12/26</a:t>
            </a:fld>
            <a:endParaRPr lang="en-US"/>
          </a:p>
        </p:txBody>
      </p:sp>
      <p:sp>
        <p:nvSpPr>
          <p:cNvPr id="5" name="Footer Placeholder 4">
            <a:extLst>
              <a:ext uri="{FF2B5EF4-FFF2-40B4-BE49-F238E27FC236}">
                <a16:creationId xmlns:a16="http://schemas.microsoft.com/office/drawing/2014/main" id="{C0854A8B-DD76-DCCD-CCCB-B5D28480CA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89C630-61F7-F570-B96A-5166DE6A3DEB}"/>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4155824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1EB3F2-F29D-77D4-C0F0-EA3493C8A7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7B392D-9692-93DF-534B-7B1E599F86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7198F9-EFE4-D410-8D39-75B39F2F66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D4967-6235-1D43-8395-C7AE9E7B6672}" type="datetimeFigureOut">
              <a:rPr lang="en-US" smtClean="0"/>
              <a:t>5/12/26</a:t>
            </a:fld>
            <a:endParaRPr lang="en-US"/>
          </a:p>
        </p:txBody>
      </p:sp>
      <p:sp>
        <p:nvSpPr>
          <p:cNvPr id="5" name="Footer Placeholder 4">
            <a:extLst>
              <a:ext uri="{FF2B5EF4-FFF2-40B4-BE49-F238E27FC236}">
                <a16:creationId xmlns:a16="http://schemas.microsoft.com/office/drawing/2014/main" id="{D870FD18-6F22-656E-BDE5-75B1017558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5D4B70-05EE-D6B3-859C-A9A09A671A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379CB2-F5D6-A140-8E59-281E822E8D8F}" type="slidenum">
              <a:rPr lang="en-US" smtClean="0"/>
              <a:t>‹#›</a:t>
            </a:fld>
            <a:endParaRPr lang="en-US"/>
          </a:p>
        </p:txBody>
      </p:sp>
    </p:spTree>
    <p:extLst>
      <p:ext uri="{BB962C8B-B14F-4D97-AF65-F5344CB8AC3E}">
        <p14:creationId xmlns:p14="http://schemas.microsoft.com/office/powerpoint/2010/main" val="3048710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hyperlink" Target="https://commons.wikimedia.org/wiki/File:Out_of_Memory_in_Linux.jp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67C0-23A6-8F2C-1689-D8BD4A6495AC}"/>
              </a:ext>
            </a:extLst>
          </p:cNvPr>
          <p:cNvSpPr>
            <a:spLocks noGrp="1"/>
          </p:cNvSpPr>
          <p:nvPr>
            <p:ph type="ctrTitle"/>
          </p:nvPr>
        </p:nvSpPr>
        <p:spPr>
          <a:xfrm>
            <a:off x="1756446" y="-317832"/>
            <a:ext cx="9144000" cy="2387600"/>
          </a:xfrm>
        </p:spPr>
        <p:txBody>
          <a:bodyPr>
            <a:normAutofit/>
          </a:bodyPr>
          <a:lstStyle/>
          <a:p>
            <a:r>
              <a:rPr lang="en-US" sz="5400" dirty="0">
                <a:latin typeface="Helvetica" pitchFamily="2" charset="0"/>
              </a:rPr>
              <a:t>BRC workshops: Hazel HPC</a:t>
            </a:r>
          </a:p>
        </p:txBody>
      </p:sp>
      <p:sp>
        <p:nvSpPr>
          <p:cNvPr id="3" name="Subtitle 2">
            <a:extLst>
              <a:ext uri="{FF2B5EF4-FFF2-40B4-BE49-F238E27FC236}">
                <a16:creationId xmlns:a16="http://schemas.microsoft.com/office/drawing/2014/main" id="{57475B53-3C78-14C7-0A86-007CDFBEE55B}"/>
              </a:ext>
            </a:extLst>
          </p:cNvPr>
          <p:cNvSpPr>
            <a:spLocks noGrp="1"/>
          </p:cNvSpPr>
          <p:nvPr>
            <p:ph type="subTitle" idx="1"/>
          </p:nvPr>
        </p:nvSpPr>
        <p:spPr>
          <a:xfrm>
            <a:off x="796304" y="5083907"/>
            <a:ext cx="4571707" cy="1655762"/>
          </a:xfrm>
        </p:spPr>
        <p:txBody>
          <a:bodyPr/>
          <a:lstStyle/>
          <a:p>
            <a:pPr algn="l"/>
            <a:r>
              <a:rPr lang="en-US" sz="1800" dirty="0">
                <a:latin typeface="Helvetica" pitchFamily="2" charset="0"/>
              </a:rPr>
              <a:t>María (Mery) Touceda-Suárez, PhD</a:t>
            </a:r>
          </a:p>
          <a:p>
            <a:pPr algn="l"/>
            <a:r>
              <a:rPr lang="en-US" sz="1800" dirty="0">
                <a:latin typeface="Helvetica" pitchFamily="2" charset="0"/>
              </a:rPr>
              <a:t>Bonnie Hurwitz, PhD</a:t>
            </a:r>
          </a:p>
          <a:p>
            <a:pPr algn="l"/>
            <a:r>
              <a:rPr lang="en-US" sz="1800" dirty="0">
                <a:latin typeface="Helvetica" pitchFamily="2" charset="0"/>
              </a:rPr>
              <a:t>February 4</a:t>
            </a:r>
            <a:r>
              <a:rPr lang="en-US" sz="1800" baseline="30000" dirty="0">
                <a:latin typeface="Helvetica" pitchFamily="2" charset="0"/>
              </a:rPr>
              <a:t>th</a:t>
            </a:r>
            <a:r>
              <a:rPr lang="en-US" sz="1800" dirty="0">
                <a:latin typeface="Helvetica" pitchFamily="2" charset="0"/>
              </a:rPr>
              <a:t> 2025</a:t>
            </a:r>
          </a:p>
          <a:p>
            <a:pPr algn="l"/>
            <a:endParaRPr lang="en-US" sz="1800" dirty="0">
              <a:latin typeface="Helvetica" pitchFamily="2" charset="0"/>
            </a:endParaRPr>
          </a:p>
          <a:p>
            <a:pPr algn="l"/>
            <a:endParaRPr lang="en-US" dirty="0">
              <a:latin typeface="Helvetica" pitchFamily="2" charset="0"/>
            </a:endParaRPr>
          </a:p>
        </p:txBody>
      </p:sp>
      <p:pic>
        <p:nvPicPr>
          <p:cNvPr id="5" name="Picture 4">
            <a:extLst>
              <a:ext uri="{FF2B5EF4-FFF2-40B4-BE49-F238E27FC236}">
                <a16:creationId xmlns:a16="http://schemas.microsoft.com/office/drawing/2014/main" id="{B8F7AC2D-444B-731B-DFF6-6109D5E95FE6}"/>
              </a:ext>
            </a:extLst>
          </p:cNvPr>
          <p:cNvPicPr>
            <a:picLocks noChangeAspect="1"/>
          </p:cNvPicPr>
          <p:nvPr/>
        </p:nvPicPr>
        <p:blipFill>
          <a:blip r:embed="rId2"/>
          <a:stretch>
            <a:fillRect/>
          </a:stretch>
        </p:blipFill>
        <p:spPr>
          <a:xfrm>
            <a:off x="796304" y="1083584"/>
            <a:ext cx="990499" cy="986184"/>
          </a:xfrm>
          <a:prstGeom prst="rect">
            <a:avLst/>
          </a:prstGeom>
        </p:spPr>
      </p:pic>
      <p:pic>
        <p:nvPicPr>
          <p:cNvPr id="1028" name="Picture 4" descr="MareNostrum | BSC-CNS">
            <a:extLst>
              <a:ext uri="{FF2B5EF4-FFF2-40B4-BE49-F238E27FC236}">
                <a16:creationId xmlns:a16="http://schemas.microsoft.com/office/drawing/2014/main" id="{EF184E16-8F51-53FC-F99E-1F365F6BB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930" y="2331378"/>
            <a:ext cx="5682192" cy="37822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A184E01-97E4-E0D9-7385-12F68039586B}"/>
              </a:ext>
            </a:extLst>
          </p:cNvPr>
          <p:cNvSpPr txBox="1"/>
          <p:nvPr/>
        </p:nvSpPr>
        <p:spPr>
          <a:xfrm>
            <a:off x="8591678" y="6113669"/>
            <a:ext cx="2799164" cy="261610"/>
          </a:xfrm>
          <a:prstGeom prst="rect">
            <a:avLst/>
          </a:prstGeom>
          <a:noFill/>
        </p:spPr>
        <p:txBody>
          <a:bodyPr wrap="none" rtlCol="0">
            <a:spAutoFit/>
          </a:bodyPr>
          <a:lstStyle/>
          <a:p>
            <a:r>
              <a:rPr lang="en-US" sz="1100" dirty="0">
                <a:solidFill>
                  <a:schemeClr val="bg1">
                    <a:lumMod val="50000"/>
                  </a:schemeClr>
                </a:solidFill>
                <a:latin typeface="Helvetica Light" panose="020B0403020202020204" pitchFamily="34" charset="0"/>
              </a:rPr>
              <a:t>Mare Nostrum supercomputer, Barcelona</a:t>
            </a:r>
          </a:p>
        </p:txBody>
      </p:sp>
    </p:spTree>
    <p:extLst>
      <p:ext uri="{BB962C8B-B14F-4D97-AF65-F5344CB8AC3E}">
        <p14:creationId xmlns:p14="http://schemas.microsoft.com/office/powerpoint/2010/main" val="1315758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488E0-0485-9661-4A27-6423D1D98D68}"/>
              </a:ext>
            </a:extLst>
          </p:cNvPr>
          <p:cNvSpPr>
            <a:spLocks noGrp="1"/>
          </p:cNvSpPr>
          <p:nvPr>
            <p:ph type="title"/>
          </p:nvPr>
        </p:nvSpPr>
        <p:spPr/>
        <p:txBody>
          <a:bodyPr>
            <a:normAutofit/>
          </a:bodyPr>
          <a:lstStyle/>
          <a:p>
            <a:r>
              <a:rPr lang="en-US" sz="4000" dirty="0">
                <a:latin typeface="Helvetica" pitchFamily="2" charset="0"/>
              </a:rPr>
              <a:t>Workshop Structure</a:t>
            </a:r>
          </a:p>
        </p:txBody>
      </p:sp>
      <p:graphicFrame>
        <p:nvGraphicFramePr>
          <p:cNvPr id="4" name="Table 3">
            <a:extLst>
              <a:ext uri="{FF2B5EF4-FFF2-40B4-BE49-F238E27FC236}">
                <a16:creationId xmlns:a16="http://schemas.microsoft.com/office/drawing/2014/main" id="{0AC10CA1-46F0-A2BF-0272-C7AE93EEBB36}"/>
              </a:ext>
            </a:extLst>
          </p:cNvPr>
          <p:cNvGraphicFramePr>
            <a:graphicFrameLocks noGrp="1"/>
          </p:cNvGraphicFramePr>
          <p:nvPr>
            <p:extLst>
              <p:ext uri="{D42A27DB-BD31-4B8C-83A1-F6EECF244321}">
                <p14:modId xmlns:p14="http://schemas.microsoft.com/office/powerpoint/2010/main" val="3065084505"/>
              </p:ext>
            </p:extLst>
          </p:nvPr>
        </p:nvGraphicFramePr>
        <p:xfrm>
          <a:off x="838200" y="1647725"/>
          <a:ext cx="10366169" cy="4618153"/>
        </p:xfrm>
        <a:graphic>
          <a:graphicData uri="http://schemas.openxmlformats.org/drawingml/2006/table">
            <a:tbl>
              <a:tblPr firstRow="1" bandRow="1">
                <a:tableStyleId>{5940675A-B579-460E-94D1-54222C63F5DA}</a:tableStyleId>
              </a:tblPr>
              <a:tblGrid>
                <a:gridCol w="1600455">
                  <a:extLst>
                    <a:ext uri="{9D8B030D-6E8A-4147-A177-3AD203B41FA5}">
                      <a16:colId xmlns:a16="http://schemas.microsoft.com/office/drawing/2014/main" val="3588077064"/>
                    </a:ext>
                  </a:extLst>
                </a:gridCol>
                <a:gridCol w="1553775">
                  <a:extLst>
                    <a:ext uri="{9D8B030D-6E8A-4147-A177-3AD203B41FA5}">
                      <a16:colId xmlns:a16="http://schemas.microsoft.com/office/drawing/2014/main" val="2921729674"/>
                    </a:ext>
                  </a:extLst>
                </a:gridCol>
                <a:gridCol w="1494395">
                  <a:extLst>
                    <a:ext uri="{9D8B030D-6E8A-4147-A177-3AD203B41FA5}">
                      <a16:colId xmlns:a16="http://schemas.microsoft.com/office/drawing/2014/main" val="3051897964"/>
                    </a:ext>
                  </a:extLst>
                </a:gridCol>
                <a:gridCol w="1393727">
                  <a:extLst>
                    <a:ext uri="{9D8B030D-6E8A-4147-A177-3AD203B41FA5}">
                      <a16:colId xmlns:a16="http://schemas.microsoft.com/office/drawing/2014/main" val="2317395656"/>
                    </a:ext>
                  </a:extLst>
                </a:gridCol>
                <a:gridCol w="1393727">
                  <a:extLst>
                    <a:ext uri="{9D8B030D-6E8A-4147-A177-3AD203B41FA5}">
                      <a16:colId xmlns:a16="http://schemas.microsoft.com/office/drawing/2014/main" val="4058881113"/>
                    </a:ext>
                  </a:extLst>
                </a:gridCol>
                <a:gridCol w="1467082">
                  <a:extLst>
                    <a:ext uri="{9D8B030D-6E8A-4147-A177-3AD203B41FA5}">
                      <a16:colId xmlns:a16="http://schemas.microsoft.com/office/drawing/2014/main" val="1121361333"/>
                    </a:ext>
                  </a:extLst>
                </a:gridCol>
                <a:gridCol w="1463008">
                  <a:extLst>
                    <a:ext uri="{9D8B030D-6E8A-4147-A177-3AD203B41FA5}">
                      <a16:colId xmlns:a16="http://schemas.microsoft.com/office/drawing/2014/main" val="3820744059"/>
                    </a:ext>
                  </a:extLst>
                </a:gridCol>
              </a:tblGrid>
              <a:tr h="277386">
                <a:tc gridSpan="2">
                  <a:txBody>
                    <a:bodyPr/>
                    <a:lstStyle/>
                    <a:p>
                      <a:pPr algn="ctr"/>
                      <a:r>
                        <a:rPr lang="en-US" sz="1200" b="1" dirty="0">
                          <a:latin typeface="Helvetica" pitchFamily="2" charset="0"/>
                        </a:rPr>
                        <a:t>Day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Day 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r>
                        <a:rPr lang="en-US" sz="1200" b="1" dirty="0">
                          <a:latin typeface="Helvetica" pitchFamily="2" charset="0"/>
                        </a:rPr>
                        <a:t>Day 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gridSpan="2">
                  <a:txBody>
                    <a:bodyPr/>
                    <a:lstStyle/>
                    <a:p>
                      <a:pPr algn="ctr"/>
                      <a:r>
                        <a:rPr lang="en-US" sz="1200" b="1" dirty="0">
                          <a:latin typeface="Helvetica" pitchFamily="2" charset="0"/>
                        </a:rPr>
                        <a:t>Day 4</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86561491"/>
                  </a:ext>
                </a:extLst>
              </a:tr>
              <a:tr h="888907">
                <a:tc>
                  <a:txBody>
                    <a:bodyPr/>
                    <a:lstStyle/>
                    <a:p>
                      <a:pPr algn="ctr"/>
                      <a:r>
                        <a:rPr lang="en-US" sz="1200" b="1" dirty="0">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3.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4.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1200" b="1" dirty="0">
                          <a:latin typeface="Helvetica" pitchFamily="2" charset="0"/>
                        </a:rPr>
                        <a:t>5.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1200" b="1" dirty="0">
                          <a:latin typeface="Helvetica" pitchFamily="2" charset="0"/>
                        </a:rPr>
                        <a:t>6.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7. Data management + Globus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070096"/>
                  </a:ext>
                </a:extLst>
              </a:tr>
              <a:tr h="3402714">
                <a:tc>
                  <a:txBody>
                    <a:bodyPr/>
                    <a:lstStyle/>
                    <a:p>
                      <a:pPr marL="171450" indent="-171450">
                        <a:buFont typeface="Arial" panose="020B0604020202020204" pitchFamily="34" charset="0"/>
                        <a:buChar char="•"/>
                      </a:pPr>
                      <a:r>
                        <a:rPr lang="en-US" sz="1050" dirty="0">
                          <a:latin typeface="Helvetica" pitchFamily="2" charset="0"/>
                        </a:rPr>
                        <a:t>Understand Core HPC Concepts (CPU/GPU, Node/Core)</a:t>
                      </a:r>
                    </a:p>
                    <a:p>
                      <a:pPr marL="171450" indent="-171450">
                        <a:buFont typeface="Arial" panose="020B0604020202020204" pitchFamily="34" charset="0"/>
                        <a:buChar char="•"/>
                      </a:pPr>
                      <a:r>
                        <a:rPr lang="en-US" sz="1050" dirty="0">
                          <a:latin typeface="Helvetica" pitchFamily="2" charset="0"/>
                        </a:rPr>
                        <a:t>Navigate the Hazel HPC Environment</a:t>
                      </a:r>
                    </a:p>
                    <a:p>
                      <a:pPr marL="171450" indent="-171450">
                        <a:buFont typeface="Arial" panose="020B0604020202020204" pitchFamily="34" charset="0"/>
                        <a:buChar char="•"/>
                      </a:pPr>
                      <a:r>
                        <a:rPr lang="en-US" sz="1050" dirty="0">
                          <a:latin typeface="Helvetica" pitchFamily="2" charset="0"/>
                        </a:rPr>
                        <a:t>Get started with obtaining a HPC account</a:t>
                      </a:r>
                    </a:p>
                    <a:p>
                      <a:pPr marL="171450" indent="-171450">
                        <a:buFont typeface="Arial" panose="020B0604020202020204" pitchFamily="34" charset="0"/>
                        <a:buChar char="•"/>
                      </a:pPr>
                      <a:r>
                        <a:rPr lang="en-US" sz="1050" dirty="0">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LSF job submission </a:t>
                      </a:r>
                    </a:p>
                    <a:p>
                      <a:pPr marL="171450" indent="-171450">
                        <a:buFont typeface="Arial" panose="020B0604020202020204" pitchFamily="34" charset="0"/>
                        <a:buChar char="•"/>
                      </a:pPr>
                      <a:r>
                        <a:rPr lang="en-US" sz="1050" dirty="0">
                          <a:latin typeface="Helvetica" pitchFamily="2" charset="0"/>
                        </a:rPr>
                        <a:t>Running an interactive job</a:t>
                      </a:r>
                    </a:p>
                    <a:p>
                      <a:pPr marL="171450" indent="-171450">
                        <a:buFont typeface="Arial" panose="020B0604020202020204" pitchFamily="34" charset="0"/>
                        <a:buChar char="•"/>
                      </a:pPr>
                      <a:r>
                        <a:rPr lang="en-US" sz="1050" dirty="0">
                          <a:latin typeface="Helvetica" pitchFamily="2" charset="0"/>
                        </a:rPr>
                        <a:t>Create a first job script and submit it</a:t>
                      </a:r>
                    </a:p>
                    <a:p>
                      <a:pPr marL="171450" indent="-171450">
                        <a:buFont typeface="Arial" panose="020B0604020202020204" pitchFamily="34" charset="0"/>
                        <a:buChar char="•"/>
                      </a:pPr>
                      <a:r>
                        <a:rPr lang="en-US" sz="1050" dirty="0">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the use cases for job arrays</a:t>
                      </a:r>
                    </a:p>
                    <a:p>
                      <a:pPr marL="171450" indent="-171450">
                        <a:buFont typeface="Arial" panose="020B0604020202020204" pitchFamily="34" charset="0"/>
                        <a:buChar char="•"/>
                      </a:pPr>
                      <a:r>
                        <a:rPr lang="en-US" sz="1050" dirty="0">
                          <a:latin typeface="Helvetica" pitchFamily="2" charset="0"/>
                        </a:rPr>
                        <a:t>Learn about the computation behind job arrays</a:t>
                      </a:r>
                    </a:p>
                    <a:p>
                      <a:pPr marL="171450" indent="-171450">
                        <a:buFont typeface="Arial" panose="020B0604020202020204" pitchFamily="34" charset="0"/>
                        <a:buChar char="•"/>
                      </a:pPr>
                      <a:r>
                        <a:rPr lang="en-US" sz="1050" dirty="0">
                          <a:latin typeface="Helvetica" pitchFamily="2" charset="0"/>
                        </a:rPr>
                        <a:t>Create the scripts needed to submit a job array</a:t>
                      </a:r>
                    </a:p>
                    <a:p>
                      <a:pPr marL="171450" indent="-171450">
                        <a:buFont typeface="Arial" panose="020B0604020202020204" pitchFamily="34" charset="0"/>
                        <a:buChar char="•"/>
                      </a:pPr>
                      <a:r>
                        <a:rPr lang="en-US" sz="1050" dirty="0">
                          <a:latin typeface="Helvetica" pitchFamily="2" charset="0"/>
                        </a:rPr>
                        <a:t>Create a job array and submit it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Learn how to estimate job requirements</a:t>
                      </a:r>
                    </a:p>
                    <a:p>
                      <a:pPr marL="171450" indent="-171450">
                        <a:buFont typeface="Arial" panose="020B0604020202020204" pitchFamily="34" charset="0"/>
                        <a:buChar char="•"/>
                      </a:pPr>
                      <a:r>
                        <a:rPr lang="en-US" sz="1050" dirty="0">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latin typeface="Helvetica" pitchFamily="2" charset="0"/>
                        </a:rPr>
                        <a:t>Learn about GNU parallel</a:t>
                      </a:r>
                    </a:p>
                    <a:p>
                      <a:pPr marL="171450" indent="-171450">
                        <a:buFont typeface="Arial" panose="020B0604020202020204" pitchFamily="34" charset="0"/>
                        <a:buChar char="•"/>
                      </a:pPr>
                      <a:r>
                        <a:rPr lang="en-US" sz="1050" dirty="0">
                          <a:latin typeface="Helvetica" pitchFamily="2" charset="0"/>
                        </a:rPr>
                        <a:t>Run two examples on data downloading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Introduction to modules</a:t>
                      </a:r>
                    </a:p>
                    <a:p>
                      <a:pPr marL="171450" indent="-171450">
                        <a:buFont typeface="Arial" panose="020B0604020202020204" pitchFamily="34" charset="0"/>
                        <a:buChar char="•"/>
                      </a:pPr>
                      <a:r>
                        <a:rPr lang="en-US" sz="1050" dirty="0">
                          <a:latin typeface="Helvetica" pitchFamily="2" charset="0"/>
                        </a:rPr>
                        <a:t>Introduction to virtual environments</a:t>
                      </a:r>
                    </a:p>
                    <a:p>
                      <a:pPr marL="171450" indent="-171450">
                        <a:buFont typeface="Arial" panose="020B0604020202020204" pitchFamily="34" charset="0"/>
                        <a:buChar char="•"/>
                      </a:pPr>
                      <a:r>
                        <a:rPr lang="en-US" sz="1050" dirty="0">
                          <a:latin typeface="Helvetica" pitchFamily="2" charset="0"/>
                        </a:rPr>
                        <a:t>Introduction to containers</a:t>
                      </a:r>
                    </a:p>
                    <a:p>
                      <a:pPr marL="171450" indent="-171450">
                        <a:buFont typeface="Arial" panose="020B0604020202020204" pitchFamily="34" charset="0"/>
                        <a:buChar char="•"/>
                      </a:pPr>
                      <a:r>
                        <a:rPr lang="en-US" sz="1050" dirty="0">
                          <a:latin typeface="Helvetica" pitchFamily="2" charset="0"/>
                        </a:rPr>
                        <a:t>Learn how to load software using modules, </a:t>
                      </a:r>
                      <a:r>
                        <a:rPr lang="en-US" sz="1050" dirty="0" err="1">
                          <a:latin typeface="Helvetica" pitchFamily="2" charset="0"/>
                        </a:rPr>
                        <a:t>conda</a:t>
                      </a:r>
                      <a:r>
                        <a:rPr lang="en-US" sz="1050" dirty="0">
                          <a:latin typeface="Helvetica" pitchFamily="2" charset="0"/>
                        </a:rPr>
                        <a:t>, containers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buFontTx/>
                        <a:buNone/>
                      </a:pPr>
                      <a:r>
                        <a:rPr lang="en-US" sz="1050" dirty="0">
                          <a:latin typeface="Helvetica" pitchFamily="2" charset="0"/>
                        </a:rPr>
                        <a:t>Manage data across the Hazel storage system.</a:t>
                      </a:r>
                    </a:p>
                    <a:p>
                      <a:r>
                        <a:rPr lang="en-US" sz="1050" dirty="0">
                          <a:latin typeface="Helvetica" pitchFamily="2" charset="0"/>
                        </a:rPr>
                        <a:t>Know when and how to use: </a:t>
                      </a:r>
                    </a:p>
                    <a:p>
                      <a:pPr marL="171450" indent="-171450">
                        <a:buFont typeface="Arial" panose="020B0604020202020204" pitchFamily="34" charset="0"/>
                        <a:buChar char="•"/>
                      </a:pPr>
                      <a:r>
                        <a:rPr lang="en-US" sz="1050" dirty="0">
                          <a:latin typeface="Helvetica" pitchFamily="2" charset="0"/>
                        </a:rPr>
                        <a:t>Research Storage (RS1)</a:t>
                      </a:r>
                    </a:p>
                    <a:p>
                      <a:pPr marL="171450" indent="-171450">
                        <a:buFont typeface="Arial" panose="020B0604020202020204" pitchFamily="34" charset="0"/>
                        <a:buChar char="•"/>
                      </a:pPr>
                      <a:r>
                        <a:rPr lang="en-US" sz="1050" dirty="0" err="1">
                          <a:latin typeface="Helvetica" pitchFamily="2" charset="0"/>
                        </a:rPr>
                        <a:t>Usrapps</a:t>
                      </a:r>
                      <a:endParaRPr lang="en-US" sz="1050" dirty="0">
                        <a:latin typeface="Helvetica" pitchFamily="2" charset="0"/>
                      </a:endParaRPr>
                    </a:p>
                    <a:p>
                      <a:pPr marL="171450" indent="-171450">
                        <a:buFont typeface="Arial" panose="020B0604020202020204" pitchFamily="34" charset="0"/>
                        <a:buChar char="•"/>
                      </a:pPr>
                      <a:r>
                        <a:rPr lang="en-US" sz="1050" dirty="0">
                          <a:latin typeface="Helvetica" pitchFamily="2" charset="0"/>
                        </a:rPr>
                        <a:t>Scratch</a:t>
                      </a:r>
                    </a:p>
                    <a:p>
                      <a:pPr marL="171450" indent="-171450">
                        <a:buFont typeface="Arial" panose="020B0604020202020204" pitchFamily="34" charset="0"/>
                        <a:buChar char="•"/>
                      </a:pPr>
                      <a:r>
                        <a:rPr lang="en-US" sz="1050" dirty="0">
                          <a:latin typeface="Helvetica" pitchFamily="2" charset="0"/>
                        </a:rPr>
                        <a:t>How to mount your RS1</a:t>
                      </a:r>
                    </a:p>
                    <a:p>
                      <a:pPr marL="0" indent="0">
                        <a:buFontTx/>
                        <a:buNone/>
                      </a:pPr>
                      <a:endParaRPr lang="en-US" sz="1050" dirty="0">
                        <a:latin typeface="Helvetica" pitchFamily="2" charset="0"/>
                      </a:endParaRPr>
                    </a:p>
                    <a:p>
                      <a:pPr marL="0" indent="0">
                        <a:buFontTx/>
                        <a:buNone/>
                      </a:pPr>
                      <a:r>
                        <a:rPr lang="en-US" sz="1050" dirty="0">
                          <a:latin typeface="Helvetica" pitchFamily="2" charset="0"/>
                        </a:rPr>
                        <a:t>Globus:</a:t>
                      </a:r>
                    </a:p>
                    <a:p>
                      <a:pPr marL="171450" indent="-171450">
                        <a:buFont typeface="Arial" panose="020B0604020202020204" pitchFamily="34" charset="0"/>
                        <a:buChar char="•"/>
                      </a:pPr>
                      <a:r>
                        <a:rPr lang="en-US" sz="1050" dirty="0">
                          <a:latin typeface="Helvetica" pitchFamily="2" charset="0"/>
                        </a:rPr>
                        <a:t>Understand endpoints and transfers. </a:t>
                      </a:r>
                    </a:p>
                    <a:p>
                      <a:pPr marL="171450" indent="-171450">
                        <a:buFont typeface="Arial" panose="020B0604020202020204" pitchFamily="34" charset="0"/>
                        <a:buChar char="•"/>
                      </a:pPr>
                      <a:r>
                        <a:rPr lang="en-US" sz="1050" dirty="0">
                          <a:latin typeface="Helvetica" pitchFamily="2" charset="0"/>
                        </a:rPr>
                        <a:t>Create a local and Google Drive endpoint</a:t>
                      </a:r>
                    </a:p>
                    <a:p>
                      <a:pPr marL="171450" indent="-171450">
                        <a:buFont typeface="Arial" panose="020B0604020202020204" pitchFamily="34" charset="0"/>
                        <a:buChar char="•"/>
                      </a:pPr>
                      <a:r>
                        <a:rPr lang="en-US" sz="1050" dirty="0">
                          <a:latin typeface="Helvetica" pitchFamily="2" charset="0"/>
                        </a:rPr>
                        <a:t>Perform transfers with HPC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203831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9598-BD4D-70E9-70C2-7215FDC05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1D083-096E-849D-8015-B191ED5D6A34}"/>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5020596A-D3B5-18D2-1D37-3B88E5CD7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C98279-5765-9BFA-2B15-04A8FEDAA130}"/>
              </a:ext>
            </a:extLst>
          </p:cNvPr>
          <p:cNvSpPr txBox="1"/>
          <p:nvPr/>
        </p:nvSpPr>
        <p:spPr>
          <a:xfrm>
            <a:off x="1794669" y="2206232"/>
            <a:ext cx="6591506" cy="1754326"/>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0DEEB3E2-D200-94F1-EB2C-1F94DD52C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438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7E632-1B08-6D8A-3A25-87625934D7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DBFA83-B7A1-3974-0E7E-4C0F70E71604}"/>
              </a:ext>
            </a:extLst>
          </p:cNvPr>
          <p:cNvSpPr txBox="1">
            <a:spLocks/>
          </p:cNvSpPr>
          <p:nvPr/>
        </p:nvSpPr>
        <p:spPr>
          <a:xfrm>
            <a:off x="1830388" y="2235200"/>
            <a:ext cx="7337363"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4. Job performance analysis</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9F1ED029-BF96-DB0C-CA25-0CBEF7F83A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000"/>
          <a:stretch>
            <a:fillRect/>
          </a:stretch>
        </p:blipFill>
        <p:spPr bwMode="auto">
          <a:xfrm>
            <a:off x="8683898" y="1887582"/>
            <a:ext cx="1861782" cy="172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826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FC439-6578-4F50-5E86-F1F6FA128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F5151-ED81-04FA-C078-BB702FF015B0}"/>
              </a:ext>
            </a:extLst>
          </p:cNvPr>
          <p:cNvSpPr>
            <a:spLocks noGrp="1"/>
          </p:cNvSpPr>
          <p:nvPr>
            <p:ph type="title"/>
          </p:nvPr>
        </p:nvSpPr>
        <p:spPr/>
        <p:txBody>
          <a:bodyPr>
            <a:normAutofit/>
          </a:bodyPr>
          <a:lstStyle/>
          <a:p>
            <a:r>
              <a:rPr lang="en-US" sz="4000" dirty="0">
                <a:latin typeface="Helvetica" pitchFamily="2" charset="0"/>
              </a:rPr>
              <a:t>Job performance analysis: why?</a:t>
            </a:r>
          </a:p>
        </p:txBody>
      </p:sp>
      <p:pic>
        <p:nvPicPr>
          <p:cNvPr id="1028" name="Picture 4" descr="Looks like it's the first day of the rest of your life..... | College Ecard">
            <a:extLst>
              <a:ext uri="{FF2B5EF4-FFF2-40B4-BE49-F238E27FC236}">
                <a16:creationId xmlns:a16="http://schemas.microsoft.com/office/drawing/2014/main" id="{229E986E-07AA-4D08-CB23-5293781D4B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955" y="3851753"/>
            <a:ext cx="3843551" cy="26904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B07B909-E6A5-41C4-CE21-C6445EC1136F}"/>
              </a:ext>
            </a:extLst>
          </p:cNvPr>
          <p:cNvSpPr txBox="1"/>
          <p:nvPr/>
        </p:nvSpPr>
        <p:spPr>
          <a:xfrm>
            <a:off x="838200" y="2261169"/>
            <a:ext cx="6097044" cy="1200329"/>
          </a:xfrm>
          <a:prstGeom prst="rect">
            <a:avLst/>
          </a:prstGeom>
          <a:solidFill>
            <a:schemeClr val="accent5">
              <a:lumMod val="20000"/>
              <a:lumOff val="80000"/>
            </a:schemeClr>
          </a:solidFill>
        </p:spPr>
        <p:txBody>
          <a:bodyPr wrap="square">
            <a:spAutoFit/>
          </a:bodyPr>
          <a:lstStyle/>
          <a:p>
            <a:pPr algn="l">
              <a:buNone/>
            </a:pPr>
            <a:r>
              <a:rPr lang="en-US" b="1" i="0" dirty="0">
                <a:solidFill>
                  <a:srgbClr val="373A3C"/>
                </a:solidFill>
                <a:effectLst/>
                <a:latin typeface="Source Sans Pro" panose="020B0503030403020204" pitchFamily="34" charset="0"/>
              </a:rPr>
              <a:t>Underestimation:</a:t>
            </a:r>
            <a:endParaRPr lang="en-US" b="0"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Jobs fail or timeout</a:t>
            </a: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Wasted computational time</a:t>
            </a: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Need to resubmit</a:t>
            </a:r>
          </a:p>
        </p:txBody>
      </p:sp>
      <p:sp>
        <p:nvSpPr>
          <p:cNvPr id="7" name="TextBox 6">
            <a:extLst>
              <a:ext uri="{FF2B5EF4-FFF2-40B4-BE49-F238E27FC236}">
                <a16:creationId xmlns:a16="http://schemas.microsoft.com/office/drawing/2014/main" id="{8C968EEA-9F2F-71B8-FEF4-22F606380362}"/>
              </a:ext>
            </a:extLst>
          </p:cNvPr>
          <p:cNvSpPr txBox="1"/>
          <p:nvPr/>
        </p:nvSpPr>
        <p:spPr>
          <a:xfrm>
            <a:off x="838200" y="4596831"/>
            <a:ext cx="6097044" cy="1200329"/>
          </a:xfrm>
          <a:prstGeom prst="rect">
            <a:avLst/>
          </a:prstGeom>
          <a:solidFill>
            <a:schemeClr val="accent2">
              <a:lumMod val="20000"/>
              <a:lumOff val="80000"/>
            </a:schemeClr>
          </a:solidFill>
        </p:spPr>
        <p:txBody>
          <a:bodyPr wrap="square">
            <a:spAutoFit/>
          </a:bodyPr>
          <a:lstStyle/>
          <a:p>
            <a:pPr algn="l"/>
            <a:r>
              <a:rPr lang="en-US" b="1" i="0" dirty="0">
                <a:solidFill>
                  <a:srgbClr val="373A3C"/>
                </a:solidFill>
                <a:effectLst/>
                <a:latin typeface="Source Sans Pro" panose="020B0503030403020204" pitchFamily="34" charset="0"/>
              </a:rPr>
              <a:t>Overestimation:</a:t>
            </a:r>
            <a:endParaRPr lang="en-US" b="0"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Longer queue times</a:t>
            </a: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Wasted cluster resources</a:t>
            </a: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Reduced fair share priority</a:t>
            </a:r>
          </a:p>
        </p:txBody>
      </p:sp>
      <p:pic>
        <p:nvPicPr>
          <p:cNvPr id="1030" name="Picture 6">
            <a:hlinkClick r:id="rId4"/>
            <a:extLst>
              <a:ext uri="{FF2B5EF4-FFF2-40B4-BE49-F238E27FC236}">
                <a16:creationId xmlns:a16="http://schemas.microsoft.com/office/drawing/2014/main" id="{96E88315-CE75-F8E0-6AB0-CC6C7931E2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9561" y="1374793"/>
            <a:ext cx="3004239" cy="2253179"/>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0D7C1365-5FC2-9577-638F-32E3E5E15A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01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708FE-E6FB-8469-8B18-907394A26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DAFED-0A17-5C1B-85DB-C5A3E52884B2}"/>
              </a:ext>
            </a:extLst>
          </p:cNvPr>
          <p:cNvSpPr>
            <a:spLocks noGrp="1"/>
          </p:cNvSpPr>
          <p:nvPr>
            <p:ph type="title"/>
          </p:nvPr>
        </p:nvSpPr>
        <p:spPr/>
        <p:txBody>
          <a:bodyPr>
            <a:normAutofit/>
          </a:bodyPr>
          <a:lstStyle/>
          <a:p>
            <a:r>
              <a:rPr lang="en-US" sz="4000" dirty="0">
                <a:latin typeface="Helvetica" pitchFamily="2" charset="0"/>
              </a:rPr>
              <a:t>Job performance analysis: how?</a:t>
            </a:r>
          </a:p>
        </p:txBody>
      </p:sp>
      <p:pic>
        <p:nvPicPr>
          <p:cNvPr id="1031" name="Picture 7">
            <a:extLst>
              <a:ext uri="{FF2B5EF4-FFF2-40B4-BE49-F238E27FC236}">
                <a16:creationId xmlns:a16="http://schemas.microsoft.com/office/drawing/2014/main" id="{CF6C9A7B-1D9C-2B54-9D27-49DD14280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6C28E1BE-8785-553A-2420-B6169C7663DC}"/>
              </a:ext>
            </a:extLst>
          </p:cNvPr>
          <p:cNvGrpSpPr/>
          <p:nvPr/>
        </p:nvGrpSpPr>
        <p:grpSpPr>
          <a:xfrm>
            <a:off x="6059921" y="2586157"/>
            <a:ext cx="6132079" cy="3412252"/>
            <a:chOff x="1372695" y="2052320"/>
            <a:chExt cx="6132079" cy="3412252"/>
          </a:xfrm>
        </p:grpSpPr>
        <p:pic>
          <p:nvPicPr>
            <p:cNvPr id="7170" name="Picture 2" descr="Feedback loops | Discover">
              <a:extLst>
                <a:ext uri="{FF2B5EF4-FFF2-40B4-BE49-F238E27FC236}">
                  <a16:creationId xmlns:a16="http://schemas.microsoft.com/office/drawing/2014/main" id="{57B56B47-497F-0411-2853-7B43119672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0040" y="2052320"/>
              <a:ext cx="3042920" cy="30429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E9D714-7A09-DA7F-653B-EAC5FDBC16A3}"/>
                </a:ext>
              </a:extLst>
            </p:cNvPr>
            <p:cNvSpPr txBox="1"/>
            <p:nvPr/>
          </p:nvSpPr>
          <p:spPr>
            <a:xfrm>
              <a:off x="5902960" y="3250613"/>
              <a:ext cx="1601814" cy="646331"/>
            </a:xfrm>
            <a:prstGeom prst="rect">
              <a:avLst/>
            </a:prstGeom>
            <a:noFill/>
          </p:spPr>
          <p:txBody>
            <a:bodyPr wrap="square" rtlCol="0">
              <a:spAutoFit/>
            </a:bodyPr>
            <a:lstStyle/>
            <a:p>
              <a:pPr algn="ctr"/>
              <a:r>
                <a:rPr lang="en-US" b="1" dirty="0"/>
                <a:t>Create job </a:t>
              </a:r>
            </a:p>
            <a:p>
              <a:pPr algn="ctr"/>
              <a:r>
                <a:rPr lang="en-US" b="1" dirty="0"/>
                <a:t>(set resources)</a:t>
              </a:r>
            </a:p>
          </p:txBody>
        </p:sp>
        <p:sp>
          <p:nvSpPr>
            <p:cNvPr id="5" name="TextBox 4">
              <a:extLst>
                <a:ext uri="{FF2B5EF4-FFF2-40B4-BE49-F238E27FC236}">
                  <a16:creationId xmlns:a16="http://schemas.microsoft.com/office/drawing/2014/main" id="{CF2D3D7D-0887-AC6D-CE5D-3E42123B3203}"/>
                </a:ext>
              </a:extLst>
            </p:cNvPr>
            <p:cNvSpPr txBox="1"/>
            <p:nvPr/>
          </p:nvSpPr>
          <p:spPr>
            <a:xfrm>
              <a:off x="3735330" y="5095240"/>
              <a:ext cx="1292341" cy="369332"/>
            </a:xfrm>
            <a:prstGeom prst="rect">
              <a:avLst/>
            </a:prstGeom>
            <a:noFill/>
          </p:spPr>
          <p:txBody>
            <a:bodyPr wrap="none" rtlCol="0">
              <a:spAutoFit/>
            </a:bodyPr>
            <a:lstStyle/>
            <a:p>
              <a:pPr algn="ctr"/>
              <a:r>
                <a:rPr lang="en-US" b="1" dirty="0"/>
                <a:t>Run the job</a:t>
              </a:r>
            </a:p>
          </p:txBody>
        </p:sp>
        <p:sp>
          <p:nvSpPr>
            <p:cNvPr id="6" name="TextBox 5">
              <a:extLst>
                <a:ext uri="{FF2B5EF4-FFF2-40B4-BE49-F238E27FC236}">
                  <a16:creationId xmlns:a16="http://schemas.microsoft.com/office/drawing/2014/main" id="{68C8F2E4-3B1A-96BE-E5BB-B832B9B527EC}"/>
                </a:ext>
              </a:extLst>
            </p:cNvPr>
            <p:cNvSpPr txBox="1"/>
            <p:nvPr/>
          </p:nvSpPr>
          <p:spPr>
            <a:xfrm>
              <a:off x="1372695" y="3250614"/>
              <a:ext cx="1604185" cy="646331"/>
            </a:xfrm>
            <a:prstGeom prst="rect">
              <a:avLst/>
            </a:prstGeom>
            <a:noFill/>
          </p:spPr>
          <p:txBody>
            <a:bodyPr wrap="square" rtlCol="0">
              <a:spAutoFit/>
            </a:bodyPr>
            <a:lstStyle/>
            <a:p>
              <a:pPr algn="ctr"/>
              <a:r>
                <a:rPr lang="en-US" b="1" dirty="0"/>
                <a:t>Analyze performance</a:t>
              </a:r>
            </a:p>
          </p:txBody>
        </p:sp>
      </p:grpSp>
      <p:sp>
        <p:nvSpPr>
          <p:cNvPr id="8" name="TextBox 7">
            <a:extLst>
              <a:ext uri="{FF2B5EF4-FFF2-40B4-BE49-F238E27FC236}">
                <a16:creationId xmlns:a16="http://schemas.microsoft.com/office/drawing/2014/main" id="{CAA13E8D-37AE-4F47-3267-1D9D9595B1D0}"/>
              </a:ext>
            </a:extLst>
          </p:cNvPr>
          <p:cNvSpPr txBox="1"/>
          <p:nvPr/>
        </p:nvSpPr>
        <p:spPr>
          <a:xfrm>
            <a:off x="741161" y="3429000"/>
            <a:ext cx="5730760" cy="3139321"/>
          </a:xfrm>
          <a:prstGeom prst="rect">
            <a:avLst/>
          </a:prstGeom>
          <a:noFill/>
        </p:spPr>
        <p:txBody>
          <a:bodyPr wrap="square">
            <a:spAutoFit/>
          </a:bodyPr>
          <a:lstStyle/>
          <a:p>
            <a:pPr algn="l">
              <a:buFont typeface="+mj-lt"/>
              <a:buAutoNum type="arabicPeriod"/>
            </a:pPr>
            <a:r>
              <a:rPr lang="en-US" b="1" i="0" dirty="0">
                <a:solidFill>
                  <a:srgbClr val="373A3C"/>
                </a:solidFill>
                <a:effectLst/>
                <a:latin typeface="Source Sans Pro" panose="020B0503030403020204" pitchFamily="34" charset="0"/>
              </a:rPr>
              <a:t> Documentation:</a:t>
            </a:r>
            <a:r>
              <a:rPr lang="en-US" b="0" i="0" dirty="0">
                <a:solidFill>
                  <a:srgbClr val="373A3C"/>
                </a:solidFill>
                <a:effectLst/>
                <a:latin typeface="Source Sans Pro" panose="020B0503030403020204" pitchFamily="34" charset="0"/>
              </a:rPr>
              <a:t> Check software requirements</a:t>
            </a:r>
          </a:p>
          <a:p>
            <a:pPr algn="l">
              <a:buFont typeface="+mj-lt"/>
              <a:buAutoNum type="arabicPeriod"/>
            </a:pPr>
            <a:r>
              <a:rPr lang="en-US" b="1" i="0" dirty="0">
                <a:solidFill>
                  <a:srgbClr val="373A3C"/>
                </a:solidFill>
                <a:effectLst/>
                <a:latin typeface="Source Sans Pro" panose="020B0503030403020204" pitchFamily="34" charset="0"/>
              </a:rPr>
              <a:t> Similar jobs:</a:t>
            </a:r>
            <a:r>
              <a:rPr lang="en-US" b="0" i="0" dirty="0">
                <a:solidFill>
                  <a:srgbClr val="373A3C"/>
                </a:solidFill>
                <a:effectLst/>
                <a:latin typeface="Source Sans Pro" panose="020B0503030403020204" pitchFamily="34" charset="0"/>
              </a:rPr>
              <a:t> Look at past jobs in your group</a:t>
            </a:r>
          </a:p>
          <a:p>
            <a:pPr algn="l">
              <a:buFont typeface="+mj-lt"/>
              <a:buAutoNum type="arabicPeriod"/>
            </a:pPr>
            <a:r>
              <a:rPr lang="en-US" b="1" i="0" dirty="0">
                <a:solidFill>
                  <a:srgbClr val="373A3C"/>
                </a:solidFill>
                <a:effectLst/>
                <a:latin typeface="Source Sans Pro" panose="020B0503030403020204" pitchFamily="34" charset="0"/>
              </a:rPr>
              <a:t> Test runs:</a:t>
            </a:r>
            <a:r>
              <a:rPr lang="en-US" b="0" i="0" dirty="0">
                <a:solidFill>
                  <a:srgbClr val="373A3C"/>
                </a:solidFill>
                <a:effectLst/>
                <a:latin typeface="Source Sans Pro" panose="020B0503030403020204" pitchFamily="34" charset="0"/>
              </a:rPr>
              <a:t> Run small version, check actual usage with </a:t>
            </a:r>
            <a:r>
              <a:rPr lang="en-US" b="0" i="0" dirty="0" err="1">
                <a:solidFill>
                  <a:srgbClr val="7D12BA"/>
                </a:solidFill>
                <a:effectLst/>
                <a:latin typeface="SFMono-Regular"/>
              </a:rPr>
              <a:t>bjobs</a:t>
            </a:r>
            <a:r>
              <a:rPr lang="en-US" b="0" i="0" dirty="0">
                <a:solidFill>
                  <a:srgbClr val="7D12BA"/>
                </a:solidFill>
                <a:effectLst/>
                <a:latin typeface="SFMono-Regular"/>
              </a:rPr>
              <a:t> -l</a:t>
            </a:r>
            <a:endParaRPr lang="en-US" b="0" i="0" dirty="0">
              <a:solidFill>
                <a:srgbClr val="373A3C"/>
              </a:solidFill>
              <a:effectLst/>
              <a:latin typeface="Source Sans Pro" panose="020B0503030403020204" pitchFamily="34" charset="0"/>
            </a:endParaRPr>
          </a:p>
          <a:p>
            <a:pPr algn="l">
              <a:buFont typeface="+mj-lt"/>
              <a:buAutoNum type="arabicPeriod"/>
            </a:pPr>
            <a:r>
              <a:rPr lang="en-US" b="1" i="0" dirty="0">
                <a:solidFill>
                  <a:srgbClr val="373A3C"/>
                </a:solidFill>
                <a:effectLst/>
                <a:latin typeface="Source Sans Pro" panose="020B0503030403020204" pitchFamily="34" charset="0"/>
              </a:rPr>
              <a:t> Data-driven:</a:t>
            </a:r>
            <a:r>
              <a:rPr lang="en-US" b="0" i="0" dirty="0">
                <a:solidFill>
                  <a:srgbClr val="373A3C"/>
                </a:solidFill>
                <a:effectLst/>
                <a:latin typeface="Source Sans Pro" panose="020B0503030403020204" pitchFamily="34" charset="0"/>
              </a:rPr>
              <a:t> Estimate based on your input data structure:</a:t>
            </a:r>
          </a:p>
          <a:p>
            <a:pPr marL="742950" lvl="1" indent="-285750" algn="l">
              <a:buFont typeface="+mj-lt"/>
              <a:buAutoNum type="arabicPeriod"/>
            </a:pPr>
            <a:r>
              <a:rPr lang="en-US" b="0" i="0" dirty="0">
                <a:solidFill>
                  <a:srgbClr val="373A3C"/>
                </a:solidFill>
                <a:effectLst/>
                <a:latin typeface="Source Sans Pro" panose="020B0503030403020204" pitchFamily="34" charset="0"/>
              </a:rPr>
              <a:t>If the code reads input as a matrix and makes copies: memory ≈ </a:t>
            </a:r>
            <a:r>
              <a:rPr lang="en-US" b="1" i="0" dirty="0">
                <a:solidFill>
                  <a:srgbClr val="373A3C"/>
                </a:solidFill>
                <a:effectLst/>
                <a:latin typeface="Source Sans Pro" panose="020B0503030403020204" pitchFamily="34" charset="0"/>
              </a:rPr>
              <a:t>N × file size</a:t>
            </a:r>
            <a:r>
              <a:rPr lang="en-US" b="0" i="0" dirty="0">
                <a:solidFill>
                  <a:srgbClr val="373A3C"/>
                </a:solidFill>
                <a:effectLst/>
                <a:latin typeface="Source Sans Pro" panose="020B0503030403020204" pitchFamily="34" charset="0"/>
              </a:rPr>
              <a:t> (where N = number of matrix copies held simultaneously)</a:t>
            </a:r>
          </a:p>
          <a:p>
            <a:pPr marL="742950" lvl="1" indent="-285750" algn="l">
              <a:buFont typeface="+mj-lt"/>
              <a:buAutoNum type="arabicPeriod"/>
            </a:pPr>
            <a:r>
              <a:rPr lang="en-US" b="0" i="0" dirty="0">
                <a:solidFill>
                  <a:srgbClr val="373A3C"/>
                </a:solidFill>
                <a:effectLst/>
                <a:latin typeface="Source Sans Pro" panose="020B0503030403020204" pitchFamily="34" charset="0"/>
              </a:rPr>
              <a:t>Number of grid points × number of variables × size of data type</a:t>
            </a:r>
          </a:p>
        </p:txBody>
      </p:sp>
      <p:graphicFrame>
        <p:nvGraphicFramePr>
          <p:cNvPr id="9" name="Table 8">
            <a:extLst>
              <a:ext uri="{FF2B5EF4-FFF2-40B4-BE49-F238E27FC236}">
                <a16:creationId xmlns:a16="http://schemas.microsoft.com/office/drawing/2014/main" id="{CBE8ED9A-7890-5254-85B6-DD8FA4154F2C}"/>
              </a:ext>
            </a:extLst>
          </p:cNvPr>
          <p:cNvGraphicFramePr>
            <a:graphicFrameLocks noGrp="1"/>
          </p:cNvGraphicFramePr>
          <p:nvPr>
            <p:extLst>
              <p:ext uri="{D42A27DB-BD31-4B8C-83A1-F6EECF244321}">
                <p14:modId xmlns:p14="http://schemas.microsoft.com/office/powerpoint/2010/main" val="1455327564"/>
              </p:ext>
            </p:extLst>
          </p:nvPr>
        </p:nvGraphicFramePr>
        <p:xfrm>
          <a:off x="838200" y="1620119"/>
          <a:ext cx="6132163" cy="1524000"/>
        </p:xfrm>
        <a:graphic>
          <a:graphicData uri="http://schemas.openxmlformats.org/drawingml/2006/table">
            <a:tbl>
              <a:tblPr>
                <a:tableStyleId>{2D5ABB26-0587-4C30-8999-92F81FD0307C}</a:tableStyleId>
              </a:tblPr>
              <a:tblGrid>
                <a:gridCol w="1486079">
                  <a:extLst>
                    <a:ext uri="{9D8B030D-6E8A-4147-A177-3AD203B41FA5}">
                      <a16:colId xmlns:a16="http://schemas.microsoft.com/office/drawing/2014/main" val="1292103665"/>
                    </a:ext>
                  </a:extLst>
                </a:gridCol>
                <a:gridCol w="4646084">
                  <a:extLst>
                    <a:ext uri="{9D8B030D-6E8A-4147-A177-3AD203B41FA5}">
                      <a16:colId xmlns:a16="http://schemas.microsoft.com/office/drawing/2014/main" val="1495538648"/>
                    </a:ext>
                  </a:extLst>
                </a:gridCol>
              </a:tblGrid>
              <a:tr h="0">
                <a:tc>
                  <a:txBody>
                    <a:bodyPr/>
                    <a:lstStyle/>
                    <a:p>
                      <a:pPr algn="l">
                        <a:buNone/>
                      </a:pPr>
                      <a:r>
                        <a:rPr lang="en-US" sz="1400" b="1">
                          <a:effectLst/>
                        </a:rPr>
                        <a:t>Resource</a:t>
                      </a:r>
                    </a:p>
                  </a:txBody>
                  <a:tcPr>
                    <a:solidFill>
                      <a:schemeClr val="bg1">
                        <a:lumMod val="75000"/>
                      </a:schemeClr>
                    </a:solidFill>
                  </a:tcPr>
                </a:tc>
                <a:tc>
                  <a:txBody>
                    <a:bodyPr/>
                    <a:lstStyle/>
                    <a:p>
                      <a:pPr algn="l">
                        <a:buNone/>
                      </a:pPr>
                      <a:r>
                        <a:rPr lang="en-US" sz="1400" b="1" dirty="0">
                          <a:effectLst/>
                        </a:rPr>
                        <a:t>Question to Ask</a:t>
                      </a:r>
                    </a:p>
                  </a:txBody>
                  <a:tcPr>
                    <a:solidFill>
                      <a:schemeClr val="bg1">
                        <a:lumMod val="75000"/>
                      </a:schemeClr>
                    </a:solidFill>
                  </a:tcPr>
                </a:tc>
                <a:extLst>
                  <a:ext uri="{0D108BD9-81ED-4DB2-BD59-A6C34878D82A}">
                    <a16:rowId xmlns:a16="http://schemas.microsoft.com/office/drawing/2014/main" val="3290156549"/>
                  </a:ext>
                </a:extLst>
              </a:tr>
              <a:tr h="0">
                <a:tc>
                  <a:txBody>
                    <a:bodyPr/>
                    <a:lstStyle/>
                    <a:p>
                      <a:pPr>
                        <a:buNone/>
                      </a:pPr>
                      <a:r>
                        <a:rPr lang="en-US" sz="1400" b="0">
                          <a:effectLst/>
                        </a:rPr>
                        <a:t>Cores</a:t>
                      </a:r>
                    </a:p>
                  </a:txBody>
                  <a:tcPr>
                    <a:solidFill>
                      <a:schemeClr val="bg1">
                        <a:lumMod val="95000"/>
                      </a:schemeClr>
                    </a:solidFill>
                  </a:tcPr>
                </a:tc>
                <a:tc>
                  <a:txBody>
                    <a:bodyPr/>
                    <a:lstStyle/>
                    <a:p>
                      <a:pPr>
                        <a:buNone/>
                      </a:pPr>
                      <a:r>
                        <a:rPr lang="en-US" sz="1400" dirty="0">
                          <a:effectLst/>
                        </a:rPr>
                        <a:t>Is this parallel? How many can it use effectively?</a:t>
                      </a:r>
                    </a:p>
                  </a:txBody>
                  <a:tcPr>
                    <a:solidFill>
                      <a:schemeClr val="bg1">
                        <a:lumMod val="95000"/>
                      </a:schemeClr>
                    </a:solidFill>
                  </a:tcPr>
                </a:tc>
                <a:extLst>
                  <a:ext uri="{0D108BD9-81ED-4DB2-BD59-A6C34878D82A}">
                    <a16:rowId xmlns:a16="http://schemas.microsoft.com/office/drawing/2014/main" val="1787380579"/>
                  </a:ext>
                </a:extLst>
              </a:tr>
              <a:tr h="0">
                <a:tc>
                  <a:txBody>
                    <a:bodyPr/>
                    <a:lstStyle/>
                    <a:p>
                      <a:pPr>
                        <a:buNone/>
                      </a:pPr>
                      <a:r>
                        <a:rPr lang="en-US" sz="1400" b="0">
                          <a:effectLst/>
                        </a:rPr>
                        <a:t>Memory</a:t>
                      </a:r>
                    </a:p>
                  </a:txBody>
                  <a:tcPr>
                    <a:solidFill>
                      <a:schemeClr val="bg1">
                        <a:lumMod val="95000"/>
                      </a:schemeClr>
                    </a:solidFill>
                  </a:tcPr>
                </a:tc>
                <a:tc>
                  <a:txBody>
                    <a:bodyPr/>
                    <a:lstStyle/>
                    <a:p>
                      <a:pPr>
                        <a:buNone/>
                      </a:pPr>
                      <a:r>
                        <a:rPr lang="en-US" sz="1400">
                          <a:effectLst/>
                        </a:rPr>
                        <a:t>What’s the dataset size? Algorithm requirements?</a:t>
                      </a:r>
                    </a:p>
                  </a:txBody>
                  <a:tcPr>
                    <a:solidFill>
                      <a:schemeClr val="bg1">
                        <a:lumMod val="95000"/>
                      </a:schemeClr>
                    </a:solidFill>
                  </a:tcPr>
                </a:tc>
                <a:extLst>
                  <a:ext uri="{0D108BD9-81ED-4DB2-BD59-A6C34878D82A}">
                    <a16:rowId xmlns:a16="http://schemas.microsoft.com/office/drawing/2014/main" val="3346975066"/>
                  </a:ext>
                </a:extLst>
              </a:tr>
              <a:tr h="0">
                <a:tc>
                  <a:txBody>
                    <a:bodyPr/>
                    <a:lstStyle/>
                    <a:p>
                      <a:pPr>
                        <a:buNone/>
                      </a:pPr>
                      <a:r>
                        <a:rPr lang="en-US" sz="1400" b="0">
                          <a:effectLst/>
                        </a:rPr>
                        <a:t>Time</a:t>
                      </a:r>
                    </a:p>
                  </a:txBody>
                  <a:tcPr>
                    <a:solidFill>
                      <a:schemeClr val="bg1">
                        <a:lumMod val="95000"/>
                      </a:schemeClr>
                    </a:solidFill>
                  </a:tcPr>
                </a:tc>
                <a:tc>
                  <a:txBody>
                    <a:bodyPr/>
                    <a:lstStyle/>
                    <a:p>
                      <a:pPr>
                        <a:buNone/>
                      </a:pPr>
                      <a:r>
                        <a:rPr lang="en-US" sz="1400">
                          <a:effectLst/>
                        </a:rPr>
                        <a:t>How long for a test case? How does it scale?</a:t>
                      </a:r>
                    </a:p>
                  </a:txBody>
                  <a:tcPr>
                    <a:solidFill>
                      <a:schemeClr val="bg1">
                        <a:lumMod val="95000"/>
                      </a:schemeClr>
                    </a:solidFill>
                  </a:tcPr>
                </a:tc>
                <a:extLst>
                  <a:ext uri="{0D108BD9-81ED-4DB2-BD59-A6C34878D82A}">
                    <a16:rowId xmlns:a16="http://schemas.microsoft.com/office/drawing/2014/main" val="2882280218"/>
                  </a:ext>
                </a:extLst>
              </a:tr>
              <a:tr h="0">
                <a:tc>
                  <a:txBody>
                    <a:bodyPr/>
                    <a:lstStyle/>
                    <a:p>
                      <a:pPr>
                        <a:buNone/>
                      </a:pPr>
                      <a:r>
                        <a:rPr lang="en-US" sz="1400" b="0" dirty="0">
                          <a:effectLst/>
                        </a:rPr>
                        <a:t>Storage</a:t>
                      </a:r>
                    </a:p>
                  </a:txBody>
                  <a:tcPr>
                    <a:solidFill>
                      <a:schemeClr val="bg1">
                        <a:lumMod val="95000"/>
                      </a:schemeClr>
                    </a:solidFill>
                  </a:tcPr>
                </a:tc>
                <a:tc>
                  <a:txBody>
                    <a:bodyPr/>
                    <a:lstStyle/>
                    <a:p>
                      <a:pPr>
                        <a:buNone/>
                      </a:pPr>
                      <a:r>
                        <a:rPr lang="en-US" sz="1400" dirty="0">
                          <a:effectLst/>
                        </a:rPr>
                        <a:t>Input/output file sizes? Temporary files?</a:t>
                      </a:r>
                    </a:p>
                  </a:txBody>
                  <a:tcPr>
                    <a:solidFill>
                      <a:schemeClr val="bg1">
                        <a:lumMod val="95000"/>
                      </a:schemeClr>
                    </a:solidFill>
                  </a:tcPr>
                </a:tc>
                <a:extLst>
                  <a:ext uri="{0D108BD9-81ED-4DB2-BD59-A6C34878D82A}">
                    <a16:rowId xmlns:a16="http://schemas.microsoft.com/office/drawing/2014/main" val="1867021307"/>
                  </a:ext>
                </a:extLst>
              </a:tr>
            </a:tbl>
          </a:graphicData>
        </a:graphic>
      </p:graphicFrame>
    </p:spTree>
    <p:extLst>
      <p:ext uri="{BB962C8B-B14F-4D97-AF65-F5344CB8AC3E}">
        <p14:creationId xmlns:p14="http://schemas.microsoft.com/office/powerpoint/2010/main" val="175241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3CE62-809F-FA44-BBBD-8BE96C9F7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AB7D8-D89F-0826-4735-E30D67C4F10D}"/>
              </a:ext>
            </a:extLst>
          </p:cNvPr>
          <p:cNvSpPr>
            <a:spLocks noGrp="1"/>
          </p:cNvSpPr>
          <p:nvPr>
            <p:ph type="title"/>
          </p:nvPr>
        </p:nvSpPr>
        <p:spPr/>
        <p:txBody>
          <a:bodyPr>
            <a:normAutofit/>
          </a:bodyPr>
          <a:lstStyle/>
          <a:p>
            <a:r>
              <a:rPr lang="en-US" sz="4000" dirty="0">
                <a:latin typeface="Helvetica" pitchFamily="2" charset="0"/>
              </a:rPr>
              <a:t>Actual vs Requested Resources</a:t>
            </a:r>
          </a:p>
        </p:txBody>
      </p:sp>
      <p:pic>
        <p:nvPicPr>
          <p:cNvPr id="1031" name="Picture 7">
            <a:extLst>
              <a:ext uri="{FF2B5EF4-FFF2-40B4-BE49-F238E27FC236}">
                <a16:creationId xmlns:a16="http://schemas.microsoft.com/office/drawing/2014/main" id="{518CF74D-5389-8C8C-D91A-AA13336FD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666C3FD-8AA3-19B5-C923-E9C47EE17714}"/>
              </a:ext>
            </a:extLst>
          </p:cNvPr>
          <p:cNvPicPr>
            <a:picLocks noChangeAspect="1"/>
          </p:cNvPicPr>
          <p:nvPr/>
        </p:nvPicPr>
        <p:blipFill>
          <a:blip r:embed="rId4"/>
          <a:stretch>
            <a:fillRect/>
          </a:stretch>
        </p:blipFill>
        <p:spPr>
          <a:xfrm>
            <a:off x="7284720" y="1407027"/>
            <a:ext cx="4734560" cy="2246537"/>
          </a:xfrm>
          <a:prstGeom prst="rect">
            <a:avLst/>
          </a:prstGeom>
        </p:spPr>
      </p:pic>
      <p:sp>
        <p:nvSpPr>
          <p:cNvPr id="5" name="TextBox 4">
            <a:extLst>
              <a:ext uri="{FF2B5EF4-FFF2-40B4-BE49-F238E27FC236}">
                <a16:creationId xmlns:a16="http://schemas.microsoft.com/office/drawing/2014/main" id="{207A76B5-883F-E36C-7156-7894DABC50C1}"/>
              </a:ext>
            </a:extLst>
          </p:cNvPr>
          <p:cNvSpPr txBox="1"/>
          <p:nvPr/>
        </p:nvSpPr>
        <p:spPr>
          <a:xfrm>
            <a:off x="711200" y="1541582"/>
            <a:ext cx="5258940" cy="369332"/>
          </a:xfrm>
          <a:prstGeom prst="rect">
            <a:avLst/>
          </a:prstGeom>
          <a:noFill/>
        </p:spPr>
        <p:txBody>
          <a:bodyPr wrap="none" rtlCol="0">
            <a:spAutoFit/>
          </a:bodyPr>
          <a:lstStyle/>
          <a:p>
            <a:r>
              <a:rPr lang="en-US" dirty="0"/>
              <a:t>LSF outputs some job performance data to the SDOUT:</a:t>
            </a:r>
          </a:p>
        </p:txBody>
      </p:sp>
      <p:sp>
        <p:nvSpPr>
          <p:cNvPr id="7" name="TextBox 6">
            <a:extLst>
              <a:ext uri="{FF2B5EF4-FFF2-40B4-BE49-F238E27FC236}">
                <a16:creationId xmlns:a16="http://schemas.microsoft.com/office/drawing/2014/main" id="{9D514A85-0FFB-E21A-DBF5-A7114A8C3C6D}"/>
              </a:ext>
            </a:extLst>
          </p:cNvPr>
          <p:cNvSpPr txBox="1"/>
          <p:nvPr/>
        </p:nvSpPr>
        <p:spPr>
          <a:xfrm>
            <a:off x="711200" y="2019380"/>
            <a:ext cx="6177280" cy="2308324"/>
          </a:xfrm>
          <a:prstGeom prst="rect">
            <a:avLst/>
          </a:prstGeom>
          <a:noFill/>
        </p:spPr>
        <p:txBody>
          <a:bodyPr wrap="square">
            <a:spAutoFit/>
          </a:bodyPr>
          <a:lstStyle/>
          <a:p>
            <a:r>
              <a:rPr lang="en-US" b="1" dirty="0">
                <a:effectLst/>
              </a:rPr>
              <a:t>Memory Utilization</a:t>
            </a:r>
          </a:p>
          <a:p>
            <a:pPr marL="285750" indent="-285750">
              <a:buFont typeface="Arial" panose="020B0604020202020204" pitchFamily="34" charset="0"/>
              <a:buChar char="•"/>
            </a:pPr>
            <a:r>
              <a:rPr lang="en-US" b="1" dirty="0">
                <a:effectLst/>
              </a:rPr>
              <a:t>Max Memory (1 GB):</a:t>
            </a:r>
            <a:r>
              <a:rPr lang="en-US" dirty="0">
                <a:effectLst/>
              </a:rPr>
              <a:t> The peak amount of physical RAM (resident set size) your job used at any single point during its execution.</a:t>
            </a:r>
          </a:p>
          <a:p>
            <a:pPr marL="285750" indent="-285750">
              <a:buFont typeface="Arial" panose="020B0604020202020204" pitchFamily="34" charset="0"/>
              <a:buChar char="•"/>
            </a:pPr>
            <a:r>
              <a:rPr lang="en-US" b="1" dirty="0">
                <a:effectLst/>
              </a:rPr>
              <a:t>Average Memory (0.80 GB):</a:t>
            </a:r>
            <a:r>
              <a:rPr lang="en-US" dirty="0">
                <a:effectLst/>
              </a:rPr>
              <a:t> The mean memory usage over the entire duration of the job.</a:t>
            </a:r>
          </a:p>
          <a:p>
            <a:pPr marL="285750" indent="-285750">
              <a:buFont typeface="Arial" panose="020B0604020202020204" pitchFamily="34" charset="0"/>
              <a:buChar char="•"/>
            </a:pPr>
            <a:r>
              <a:rPr lang="en-US" b="1" dirty="0">
                <a:effectLst/>
              </a:rPr>
              <a:t>Total Requested Memory (4.00 GB):</a:t>
            </a:r>
            <a:r>
              <a:rPr lang="en-US" dirty="0">
                <a:effectLst/>
              </a:rPr>
              <a:t> The amount of RAM you specifically asked for in your submission script.</a:t>
            </a:r>
          </a:p>
        </p:txBody>
      </p:sp>
      <p:sp>
        <p:nvSpPr>
          <p:cNvPr id="8" name="TextBox 7">
            <a:extLst>
              <a:ext uri="{FF2B5EF4-FFF2-40B4-BE49-F238E27FC236}">
                <a16:creationId xmlns:a16="http://schemas.microsoft.com/office/drawing/2014/main" id="{FA85EDFF-5530-1790-1A89-D3F327E1D5A2}"/>
              </a:ext>
            </a:extLst>
          </p:cNvPr>
          <p:cNvSpPr txBox="1"/>
          <p:nvPr/>
        </p:nvSpPr>
        <p:spPr>
          <a:xfrm>
            <a:off x="711200" y="4327704"/>
            <a:ext cx="10642600"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effectLst/>
              </a:rPr>
              <a:t>Delta Memory (3.00 GB):</a:t>
            </a:r>
            <a:r>
              <a:rPr lang="en-US" dirty="0">
                <a:effectLst/>
              </a:rPr>
              <a:t> The difference between what you </a:t>
            </a:r>
            <a:r>
              <a:rPr lang="en-US" b="1" dirty="0">
                <a:effectLst/>
              </a:rPr>
              <a:t>requested</a:t>
            </a:r>
            <a:r>
              <a:rPr lang="en-US" dirty="0">
                <a:effectLst/>
              </a:rPr>
              <a:t> and what you actually </a:t>
            </a:r>
            <a:r>
              <a:rPr lang="en-US" b="1" dirty="0">
                <a:effectLst/>
              </a:rPr>
              <a:t>used</a:t>
            </a:r>
            <a:r>
              <a:rPr lang="en-US" dirty="0">
                <a:effectLst/>
              </a:rPr>
              <a:t> ($4.00 - 1.00 = 3.00$).</a:t>
            </a:r>
          </a:p>
          <a:p>
            <a:pPr marL="285750" indent="-285750">
              <a:buFont typeface="Arial" panose="020B0604020202020204" pitchFamily="34" charset="0"/>
              <a:buChar char="•"/>
            </a:pPr>
            <a:r>
              <a:rPr lang="en-US" b="1" dirty="0">
                <a:effectLst/>
              </a:rPr>
              <a:t>Max Swap (-):</a:t>
            </a:r>
            <a:r>
              <a:rPr lang="en-US" dirty="0">
                <a:effectLst/>
              </a:rPr>
              <a:t> The maximum amount of swap space (disk-based virtual memory) used. A dash usually means zero swap was used, which is good for performance.</a:t>
            </a:r>
          </a:p>
        </p:txBody>
      </p:sp>
    </p:spTree>
    <p:extLst>
      <p:ext uri="{BB962C8B-B14F-4D97-AF65-F5344CB8AC3E}">
        <p14:creationId xmlns:p14="http://schemas.microsoft.com/office/powerpoint/2010/main" val="1092046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55122-ED7E-C637-B37F-F8A556D44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9478D-7FC5-3C49-CB70-D89B6DE5137A}"/>
              </a:ext>
            </a:extLst>
          </p:cNvPr>
          <p:cNvSpPr>
            <a:spLocks noGrp="1"/>
          </p:cNvSpPr>
          <p:nvPr>
            <p:ph type="title"/>
          </p:nvPr>
        </p:nvSpPr>
        <p:spPr/>
        <p:txBody>
          <a:bodyPr>
            <a:normAutofit/>
          </a:bodyPr>
          <a:lstStyle/>
          <a:p>
            <a:r>
              <a:rPr lang="en-US" sz="4000" dirty="0">
                <a:latin typeface="Helvetica" pitchFamily="2" charset="0"/>
              </a:rPr>
              <a:t>Actual vs Requested Resources</a:t>
            </a:r>
          </a:p>
        </p:txBody>
      </p:sp>
      <p:pic>
        <p:nvPicPr>
          <p:cNvPr id="1031" name="Picture 7">
            <a:extLst>
              <a:ext uri="{FF2B5EF4-FFF2-40B4-BE49-F238E27FC236}">
                <a16:creationId xmlns:a16="http://schemas.microsoft.com/office/drawing/2014/main" id="{66683EDC-2D63-51EE-7CD1-1B8C75BF0D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03EE789-01E6-2298-BDC1-7C1C2C1E92FE}"/>
              </a:ext>
            </a:extLst>
          </p:cNvPr>
          <p:cNvPicPr>
            <a:picLocks noChangeAspect="1"/>
          </p:cNvPicPr>
          <p:nvPr/>
        </p:nvPicPr>
        <p:blipFill>
          <a:blip r:embed="rId4"/>
          <a:stretch>
            <a:fillRect/>
          </a:stretch>
        </p:blipFill>
        <p:spPr>
          <a:xfrm>
            <a:off x="7284720" y="1407027"/>
            <a:ext cx="4734560" cy="2246537"/>
          </a:xfrm>
          <a:prstGeom prst="rect">
            <a:avLst/>
          </a:prstGeom>
        </p:spPr>
      </p:pic>
      <p:sp>
        <p:nvSpPr>
          <p:cNvPr id="5" name="TextBox 4">
            <a:extLst>
              <a:ext uri="{FF2B5EF4-FFF2-40B4-BE49-F238E27FC236}">
                <a16:creationId xmlns:a16="http://schemas.microsoft.com/office/drawing/2014/main" id="{32213BEC-BE03-8F19-4F3B-ADF1E40D82B8}"/>
              </a:ext>
            </a:extLst>
          </p:cNvPr>
          <p:cNvSpPr txBox="1"/>
          <p:nvPr/>
        </p:nvSpPr>
        <p:spPr>
          <a:xfrm>
            <a:off x="711200" y="1541582"/>
            <a:ext cx="5258940" cy="369332"/>
          </a:xfrm>
          <a:prstGeom prst="rect">
            <a:avLst/>
          </a:prstGeom>
          <a:noFill/>
        </p:spPr>
        <p:txBody>
          <a:bodyPr wrap="none" rtlCol="0">
            <a:spAutoFit/>
          </a:bodyPr>
          <a:lstStyle/>
          <a:p>
            <a:r>
              <a:rPr lang="en-US" dirty="0"/>
              <a:t>LSF outputs some job performance data to the SDOUT:</a:t>
            </a:r>
          </a:p>
        </p:txBody>
      </p:sp>
      <p:sp>
        <p:nvSpPr>
          <p:cNvPr id="7" name="TextBox 6">
            <a:extLst>
              <a:ext uri="{FF2B5EF4-FFF2-40B4-BE49-F238E27FC236}">
                <a16:creationId xmlns:a16="http://schemas.microsoft.com/office/drawing/2014/main" id="{800889F9-A7C9-FEA3-7448-18D98FA80E1E}"/>
              </a:ext>
            </a:extLst>
          </p:cNvPr>
          <p:cNvSpPr txBox="1"/>
          <p:nvPr/>
        </p:nvSpPr>
        <p:spPr>
          <a:xfrm>
            <a:off x="711200" y="2019380"/>
            <a:ext cx="6177280" cy="2308324"/>
          </a:xfrm>
          <a:prstGeom prst="rect">
            <a:avLst/>
          </a:prstGeom>
          <a:noFill/>
        </p:spPr>
        <p:txBody>
          <a:bodyPr wrap="square">
            <a:spAutoFit/>
          </a:bodyPr>
          <a:lstStyle/>
          <a:p>
            <a:pPr>
              <a:buNone/>
            </a:pPr>
            <a:r>
              <a:rPr lang="en-US" b="1" dirty="0">
                <a:effectLst/>
              </a:rPr>
              <a:t>Processing &amp; Parallelism</a:t>
            </a:r>
          </a:p>
          <a:p>
            <a:pPr marL="285750" indent="-285750">
              <a:buFont typeface="Arial" panose="020B0604020202020204" pitchFamily="34" charset="0"/>
              <a:buChar char="•"/>
            </a:pPr>
            <a:r>
              <a:rPr lang="en-US" b="1" dirty="0">
                <a:effectLst/>
              </a:rPr>
              <a:t>CPU time (173.09 sec):</a:t>
            </a:r>
            <a:r>
              <a:rPr lang="en-US" dirty="0">
                <a:effectLst/>
              </a:rPr>
              <a:t> The total time spent by all CPU cores executing your job's instructions.</a:t>
            </a:r>
          </a:p>
          <a:p>
            <a:pPr marL="285750" indent="-285750">
              <a:buFont typeface="Arial" panose="020B0604020202020204" pitchFamily="34" charset="0"/>
              <a:buChar char="•"/>
            </a:pPr>
            <a:r>
              <a:rPr lang="en-US" b="1" dirty="0">
                <a:effectLst/>
              </a:rPr>
              <a:t>Max Processes (6):</a:t>
            </a:r>
            <a:r>
              <a:rPr lang="en-US" dirty="0">
                <a:effectLst/>
              </a:rPr>
              <a:t> The peak number of simultaneous processes created by your job.</a:t>
            </a:r>
          </a:p>
          <a:p>
            <a:pPr marL="285750" indent="-285750">
              <a:buFont typeface="Arial" panose="020B0604020202020204" pitchFamily="34" charset="0"/>
              <a:buChar char="•"/>
            </a:pPr>
            <a:r>
              <a:rPr lang="en-US" b="1" dirty="0">
                <a:effectLst/>
              </a:rPr>
              <a:t>Max Threads (41):</a:t>
            </a:r>
            <a:r>
              <a:rPr lang="en-US" dirty="0">
                <a:effectLst/>
              </a:rPr>
              <a:t> The peak number of simultaneous threads running within those processes.</a:t>
            </a:r>
          </a:p>
          <a:p>
            <a:endParaRPr lang="en-US" dirty="0">
              <a:effectLst/>
            </a:endParaRPr>
          </a:p>
        </p:txBody>
      </p:sp>
      <p:sp>
        <p:nvSpPr>
          <p:cNvPr id="4" name="TextBox 3">
            <a:extLst>
              <a:ext uri="{FF2B5EF4-FFF2-40B4-BE49-F238E27FC236}">
                <a16:creationId xmlns:a16="http://schemas.microsoft.com/office/drawing/2014/main" id="{4E80014B-8B97-77BB-203F-51F758C94DD5}"/>
              </a:ext>
            </a:extLst>
          </p:cNvPr>
          <p:cNvSpPr txBox="1"/>
          <p:nvPr/>
        </p:nvSpPr>
        <p:spPr>
          <a:xfrm>
            <a:off x="711200" y="4175760"/>
            <a:ext cx="10769600" cy="2862322"/>
          </a:xfrm>
          <a:prstGeom prst="rect">
            <a:avLst/>
          </a:prstGeom>
          <a:noFill/>
        </p:spPr>
        <p:txBody>
          <a:bodyPr wrap="square" rtlCol="0">
            <a:spAutoFit/>
          </a:bodyPr>
          <a:lstStyle/>
          <a:p>
            <a:r>
              <a:rPr lang="en-US" b="1" dirty="0">
                <a:effectLst/>
              </a:rPr>
              <a:t>Time Metrics</a:t>
            </a:r>
          </a:p>
          <a:p>
            <a:pPr marL="285750" indent="-285750">
              <a:buFont typeface="Arial" panose="020B0604020202020204" pitchFamily="34" charset="0"/>
              <a:buChar char="•"/>
            </a:pPr>
            <a:r>
              <a:rPr lang="en-US" b="1" dirty="0">
                <a:effectLst/>
              </a:rPr>
              <a:t>Run time (103 sec):</a:t>
            </a:r>
            <a:r>
              <a:rPr lang="en-US" dirty="0">
                <a:effectLst/>
              </a:rPr>
              <a:t> The "wall clock" time. This is the actual time that passed from the moment the job started until it finished.</a:t>
            </a:r>
          </a:p>
          <a:p>
            <a:pPr marL="742950" lvl="1" indent="-285750">
              <a:buFont typeface="Arial" panose="020B0604020202020204" pitchFamily="34" charset="0"/>
              <a:buChar char="•"/>
            </a:pPr>
            <a:r>
              <a:rPr lang="en-US" i="1" dirty="0">
                <a:effectLst/>
              </a:rPr>
              <a:t>Note:</a:t>
            </a:r>
            <a:r>
              <a:rPr lang="en-US" dirty="0">
                <a:effectLst/>
              </a:rPr>
              <a:t> Since your </a:t>
            </a:r>
            <a:r>
              <a:rPr lang="en-US" b="1" dirty="0">
                <a:effectLst/>
              </a:rPr>
              <a:t>CPU time</a:t>
            </a:r>
            <a:r>
              <a:rPr lang="en-US" dirty="0">
                <a:effectLst/>
              </a:rPr>
              <a:t> (173s) is higher than your </a:t>
            </a:r>
            <a:r>
              <a:rPr lang="en-US" b="1" dirty="0">
                <a:effectLst/>
              </a:rPr>
              <a:t>Run time</a:t>
            </a:r>
            <a:r>
              <a:rPr lang="en-US" dirty="0">
                <a:effectLst/>
              </a:rPr>
              <a:t> (103s), it confirms your job was multi-threaded or multi-process, utilizing more than one core's worth of processing power.</a:t>
            </a:r>
          </a:p>
          <a:p>
            <a:pPr marL="285750" indent="-285750">
              <a:buFont typeface="Arial" panose="020B0604020202020204" pitchFamily="34" charset="0"/>
              <a:buChar char="•"/>
            </a:pPr>
            <a:r>
              <a:rPr lang="en-US" b="1" dirty="0">
                <a:effectLst/>
              </a:rPr>
              <a:t>Turnaround time (94 sec):</a:t>
            </a:r>
            <a:r>
              <a:rPr lang="en-US" dirty="0">
                <a:effectLst/>
              </a:rPr>
              <a:t> This usually represents the time from when the job was dispatched to when it finished.</a:t>
            </a:r>
          </a:p>
          <a:p>
            <a:pPr marL="742950" lvl="1" indent="-285750">
              <a:buFont typeface="Arial" panose="020B0604020202020204" pitchFamily="34" charset="0"/>
              <a:buChar char="•"/>
            </a:pPr>
            <a:r>
              <a:rPr lang="en-US" i="1" dirty="0">
                <a:effectLst/>
              </a:rPr>
              <a:t>Note:</a:t>
            </a:r>
            <a:r>
              <a:rPr lang="en-US" dirty="0">
                <a:effectLst/>
              </a:rPr>
              <a:t> In some LSF configurations, if Turnaround is shorter than Run time, it may indicate how LSF tracks the cleanup phase or specific reporting intervals, but generally, these two will be very close.</a:t>
            </a:r>
          </a:p>
          <a:p>
            <a:endParaRPr lang="en-US" dirty="0"/>
          </a:p>
        </p:txBody>
      </p:sp>
    </p:spTree>
    <p:extLst>
      <p:ext uri="{BB962C8B-B14F-4D97-AF65-F5344CB8AC3E}">
        <p14:creationId xmlns:p14="http://schemas.microsoft.com/office/powerpoint/2010/main" val="3313772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79DEC-2A7E-2D6D-4C41-F762AF9CF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34397-7FF9-87C3-3BC3-E64712AEC02D}"/>
              </a:ext>
            </a:extLst>
          </p:cNvPr>
          <p:cNvSpPr>
            <a:spLocks noGrp="1"/>
          </p:cNvSpPr>
          <p:nvPr>
            <p:ph type="title"/>
          </p:nvPr>
        </p:nvSpPr>
        <p:spPr/>
        <p:txBody>
          <a:bodyPr>
            <a:normAutofit/>
          </a:bodyPr>
          <a:lstStyle/>
          <a:p>
            <a:r>
              <a:rPr lang="en-US" sz="4000" dirty="0">
                <a:latin typeface="Helvetica" pitchFamily="2" charset="0"/>
              </a:rPr>
              <a:t>Actual vs Requested Resources</a:t>
            </a:r>
          </a:p>
        </p:txBody>
      </p:sp>
      <p:pic>
        <p:nvPicPr>
          <p:cNvPr id="1031" name="Picture 7">
            <a:extLst>
              <a:ext uri="{FF2B5EF4-FFF2-40B4-BE49-F238E27FC236}">
                <a16:creationId xmlns:a16="http://schemas.microsoft.com/office/drawing/2014/main" id="{3CE5EA67-34BF-CBC0-F7E7-19B3A34C3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0B8032C-F4B3-9308-C166-3440F3690FDC}"/>
              </a:ext>
            </a:extLst>
          </p:cNvPr>
          <p:cNvPicPr>
            <a:picLocks noChangeAspect="1"/>
          </p:cNvPicPr>
          <p:nvPr/>
        </p:nvPicPr>
        <p:blipFill>
          <a:blip r:embed="rId4"/>
          <a:stretch>
            <a:fillRect/>
          </a:stretch>
        </p:blipFill>
        <p:spPr>
          <a:xfrm>
            <a:off x="7284720" y="1407027"/>
            <a:ext cx="4734560" cy="2246537"/>
          </a:xfrm>
          <a:prstGeom prst="rect">
            <a:avLst/>
          </a:prstGeom>
        </p:spPr>
      </p:pic>
      <p:sp>
        <p:nvSpPr>
          <p:cNvPr id="5" name="TextBox 4">
            <a:extLst>
              <a:ext uri="{FF2B5EF4-FFF2-40B4-BE49-F238E27FC236}">
                <a16:creationId xmlns:a16="http://schemas.microsoft.com/office/drawing/2014/main" id="{321DBC50-C41D-CC15-2620-6C9475275B38}"/>
              </a:ext>
            </a:extLst>
          </p:cNvPr>
          <p:cNvSpPr txBox="1"/>
          <p:nvPr/>
        </p:nvSpPr>
        <p:spPr>
          <a:xfrm>
            <a:off x="711200" y="1541582"/>
            <a:ext cx="5258940" cy="369332"/>
          </a:xfrm>
          <a:prstGeom prst="rect">
            <a:avLst/>
          </a:prstGeom>
          <a:noFill/>
        </p:spPr>
        <p:txBody>
          <a:bodyPr wrap="none" rtlCol="0">
            <a:spAutoFit/>
          </a:bodyPr>
          <a:lstStyle/>
          <a:p>
            <a:r>
              <a:rPr lang="en-US" dirty="0"/>
              <a:t>LSF outputs some job performance data to the SDOUT:</a:t>
            </a:r>
          </a:p>
        </p:txBody>
      </p:sp>
      <p:graphicFrame>
        <p:nvGraphicFramePr>
          <p:cNvPr id="6" name="Table 5">
            <a:extLst>
              <a:ext uri="{FF2B5EF4-FFF2-40B4-BE49-F238E27FC236}">
                <a16:creationId xmlns:a16="http://schemas.microsoft.com/office/drawing/2014/main" id="{50CBBA08-FB84-935D-EE79-587AA086AE4C}"/>
              </a:ext>
            </a:extLst>
          </p:cNvPr>
          <p:cNvGraphicFramePr>
            <a:graphicFrameLocks noGrp="1"/>
          </p:cNvGraphicFramePr>
          <p:nvPr>
            <p:extLst>
              <p:ext uri="{D42A27DB-BD31-4B8C-83A1-F6EECF244321}">
                <p14:modId xmlns:p14="http://schemas.microsoft.com/office/powerpoint/2010/main" val="1774738301"/>
              </p:ext>
            </p:extLst>
          </p:nvPr>
        </p:nvGraphicFramePr>
        <p:xfrm>
          <a:off x="711200" y="2530295"/>
          <a:ext cx="6202680" cy="2286000"/>
        </p:xfrm>
        <a:graphic>
          <a:graphicData uri="http://schemas.openxmlformats.org/drawingml/2006/table">
            <a:tbl>
              <a:tblPr/>
              <a:tblGrid>
                <a:gridCol w="1524000">
                  <a:extLst>
                    <a:ext uri="{9D8B030D-6E8A-4147-A177-3AD203B41FA5}">
                      <a16:colId xmlns:a16="http://schemas.microsoft.com/office/drawing/2014/main" val="2075750747"/>
                    </a:ext>
                  </a:extLst>
                </a:gridCol>
                <a:gridCol w="1188720">
                  <a:extLst>
                    <a:ext uri="{9D8B030D-6E8A-4147-A177-3AD203B41FA5}">
                      <a16:colId xmlns:a16="http://schemas.microsoft.com/office/drawing/2014/main" val="122683317"/>
                    </a:ext>
                  </a:extLst>
                </a:gridCol>
                <a:gridCol w="3489960">
                  <a:extLst>
                    <a:ext uri="{9D8B030D-6E8A-4147-A177-3AD203B41FA5}">
                      <a16:colId xmlns:a16="http://schemas.microsoft.com/office/drawing/2014/main" val="2396947284"/>
                    </a:ext>
                  </a:extLst>
                </a:gridCol>
              </a:tblGrid>
              <a:tr h="0">
                <a:tc>
                  <a:txBody>
                    <a:bodyPr/>
                    <a:lstStyle/>
                    <a:p>
                      <a:pPr>
                        <a:buNone/>
                      </a:pPr>
                      <a:r>
                        <a:rPr lang="en-US" b="1">
                          <a:effectLst/>
                          <a:latin typeface="Google Sans Text"/>
                        </a:rPr>
                        <a:t>Metric</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US" b="1">
                          <a:effectLst/>
                          <a:latin typeface="Google Sans Text"/>
                        </a:rPr>
                        <a:t>Verdict</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US" b="1" dirty="0">
                          <a:effectLst/>
                          <a:latin typeface="Google Sans Text"/>
                        </a:rPr>
                        <a:t>Takeaway</a:t>
                      </a:r>
                      <a:endParaRPr lang="en-US" dirty="0">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52076951"/>
                  </a:ext>
                </a:extLst>
              </a:tr>
              <a:tr h="0">
                <a:tc>
                  <a:txBody>
                    <a:bodyPr/>
                    <a:lstStyle/>
                    <a:p>
                      <a:pPr>
                        <a:buNone/>
                      </a:pPr>
                      <a:r>
                        <a:rPr lang="en-US" b="0">
                          <a:effectLst/>
                          <a:latin typeface="Google Sans Text"/>
                        </a:rPr>
                        <a:t>Efficiency</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dirty="0">
                          <a:solidFill>
                            <a:srgbClr val="FF0000"/>
                          </a:solidFill>
                          <a:effectLst/>
                          <a:latin typeface="Google Sans Text"/>
                        </a:rPr>
                        <a:t>Low</a:t>
                      </a:r>
                      <a:endParaRPr lang="en-US" dirty="0">
                        <a:solidFill>
                          <a:srgbClr val="FF0000"/>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effectLst/>
                          <a:latin typeface="Google Sans Text"/>
                        </a:rPr>
                        <a:t>You used only 25% of the memory you reserved.</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73677418"/>
                  </a:ext>
                </a:extLst>
              </a:tr>
              <a:tr h="0">
                <a:tc>
                  <a:txBody>
                    <a:bodyPr/>
                    <a:lstStyle/>
                    <a:p>
                      <a:pPr>
                        <a:buNone/>
                      </a:pPr>
                      <a:r>
                        <a:rPr lang="en-US" b="0">
                          <a:effectLst/>
                          <a:latin typeface="Google Sans Text"/>
                        </a:rPr>
                        <a:t>Parallelism</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dirty="0">
                          <a:solidFill>
                            <a:schemeClr val="accent6"/>
                          </a:solidFill>
                          <a:effectLst/>
                          <a:latin typeface="Google Sans Text"/>
                        </a:rPr>
                        <a:t>Active</a:t>
                      </a:r>
                      <a:endParaRPr lang="en-US" dirty="0">
                        <a:solidFill>
                          <a:schemeClr val="accent6"/>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effectLst/>
                          <a:latin typeface="Google Sans Text"/>
                        </a:rPr>
                        <a:t>Your job utilized multiple threads/processes effectively.</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73181997"/>
                  </a:ext>
                </a:extLst>
              </a:tr>
              <a:tr h="0">
                <a:tc>
                  <a:txBody>
                    <a:bodyPr/>
                    <a:lstStyle/>
                    <a:p>
                      <a:pPr>
                        <a:buNone/>
                      </a:pPr>
                      <a:r>
                        <a:rPr lang="en-US" b="0" dirty="0">
                          <a:effectLst/>
                          <a:latin typeface="Google Sans Text"/>
                        </a:rPr>
                        <a:t>Performance</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dirty="0">
                          <a:solidFill>
                            <a:schemeClr val="accent6"/>
                          </a:solidFill>
                          <a:effectLst/>
                          <a:latin typeface="Google Sans Text"/>
                        </a:rPr>
                        <a:t>Healthy</a:t>
                      </a:r>
                      <a:endParaRPr lang="en-US" dirty="0">
                        <a:solidFill>
                          <a:schemeClr val="accent6"/>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effectLst/>
                          <a:latin typeface="Google Sans Text"/>
                        </a:rPr>
                        <a:t>No swap space was used, meaning the job stayed entirely in RAM.</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76073132"/>
                  </a:ext>
                </a:extLst>
              </a:tr>
            </a:tbl>
          </a:graphicData>
        </a:graphic>
      </p:graphicFrame>
      <p:sp>
        <p:nvSpPr>
          <p:cNvPr id="8" name="TextBox 7">
            <a:extLst>
              <a:ext uri="{FF2B5EF4-FFF2-40B4-BE49-F238E27FC236}">
                <a16:creationId xmlns:a16="http://schemas.microsoft.com/office/drawing/2014/main" id="{688D9C8D-D7FA-0E85-F813-4876239582EB}"/>
              </a:ext>
            </a:extLst>
          </p:cNvPr>
          <p:cNvSpPr txBox="1"/>
          <p:nvPr/>
        </p:nvSpPr>
        <p:spPr>
          <a:xfrm>
            <a:off x="2057401" y="5689120"/>
            <a:ext cx="8407399" cy="646331"/>
          </a:xfrm>
          <a:prstGeom prst="rect">
            <a:avLst/>
          </a:prstGeom>
          <a:solidFill>
            <a:schemeClr val="bg1">
              <a:lumMod val="95000"/>
            </a:schemeClr>
          </a:solidFill>
        </p:spPr>
        <p:txBody>
          <a:bodyPr wrap="square" rtlCol="0">
            <a:spAutoFit/>
          </a:bodyPr>
          <a:lstStyle/>
          <a:p>
            <a:r>
              <a:rPr lang="en-US" i="1" dirty="0"/>
              <a:t>We </a:t>
            </a:r>
            <a:r>
              <a:rPr lang="en-US" dirty="0"/>
              <a:t>over-requested memory by 3 GB. In a shared cluster, reducing your request to 1.5 GB or 2 GB would help your jobs start faster and be more "neighborly" to other users.</a:t>
            </a:r>
          </a:p>
        </p:txBody>
      </p:sp>
    </p:spTree>
    <p:extLst>
      <p:ext uri="{BB962C8B-B14F-4D97-AF65-F5344CB8AC3E}">
        <p14:creationId xmlns:p14="http://schemas.microsoft.com/office/powerpoint/2010/main" val="615836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A9F10A-D308-A630-8879-180A7D4E34B7}"/>
              </a:ext>
            </a:extLst>
          </p:cNvPr>
          <p:cNvPicPr>
            <a:picLocks noChangeAspect="1"/>
          </p:cNvPicPr>
          <p:nvPr/>
        </p:nvPicPr>
        <p:blipFill>
          <a:blip r:embed="rId2"/>
          <a:stretch>
            <a:fillRect/>
          </a:stretch>
        </p:blipFill>
        <p:spPr>
          <a:xfrm>
            <a:off x="5080000" y="4268283"/>
            <a:ext cx="6827520" cy="2432607"/>
          </a:xfrm>
          <a:prstGeom prst="rect">
            <a:avLst/>
          </a:prstGeom>
        </p:spPr>
      </p:pic>
      <p:sp>
        <p:nvSpPr>
          <p:cNvPr id="6" name="TextBox 5">
            <a:extLst>
              <a:ext uri="{FF2B5EF4-FFF2-40B4-BE49-F238E27FC236}">
                <a16:creationId xmlns:a16="http://schemas.microsoft.com/office/drawing/2014/main" id="{07DE6C1D-7466-C266-83F3-7C483D86F8C4}"/>
              </a:ext>
            </a:extLst>
          </p:cNvPr>
          <p:cNvSpPr txBox="1"/>
          <p:nvPr/>
        </p:nvSpPr>
        <p:spPr>
          <a:xfrm>
            <a:off x="1097280" y="2019969"/>
            <a:ext cx="6096000" cy="2031325"/>
          </a:xfrm>
          <a:prstGeom prst="rect">
            <a:avLst/>
          </a:prstGeom>
          <a:solidFill>
            <a:schemeClr val="bg1">
              <a:lumMod val="95000"/>
            </a:schemeClr>
          </a:solidFill>
        </p:spPr>
        <p:txBody>
          <a:bodyPr wrap="square">
            <a:spAutoFit/>
          </a:bodyPr>
          <a:lstStyle/>
          <a:p>
            <a:r>
              <a:rPr lang="en-US" b="0" i="0" dirty="0">
                <a:solidFill>
                  <a:srgbClr val="5E5E5E"/>
                </a:solidFill>
                <a:effectLst/>
                <a:latin typeface="SFMono-Regular"/>
              </a:rPr>
              <a:t># Submit a test job</a:t>
            </a:r>
            <a:r>
              <a:rPr lang="en-US" b="0" i="0" dirty="0">
                <a:solidFill>
                  <a:srgbClr val="003B4F"/>
                </a:solidFill>
                <a:effectLst/>
                <a:latin typeface="SFMono-Regular"/>
              </a:rPr>
              <a:t> </a:t>
            </a:r>
          </a:p>
          <a:p>
            <a:r>
              <a:rPr lang="en-US" b="0" i="0" dirty="0" err="1">
                <a:solidFill>
                  <a:srgbClr val="003B4F"/>
                </a:solidFill>
                <a:effectLst/>
                <a:latin typeface="SFMono-Regular"/>
              </a:rPr>
              <a:t>bsub</a:t>
            </a:r>
            <a:r>
              <a:rPr lang="en-US" b="0" i="0" dirty="0">
                <a:solidFill>
                  <a:srgbClr val="003B4F"/>
                </a:solidFill>
                <a:effectLst/>
                <a:latin typeface="SFMono-Regular"/>
              </a:rPr>
              <a:t> &lt; </a:t>
            </a:r>
            <a:r>
              <a:rPr lang="en-US" b="0" i="0" dirty="0" err="1">
                <a:solidFill>
                  <a:srgbClr val="003B4F"/>
                </a:solidFill>
                <a:effectLst/>
                <a:latin typeface="SFMono-Regular"/>
              </a:rPr>
              <a:t>test_program.lsf</a:t>
            </a:r>
            <a:r>
              <a:rPr lang="en-US" b="0" i="0" dirty="0">
                <a:solidFill>
                  <a:srgbClr val="003B4F"/>
                </a:solidFill>
                <a:effectLst/>
                <a:latin typeface="SFMono-Regular"/>
              </a:rPr>
              <a:t> </a:t>
            </a:r>
          </a:p>
          <a:p>
            <a:r>
              <a:rPr lang="en-US" b="0" i="0" dirty="0">
                <a:solidFill>
                  <a:srgbClr val="5E5E5E"/>
                </a:solidFill>
                <a:effectLst/>
                <a:latin typeface="SFMono-Regular"/>
              </a:rPr>
              <a:t># Get job ID and monitor</a:t>
            </a:r>
            <a:r>
              <a:rPr lang="en-US" b="0" i="0" dirty="0">
                <a:solidFill>
                  <a:srgbClr val="003B4F"/>
                </a:solidFill>
                <a:effectLst/>
                <a:latin typeface="SFMono-Regular"/>
              </a:rPr>
              <a:t> </a:t>
            </a:r>
          </a:p>
          <a:p>
            <a:r>
              <a:rPr lang="en-US" b="0" i="0" dirty="0" err="1">
                <a:solidFill>
                  <a:srgbClr val="003B4F"/>
                </a:solidFill>
                <a:effectLst/>
                <a:latin typeface="SFMono-Regular"/>
              </a:rPr>
              <a:t>bjobs</a:t>
            </a:r>
            <a:r>
              <a:rPr lang="en-US" b="0" i="0" dirty="0">
                <a:solidFill>
                  <a:srgbClr val="003B4F"/>
                </a:solidFill>
                <a:effectLst/>
                <a:latin typeface="SFMono-Regular"/>
              </a:rPr>
              <a:t> </a:t>
            </a:r>
          </a:p>
          <a:p>
            <a:r>
              <a:rPr lang="en-US" b="0" i="0" dirty="0">
                <a:solidFill>
                  <a:srgbClr val="5E5E5E"/>
                </a:solidFill>
                <a:effectLst/>
                <a:latin typeface="SFMono-Regular"/>
              </a:rPr>
              <a:t># After completion, check performance</a:t>
            </a:r>
            <a:r>
              <a:rPr lang="en-US" b="0" i="0" dirty="0">
                <a:solidFill>
                  <a:srgbClr val="003B4F"/>
                </a:solidFill>
                <a:effectLst/>
                <a:latin typeface="SFMono-Regular"/>
              </a:rPr>
              <a:t> </a:t>
            </a:r>
          </a:p>
          <a:p>
            <a:r>
              <a:rPr lang="en-US" b="0" i="0" dirty="0" err="1">
                <a:solidFill>
                  <a:srgbClr val="003B4F"/>
                </a:solidFill>
                <a:effectLst/>
                <a:latin typeface="SFMono-Regular"/>
              </a:rPr>
              <a:t>bjobs</a:t>
            </a:r>
            <a:r>
              <a:rPr lang="en-US" b="0" i="0" dirty="0">
                <a:solidFill>
                  <a:srgbClr val="003B4F"/>
                </a:solidFill>
                <a:effectLst/>
                <a:latin typeface="SFMono-Regular"/>
              </a:rPr>
              <a:t> </a:t>
            </a:r>
            <a:r>
              <a:rPr lang="en-US" b="0" i="0" dirty="0">
                <a:solidFill>
                  <a:srgbClr val="657422"/>
                </a:solidFill>
                <a:effectLst/>
                <a:latin typeface="SFMono-Regular"/>
              </a:rPr>
              <a:t>-l</a:t>
            </a:r>
            <a:r>
              <a:rPr lang="en-US" b="0" i="0" dirty="0">
                <a:solidFill>
                  <a:srgbClr val="003B4F"/>
                </a:solidFill>
                <a:effectLst/>
                <a:latin typeface="SFMono-Regular"/>
              </a:rPr>
              <a:t> JOBID </a:t>
            </a:r>
            <a:r>
              <a:rPr lang="en-US" b="0" i="0" dirty="0">
                <a:solidFill>
                  <a:srgbClr val="5E5E5E"/>
                </a:solidFill>
                <a:effectLst/>
                <a:latin typeface="SFMono-Regular"/>
              </a:rPr>
              <a:t>&gt;</a:t>
            </a:r>
            <a:r>
              <a:rPr lang="en-US" b="0" i="0" dirty="0">
                <a:solidFill>
                  <a:srgbClr val="003B4F"/>
                </a:solidFill>
                <a:effectLst/>
                <a:latin typeface="SFMono-Regular"/>
              </a:rPr>
              <a:t> </a:t>
            </a:r>
            <a:r>
              <a:rPr lang="en-US" b="0" i="0" dirty="0" err="1">
                <a:solidFill>
                  <a:srgbClr val="003B4F"/>
                </a:solidFill>
                <a:effectLst/>
                <a:latin typeface="SFMono-Regular"/>
              </a:rPr>
              <a:t>job_analysis.txt</a:t>
            </a:r>
            <a:r>
              <a:rPr lang="en-US" b="0" i="0" dirty="0">
                <a:solidFill>
                  <a:srgbClr val="003B4F"/>
                </a:solidFill>
                <a:effectLst/>
                <a:latin typeface="SFMono-Regular"/>
              </a:rPr>
              <a:t> </a:t>
            </a:r>
          </a:p>
          <a:p>
            <a:r>
              <a:rPr lang="en-US" b="0" i="0" dirty="0">
                <a:solidFill>
                  <a:srgbClr val="5E5E5E"/>
                </a:solidFill>
                <a:effectLst/>
                <a:latin typeface="SFMono-Regular"/>
              </a:rPr>
              <a:t># Look at the output</a:t>
            </a:r>
            <a:r>
              <a:rPr lang="en-US" b="0" i="0" dirty="0">
                <a:solidFill>
                  <a:srgbClr val="003B4F"/>
                </a:solidFill>
                <a:effectLst/>
                <a:latin typeface="SFMono-Regular"/>
              </a:rPr>
              <a:t> </a:t>
            </a:r>
            <a:r>
              <a:rPr lang="en-US" b="0" i="0" dirty="0">
                <a:solidFill>
                  <a:srgbClr val="4758AB"/>
                </a:solidFill>
                <a:effectLst/>
                <a:latin typeface="SFMono-Regular"/>
              </a:rPr>
              <a:t>less</a:t>
            </a:r>
            <a:r>
              <a:rPr lang="en-US" b="0" i="0" dirty="0">
                <a:solidFill>
                  <a:srgbClr val="003B4F"/>
                </a:solidFill>
                <a:effectLst/>
                <a:latin typeface="SFMono-Regular"/>
              </a:rPr>
              <a:t> </a:t>
            </a:r>
            <a:r>
              <a:rPr lang="en-US" b="0" i="0" dirty="0" err="1">
                <a:solidFill>
                  <a:srgbClr val="003B4F"/>
                </a:solidFill>
                <a:effectLst/>
                <a:latin typeface="SFMono-Regular"/>
              </a:rPr>
              <a:t>job_analysis.txt</a:t>
            </a:r>
            <a:endParaRPr lang="en-US" dirty="0"/>
          </a:p>
        </p:txBody>
      </p:sp>
      <p:sp>
        <p:nvSpPr>
          <p:cNvPr id="7" name="Title 1">
            <a:extLst>
              <a:ext uri="{FF2B5EF4-FFF2-40B4-BE49-F238E27FC236}">
                <a16:creationId xmlns:a16="http://schemas.microsoft.com/office/drawing/2014/main" id="{A6235CDC-EE1E-94B5-0325-9BBB7D9272B7}"/>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Analyzing a Job</a:t>
            </a:r>
          </a:p>
        </p:txBody>
      </p:sp>
      <p:pic>
        <p:nvPicPr>
          <p:cNvPr id="8" name="Picture 6" descr="coding Symbol mark in filled style 47628836 Vector Art at Vecteezy">
            <a:extLst>
              <a:ext uri="{FF2B5EF4-FFF2-40B4-BE49-F238E27FC236}">
                <a16:creationId xmlns:a16="http://schemas.microsoft.com/office/drawing/2014/main" id="{2BF86E23-7D18-32E7-C0EE-D15E80F66D1C}"/>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4917440" y="626429"/>
            <a:ext cx="904240" cy="904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687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0D23D-7044-5E39-F2BC-2EDCC1BA9B6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9EDBA9C-4612-2F68-3EDA-295EEE3A5535}"/>
              </a:ext>
            </a:extLst>
          </p:cNvPr>
          <p:cNvSpPr txBox="1">
            <a:spLocks/>
          </p:cNvSpPr>
          <p:nvPr/>
        </p:nvSpPr>
        <p:spPr>
          <a:xfrm>
            <a:off x="1830388" y="2235200"/>
            <a:ext cx="7337363"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5. Login node with GNU parallel</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94C63E0F-440F-C1FC-A668-5E09D10E7C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000"/>
          <a:stretch>
            <a:fillRect/>
          </a:stretch>
        </p:blipFill>
        <p:spPr bwMode="auto">
          <a:xfrm>
            <a:off x="8683898" y="1887582"/>
            <a:ext cx="1861782" cy="172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270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2AD22-9F39-5DBE-F1B3-28B361AC5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7277B-8DFE-60A9-4A47-D1DA8EAB1409}"/>
              </a:ext>
            </a:extLst>
          </p:cNvPr>
          <p:cNvSpPr>
            <a:spLocks noGrp="1"/>
          </p:cNvSpPr>
          <p:nvPr>
            <p:ph type="title"/>
          </p:nvPr>
        </p:nvSpPr>
        <p:spPr/>
        <p:txBody>
          <a:bodyPr>
            <a:normAutofit/>
          </a:bodyPr>
          <a:lstStyle/>
          <a:p>
            <a:r>
              <a:rPr lang="en-US" sz="4000" dirty="0">
                <a:latin typeface="Helvetica" pitchFamily="2" charset="0"/>
              </a:rPr>
              <a:t>The login node issue</a:t>
            </a:r>
          </a:p>
        </p:txBody>
      </p:sp>
      <p:sp>
        <p:nvSpPr>
          <p:cNvPr id="3" name="TextBox 2">
            <a:extLst>
              <a:ext uri="{FF2B5EF4-FFF2-40B4-BE49-F238E27FC236}">
                <a16:creationId xmlns:a16="http://schemas.microsoft.com/office/drawing/2014/main" id="{855F6620-D7C5-1E40-7371-D21A313A9069}"/>
              </a:ext>
            </a:extLst>
          </p:cNvPr>
          <p:cNvSpPr txBox="1"/>
          <p:nvPr/>
        </p:nvSpPr>
        <p:spPr>
          <a:xfrm>
            <a:off x="1976301" y="1690688"/>
            <a:ext cx="8239397" cy="1477328"/>
          </a:xfrm>
          <a:prstGeom prst="rect">
            <a:avLst/>
          </a:prstGeom>
          <a:noFill/>
        </p:spPr>
        <p:txBody>
          <a:bodyPr wrap="square">
            <a:spAutoFit/>
          </a:bodyPr>
          <a:lstStyle/>
          <a:p>
            <a:r>
              <a:rPr lang="en-US" sz="1800" b="1" dirty="0">
                <a:latin typeface="Helvetica" pitchFamily="2" charset="0"/>
              </a:rPr>
              <a:t>⚠️ CRITICAL RULE: Do not run jobs on login nodes!</a:t>
            </a:r>
            <a:endParaRPr lang="en-US" sz="1800" dirty="0">
              <a:latin typeface="Helvetica" pitchFamily="2" charset="0"/>
            </a:endParaRPr>
          </a:p>
          <a:p>
            <a:r>
              <a:rPr lang="en-US" sz="1800" dirty="0">
                <a:latin typeface="Helvetica" pitchFamily="2" charset="0"/>
              </a:rPr>
              <a:t>Login nodes are shared by everyone logging into Hazel. Running analyses here slows down the system for all users and may get your account suspended. Think of login nodes as the lobby of a building—you check in here, but you don't set up your lab equipment in the lobby.</a:t>
            </a:r>
          </a:p>
        </p:txBody>
      </p:sp>
      <p:pic>
        <p:nvPicPr>
          <p:cNvPr id="20482" name="Picture 2" descr="Graphical user interface, application&#10;&#10;Description automatically generated">
            <a:extLst>
              <a:ext uri="{FF2B5EF4-FFF2-40B4-BE49-F238E27FC236}">
                <a16:creationId xmlns:a16="http://schemas.microsoft.com/office/drawing/2014/main" id="{5F4928F6-9943-D665-2802-73B53AA292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621" t="56125"/>
          <a:stretch>
            <a:fillRect/>
          </a:stretch>
        </p:blipFill>
        <p:spPr bwMode="auto">
          <a:xfrm>
            <a:off x="3768633" y="3357155"/>
            <a:ext cx="4403702" cy="300894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rallelising Jobs with GNU Parallel">
            <a:extLst>
              <a:ext uri="{FF2B5EF4-FFF2-40B4-BE49-F238E27FC236}">
                <a16:creationId xmlns:a16="http://schemas.microsoft.com/office/drawing/2014/main" id="{24F99932-C792-D16A-9781-13EECFEA85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1435" y="4001984"/>
            <a:ext cx="2500074" cy="1405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913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6D40C-BF55-96A2-CF1D-1FF98AF21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9335E-BF97-D23F-BE98-8248C38FBABE}"/>
              </a:ext>
            </a:extLst>
          </p:cNvPr>
          <p:cNvSpPr>
            <a:spLocks noGrp="1"/>
          </p:cNvSpPr>
          <p:nvPr>
            <p:ph type="title"/>
          </p:nvPr>
        </p:nvSpPr>
        <p:spPr/>
        <p:txBody>
          <a:bodyPr>
            <a:normAutofit/>
          </a:bodyPr>
          <a:lstStyle/>
          <a:p>
            <a:r>
              <a:rPr lang="en-US" sz="4000" dirty="0">
                <a:latin typeface="Helvetica" pitchFamily="2" charset="0"/>
              </a:rPr>
              <a:t>The login node issue</a:t>
            </a:r>
          </a:p>
        </p:txBody>
      </p:sp>
      <p:grpSp>
        <p:nvGrpSpPr>
          <p:cNvPr id="12" name="Group 11">
            <a:extLst>
              <a:ext uri="{FF2B5EF4-FFF2-40B4-BE49-F238E27FC236}">
                <a16:creationId xmlns:a16="http://schemas.microsoft.com/office/drawing/2014/main" id="{F6CBC0EF-B880-17B9-1ECC-B07A2F708C04}"/>
              </a:ext>
            </a:extLst>
          </p:cNvPr>
          <p:cNvGrpSpPr/>
          <p:nvPr/>
        </p:nvGrpSpPr>
        <p:grpSpPr>
          <a:xfrm>
            <a:off x="957945" y="1846614"/>
            <a:ext cx="3121230" cy="3792187"/>
            <a:chOff x="203862" y="1923803"/>
            <a:chExt cx="2865910" cy="3517077"/>
          </a:xfrm>
        </p:grpSpPr>
        <p:pic>
          <p:nvPicPr>
            <p:cNvPr id="3" name="Picture 2">
              <a:extLst>
                <a:ext uri="{FF2B5EF4-FFF2-40B4-BE49-F238E27FC236}">
                  <a16:creationId xmlns:a16="http://schemas.microsoft.com/office/drawing/2014/main" id="{B9957347-1239-30DD-CDCA-D9F31F8488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19" t="11228" r="65547" b="33372"/>
            <a:stretch>
              <a:fillRect/>
            </a:stretch>
          </p:blipFill>
          <p:spPr bwMode="auto">
            <a:xfrm>
              <a:off x="1205346" y="2351313"/>
              <a:ext cx="1864426" cy="226225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A07EE9D-C97F-A704-4C72-194456F1DE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19" t="11228" r="85979" b="33372"/>
            <a:stretch>
              <a:fillRect/>
            </a:stretch>
          </p:blipFill>
          <p:spPr bwMode="auto">
            <a:xfrm>
              <a:off x="704604" y="2764971"/>
              <a:ext cx="500742" cy="22622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39A39A5-597F-C54A-4752-6628894939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19" t="11228" r="85979" b="33372"/>
            <a:stretch>
              <a:fillRect/>
            </a:stretch>
          </p:blipFill>
          <p:spPr bwMode="auto">
            <a:xfrm>
              <a:off x="203862" y="3178629"/>
              <a:ext cx="500742" cy="22622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ABBCEF7-CF23-14B6-F266-F0EFBCAD53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19" t="52098" r="85979" b="33372"/>
            <a:stretch>
              <a:fillRect/>
            </a:stretch>
          </p:blipFill>
          <p:spPr bwMode="auto">
            <a:xfrm>
              <a:off x="704604" y="2137992"/>
              <a:ext cx="500742" cy="59333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CBD26E47-4357-F9E2-66B6-895E10048B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19" t="37401" r="85979" b="33372"/>
            <a:stretch>
              <a:fillRect/>
            </a:stretch>
          </p:blipFill>
          <p:spPr bwMode="auto">
            <a:xfrm>
              <a:off x="203862" y="1923803"/>
              <a:ext cx="500742" cy="119347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3D757514-81A3-38BD-C6CA-F79F435DD2B7}"/>
                </a:ext>
              </a:extLst>
            </p:cNvPr>
            <p:cNvSpPr/>
            <p:nvPr/>
          </p:nvSpPr>
          <p:spPr>
            <a:xfrm>
              <a:off x="2173184" y="2677886"/>
              <a:ext cx="837212" cy="531936"/>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latin typeface="Helvetica" pitchFamily="2" charset="0"/>
                  <a:ea typeface="Menlo" panose="020B0609030804020204" pitchFamily="49" charset="0"/>
                  <a:cs typeface="Menlo" panose="020B0609030804020204" pitchFamily="49" charset="0"/>
                </a:rPr>
                <a:t>Login nodes (4)</a:t>
              </a:r>
            </a:p>
          </p:txBody>
        </p:sp>
      </p:grpSp>
      <p:sp>
        <p:nvSpPr>
          <p:cNvPr id="14" name="TextBox 13">
            <a:extLst>
              <a:ext uri="{FF2B5EF4-FFF2-40B4-BE49-F238E27FC236}">
                <a16:creationId xmlns:a16="http://schemas.microsoft.com/office/drawing/2014/main" id="{1549098D-F001-C3A5-64B3-1A3094B320F3}"/>
              </a:ext>
            </a:extLst>
          </p:cNvPr>
          <p:cNvSpPr txBox="1"/>
          <p:nvPr/>
        </p:nvSpPr>
        <p:spPr>
          <a:xfrm>
            <a:off x="4779818" y="1965366"/>
            <a:ext cx="4952253" cy="1477328"/>
          </a:xfrm>
          <a:prstGeom prst="rect">
            <a:avLst/>
          </a:prstGeom>
          <a:noFill/>
        </p:spPr>
        <p:txBody>
          <a:bodyPr wrap="none" rtlCol="0">
            <a:spAutoFit/>
          </a:bodyPr>
          <a:lstStyle/>
          <a:p>
            <a:r>
              <a:rPr lang="en-US" dirty="0"/>
              <a:t>The login node has reduced computation capacity. </a:t>
            </a:r>
          </a:p>
          <a:p>
            <a:pPr marL="285750" indent="-285750">
              <a:buFontTx/>
              <a:buChar char="-"/>
            </a:pPr>
            <a:r>
              <a:rPr lang="en-US" dirty="0"/>
              <a:t>Login in, moving small files</a:t>
            </a:r>
          </a:p>
          <a:p>
            <a:pPr marL="285750" indent="-285750">
              <a:buFontTx/>
              <a:buChar char="-"/>
            </a:pPr>
            <a:r>
              <a:rPr lang="en-US" dirty="0"/>
              <a:t>Editing files</a:t>
            </a:r>
          </a:p>
          <a:p>
            <a:pPr marL="285750" indent="-285750">
              <a:buFontTx/>
              <a:buChar char="-"/>
            </a:pPr>
            <a:r>
              <a:rPr lang="en-US" dirty="0"/>
              <a:t>Compiling and submitting batch jobs</a:t>
            </a:r>
          </a:p>
          <a:p>
            <a:pPr marL="285750" indent="-285750">
              <a:buFontTx/>
              <a:buChar char="-"/>
            </a:pPr>
            <a:r>
              <a:rPr lang="en-US" dirty="0"/>
              <a:t>No testing! </a:t>
            </a:r>
            <a:r>
              <a:rPr lang="en-US" dirty="0">
                <a:sym typeface="Wingdings" pitchFamily="2" charset="2"/>
              </a:rPr>
              <a:t> interactive job</a:t>
            </a:r>
            <a:endParaRPr lang="en-US" dirty="0"/>
          </a:p>
        </p:txBody>
      </p:sp>
      <p:sp>
        <p:nvSpPr>
          <p:cNvPr id="15" name="TextBox 14">
            <a:extLst>
              <a:ext uri="{FF2B5EF4-FFF2-40B4-BE49-F238E27FC236}">
                <a16:creationId xmlns:a16="http://schemas.microsoft.com/office/drawing/2014/main" id="{BB637FA6-6D0F-03DE-2918-0F0622506591}"/>
              </a:ext>
            </a:extLst>
          </p:cNvPr>
          <p:cNvSpPr txBox="1"/>
          <p:nvPr/>
        </p:nvSpPr>
        <p:spPr>
          <a:xfrm>
            <a:off x="4590025" y="3645974"/>
            <a:ext cx="6763775" cy="369332"/>
          </a:xfrm>
          <a:prstGeom prst="rect">
            <a:avLst/>
          </a:prstGeom>
          <a:solidFill>
            <a:srgbClr val="FF0000">
              <a:alpha val="50196"/>
            </a:srgbClr>
          </a:solidFill>
        </p:spPr>
        <p:txBody>
          <a:bodyPr wrap="none" rtlCol="0">
            <a:spAutoFit/>
          </a:bodyPr>
          <a:lstStyle/>
          <a:p>
            <a:r>
              <a:rPr lang="en-US" dirty="0"/>
              <a:t>The issue = the </a:t>
            </a:r>
            <a:r>
              <a:rPr lang="en-US" b="1" dirty="0"/>
              <a:t>only</a:t>
            </a:r>
            <a:r>
              <a:rPr lang="en-US" dirty="0"/>
              <a:t> nodes with </a:t>
            </a:r>
            <a:r>
              <a:rPr lang="en-US" b="1" dirty="0"/>
              <a:t>internet</a:t>
            </a:r>
            <a:r>
              <a:rPr lang="en-US" dirty="0"/>
              <a:t> in hazel are the </a:t>
            </a:r>
            <a:r>
              <a:rPr lang="en-US" b="1" dirty="0"/>
              <a:t>login</a:t>
            </a:r>
            <a:r>
              <a:rPr lang="en-US" dirty="0"/>
              <a:t> nodes!</a:t>
            </a:r>
          </a:p>
        </p:txBody>
      </p:sp>
      <p:sp>
        <p:nvSpPr>
          <p:cNvPr id="16" name="TextBox 15">
            <a:extLst>
              <a:ext uri="{FF2B5EF4-FFF2-40B4-BE49-F238E27FC236}">
                <a16:creationId xmlns:a16="http://schemas.microsoft.com/office/drawing/2014/main" id="{3DA560CA-87D4-E18F-8405-37E7B4BEE2FE}"/>
              </a:ext>
            </a:extLst>
          </p:cNvPr>
          <p:cNvSpPr txBox="1"/>
          <p:nvPr/>
        </p:nvSpPr>
        <p:spPr>
          <a:xfrm>
            <a:off x="4779818" y="4255777"/>
            <a:ext cx="6688626" cy="1200329"/>
          </a:xfrm>
          <a:prstGeom prst="rect">
            <a:avLst/>
          </a:prstGeom>
          <a:noFill/>
        </p:spPr>
        <p:txBody>
          <a:bodyPr wrap="none" rtlCol="0">
            <a:spAutoFit/>
          </a:bodyPr>
          <a:lstStyle/>
          <a:p>
            <a:r>
              <a:rPr lang="en-US" dirty="0"/>
              <a:t>Some </a:t>
            </a:r>
            <a:r>
              <a:rPr lang="en-US" b="1" dirty="0"/>
              <a:t>internet-dependent</a:t>
            </a:r>
            <a:r>
              <a:rPr lang="en-US" dirty="0"/>
              <a:t> tasks can be </a:t>
            </a:r>
            <a:r>
              <a:rPr lang="en-US" b="1" dirty="0"/>
              <a:t>computationally demanding</a:t>
            </a:r>
            <a:r>
              <a:rPr lang="en-US" dirty="0"/>
              <a:t>: </a:t>
            </a:r>
          </a:p>
          <a:p>
            <a:pPr marL="285750" indent="-285750">
              <a:buFontTx/>
              <a:buChar char="-"/>
            </a:pPr>
            <a:r>
              <a:rPr lang="en-US" dirty="0"/>
              <a:t>Downloading data</a:t>
            </a:r>
          </a:p>
          <a:p>
            <a:pPr marL="285750" indent="-285750">
              <a:buFontTx/>
              <a:buChar char="-"/>
            </a:pPr>
            <a:r>
              <a:rPr lang="en-US" dirty="0"/>
              <a:t>Downloading databases</a:t>
            </a:r>
          </a:p>
          <a:p>
            <a:pPr marL="285750" indent="-285750">
              <a:buFontTx/>
              <a:buChar char="-"/>
            </a:pPr>
            <a:r>
              <a:rPr lang="en-US" dirty="0"/>
              <a:t>Some installations</a:t>
            </a:r>
          </a:p>
        </p:txBody>
      </p:sp>
      <p:pic>
        <p:nvPicPr>
          <p:cNvPr id="17" name="Picture 2" descr="Meme Futurama Fry - what do we have to do? - 21192190">
            <a:extLst>
              <a:ext uri="{FF2B5EF4-FFF2-40B4-BE49-F238E27FC236}">
                <a16:creationId xmlns:a16="http://schemas.microsoft.com/office/drawing/2014/main" id="{E5BB65AE-7E4F-CF13-E630-92F0428570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5098" y="4904675"/>
            <a:ext cx="1468252" cy="1468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76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A15BA-C45C-F992-81CD-B6C4ABADA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6CE89-3A21-DF88-E694-1519E0452BBB}"/>
              </a:ext>
            </a:extLst>
          </p:cNvPr>
          <p:cNvSpPr>
            <a:spLocks noGrp="1"/>
          </p:cNvSpPr>
          <p:nvPr>
            <p:ph type="title"/>
          </p:nvPr>
        </p:nvSpPr>
        <p:spPr/>
        <p:txBody>
          <a:bodyPr>
            <a:normAutofit/>
          </a:bodyPr>
          <a:lstStyle/>
          <a:p>
            <a:r>
              <a:rPr lang="en-US" sz="4000" dirty="0">
                <a:latin typeface="Helvetica" pitchFamily="2" charset="0"/>
              </a:rPr>
              <a:t>GNU parallel</a:t>
            </a:r>
          </a:p>
        </p:txBody>
      </p:sp>
      <p:pic>
        <p:nvPicPr>
          <p:cNvPr id="1026" name="Picture 2" descr="Parallelising Jobs with GNU Parallel">
            <a:extLst>
              <a:ext uri="{FF2B5EF4-FFF2-40B4-BE49-F238E27FC236}">
                <a16:creationId xmlns:a16="http://schemas.microsoft.com/office/drawing/2014/main" id="{901987E7-EBCB-4A3F-4234-CE582E387A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8692" y="230322"/>
            <a:ext cx="2609198" cy="14669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853590E-4B17-D273-F248-B2727E986495}"/>
              </a:ext>
            </a:extLst>
          </p:cNvPr>
          <p:cNvSpPr txBox="1"/>
          <p:nvPr/>
        </p:nvSpPr>
        <p:spPr>
          <a:xfrm>
            <a:off x="838200" y="1482920"/>
            <a:ext cx="8026730" cy="646331"/>
          </a:xfrm>
          <a:prstGeom prst="rect">
            <a:avLst/>
          </a:prstGeom>
          <a:noFill/>
        </p:spPr>
        <p:txBody>
          <a:bodyPr wrap="square">
            <a:spAutoFit/>
          </a:bodyPr>
          <a:lstStyle/>
          <a:p>
            <a:r>
              <a:rPr lang="en-US" b="0" i="0" dirty="0">
                <a:solidFill>
                  <a:srgbClr val="373A3C"/>
                </a:solidFill>
                <a:effectLst/>
                <a:latin typeface="Source Sans Pro" panose="020B0503030403020204" pitchFamily="34" charset="0"/>
              </a:rPr>
              <a:t>GNU Parallel is a </a:t>
            </a:r>
            <a:r>
              <a:rPr lang="en-US" b="1" i="0" dirty="0">
                <a:solidFill>
                  <a:srgbClr val="373A3C"/>
                </a:solidFill>
                <a:effectLst/>
                <a:latin typeface="Source Sans Pro" panose="020B0503030403020204" pitchFamily="34" charset="0"/>
              </a:rPr>
              <a:t>command-line tool </a:t>
            </a:r>
            <a:r>
              <a:rPr lang="en-US" i="0" dirty="0">
                <a:solidFill>
                  <a:srgbClr val="373A3C"/>
                </a:solidFill>
                <a:effectLst/>
                <a:latin typeface="Source Sans Pro" panose="020B0503030403020204" pitchFamily="34" charset="0"/>
              </a:rPr>
              <a:t>that allows you to</a:t>
            </a:r>
            <a:r>
              <a:rPr lang="en-US" b="1" i="0" dirty="0">
                <a:solidFill>
                  <a:srgbClr val="373A3C"/>
                </a:solidFill>
                <a:effectLst/>
                <a:latin typeface="Source Sans Pro" panose="020B0503030403020204" pitchFamily="34" charset="0"/>
              </a:rPr>
              <a:t> execute multiple jobs simultaneously while controlling resource usage</a:t>
            </a:r>
            <a:r>
              <a:rPr lang="en-US" b="0" i="0" dirty="0">
                <a:solidFill>
                  <a:srgbClr val="373A3C"/>
                </a:solidFill>
                <a:effectLst/>
                <a:latin typeface="Source Sans Pro" panose="020B0503030403020204" pitchFamily="34" charset="0"/>
              </a:rPr>
              <a:t>.</a:t>
            </a:r>
            <a:endParaRPr lang="en-US" dirty="0"/>
          </a:p>
        </p:txBody>
      </p:sp>
      <p:grpSp>
        <p:nvGrpSpPr>
          <p:cNvPr id="21" name="Group 20">
            <a:extLst>
              <a:ext uri="{FF2B5EF4-FFF2-40B4-BE49-F238E27FC236}">
                <a16:creationId xmlns:a16="http://schemas.microsoft.com/office/drawing/2014/main" id="{172E2CD1-DD69-9EBA-7B3C-7D524BA212D6}"/>
              </a:ext>
            </a:extLst>
          </p:cNvPr>
          <p:cNvGrpSpPr/>
          <p:nvPr/>
        </p:nvGrpSpPr>
        <p:grpSpPr>
          <a:xfrm>
            <a:off x="705223" y="2808483"/>
            <a:ext cx="3783106" cy="3214208"/>
            <a:chOff x="914400" y="2877714"/>
            <a:chExt cx="3783106" cy="3214208"/>
          </a:xfrm>
        </p:grpSpPr>
        <p:pic>
          <p:nvPicPr>
            <p:cNvPr id="2050" name="Picture 2" descr="Shopper Icons Images – Browse 79,701 Stock Photos, Vectors, and Video |  Adobe Stock">
              <a:extLst>
                <a:ext uri="{FF2B5EF4-FFF2-40B4-BE49-F238E27FC236}">
                  <a16:creationId xmlns:a16="http://schemas.microsoft.com/office/drawing/2014/main" id="{2A0FB2DF-EF78-D4A6-E15B-788B4B8DE0C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29" t="2898" r="65726" b="52063"/>
            <a:stretch>
              <a:fillRect/>
            </a:stretch>
          </p:blipFill>
          <p:spPr bwMode="auto">
            <a:xfrm>
              <a:off x="2926897" y="3429000"/>
              <a:ext cx="742207" cy="8017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hopper Icons Images – Browse 79,701 Stock Photos, Vectors, and Video |  Adobe Stock">
              <a:extLst>
                <a:ext uri="{FF2B5EF4-FFF2-40B4-BE49-F238E27FC236}">
                  <a16:creationId xmlns:a16="http://schemas.microsoft.com/office/drawing/2014/main" id="{FAF82B49-F07B-5B1E-E137-828D2A886C9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29" t="2898" r="65726" b="52063"/>
            <a:stretch>
              <a:fillRect/>
            </a:stretch>
          </p:blipFill>
          <p:spPr bwMode="auto">
            <a:xfrm>
              <a:off x="2926896" y="4350910"/>
              <a:ext cx="742207" cy="8017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Shopper Icons Images – Browse 79,701 Stock Photos, Vectors, and Video |  Adobe Stock">
              <a:extLst>
                <a:ext uri="{FF2B5EF4-FFF2-40B4-BE49-F238E27FC236}">
                  <a16:creationId xmlns:a16="http://schemas.microsoft.com/office/drawing/2014/main" id="{1B2A20FF-924F-F513-FBED-92171CE252F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29" t="2898" r="65726" b="52063"/>
            <a:stretch>
              <a:fillRect/>
            </a:stretch>
          </p:blipFill>
          <p:spPr bwMode="auto">
            <a:xfrm>
              <a:off x="2926895" y="5219367"/>
              <a:ext cx="742207" cy="8017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Shopper Icons Images – Browse 79,701 Stock Photos, Vectors, and Video |  Adobe Stock">
              <a:extLst>
                <a:ext uri="{FF2B5EF4-FFF2-40B4-BE49-F238E27FC236}">
                  <a16:creationId xmlns:a16="http://schemas.microsoft.com/office/drawing/2014/main" id="{ACCBFD9C-3504-B944-7B6C-F47DEE90971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29" t="2898" r="65726" b="52063"/>
            <a:stretch>
              <a:fillRect/>
            </a:stretch>
          </p:blipFill>
          <p:spPr bwMode="auto">
            <a:xfrm>
              <a:off x="3756189" y="3405968"/>
              <a:ext cx="742207" cy="80174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Shopper Icons Images – Browse 79,701 Stock Photos, Vectors, and Video |  Adobe Stock">
              <a:extLst>
                <a:ext uri="{FF2B5EF4-FFF2-40B4-BE49-F238E27FC236}">
                  <a16:creationId xmlns:a16="http://schemas.microsoft.com/office/drawing/2014/main" id="{45D68E80-F8A0-023E-C387-9CBC509954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29" t="2898" r="65726" b="52063"/>
            <a:stretch>
              <a:fillRect/>
            </a:stretch>
          </p:blipFill>
          <p:spPr bwMode="auto">
            <a:xfrm>
              <a:off x="3756189" y="4350910"/>
              <a:ext cx="742207" cy="80174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Shopper Icons Images – Browse 79,701 Stock Photos, Vectors, and Video |  Adobe Stock">
              <a:extLst>
                <a:ext uri="{FF2B5EF4-FFF2-40B4-BE49-F238E27FC236}">
                  <a16:creationId xmlns:a16="http://schemas.microsoft.com/office/drawing/2014/main" id="{606DDAD8-CAE7-71C7-A3FC-33AF8A36FA5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29" t="2898" r="65726" b="52063"/>
            <a:stretch>
              <a:fillRect/>
            </a:stretch>
          </p:blipFill>
          <p:spPr bwMode="auto">
            <a:xfrm>
              <a:off x="3846708" y="5219367"/>
              <a:ext cx="742207" cy="801742"/>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2A4730B4-CF36-BCA2-9406-E1AD823FD585}"/>
                </a:ext>
              </a:extLst>
            </p:cNvPr>
            <p:cNvGrpSpPr/>
            <p:nvPr/>
          </p:nvGrpSpPr>
          <p:grpSpPr>
            <a:xfrm>
              <a:off x="1238299" y="4230742"/>
              <a:ext cx="1212567" cy="1069868"/>
              <a:chOff x="974821" y="3452032"/>
              <a:chExt cx="1351187" cy="1199408"/>
            </a:xfrm>
          </p:grpSpPr>
          <p:pic>
            <p:nvPicPr>
              <p:cNvPr id="2052" name="Picture 4" descr="Grocery cart logo Black and White Stock Photos &amp; Images - Alamy">
                <a:extLst>
                  <a:ext uri="{FF2B5EF4-FFF2-40B4-BE49-F238E27FC236}">
                    <a16:creationId xmlns:a16="http://schemas.microsoft.com/office/drawing/2014/main" id="{B0251B67-4312-DF87-2083-1D9FFFF99AAE}"/>
                  </a:ext>
                </a:extLst>
              </p:cNvPr>
              <p:cNvPicPr>
                <a:picLocks noChangeAspect="1" noChangeArrowheads="1"/>
              </p:cNvPicPr>
              <p:nvPr/>
            </p:nvPicPr>
            <p:blipFill rotWithShape="1">
              <a:blip r:embed="rId5">
                <a:biLevel thresh="75000"/>
                <a:extLst>
                  <a:ext uri="{28A0092B-C50C-407E-A947-70E740481C1C}">
                    <a14:useLocalDpi xmlns:a14="http://schemas.microsoft.com/office/drawing/2010/main" val="0"/>
                  </a:ext>
                </a:extLst>
              </a:blip>
              <a:srcRect l="45835" t="24292" b="28745"/>
              <a:stretch>
                <a:fillRect/>
              </a:stretch>
            </p:blipFill>
            <p:spPr bwMode="auto">
              <a:xfrm flipH="1">
                <a:off x="974821" y="3452032"/>
                <a:ext cx="1213729" cy="119940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139617AE-4CCF-DD8B-7B21-9AB5B771DF71}"/>
                  </a:ext>
                </a:extLst>
              </p:cNvPr>
              <p:cNvSpPr/>
              <p:nvPr/>
            </p:nvSpPr>
            <p:spPr>
              <a:xfrm>
                <a:off x="2051091" y="4153647"/>
                <a:ext cx="274917" cy="2202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17AB9F9B-3871-8B17-9072-702FD7EE9079}"/>
                </a:ext>
              </a:extLst>
            </p:cNvPr>
            <p:cNvSpPr txBox="1"/>
            <p:nvPr/>
          </p:nvSpPr>
          <p:spPr>
            <a:xfrm>
              <a:off x="1278965" y="2877714"/>
              <a:ext cx="1198854" cy="369332"/>
            </a:xfrm>
            <a:prstGeom prst="rect">
              <a:avLst/>
            </a:prstGeom>
            <a:noFill/>
          </p:spPr>
          <p:txBody>
            <a:bodyPr wrap="none" rtlCol="0">
              <a:spAutoFit/>
            </a:bodyPr>
            <a:lstStyle/>
            <a:p>
              <a:r>
                <a:rPr lang="en-US" b="1" dirty="0"/>
                <a:t>Sequential</a:t>
              </a:r>
            </a:p>
          </p:txBody>
        </p:sp>
        <p:sp>
          <p:nvSpPr>
            <p:cNvPr id="14" name="TextBox 13">
              <a:extLst>
                <a:ext uri="{FF2B5EF4-FFF2-40B4-BE49-F238E27FC236}">
                  <a16:creationId xmlns:a16="http://schemas.microsoft.com/office/drawing/2014/main" id="{B4E10176-9F4C-A85F-5861-27CF1288CDEE}"/>
                </a:ext>
              </a:extLst>
            </p:cNvPr>
            <p:cNvSpPr txBox="1"/>
            <p:nvPr/>
          </p:nvSpPr>
          <p:spPr>
            <a:xfrm>
              <a:off x="3264322" y="2877714"/>
              <a:ext cx="891654" cy="369332"/>
            </a:xfrm>
            <a:prstGeom prst="rect">
              <a:avLst/>
            </a:prstGeom>
            <a:noFill/>
          </p:spPr>
          <p:txBody>
            <a:bodyPr wrap="none" rtlCol="0">
              <a:spAutoFit/>
            </a:bodyPr>
            <a:lstStyle/>
            <a:p>
              <a:r>
                <a:rPr lang="en-US" b="1" dirty="0"/>
                <a:t>Parallel</a:t>
              </a:r>
            </a:p>
          </p:txBody>
        </p:sp>
        <p:cxnSp>
          <p:nvCxnSpPr>
            <p:cNvPr id="16" name="Straight Connector 15">
              <a:extLst>
                <a:ext uri="{FF2B5EF4-FFF2-40B4-BE49-F238E27FC236}">
                  <a16:creationId xmlns:a16="http://schemas.microsoft.com/office/drawing/2014/main" id="{4F23D9D0-FEFE-ED9A-CDB9-D2F991A5AF6B}"/>
                </a:ext>
              </a:extLst>
            </p:cNvPr>
            <p:cNvCxnSpPr>
              <a:cxnSpLocks/>
            </p:cNvCxnSpPr>
            <p:nvPr/>
          </p:nvCxnSpPr>
          <p:spPr>
            <a:xfrm>
              <a:off x="914400" y="3270078"/>
              <a:ext cx="3783106" cy="0"/>
            </a:xfrm>
            <a:prstGeom prst="line">
              <a:avLst/>
            </a:prstGeom>
            <a:ln w="12700">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0C6D791-B045-25CD-6F51-7AB496863C9D}"/>
                </a:ext>
              </a:extLst>
            </p:cNvPr>
            <p:cNvCxnSpPr>
              <a:cxnSpLocks/>
            </p:cNvCxnSpPr>
            <p:nvPr/>
          </p:nvCxnSpPr>
          <p:spPr>
            <a:xfrm>
              <a:off x="2771506" y="2877714"/>
              <a:ext cx="0" cy="3214208"/>
            </a:xfrm>
            <a:prstGeom prst="line">
              <a:avLst/>
            </a:prstGeom>
            <a:ln w="12700">
              <a:solidFill>
                <a:schemeClr val="bg1">
                  <a:lumMod val="65000"/>
                </a:schemeClr>
              </a:solidFill>
            </a:ln>
          </p:spPr>
          <p:style>
            <a:lnRef idx="1">
              <a:schemeClr val="dk1"/>
            </a:lnRef>
            <a:fillRef idx="0">
              <a:schemeClr val="dk1"/>
            </a:fillRef>
            <a:effectRef idx="0">
              <a:schemeClr val="dk1"/>
            </a:effectRef>
            <a:fontRef idx="minor">
              <a:schemeClr val="tx1"/>
            </a:fontRef>
          </p:style>
        </p:cxnSp>
      </p:grpSp>
      <p:sp>
        <p:nvSpPr>
          <p:cNvPr id="22" name="TextBox 21">
            <a:extLst>
              <a:ext uri="{FF2B5EF4-FFF2-40B4-BE49-F238E27FC236}">
                <a16:creationId xmlns:a16="http://schemas.microsoft.com/office/drawing/2014/main" id="{8F5728D9-D94F-EE9E-F415-9A8FD0B07CB3}"/>
              </a:ext>
            </a:extLst>
          </p:cNvPr>
          <p:cNvSpPr txBox="1"/>
          <p:nvPr/>
        </p:nvSpPr>
        <p:spPr>
          <a:xfrm>
            <a:off x="4981144" y="2850518"/>
            <a:ext cx="6317126" cy="2862322"/>
          </a:xfrm>
          <a:prstGeom prst="rect">
            <a:avLst/>
          </a:prstGeom>
          <a:noFill/>
        </p:spPr>
        <p:txBody>
          <a:bodyPr wrap="square" rtlCol="0">
            <a:spAutoFit/>
          </a:bodyPr>
          <a:lstStyle/>
          <a:p>
            <a:r>
              <a:rPr lang="en-US" dirty="0"/>
              <a:t>Example: </a:t>
            </a:r>
            <a:r>
              <a:rPr lang="en-US" dirty="0">
                <a:solidFill>
                  <a:schemeClr val="accent1"/>
                </a:solidFill>
              </a:rPr>
              <a:t>you need to download 100 data files</a:t>
            </a:r>
          </a:p>
          <a:p>
            <a:r>
              <a:rPr lang="en-US" b="1" dirty="0"/>
              <a:t>Sequential:</a:t>
            </a:r>
          </a:p>
          <a:p>
            <a:pPr marL="285750" indent="-285750">
              <a:buFont typeface="Arial" panose="020B0604020202020204" pitchFamily="34" charset="0"/>
              <a:buChar char="•"/>
            </a:pPr>
            <a:r>
              <a:rPr lang="en-US" dirty="0"/>
              <a:t>Each download waits for the previous one to finish (even though the CPU is doing nothing in between)</a:t>
            </a:r>
          </a:p>
          <a:p>
            <a:pPr marL="285750" indent="-285750">
              <a:buFont typeface="Arial" panose="020B0604020202020204" pitchFamily="34" charset="0"/>
              <a:buChar char="•"/>
            </a:pPr>
            <a:r>
              <a:rPr lang="en-US" dirty="0"/>
              <a:t>Downloads = a lot of waiting</a:t>
            </a:r>
          </a:p>
          <a:p>
            <a:endParaRPr lang="en-US" dirty="0"/>
          </a:p>
          <a:p>
            <a:r>
              <a:rPr lang="en-US" b="1" dirty="0"/>
              <a:t>Parallel:</a:t>
            </a:r>
          </a:p>
          <a:p>
            <a:pPr marL="285750" indent="-285750">
              <a:buFont typeface="Arial" panose="020B0604020202020204" pitchFamily="34" charset="0"/>
              <a:buChar char="•"/>
            </a:pPr>
            <a:r>
              <a:rPr lang="en-US" dirty="0"/>
              <a:t>Tell GNU Parallel to download </a:t>
            </a:r>
            <a:r>
              <a:rPr lang="en-US" i="1" dirty="0"/>
              <a:t>4, 6, 8, or </a:t>
            </a:r>
            <a:r>
              <a:rPr lang="en-US" i="1" dirty="0" err="1"/>
              <a:t>etc</a:t>
            </a:r>
            <a:r>
              <a:rPr lang="en-US" i="1" dirty="0"/>
              <a:t> </a:t>
            </a:r>
            <a:r>
              <a:rPr lang="en-US" dirty="0"/>
              <a:t>at a time</a:t>
            </a:r>
          </a:p>
          <a:p>
            <a:pPr marL="285750" indent="-285750">
              <a:buFont typeface="Arial" panose="020B0604020202020204" pitchFamily="34" charset="0"/>
              <a:buChar char="•"/>
            </a:pPr>
            <a:r>
              <a:rPr lang="en-US" dirty="0"/>
              <a:t>As soon as one download finishes, it automatically starts the next one until all are complete.</a:t>
            </a:r>
          </a:p>
        </p:txBody>
      </p:sp>
    </p:spTree>
    <p:extLst>
      <p:ext uri="{BB962C8B-B14F-4D97-AF65-F5344CB8AC3E}">
        <p14:creationId xmlns:p14="http://schemas.microsoft.com/office/powerpoint/2010/main" val="1676274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C8B5B-4316-ACB6-4834-FAB946D9D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60B74-F5CB-8EEB-C131-2F446A39F39C}"/>
              </a:ext>
            </a:extLst>
          </p:cNvPr>
          <p:cNvSpPr>
            <a:spLocks noGrp="1"/>
          </p:cNvSpPr>
          <p:nvPr>
            <p:ph type="title"/>
          </p:nvPr>
        </p:nvSpPr>
        <p:spPr/>
        <p:txBody>
          <a:bodyPr>
            <a:normAutofit/>
          </a:bodyPr>
          <a:lstStyle/>
          <a:p>
            <a:r>
              <a:rPr lang="en-US" sz="4000" dirty="0">
                <a:latin typeface="Helvetica" pitchFamily="2" charset="0"/>
              </a:rPr>
              <a:t>GNU parallel</a:t>
            </a:r>
          </a:p>
        </p:txBody>
      </p:sp>
      <p:pic>
        <p:nvPicPr>
          <p:cNvPr id="1026" name="Picture 2" descr="Parallelising Jobs with GNU Parallel">
            <a:extLst>
              <a:ext uri="{FF2B5EF4-FFF2-40B4-BE49-F238E27FC236}">
                <a16:creationId xmlns:a16="http://schemas.microsoft.com/office/drawing/2014/main" id="{04E0A5BE-5A3E-2E79-A638-68469D8FE7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8692" y="230322"/>
            <a:ext cx="2609198" cy="14669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5E52299-C9CA-5B2B-813C-7F96B91E9AB7}"/>
              </a:ext>
            </a:extLst>
          </p:cNvPr>
          <p:cNvSpPr txBox="1"/>
          <p:nvPr/>
        </p:nvSpPr>
        <p:spPr>
          <a:xfrm>
            <a:off x="838200" y="1482920"/>
            <a:ext cx="8026730" cy="646331"/>
          </a:xfrm>
          <a:prstGeom prst="rect">
            <a:avLst/>
          </a:prstGeom>
          <a:noFill/>
        </p:spPr>
        <p:txBody>
          <a:bodyPr wrap="square">
            <a:spAutoFit/>
          </a:bodyPr>
          <a:lstStyle/>
          <a:p>
            <a:r>
              <a:rPr lang="en-US" b="0" i="0" dirty="0">
                <a:solidFill>
                  <a:srgbClr val="373A3C"/>
                </a:solidFill>
                <a:effectLst/>
                <a:latin typeface="Source Sans Pro" panose="020B0503030403020204" pitchFamily="34" charset="0"/>
              </a:rPr>
              <a:t>GNU Parallel is a </a:t>
            </a:r>
            <a:r>
              <a:rPr lang="en-US" b="1" i="0" dirty="0">
                <a:solidFill>
                  <a:srgbClr val="373A3C"/>
                </a:solidFill>
                <a:effectLst/>
                <a:latin typeface="Source Sans Pro" panose="020B0503030403020204" pitchFamily="34" charset="0"/>
              </a:rPr>
              <a:t>command-line tool </a:t>
            </a:r>
            <a:r>
              <a:rPr lang="en-US" i="0" dirty="0">
                <a:solidFill>
                  <a:srgbClr val="373A3C"/>
                </a:solidFill>
                <a:effectLst/>
                <a:latin typeface="Source Sans Pro" panose="020B0503030403020204" pitchFamily="34" charset="0"/>
              </a:rPr>
              <a:t>that allows you to</a:t>
            </a:r>
            <a:r>
              <a:rPr lang="en-US" b="1" i="0" dirty="0">
                <a:solidFill>
                  <a:srgbClr val="373A3C"/>
                </a:solidFill>
                <a:effectLst/>
                <a:latin typeface="Source Sans Pro" panose="020B0503030403020204" pitchFamily="34" charset="0"/>
              </a:rPr>
              <a:t> execute multiple jobs simultaneously while controlling resource usage</a:t>
            </a:r>
            <a:r>
              <a:rPr lang="en-US" b="0" i="0" dirty="0">
                <a:solidFill>
                  <a:srgbClr val="373A3C"/>
                </a:solidFill>
                <a:effectLst/>
                <a:latin typeface="Source Sans Pro" panose="020B0503030403020204" pitchFamily="34" charset="0"/>
              </a:rPr>
              <a:t>.</a:t>
            </a:r>
            <a:endParaRPr lang="en-US" dirty="0"/>
          </a:p>
        </p:txBody>
      </p:sp>
      <p:sp>
        <p:nvSpPr>
          <p:cNvPr id="5" name="TextBox 4">
            <a:extLst>
              <a:ext uri="{FF2B5EF4-FFF2-40B4-BE49-F238E27FC236}">
                <a16:creationId xmlns:a16="http://schemas.microsoft.com/office/drawing/2014/main" id="{F1A8BC38-B3CA-E725-52E7-750B88DD31E3}"/>
              </a:ext>
            </a:extLst>
          </p:cNvPr>
          <p:cNvSpPr txBox="1"/>
          <p:nvPr/>
        </p:nvSpPr>
        <p:spPr>
          <a:xfrm>
            <a:off x="838200" y="2281077"/>
            <a:ext cx="10727765" cy="646331"/>
          </a:xfrm>
          <a:prstGeom prst="rect">
            <a:avLst/>
          </a:prstGeom>
          <a:noFill/>
        </p:spPr>
        <p:txBody>
          <a:bodyPr wrap="square">
            <a:spAutoFit/>
          </a:bodyPr>
          <a:lstStyle/>
          <a:p>
            <a:r>
              <a:rPr lang="en-US" b="1" dirty="0">
                <a:solidFill>
                  <a:srgbClr val="FF0000"/>
                </a:solidFill>
              </a:rPr>
              <a:t>GNU Parallel is not a job scheduler! </a:t>
            </a:r>
            <a:r>
              <a:rPr lang="en-US" dirty="0"/>
              <a:t>GNU parallel is a </a:t>
            </a:r>
            <a:r>
              <a:rPr lang="en-US" b="1" dirty="0"/>
              <a:t>shell tool </a:t>
            </a:r>
            <a:r>
              <a:rPr lang="en-US" dirty="0"/>
              <a:t>that takes a list of inputs and runs a command on each of them simultaneously, up to a limit you control.</a:t>
            </a:r>
          </a:p>
        </p:txBody>
      </p:sp>
      <p:sp>
        <p:nvSpPr>
          <p:cNvPr id="23" name="TextBox 22">
            <a:extLst>
              <a:ext uri="{FF2B5EF4-FFF2-40B4-BE49-F238E27FC236}">
                <a16:creationId xmlns:a16="http://schemas.microsoft.com/office/drawing/2014/main" id="{E56E0008-4B4F-7451-11B8-29C9E9EA5A01}"/>
              </a:ext>
            </a:extLst>
          </p:cNvPr>
          <p:cNvSpPr txBox="1"/>
          <p:nvPr/>
        </p:nvSpPr>
        <p:spPr>
          <a:xfrm>
            <a:off x="623301" y="3206114"/>
            <a:ext cx="5528235" cy="1169551"/>
          </a:xfrm>
          <a:prstGeom prst="rect">
            <a:avLst/>
          </a:prstGeom>
          <a:solidFill>
            <a:schemeClr val="bg1">
              <a:lumMod val="95000"/>
            </a:schemeClr>
          </a:solidFill>
        </p:spPr>
        <p:txBody>
          <a:bodyPr wrap="square">
            <a:spAutoFit/>
          </a:bodyPr>
          <a:lstStyle/>
          <a:p>
            <a:r>
              <a:rPr lang="en-US" sz="1400" b="0" i="0" dirty="0">
                <a:solidFill>
                  <a:schemeClr val="accent6">
                    <a:lumMod val="60000"/>
                    <a:lumOff val="40000"/>
                  </a:schemeClr>
                </a:solidFill>
                <a:effectLst/>
                <a:latin typeface="Menlo" panose="020B0609030804020204" pitchFamily="49" charset="0"/>
                <a:ea typeface="Menlo" panose="020B0609030804020204" pitchFamily="49" charset="0"/>
                <a:cs typeface="Menlo" panose="020B0609030804020204" pitchFamily="49" charset="0"/>
              </a:rPr>
              <a:t># Sequential</a:t>
            </a:r>
          </a:p>
          <a:p>
            <a:r>
              <a:rPr lang="en-US" sz="1400" b="0" i="0" dirty="0">
                <a:effectLst/>
                <a:latin typeface="Menlo" panose="020B0609030804020204" pitchFamily="49" charset="0"/>
                <a:ea typeface="Menlo" panose="020B0609030804020204" pitchFamily="49" charset="0"/>
                <a:cs typeface="Menlo" panose="020B0609030804020204" pitchFamily="49" charset="0"/>
              </a:rPr>
              <a:t>$ for line in </a:t>
            </a:r>
            <a:r>
              <a:rPr lang="en-US" sz="1400" b="0" i="0" dirty="0">
                <a:solidFill>
                  <a:srgbClr val="7030A0"/>
                </a:solidFill>
                <a:effectLst/>
                <a:latin typeface="Menlo" panose="020B0609030804020204" pitchFamily="49" charset="0"/>
                <a:ea typeface="Menlo" panose="020B0609030804020204" pitchFamily="49" charset="0"/>
                <a:cs typeface="Menlo" panose="020B0609030804020204" pitchFamily="49" charset="0"/>
              </a:rPr>
              <a:t>$(</a:t>
            </a:r>
            <a:r>
              <a:rPr lang="en-US" sz="1400" b="0" i="0" dirty="0">
                <a:solidFill>
                  <a:schemeClr val="accent2">
                    <a:lumMod val="75000"/>
                  </a:schemeClr>
                </a:solidFill>
                <a:effectLst/>
                <a:latin typeface="Menlo" panose="020B0609030804020204" pitchFamily="49" charset="0"/>
                <a:ea typeface="Menlo" panose="020B0609030804020204" pitchFamily="49" charset="0"/>
                <a:cs typeface="Menlo" panose="020B0609030804020204" pitchFamily="49" charset="0"/>
              </a:rPr>
              <a:t>cat </a:t>
            </a:r>
            <a:r>
              <a:rPr lang="en-US" sz="1400" b="0" i="0" dirty="0" err="1">
                <a:solidFill>
                  <a:srgbClr val="7030A0"/>
                </a:solidFill>
                <a:effectLst/>
                <a:latin typeface="Menlo" panose="020B0609030804020204" pitchFamily="49" charset="0"/>
                <a:ea typeface="Menlo" panose="020B0609030804020204" pitchFamily="49" charset="0"/>
                <a:cs typeface="Menlo" panose="020B0609030804020204" pitchFamily="49" charset="0"/>
              </a:rPr>
              <a:t>list.txt</a:t>
            </a:r>
            <a:r>
              <a:rPr lang="en-US" sz="1400" b="0" i="0" dirty="0">
                <a:solidFill>
                  <a:srgbClr val="7030A0"/>
                </a:solidFill>
                <a:effectLst/>
                <a:latin typeface="Menlo" panose="020B0609030804020204" pitchFamily="49" charset="0"/>
                <a:ea typeface="Menlo" panose="020B0609030804020204" pitchFamily="49" charset="0"/>
                <a:cs typeface="Menlo" panose="020B0609030804020204" pitchFamily="49" charset="0"/>
              </a:rPr>
              <a:t>)</a:t>
            </a:r>
            <a:r>
              <a:rPr lang="en-US" sz="1400" b="0" i="0" dirty="0">
                <a:effectLst/>
                <a:latin typeface="Menlo" panose="020B0609030804020204" pitchFamily="49" charset="0"/>
                <a:ea typeface="Menlo" panose="020B0609030804020204" pitchFamily="49" charset="0"/>
                <a:cs typeface="Menlo" panose="020B0609030804020204" pitchFamily="49" charset="0"/>
              </a:rPr>
              <a:t>; do </a:t>
            </a:r>
            <a:r>
              <a:rPr lang="en-US" sz="1400" b="0" i="0" dirty="0" err="1">
                <a:solidFill>
                  <a:schemeClr val="accent6">
                    <a:lumMod val="50000"/>
                  </a:schemeClr>
                </a:solidFill>
                <a:effectLst/>
                <a:latin typeface="Menlo" panose="020B0609030804020204" pitchFamily="49" charset="0"/>
                <a:ea typeface="Menlo" panose="020B0609030804020204" pitchFamily="49" charset="0"/>
                <a:cs typeface="Menlo" panose="020B0609030804020204" pitchFamily="49" charset="0"/>
              </a:rPr>
              <a:t>wget</a:t>
            </a:r>
            <a:r>
              <a:rPr lang="en-US" sz="1400" b="0" i="0" dirty="0">
                <a:effectLst/>
                <a:latin typeface="Menlo" panose="020B0609030804020204" pitchFamily="49" charset="0"/>
                <a:ea typeface="Menlo" panose="020B0609030804020204" pitchFamily="49" charset="0"/>
                <a:cs typeface="Menlo" panose="020B0609030804020204" pitchFamily="49" charset="0"/>
              </a:rPr>
              <a:t> file; done</a:t>
            </a:r>
          </a:p>
          <a:p>
            <a:endParaRPr lang="en-US" sz="1400" b="0" i="0" dirty="0">
              <a:effectLst/>
              <a:latin typeface="Menlo" panose="020B0609030804020204" pitchFamily="49" charset="0"/>
              <a:ea typeface="Menlo" panose="020B0609030804020204" pitchFamily="49" charset="0"/>
              <a:cs typeface="Menlo" panose="020B0609030804020204" pitchFamily="49" charset="0"/>
            </a:endParaRPr>
          </a:p>
          <a:p>
            <a:r>
              <a:rPr lang="en-US" sz="1400" b="0" i="0" dirty="0">
                <a:solidFill>
                  <a:schemeClr val="accent6">
                    <a:lumMod val="60000"/>
                    <a:lumOff val="40000"/>
                  </a:schemeClr>
                </a:solidFill>
                <a:effectLst/>
                <a:latin typeface="Menlo" panose="020B0609030804020204" pitchFamily="49" charset="0"/>
                <a:ea typeface="Menlo" panose="020B0609030804020204" pitchFamily="49" charset="0"/>
                <a:cs typeface="Menlo" panose="020B0609030804020204" pitchFamily="49" charset="0"/>
              </a:rPr>
              <a:t># GNU parallel </a:t>
            </a:r>
          </a:p>
          <a:p>
            <a:r>
              <a:rPr lang="en-US" sz="1400" b="0" i="0" dirty="0">
                <a:effectLst/>
                <a:latin typeface="Menlo" panose="020B0609030804020204" pitchFamily="49" charset="0"/>
                <a:ea typeface="Menlo" panose="020B0609030804020204" pitchFamily="49" charset="0"/>
                <a:cs typeface="Menlo" panose="020B0609030804020204" pitchFamily="49" charset="0"/>
              </a:rPr>
              <a:t>$</a:t>
            </a:r>
            <a:r>
              <a:rPr lang="en-US" sz="1400" b="0" i="0" dirty="0">
                <a:solidFill>
                  <a:schemeClr val="accent2">
                    <a:lumMod val="75000"/>
                  </a:schemeClr>
                </a:solidFill>
                <a:effectLst/>
                <a:latin typeface="Menlo" panose="020B0609030804020204" pitchFamily="49" charset="0"/>
                <a:ea typeface="Menlo" panose="020B0609030804020204" pitchFamily="49" charset="0"/>
                <a:cs typeface="Menlo" panose="020B0609030804020204" pitchFamily="49" charset="0"/>
              </a:rPr>
              <a:t> cat</a:t>
            </a:r>
            <a:r>
              <a:rPr lang="en-US" sz="1400" b="0" i="0" dirty="0">
                <a:effectLst/>
                <a:latin typeface="Menlo" panose="020B0609030804020204" pitchFamily="49" charset="0"/>
                <a:ea typeface="Menlo" panose="020B0609030804020204" pitchFamily="49" charset="0"/>
                <a:cs typeface="Menlo" panose="020B0609030804020204" pitchFamily="49" charset="0"/>
              </a:rPr>
              <a:t> </a:t>
            </a:r>
            <a:r>
              <a:rPr lang="en-US" sz="1400" b="0" i="0" dirty="0" err="1">
                <a:solidFill>
                  <a:srgbClr val="7030A0"/>
                </a:solidFill>
                <a:effectLst/>
                <a:latin typeface="Menlo" panose="020B0609030804020204" pitchFamily="49" charset="0"/>
                <a:ea typeface="Menlo" panose="020B0609030804020204" pitchFamily="49" charset="0"/>
                <a:cs typeface="Menlo" panose="020B0609030804020204" pitchFamily="49" charset="0"/>
              </a:rPr>
              <a:t>list.txt</a:t>
            </a:r>
            <a:r>
              <a:rPr lang="en-US" sz="1400" b="0" i="0" dirty="0">
                <a:solidFill>
                  <a:srgbClr val="7030A0"/>
                </a:solidFill>
                <a:effectLst/>
                <a:latin typeface="Menlo" panose="020B0609030804020204" pitchFamily="49" charset="0"/>
                <a:ea typeface="Menlo" panose="020B0609030804020204" pitchFamily="49" charset="0"/>
                <a:cs typeface="Menlo" panose="020B0609030804020204" pitchFamily="49" charset="0"/>
              </a:rPr>
              <a:t> </a:t>
            </a:r>
            <a:r>
              <a:rPr lang="en-US" sz="1400" b="1" i="0" dirty="0">
                <a:solidFill>
                  <a:srgbClr val="003B4F"/>
                </a:solidFill>
                <a:effectLst/>
                <a:latin typeface="Menlo" panose="020B0609030804020204" pitchFamily="49" charset="0"/>
                <a:ea typeface="Menlo" panose="020B0609030804020204" pitchFamily="49" charset="0"/>
                <a:cs typeface="Menlo" panose="020B0609030804020204" pitchFamily="49" charset="0"/>
              </a:rPr>
              <a:t>|</a:t>
            </a:r>
            <a:r>
              <a:rPr lang="en-US" sz="1400" b="0" i="0" dirty="0">
                <a:solidFill>
                  <a:srgbClr val="003B4F"/>
                </a:solidFill>
                <a:effectLst/>
                <a:latin typeface="Menlo" panose="020B0609030804020204" pitchFamily="49" charset="0"/>
                <a:ea typeface="Menlo" panose="020B0609030804020204" pitchFamily="49" charset="0"/>
                <a:cs typeface="Menlo" panose="020B0609030804020204" pitchFamily="49" charset="0"/>
              </a:rPr>
              <a:t> </a:t>
            </a:r>
            <a:r>
              <a:rPr lang="en-US" sz="1400" b="0" i="0" dirty="0">
                <a:solidFill>
                  <a:schemeClr val="accent2">
                    <a:lumMod val="75000"/>
                  </a:schemeClr>
                </a:solidFill>
                <a:effectLst/>
                <a:latin typeface="Menlo" panose="020B0609030804020204" pitchFamily="49" charset="0"/>
                <a:ea typeface="Menlo" panose="020B0609030804020204" pitchFamily="49" charset="0"/>
                <a:cs typeface="Menlo" panose="020B0609030804020204" pitchFamily="49" charset="0"/>
              </a:rPr>
              <a:t>parallel</a:t>
            </a:r>
            <a:r>
              <a:rPr lang="en-US" sz="1400" b="0" i="0" dirty="0">
                <a:solidFill>
                  <a:srgbClr val="111111"/>
                </a:solidFill>
                <a:effectLst/>
                <a:latin typeface="Menlo" panose="020B0609030804020204" pitchFamily="49" charset="0"/>
                <a:ea typeface="Menlo" panose="020B0609030804020204" pitchFamily="49" charset="0"/>
                <a:cs typeface="Menlo" panose="020B0609030804020204" pitchFamily="49" charset="0"/>
              </a:rPr>
              <a:t> </a:t>
            </a:r>
            <a:r>
              <a:rPr lang="en-US" sz="1400" b="0" i="0" dirty="0">
                <a:solidFill>
                  <a:schemeClr val="accent5"/>
                </a:solidFill>
                <a:effectLst/>
                <a:latin typeface="Menlo" panose="020B0609030804020204" pitchFamily="49" charset="0"/>
                <a:ea typeface="Menlo" panose="020B0609030804020204" pitchFamily="49" charset="0"/>
                <a:cs typeface="Menlo" panose="020B0609030804020204" pitchFamily="49" charset="0"/>
              </a:rPr>
              <a:t>-j 4 </a:t>
            </a:r>
            <a:r>
              <a:rPr lang="en-US" sz="1400" b="0" i="0" dirty="0">
                <a:solidFill>
                  <a:schemeClr val="accent6">
                    <a:lumMod val="50000"/>
                  </a:schemeClr>
                </a:solidFill>
                <a:effectLst/>
                <a:latin typeface="Menlo" panose="020B0609030804020204" pitchFamily="49" charset="0"/>
                <a:ea typeface="Menlo" panose="020B0609030804020204" pitchFamily="49" charset="0"/>
                <a:cs typeface="Menlo" panose="020B0609030804020204" pitchFamily="49" charset="0"/>
              </a:rPr>
              <a:t>”</a:t>
            </a:r>
            <a:r>
              <a:rPr lang="en-US" sz="1400" b="0" i="0" dirty="0" err="1">
                <a:solidFill>
                  <a:schemeClr val="accent6">
                    <a:lumMod val="50000"/>
                  </a:schemeClr>
                </a:solidFill>
                <a:effectLst/>
                <a:latin typeface="Menlo" panose="020B0609030804020204" pitchFamily="49" charset="0"/>
                <a:ea typeface="Menlo" panose="020B0609030804020204" pitchFamily="49" charset="0"/>
                <a:cs typeface="Menlo" panose="020B0609030804020204" pitchFamily="49" charset="0"/>
              </a:rPr>
              <a:t>wget</a:t>
            </a:r>
            <a:r>
              <a:rPr lang="en-US" sz="1400" b="0" i="0" dirty="0">
                <a:solidFill>
                  <a:schemeClr val="accent6">
                    <a:lumMod val="50000"/>
                  </a:schemeClr>
                </a:solidFill>
                <a:effectLst/>
                <a:latin typeface="Menlo" panose="020B0609030804020204" pitchFamily="49" charset="0"/>
                <a:ea typeface="Menlo" panose="020B0609030804020204" pitchFamily="49" charset="0"/>
                <a:cs typeface="Menlo" panose="020B0609030804020204" pitchFamily="49" charset="0"/>
              </a:rPr>
              <a:t> {}" </a:t>
            </a:r>
            <a:endParaRPr lang="en-US" sz="14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endParaRPr>
          </a:p>
        </p:txBody>
      </p:sp>
      <p:grpSp>
        <p:nvGrpSpPr>
          <p:cNvPr id="29" name="Group 28">
            <a:extLst>
              <a:ext uri="{FF2B5EF4-FFF2-40B4-BE49-F238E27FC236}">
                <a16:creationId xmlns:a16="http://schemas.microsoft.com/office/drawing/2014/main" id="{DC6BB52D-4E10-65DB-9D05-1E40A13F3EF3}"/>
              </a:ext>
            </a:extLst>
          </p:cNvPr>
          <p:cNvGrpSpPr/>
          <p:nvPr/>
        </p:nvGrpSpPr>
        <p:grpSpPr>
          <a:xfrm>
            <a:off x="6520031" y="2927408"/>
            <a:ext cx="5259296" cy="3073941"/>
            <a:chOff x="6382871" y="3065929"/>
            <a:chExt cx="5259296" cy="3073941"/>
          </a:xfrm>
        </p:grpSpPr>
        <p:sp>
          <p:nvSpPr>
            <p:cNvPr id="17" name="TextBox 16">
              <a:extLst>
                <a:ext uri="{FF2B5EF4-FFF2-40B4-BE49-F238E27FC236}">
                  <a16:creationId xmlns:a16="http://schemas.microsoft.com/office/drawing/2014/main" id="{DEF742CD-1A21-8943-EC4F-44FB7A54A4CD}"/>
                </a:ext>
              </a:extLst>
            </p:cNvPr>
            <p:cNvSpPr txBox="1"/>
            <p:nvPr/>
          </p:nvSpPr>
          <p:spPr>
            <a:xfrm>
              <a:off x="6556190" y="3154298"/>
              <a:ext cx="5085977" cy="1692771"/>
            </a:xfrm>
            <a:prstGeom prst="rect">
              <a:avLst/>
            </a:prstGeom>
            <a:noFill/>
          </p:spPr>
          <p:txBody>
            <a:bodyPr wrap="square" rtlCol="0">
              <a:spAutoFit/>
            </a:bodyPr>
            <a:lstStyle/>
            <a:p>
              <a:r>
                <a:rPr lang="en-US" b="1" dirty="0"/>
                <a:t>GNU parallel recipe: </a:t>
              </a:r>
            </a:p>
            <a:p>
              <a:r>
                <a:rPr lang="en-US" u="sng" dirty="0"/>
                <a:t>Ingredients: </a:t>
              </a:r>
            </a:p>
            <a:p>
              <a:pPr marL="285750" indent="-285750">
                <a:buFont typeface="Arial" panose="020B0604020202020204" pitchFamily="34" charset="0"/>
                <a:buChar char="•"/>
              </a:pPr>
              <a:r>
                <a:rPr lang="en-US" dirty="0"/>
                <a:t>A </a:t>
              </a:r>
              <a:r>
                <a:rPr lang="en-US" b="1" dirty="0"/>
                <a:t>list</a:t>
              </a:r>
              <a:r>
                <a:rPr lang="en-US" dirty="0"/>
                <a:t> of inputs (filenames, URLs, sample IDs — one per line in a text file)</a:t>
              </a:r>
            </a:p>
            <a:p>
              <a:pPr marL="285750" indent="-285750">
                <a:buFont typeface="Arial" panose="020B0604020202020204" pitchFamily="34" charset="0"/>
                <a:buChar char="•"/>
              </a:pPr>
              <a:r>
                <a:rPr lang="en-US" dirty="0"/>
                <a:t>A </a:t>
              </a:r>
              <a:r>
                <a:rPr lang="en-US" b="1" dirty="0"/>
                <a:t>command</a:t>
              </a:r>
              <a:r>
                <a:rPr lang="en-US" dirty="0"/>
                <a:t> that works on one input</a:t>
              </a:r>
            </a:p>
            <a:p>
              <a:endPar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endParaRPr>
            </a:p>
          </p:txBody>
        </p:sp>
        <p:sp>
          <p:nvSpPr>
            <p:cNvPr id="24" name="TextBox 23">
              <a:extLst>
                <a:ext uri="{FF2B5EF4-FFF2-40B4-BE49-F238E27FC236}">
                  <a16:creationId xmlns:a16="http://schemas.microsoft.com/office/drawing/2014/main" id="{71B9018F-B700-61DE-97BB-7E4340EE96FE}"/>
                </a:ext>
              </a:extLst>
            </p:cNvPr>
            <p:cNvSpPr txBox="1"/>
            <p:nvPr/>
          </p:nvSpPr>
          <p:spPr>
            <a:xfrm>
              <a:off x="6556190" y="4631765"/>
              <a:ext cx="4661647" cy="1508105"/>
            </a:xfrm>
            <a:prstGeom prst="rect">
              <a:avLst/>
            </a:prstGeom>
            <a:noFill/>
          </p:spPr>
          <p:txBody>
            <a:bodyPr wrap="square" rtlCol="0">
              <a:spAutoFit/>
            </a:bodyPr>
            <a:lstStyle/>
            <a:p>
              <a:r>
                <a:rPr lang="en-US" u="sng" dirty="0">
                  <a:ea typeface="Menlo" panose="020B0609030804020204" pitchFamily="49" charset="0"/>
                  <a:cs typeface="Menlo" panose="020B0609030804020204" pitchFamily="49" charset="0"/>
                </a:rPr>
                <a:t>Steps:</a:t>
              </a:r>
            </a:p>
            <a:p>
              <a:r>
                <a:rPr lang="en-US" dirty="0">
                  <a:ea typeface="Menlo" panose="020B0609030804020204" pitchFamily="49" charset="0"/>
                  <a:cs typeface="Menlo" panose="020B0609030804020204" pitchFamily="49" charset="0"/>
                </a:rPr>
                <a:t>1. Read the list </a:t>
              </a:r>
              <a:r>
                <a:rPr lang="en-US" sz="1400" dirty="0">
                  <a:latin typeface="Menlo" panose="020B0609030804020204" pitchFamily="49" charset="0"/>
                  <a:ea typeface="Menlo" panose="020B0609030804020204" pitchFamily="49" charset="0"/>
                  <a:cs typeface="Menlo" panose="020B0609030804020204" pitchFamily="49" charset="0"/>
                </a:rPr>
                <a:t>(</a:t>
              </a:r>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cat </a:t>
              </a:r>
              <a:r>
                <a:rPr lang="en-US" sz="1400" dirty="0" err="1">
                  <a:solidFill>
                    <a:srgbClr val="7030A0"/>
                  </a:solidFill>
                  <a:latin typeface="Menlo" panose="020B0609030804020204" pitchFamily="49" charset="0"/>
                  <a:ea typeface="Menlo" panose="020B0609030804020204" pitchFamily="49" charset="0"/>
                  <a:cs typeface="Menlo" panose="020B0609030804020204" pitchFamily="49" charset="0"/>
                </a:rPr>
                <a:t>list.txt</a:t>
              </a:r>
              <a:r>
                <a:rPr lang="en-US" sz="1400" dirty="0">
                  <a:latin typeface="Menlo" panose="020B0609030804020204" pitchFamily="49" charset="0"/>
                  <a:ea typeface="Menlo" panose="020B0609030804020204" pitchFamily="49" charset="0"/>
                  <a:cs typeface="Menlo" panose="020B0609030804020204" pitchFamily="49" charset="0"/>
                </a:rPr>
                <a:t>)</a:t>
              </a:r>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 </a:t>
              </a:r>
              <a:endParaRPr lang="en-US" sz="12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endParaRPr>
            </a:p>
            <a:p>
              <a:r>
                <a:rPr lang="en-US" dirty="0">
                  <a:ea typeface="Menlo" panose="020B0609030804020204" pitchFamily="49" charset="0"/>
                  <a:cs typeface="Menlo" panose="020B0609030804020204" pitchFamily="49" charset="0"/>
                </a:rPr>
                <a:t>2. </a:t>
              </a:r>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parallel </a:t>
              </a:r>
              <a:r>
                <a:rPr lang="en-US" dirty="0"/>
                <a:t>runs that </a:t>
              </a:r>
              <a:r>
                <a:rPr lang="en-US" dirty="0">
                  <a:ea typeface="Menlo" panose="020B0609030804020204" pitchFamily="49" charset="0"/>
                  <a:cs typeface="Menlo" panose="020B0609030804020204" pitchFamily="49" charset="0"/>
                </a:rPr>
                <a:t>command</a:t>
              </a:r>
              <a:r>
                <a:rPr lang="en-US" sz="1600" dirty="0">
                  <a:ea typeface="Menlo" panose="020B0609030804020204" pitchFamily="49" charset="0"/>
                  <a:cs typeface="Menlo" panose="020B0609030804020204" pitchFamily="49" charset="0"/>
                </a:rPr>
                <a:t> </a:t>
              </a:r>
              <a:r>
                <a:rPr lang="en-US" sz="12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a:t>
              </a:r>
              <a:r>
                <a:rPr lang="en-US" sz="1400" dirty="0" err="1">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wget</a:t>
              </a:r>
              <a:r>
                <a:rPr lang="en-US" sz="14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a:t>
              </a:r>
              <a:r>
                <a:rPr lang="en-US" dirty="0"/>
                <a:t>on every item in the list, N at a time, using </a:t>
              </a:r>
              <a:r>
                <a:rPr lang="en-US" sz="1400" dirty="0">
                  <a:solidFill>
                    <a:schemeClr val="accent5"/>
                  </a:solidFill>
                  <a:latin typeface="Menlo" panose="020B0609030804020204" pitchFamily="49" charset="0"/>
                  <a:ea typeface="Menlo" panose="020B0609030804020204" pitchFamily="49" charset="0"/>
                  <a:cs typeface="Menlo" panose="020B0609030804020204" pitchFamily="49" charset="0"/>
                </a:rPr>
                <a:t>–j N</a:t>
              </a:r>
            </a:p>
            <a:p>
              <a:endParaRPr lang="en-US" dirty="0"/>
            </a:p>
          </p:txBody>
        </p:sp>
        <p:sp>
          <p:nvSpPr>
            <p:cNvPr id="25" name="Rectangle 24">
              <a:extLst>
                <a:ext uri="{FF2B5EF4-FFF2-40B4-BE49-F238E27FC236}">
                  <a16:creationId xmlns:a16="http://schemas.microsoft.com/office/drawing/2014/main" id="{8F5F74CD-4136-560A-50A1-E0E05197336D}"/>
                </a:ext>
              </a:extLst>
            </p:cNvPr>
            <p:cNvSpPr/>
            <p:nvPr/>
          </p:nvSpPr>
          <p:spPr>
            <a:xfrm>
              <a:off x="6382871" y="3065929"/>
              <a:ext cx="5183094" cy="2970306"/>
            </a:xfrm>
            <a:prstGeom prst="rect">
              <a:avLst/>
            </a:prstGeom>
            <a:no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22338D1E-CBF8-265A-2C12-6C49BE85BC49}"/>
              </a:ext>
            </a:extLst>
          </p:cNvPr>
          <p:cNvSpPr txBox="1"/>
          <p:nvPr/>
        </p:nvSpPr>
        <p:spPr>
          <a:xfrm>
            <a:off x="784751" y="4814214"/>
            <a:ext cx="5074024" cy="646331"/>
          </a:xfrm>
          <a:prstGeom prst="rect">
            <a:avLst/>
          </a:prstGeom>
          <a:solidFill>
            <a:srgbClr val="FF0000">
              <a:alpha val="47843"/>
            </a:srgbClr>
          </a:solidFill>
        </p:spPr>
        <p:txBody>
          <a:bodyPr wrap="square" rtlCol="0">
            <a:spAutoFit/>
          </a:bodyPr>
          <a:lstStyle/>
          <a:p>
            <a:r>
              <a:rPr lang="en-US" dirty="0"/>
              <a:t>Be a good citizen! Keep </a:t>
            </a:r>
            <a:r>
              <a:rPr lang="en-US" sz="1400" dirty="0">
                <a:latin typeface="Menlo" panose="020B0609030804020204" pitchFamily="49" charset="0"/>
                <a:ea typeface="Menlo" panose="020B0609030804020204" pitchFamily="49" charset="0"/>
                <a:cs typeface="Menlo" panose="020B0609030804020204" pitchFamily="49" charset="0"/>
              </a:rPr>
              <a:t>–j N </a:t>
            </a:r>
            <a:r>
              <a:rPr lang="en-US" dirty="0"/>
              <a:t>around 4-8 to avoid overloading the login node</a:t>
            </a:r>
          </a:p>
        </p:txBody>
      </p:sp>
      <p:sp>
        <p:nvSpPr>
          <p:cNvPr id="28" name="TextBox 27">
            <a:extLst>
              <a:ext uri="{FF2B5EF4-FFF2-40B4-BE49-F238E27FC236}">
                <a16:creationId xmlns:a16="http://schemas.microsoft.com/office/drawing/2014/main" id="{B23979E8-7FBA-D036-976F-C6BE89FF0819}"/>
              </a:ext>
            </a:extLst>
          </p:cNvPr>
          <p:cNvSpPr txBox="1"/>
          <p:nvPr/>
        </p:nvSpPr>
        <p:spPr>
          <a:xfrm>
            <a:off x="580315" y="6025975"/>
            <a:ext cx="11355296" cy="738664"/>
          </a:xfrm>
          <a:prstGeom prst="rect">
            <a:avLst/>
          </a:prstGeom>
          <a:noFill/>
        </p:spPr>
        <p:txBody>
          <a:bodyPr wrap="square">
            <a:spAutoFit/>
          </a:bodyPr>
          <a:lstStyle/>
          <a:p>
            <a:r>
              <a:rPr lang="en-US" sz="1400" i="1" dirty="0"/>
              <a:t>PS: The only reason we're using </a:t>
            </a:r>
            <a:r>
              <a:rPr lang="en-US" sz="1400" i="1" dirty="0">
                <a:latin typeface="Courier New" panose="02070309020205020404" pitchFamily="49" charset="0"/>
              </a:rPr>
              <a:t>parallel</a:t>
            </a:r>
            <a:r>
              <a:rPr lang="en-US" sz="1400" i="1" dirty="0"/>
              <a:t> on the login node at all is because </a:t>
            </a:r>
            <a:r>
              <a:rPr lang="en-US" sz="1400" b="1" i="1" dirty="0"/>
              <a:t>downloading is I/O-bound</a:t>
            </a:r>
            <a:r>
              <a:rPr lang="en-US" sz="1400" i="1" dirty="0"/>
              <a:t>. The CPU is mostly idle, so running several downloads simultaneously doesn't burden the shared login node. </a:t>
            </a:r>
            <a:r>
              <a:rPr lang="en-US" sz="1400" b="1" i="1" dirty="0"/>
              <a:t>If your task is CPU-intensive, it belongs in a batch job on a compute node </a:t>
            </a:r>
            <a:r>
              <a:rPr lang="en-US" sz="1400" i="1" dirty="0"/>
              <a:t>— not on the login node with or without </a:t>
            </a:r>
            <a:r>
              <a:rPr lang="en-US" sz="1400" i="1" dirty="0">
                <a:latin typeface="Courier New" panose="02070309020205020404" pitchFamily="49" charset="0"/>
              </a:rPr>
              <a:t>parallel</a:t>
            </a:r>
            <a:r>
              <a:rPr lang="en-US" sz="1400" i="1" dirty="0"/>
              <a:t>.</a:t>
            </a:r>
          </a:p>
        </p:txBody>
      </p:sp>
    </p:spTree>
    <p:extLst>
      <p:ext uri="{BB962C8B-B14F-4D97-AF65-F5344CB8AC3E}">
        <p14:creationId xmlns:p14="http://schemas.microsoft.com/office/powerpoint/2010/main" val="3590005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0F7F9-5493-0008-74A9-38BC2DB17CE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861B58A-3584-2A75-CE4A-BC1665079C8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Try it yourself!</a:t>
            </a:r>
          </a:p>
        </p:txBody>
      </p:sp>
      <p:pic>
        <p:nvPicPr>
          <p:cNvPr id="8" name="Picture 6" descr="coding Symbol mark in filled style 47628836 Vector Art at Vecteezy">
            <a:extLst>
              <a:ext uri="{FF2B5EF4-FFF2-40B4-BE49-F238E27FC236}">
                <a16:creationId xmlns:a16="http://schemas.microsoft.com/office/drawing/2014/main" id="{80925230-2674-741D-DBBC-632AEE001FDB}"/>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4917440" y="626429"/>
            <a:ext cx="904240" cy="9042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9CCC1F4-6203-C286-A20E-2845F594F4DE}"/>
              </a:ext>
            </a:extLst>
          </p:cNvPr>
          <p:cNvPicPr>
            <a:picLocks noChangeAspect="1"/>
          </p:cNvPicPr>
          <p:nvPr/>
        </p:nvPicPr>
        <p:blipFill>
          <a:blip r:embed="rId3"/>
          <a:stretch>
            <a:fillRect/>
          </a:stretch>
        </p:blipFill>
        <p:spPr>
          <a:xfrm>
            <a:off x="1149530" y="2258423"/>
            <a:ext cx="5606143" cy="4411585"/>
          </a:xfrm>
          <a:prstGeom prst="rect">
            <a:avLst/>
          </a:prstGeom>
        </p:spPr>
      </p:pic>
      <p:sp>
        <p:nvSpPr>
          <p:cNvPr id="9" name="TextBox 8">
            <a:extLst>
              <a:ext uri="{FF2B5EF4-FFF2-40B4-BE49-F238E27FC236}">
                <a16:creationId xmlns:a16="http://schemas.microsoft.com/office/drawing/2014/main" id="{1856591B-0AAD-B0E7-2BBA-79D1ADD5C380}"/>
              </a:ext>
            </a:extLst>
          </p:cNvPr>
          <p:cNvSpPr txBox="1"/>
          <p:nvPr/>
        </p:nvSpPr>
        <p:spPr>
          <a:xfrm>
            <a:off x="1149530" y="1843088"/>
            <a:ext cx="3337773" cy="369332"/>
          </a:xfrm>
          <a:prstGeom prst="rect">
            <a:avLst/>
          </a:prstGeom>
          <a:noFill/>
        </p:spPr>
        <p:txBody>
          <a:bodyPr wrap="none" rtlCol="0">
            <a:spAutoFit/>
          </a:bodyPr>
          <a:lstStyle/>
          <a:p>
            <a:r>
              <a:rPr lang="en-US" dirty="0"/>
              <a:t>Examples on the documentation: </a:t>
            </a:r>
          </a:p>
        </p:txBody>
      </p:sp>
      <p:sp>
        <p:nvSpPr>
          <p:cNvPr id="2" name="5-Point Star 1">
            <a:extLst>
              <a:ext uri="{FF2B5EF4-FFF2-40B4-BE49-F238E27FC236}">
                <a16:creationId xmlns:a16="http://schemas.microsoft.com/office/drawing/2014/main" id="{9EDE85D6-96A6-E25A-D1E0-10003BE96645}"/>
              </a:ext>
            </a:extLst>
          </p:cNvPr>
          <p:cNvSpPr/>
          <p:nvPr/>
        </p:nvSpPr>
        <p:spPr>
          <a:xfrm>
            <a:off x="2102069" y="126124"/>
            <a:ext cx="8019393" cy="6117021"/>
          </a:xfrm>
          <a:prstGeom prst="star5">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08640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1482</Words>
  <Application>Microsoft Macintosh PowerPoint</Application>
  <PresentationFormat>Widescreen</PresentationFormat>
  <Paragraphs>187</Paragraphs>
  <Slides>16</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vt:i4>
      </vt:variant>
    </vt:vector>
  </HeadingPairs>
  <TitlesOfParts>
    <vt:vector size="28" baseType="lpstr">
      <vt:lpstr>Arial</vt:lpstr>
      <vt:lpstr>Calibri</vt:lpstr>
      <vt:lpstr>Calibri Light</vt:lpstr>
      <vt:lpstr>Courier New</vt:lpstr>
      <vt:lpstr>Google Sans Text</vt:lpstr>
      <vt:lpstr>Helvetica</vt:lpstr>
      <vt:lpstr>Helvetica Light</vt:lpstr>
      <vt:lpstr>Menlo</vt:lpstr>
      <vt:lpstr>SFMono-Regular</vt:lpstr>
      <vt:lpstr>Source Sans Pro</vt:lpstr>
      <vt:lpstr>Wingdings</vt:lpstr>
      <vt:lpstr>Office Theme</vt:lpstr>
      <vt:lpstr>BRC workshops: Hazel HPC</vt:lpstr>
      <vt:lpstr>Workshop Structure</vt:lpstr>
      <vt:lpstr>Leave us your feedback!</vt:lpstr>
      <vt:lpstr>PowerPoint Presentation</vt:lpstr>
      <vt:lpstr>Job performance analysis: why?</vt:lpstr>
      <vt:lpstr>Job performance analysis: how?</vt:lpstr>
      <vt:lpstr>Actual vs Requested Resources</vt:lpstr>
      <vt:lpstr>Actual vs Requested Resources</vt:lpstr>
      <vt:lpstr>Actual vs Requested Resources</vt:lpstr>
      <vt:lpstr>PowerPoint Presentation</vt:lpstr>
      <vt:lpstr>PowerPoint Presentation</vt:lpstr>
      <vt:lpstr>The login node issue</vt:lpstr>
      <vt:lpstr>The login node issue</vt:lpstr>
      <vt:lpstr>GNU parallel</vt:lpstr>
      <vt:lpstr>GNU parallel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Touceda Suarez</dc:creator>
  <cp:lastModifiedBy>Maria Touceda Suarez</cp:lastModifiedBy>
  <cp:revision>8</cp:revision>
  <dcterms:created xsi:type="dcterms:W3CDTF">2026-04-15T16:02:32Z</dcterms:created>
  <dcterms:modified xsi:type="dcterms:W3CDTF">2026-05-12T20:41:33Z</dcterms:modified>
</cp:coreProperties>
</file>