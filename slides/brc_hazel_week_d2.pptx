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301" r:id="rId3"/>
    <p:sldId id="258" r:id="rId4"/>
    <p:sldId id="260" r:id="rId5"/>
    <p:sldId id="302" r:id="rId6"/>
    <p:sldId id="303" r:id="rId7"/>
    <p:sldId id="304" r:id="rId8"/>
    <p:sldId id="305" r:id="rId9"/>
    <p:sldId id="306" r:id="rId10"/>
    <p:sldId id="309" r:id="rId11"/>
    <p:sldId id="307" r:id="rId12"/>
    <p:sldId id="308" r:id="rId13"/>
    <p:sldId id="310" r:id="rId14"/>
    <p:sldId id="313" r:id="rId15"/>
    <p:sldId id="311" r:id="rId16"/>
    <p:sldId id="315" r:id="rId17"/>
    <p:sldId id="3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720"/>
  </p:normalViewPr>
  <p:slideViewPr>
    <p:cSldViewPr snapToGrid="0">
      <p:cViewPr varScale="1">
        <p:scale>
          <a:sx n="204" d="100"/>
          <a:sy n="204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47101-66C8-A54A-9D2B-0AF79B0A048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1733C-C1A1-7049-B8EF-84C8724A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7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8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AF4C0-DD1B-6740-9FFD-46673328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3E777-BBCF-629D-AC55-F6674F353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9816-EB37-A57F-92DD-242482ACF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7255-457B-BA48-4E4D-A7D6A9C08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8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621B-7097-B21D-F3B1-DF374087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C1183-7574-026D-977F-F2CD6544F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BBA95-E424-9998-F01F-5352FBA9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2F26F-DF62-2BAB-1D0E-3846BE84B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69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EE5B-05D9-AA35-D975-B75683FD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3CEAC-CEC3-320A-2BDA-D716F77E6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C3CDD-8ED3-5E00-3943-47171AEE4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1F2E0-7E0E-DC4F-57AB-0DBC36F2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1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E2CA-BAC7-5A71-35AA-78D5394AC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C6957-F46D-26F2-13DC-C5CF54389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2B76B-705B-FE94-2C99-2DD66A81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2000-9289-079B-480C-5A916F06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EE972-97BD-9FC1-9DAD-3EC112C7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2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A0C0-33C3-4E84-196A-F7F7B43E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2711-D0F8-0D44-A23D-06CD5EBA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0054-8FC9-B61E-EC4E-D7AEB81D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C849-77A0-F094-50AB-C6800070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79C99-F5C6-4EA2-8468-3BBC73D1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E3DE-A72D-7F8A-4E24-E224F1C1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C33B8-3282-762E-FAC3-BA8ABDDC2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78F01-67CB-26E7-2B27-EC5CB977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A3EDE-592D-C66C-B668-A9A1007D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30312-E4F3-ACD4-E1A5-34D4ACCC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2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83C7-02DA-AAD8-F814-25026CD7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B6D4-48C1-947B-53AF-65E16591D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6176E-542A-2645-61D8-916F0744A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5CF0A-B0C7-69AA-716F-A37DC59A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E1F65-4626-FBEA-B71E-9A286171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8DC5-07A5-43C5-3165-708C239C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5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35BF-79DB-04D4-0F7B-FD041130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D41A-B8B6-2002-D4A1-DD41A54B1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60505-652E-4276-5FDF-6C71DB797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FAE6E-8B9A-1880-17BD-2A1F5FA4E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0C699-5CF5-FEA6-6CCE-F0A02FA8B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97BF4-2CE2-BC33-26AC-0B765943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19818-E8A7-1B0E-4D41-66AE4FE0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B9990-5AC9-E92A-B3D1-D79C51D7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8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6E8B-6884-2D87-917F-F318E3EB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E9C4C-886D-4554-372C-FF019B7B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F07C9-AC01-64F2-9770-1AD11C05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16E1F-8C4D-B725-F426-433EB5DF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3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9C314-7563-72CB-E6EB-59F2DBD2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34162-08DC-F0B4-43CF-BF6CCE4A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B174E-9C68-0D92-624D-E139E9F0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2427-49FE-01DA-9741-C23A78A5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8825-17F8-FA37-CF43-08CBCE0E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702C1-7178-0BBD-E93D-79686F6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6982-4155-66F3-3442-76F9587B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4467E-39A0-5238-6865-5D7966A2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BDE84-47DF-9C03-9C87-240D0C1C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E091-7FC8-1327-5E50-E15FF76F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D62FD-9290-2A0B-5686-BCF839F13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1E31E-1D4B-AF44-009E-1629EB3CF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0AC68-1614-165C-EA3C-556E95C1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376A9-2A26-225B-CBF7-BC0F42A0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BEB3B-6E28-FA9F-92D9-FE67D46F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7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D14C-51B2-E6D8-C132-E097474F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04DFD-6EAB-1510-06B7-792CADBFF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97C7D-03A9-872A-3B4C-95CFF4B3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8C246-549C-9CAC-FE3D-81B7178C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43A6A-F0F6-6A6A-7DC8-AD639026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9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D5D08-065B-5A00-3BE8-FA541AFA5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B88CB-0BDE-C80D-19D2-390F2C5DB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1C366-BAA7-65D2-CB5E-077A67D3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E3EA6-7B2A-429F-8154-81FA7776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95509-E86A-B0C8-C625-9FD48392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6EB53-7589-8F11-8320-8C4B548A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74AD0-9D3B-408C-78E8-364106F33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F4FA5-293C-6A98-2697-533A233F6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E0448-3326-0648-9066-77767DB75E62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A01D-A816-6314-7663-06EC9BFC3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7154B-D8C1-2217-789C-7B9DEE114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2E17C-F75B-1D44-8C69-D3E14FBE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1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67C0-23A6-8F2C-1689-D8BD4A649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446" y="-317832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" pitchFamily="2" charset="0"/>
              </a:rPr>
              <a:t>BRC workshops: Hazel HPC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75B53-3C78-14C7-0A86-007CDFBEE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304" y="5083907"/>
            <a:ext cx="4571707" cy="1655762"/>
          </a:xfrm>
        </p:spPr>
        <p:txBody>
          <a:bodyPr/>
          <a:lstStyle/>
          <a:p>
            <a:pPr algn="l"/>
            <a:r>
              <a:rPr lang="en-US" sz="1800" dirty="0">
                <a:latin typeface="Helvetica" pitchFamily="2" charset="0"/>
              </a:rPr>
              <a:t>María (Mery) Touceda-Suárez, PhD</a:t>
            </a:r>
          </a:p>
          <a:p>
            <a:pPr algn="l"/>
            <a:r>
              <a:rPr lang="en-US" sz="1800" dirty="0">
                <a:latin typeface="Helvetica" pitchFamily="2" charset="0"/>
              </a:rPr>
              <a:t>Bonnie Hurwitz, PhD</a:t>
            </a:r>
          </a:p>
          <a:p>
            <a:pPr algn="l"/>
            <a:r>
              <a:rPr lang="en-US" sz="1800" dirty="0">
                <a:latin typeface="Helvetica" pitchFamily="2" charset="0"/>
              </a:rPr>
              <a:t>February 4</a:t>
            </a:r>
            <a:r>
              <a:rPr lang="en-US" sz="1800" baseline="30000" dirty="0">
                <a:latin typeface="Helvetica" pitchFamily="2" charset="0"/>
              </a:rPr>
              <a:t>th</a:t>
            </a:r>
            <a:r>
              <a:rPr lang="en-US" sz="1800" dirty="0">
                <a:latin typeface="Helvetica" pitchFamily="2" charset="0"/>
              </a:rPr>
              <a:t> 2025</a:t>
            </a:r>
          </a:p>
          <a:p>
            <a:pPr algn="l"/>
            <a:endParaRPr lang="en-US" sz="1800" dirty="0">
              <a:latin typeface="Helvetica" pitchFamily="2" charset="0"/>
            </a:endParaRPr>
          </a:p>
          <a:p>
            <a:pPr algn="l"/>
            <a:endParaRPr lang="en-US" dirty="0">
              <a:latin typeface="Helvetic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7AC2D-444B-731B-DFF6-6109D5E9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04" y="1083584"/>
            <a:ext cx="990499" cy="986184"/>
          </a:xfrm>
          <a:prstGeom prst="rect">
            <a:avLst/>
          </a:prstGeom>
        </p:spPr>
      </p:pic>
      <p:pic>
        <p:nvPicPr>
          <p:cNvPr id="1028" name="Picture 4" descr="MareNostrum | BSC-CNS">
            <a:extLst>
              <a:ext uri="{FF2B5EF4-FFF2-40B4-BE49-F238E27FC236}">
                <a16:creationId xmlns:a16="http://schemas.microsoft.com/office/drawing/2014/main" id="{EF184E16-8F51-53FC-F99E-1F365F6BB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0" y="2331378"/>
            <a:ext cx="5682192" cy="378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184E01-97E4-E0D9-7385-12F68039586B}"/>
              </a:ext>
            </a:extLst>
          </p:cNvPr>
          <p:cNvSpPr txBox="1"/>
          <p:nvPr/>
        </p:nvSpPr>
        <p:spPr>
          <a:xfrm>
            <a:off x="8591678" y="6113669"/>
            <a:ext cx="27991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Mare Nostrum supercomputer, Barcelona</a:t>
            </a:r>
          </a:p>
        </p:txBody>
      </p:sp>
    </p:spTree>
    <p:extLst>
      <p:ext uri="{BB962C8B-B14F-4D97-AF65-F5344CB8AC3E}">
        <p14:creationId xmlns:p14="http://schemas.microsoft.com/office/powerpoint/2010/main" val="131575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9598-BD4D-70E9-70C2-7215FDC0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D083-096E-849D-8015-B191ED5D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Leave us your feedback!</a:t>
            </a:r>
          </a:p>
        </p:txBody>
      </p:sp>
      <p:pic>
        <p:nvPicPr>
          <p:cNvPr id="2050" name="Picture 2" descr="Suggestion - Free communications icons">
            <a:extLst>
              <a:ext uri="{FF2B5EF4-FFF2-40B4-BE49-F238E27FC236}">
                <a16:creationId xmlns:a16="http://schemas.microsoft.com/office/drawing/2014/main" id="{5020596A-D3B5-18D2-1D37-3B88E5CD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760" y="1866375"/>
            <a:ext cx="611909" cy="61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C98279-5765-9BFA-2B15-04A8FEDAA130}"/>
              </a:ext>
            </a:extLst>
          </p:cNvPr>
          <p:cNvSpPr txBox="1"/>
          <p:nvPr/>
        </p:nvSpPr>
        <p:spPr>
          <a:xfrm>
            <a:off x="1794669" y="2206232"/>
            <a:ext cx="65915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Please let us know if you have suggestions!</a:t>
            </a:r>
          </a:p>
          <a:p>
            <a:endParaRPr lang="en-US" dirty="0">
              <a:latin typeface="Helvetica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Helvetica" pitchFamily="2" charset="0"/>
              </a:rPr>
              <a:t>What did you like about this workshop?</a:t>
            </a:r>
          </a:p>
          <a:p>
            <a:pPr marL="342900" indent="-342900">
              <a:buAutoNum type="arabicPeriod"/>
            </a:pPr>
            <a:r>
              <a:rPr lang="en-US" dirty="0">
                <a:latin typeface="Helvetica" pitchFamily="2" charset="0"/>
              </a:rPr>
              <a:t>What could be improved?</a:t>
            </a:r>
          </a:p>
          <a:p>
            <a:pPr marL="342900" indent="-342900">
              <a:buAutoNum type="arabicPeriod"/>
            </a:pPr>
            <a:r>
              <a:rPr lang="en-US" dirty="0">
                <a:latin typeface="Helvetica" pitchFamily="2" charset="0"/>
              </a:rPr>
              <a:t>Any suggestions for the following sessions (i.e. change in order, other topics, special interests)</a:t>
            </a:r>
          </a:p>
        </p:txBody>
      </p:sp>
      <p:pic>
        <p:nvPicPr>
          <p:cNvPr id="5122" name="Picture 2" descr="Pen Icon Graphic by rudezstudio · Creative Fabrica">
            <a:extLst>
              <a:ext uri="{FF2B5EF4-FFF2-40B4-BE49-F238E27FC236}">
                <a16:creationId xmlns:a16="http://schemas.microsoft.com/office/drawing/2014/main" id="{0DEEB3E2-D200-94F1-EB2C-1F94DD52C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365" y="340845"/>
            <a:ext cx="1576712" cy="104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43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88E0-0485-9661-4A27-6423D1D9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Workshop 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C10CA1-46F0-A2BF-0272-C7AE93EE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93227"/>
              </p:ext>
            </p:extLst>
          </p:nvPr>
        </p:nvGraphicFramePr>
        <p:xfrm>
          <a:off x="838200" y="1647725"/>
          <a:ext cx="10366169" cy="46181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455">
                  <a:extLst>
                    <a:ext uri="{9D8B030D-6E8A-4147-A177-3AD203B41FA5}">
                      <a16:colId xmlns:a16="http://schemas.microsoft.com/office/drawing/2014/main" val="3588077064"/>
                    </a:ext>
                  </a:extLst>
                </a:gridCol>
                <a:gridCol w="1553775">
                  <a:extLst>
                    <a:ext uri="{9D8B030D-6E8A-4147-A177-3AD203B41FA5}">
                      <a16:colId xmlns:a16="http://schemas.microsoft.com/office/drawing/2014/main" val="2921729674"/>
                    </a:ext>
                  </a:extLst>
                </a:gridCol>
                <a:gridCol w="1494395">
                  <a:extLst>
                    <a:ext uri="{9D8B030D-6E8A-4147-A177-3AD203B41FA5}">
                      <a16:colId xmlns:a16="http://schemas.microsoft.com/office/drawing/2014/main" val="3051897964"/>
                    </a:ext>
                  </a:extLst>
                </a:gridCol>
                <a:gridCol w="1393727">
                  <a:extLst>
                    <a:ext uri="{9D8B030D-6E8A-4147-A177-3AD203B41FA5}">
                      <a16:colId xmlns:a16="http://schemas.microsoft.com/office/drawing/2014/main" val="2317395656"/>
                    </a:ext>
                  </a:extLst>
                </a:gridCol>
                <a:gridCol w="1393727">
                  <a:extLst>
                    <a:ext uri="{9D8B030D-6E8A-4147-A177-3AD203B41FA5}">
                      <a16:colId xmlns:a16="http://schemas.microsoft.com/office/drawing/2014/main" val="4058881113"/>
                    </a:ext>
                  </a:extLst>
                </a:gridCol>
                <a:gridCol w="1467082">
                  <a:extLst>
                    <a:ext uri="{9D8B030D-6E8A-4147-A177-3AD203B41FA5}">
                      <a16:colId xmlns:a16="http://schemas.microsoft.com/office/drawing/2014/main" val="1121361333"/>
                    </a:ext>
                  </a:extLst>
                </a:gridCol>
                <a:gridCol w="1463008">
                  <a:extLst>
                    <a:ext uri="{9D8B030D-6E8A-4147-A177-3AD203B41FA5}">
                      <a16:colId xmlns:a16="http://schemas.microsoft.com/office/drawing/2014/main" val="3820744059"/>
                    </a:ext>
                  </a:extLst>
                </a:gridCol>
              </a:tblGrid>
              <a:tr h="27738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Day 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Day 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Day 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Day 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61491"/>
                  </a:ext>
                </a:extLst>
              </a:tr>
              <a:tr h="88890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1. HPC fundamentals &amp; Introduction to Hazel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2. Running jobs on Hazel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3. Submitting job arrays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4. Job performance analysis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5. Login node scripts with GNU parallel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6. Software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Helvetica" pitchFamily="2" charset="0"/>
                        </a:rPr>
                        <a:t>7. Data management + Globus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70096"/>
                  </a:ext>
                </a:extLst>
              </a:tr>
              <a:tr h="340271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Understand Core HPC Concepts (CPU/GPU, Node/Core)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Navigate the Hazel HPC Environment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Get started with obtaining a HPC account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Learning ways to transfer files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latin typeface="Helvetica" pitchFamily="2" charset="0"/>
                        </a:rPr>
                        <a:t>Bonus! Basics of Unix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Understand LSF job submission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Running an interactive job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Create a first job script and submit it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 some commands to monitor your jobs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Understand the use cases for job arrays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 about the computation behind job arrays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Create the scripts needed to submit a job array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Create a job array and submit it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 how to estimate job requirements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Analyze the performance of a job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latin typeface="Helvetica" pitchFamily="2" charset="0"/>
                        </a:rPr>
                        <a:t>Perform basic scaling analysis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Understand how to run processes in the login node without causing issues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 about GNU parallel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Run two examples on data downloading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Introduction to modules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Introduction to virtual environments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Introduction to containers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Learn how to load software using modules, </a:t>
                      </a:r>
                      <a:r>
                        <a:rPr lang="en-US" sz="1050" dirty="0" err="1">
                          <a:latin typeface="Helvetica" pitchFamily="2" charset="0"/>
                        </a:rPr>
                        <a:t>conda</a:t>
                      </a:r>
                      <a:r>
                        <a:rPr lang="en-US" sz="1050" dirty="0">
                          <a:latin typeface="Helvetica" pitchFamily="2" charset="0"/>
                        </a:rPr>
                        <a:t>, containers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>
                          <a:latin typeface="Helvetica" pitchFamily="2" charset="0"/>
                        </a:rPr>
                        <a:t>Manage data across the Hazel storage system.</a:t>
                      </a:r>
                    </a:p>
                    <a:p>
                      <a:r>
                        <a:rPr lang="en-US" sz="1050" dirty="0">
                          <a:latin typeface="Helvetica" pitchFamily="2" charset="0"/>
                        </a:rPr>
                        <a:t>Know when and how to use: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Research Storage (RS1)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 err="1">
                          <a:latin typeface="Helvetica" pitchFamily="2" charset="0"/>
                        </a:rPr>
                        <a:t>Usrapps</a:t>
                      </a:r>
                      <a:endParaRPr lang="en-US" sz="105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Scratch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How to mount your RS1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1050" dirty="0">
                        <a:latin typeface="Helvetica" pitchFamily="2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050" dirty="0">
                          <a:latin typeface="Helvetica" pitchFamily="2" charset="0"/>
                        </a:rPr>
                        <a:t>Globus: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Understand endpoints and transfers.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Create a local and Google Drive endpoint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Helvetica" pitchFamily="2" charset="0"/>
                        </a:rPr>
                        <a:t>Perform transfers with HPC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8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3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E632-1B08-6D8A-3A25-87625934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ray Jobs - UArizona HPC Documentation">
            <a:extLst>
              <a:ext uri="{FF2B5EF4-FFF2-40B4-BE49-F238E27FC236}">
                <a16:creationId xmlns:a16="http://schemas.microsoft.com/office/drawing/2014/main" id="{43646B67-489A-FD3A-3507-BCEF65131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320" y="3017059"/>
            <a:ext cx="5102431" cy="136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EDBFA83-B7A1-3974-0E7E-4C0F70E71604}"/>
              </a:ext>
            </a:extLst>
          </p:cNvPr>
          <p:cNvSpPr txBox="1">
            <a:spLocks/>
          </p:cNvSpPr>
          <p:nvPr/>
        </p:nvSpPr>
        <p:spPr>
          <a:xfrm>
            <a:off x="1646320" y="208910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Helvetica" pitchFamily="2" charset="0"/>
              </a:rPr>
              <a:t>3. Submitting job arrays</a:t>
            </a:r>
          </a:p>
        </p:txBody>
      </p:sp>
    </p:spTree>
    <p:extLst>
      <p:ext uri="{BB962C8B-B14F-4D97-AF65-F5344CB8AC3E}">
        <p14:creationId xmlns:p14="http://schemas.microsoft.com/office/powerpoint/2010/main" val="72282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7A39-14D5-CD97-D849-BC44B7BE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747ADC6-EB19-DADB-F106-675801546912}"/>
              </a:ext>
            </a:extLst>
          </p:cNvPr>
          <p:cNvGrpSpPr/>
          <p:nvPr/>
        </p:nvGrpSpPr>
        <p:grpSpPr>
          <a:xfrm>
            <a:off x="5639126" y="4164698"/>
            <a:ext cx="1508676" cy="2024967"/>
            <a:chOff x="5589645" y="4055423"/>
            <a:chExt cx="1508676" cy="202496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C3264C-57FF-FC37-A96C-FF547CBBF32D}"/>
                </a:ext>
              </a:extLst>
            </p:cNvPr>
            <p:cNvSpPr/>
            <p:nvPr/>
          </p:nvSpPr>
          <p:spPr>
            <a:xfrm>
              <a:off x="5589645" y="4055423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0F3E87-535C-54F7-1AAA-6919EC102400}"/>
                </a:ext>
              </a:extLst>
            </p:cNvPr>
            <p:cNvSpPr/>
            <p:nvPr/>
          </p:nvSpPr>
          <p:spPr>
            <a:xfrm>
              <a:off x="5589645" y="4400674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8D11F0-3A5E-FBA3-95CF-AF54A1E77727}"/>
                </a:ext>
              </a:extLst>
            </p:cNvPr>
            <p:cNvSpPr/>
            <p:nvPr/>
          </p:nvSpPr>
          <p:spPr>
            <a:xfrm>
              <a:off x="5589645" y="4739434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B768E9-820B-DA63-418B-9653EFA430B2}"/>
                </a:ext>
              </a:extLst>
            </p:cNvPr>
            <p:cNvSpPr/>
            <p:nvPr/>
          </p:nvSpPr>
          <p:spPr>
            <a:xfrm>
              <a:off x="5589645" y="5084685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EBD33B-AE84-58C2-19B7-70A70FDE5383}"/>
                </a:ext>
              </a:extLst>
            </p:cNvPr>
            <p:cNvSpPr/>
            <p:nvPr/>
          </p:nvSpPr>
          <p:spPr>
            <a:xfrm>
              <a:off x="5589645" y="5429936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3B4A26-FF60-640C-FCF5-315EF98BFA92}"/>
                </a:ext>
              </a:extLst>
            </p:cNvPr>
            <p:cNvSpPr txBox="1"/>
            <p:nvPr/>
          </p:nvSpPr>
          <p:spPr>
            <a:xfrm>
              <a:off x="5607968" y="571105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B7ABB1-C8BC-FAC4-AC79-DF8A3D34BE2A}"/>
                </a:ext>
              </a:extLst>
            </p:cNvPr>
            <p:cNvSpPr/>
            <p:nvPr/>
          </p:nvSpPr>
          <p:spPr>
            <a:xfrm>
              <a:off x="6718311" y="4694396"/>
              <a:ext cx="380010" cy="28467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7A1892C-2154-10B8-7FA4-23A61A2E616E}"/>
                </a:ext>
              </a:extLst>
            </p:cNvPr>
            <p:cNvCxnSpPr/>
            <p:nvPr/>
          </p:nvCxnSpPr>
          <p:spPr>
            <a:xfrm>
              <a:off x="6096000" y="4197762"/>
              <a:ext cx="471314" cy="34525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6F10DA6-16D6-2F71-3CF6-119F8264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053409" y="4530807"/>
              <a:ext cx="513905" cy="23053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F524E8B-DDF9-CAE9-C127-F35991E83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869" y="4876058"/>
              <a:ext cx="489445" cy="1455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9F47F1E-65AA-9009-3878-5D2BF278B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409" y="4992226"/>
              <a:ext cx="513905" cy="23479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9B7DDA6-4B32-BB1B-7078-71D69436F5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5638" y="5094390"/>
              <a:ext cx="554367" cy="45546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25691B-D716-1196-800B-1CC03287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Scaling up: embarrassingly parallel</a:t>
            </a:r>
          </a:p>
        </p:txBody>
      </p:sp>
      <p:pic>
        <p:nvPicPr>
          <p:cNvPr id="3" name="Picture 2" descr="What Is HPC? - UArizona HPC Documentation">
            <a:extLst>
              <a:ext uri="{FF2B5EF4-FFF2-40B4-BE49-F238E27FC236}">
                <a16:creationId xmlns:a16="http://schemas.microsoft.com/office/drawing/2014/main" id="{9DE8A567-5F85-3D3A-CF37-7406FFA53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0" y="1694962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FBBF53-1B51-F30B-19B2-095D3A011920}"/>
              </a:ext>
            </a:extLst>
          </p:cNvPr>
          <p:cNvSpPr txBox="1"/>
          <p:nvPr/>
        </p:nvSpPr>
        <p:spPr>
          <a:xfrm>
            <a:off x="1846180" y="3610098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sample: 1 job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B8675-D668-E564-4F2A-C0A47F920748}"/>
              </a:ext>
            </a:extLst>
          </p:cNvPr>
          <p:cNvSpPr txBox="1"/>
          <p:nvPr/>
        </p:nvSpPr>
        <p:spPr>
          <a:xfrm>
            <a:off x="5406580" y="3610098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 samples: 1 job  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6692F-ECD7-8AA1-7124-487D0FBDB4E8}"/>
              </a:ext>
            </a:extLst>
          </p:cNvPr>
          <p:cNvSpPr txBox="1"/>
          <p:nvPr/>
        </p:nvSpPr>
        <p:spPr>
          <a:xfrm>
            <a:off x="7797403" y="3656264"/>
            <a:ext cx="3996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for sample in ${cat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samples.txt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; do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FCBEE-B059-692E-0564-C3D3AF0B33F2}"/>
              </a:ext>
            </a:extLst>
          </p:cNvPr>
          <p:cNvSpPr/>
          <p:nvPr/>
        </p:nvSpPr>
        <p:spPr>
          <a:xfrm>
            <a:off x="1799112" y="4055423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295F15-CEB4-4FEC-3015-87463A110558}"/>
              </a:ext>
            </a:extLst>
          </p:cNvPr>
          <p:cNvSpPr/>
          <p:nvPr/>
        </p:nvSpPr>
        <p:spPr>
          <a:xfrm>
            <a:off x="2996540" y="4055423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DFFF1B2E-0410-41AA-2BD2-689DD1B1E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6737" y="4046942"/>
            <a:ext cx="425571" cy="425571"/>
          </a:xfrm>
          <a:prstGeom prst="rect">
            <a:avLst/>
          </a:prstGeom>
        </p:spPr>
      </p:pic>
      <p:pic>
        <p:nvPicPr>
          <p:cNvPr id="21" name="Picture 20" descr="What Is HPC? - UArizona HPC Documentation">
            <a:extLst>
              <a:ext uri="{FF2B5EF4-FFF2-40B4-BE49-F238E27FC236}">
                <a16:creationId xmlns:a16="http://schemas.microsoft.com/office/drawing/2014/main" id="{68A3B005-1ED3-725F-4490-A49B1F01C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725" y="1748563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B8CC96-231E-1E31-C3F3-7039DB723B8C}"/>
              </a:ext>
            </a:extLst>
          </p:cNvPr>
          <p:cNvSpPr txBox="1"/>
          <p:nvPr/>
        </p:nvSpPr>
        <p:spPr>
          <a:xfrm>
            <a:off x="5595821" y="4458853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[R]</a:t>
            </a: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60461FC1-1875-EAD5-8E00-D3CE3A5DE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5693" y="4402614"/>
            <a:ext cx="425571" cy="42557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1C3996-43B7-0203-EA20-9C2E2E12567F}"/>
              </a:ext>
            </a:extLst>
          </p:cNvPr>
          <p:cNvSpPr txBox="1"/>
          <p:nvPr/>
        </p:nvSpPr>
        <p:spPr>
          <a:xfrm>
            <a:off x="5594777" y="4814525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[R]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FB2B1DE-9903-7F03-A564-64AA00089253}"/>
              </a:ext>
            </a:extLst>
          </p:cNvPr>
          <p:cNvCxnSpPr>
            <a:cxnSpLocks/>
          </p:cNvCxnSpPr>
          <p:nvPr/>
        </p:nvCxnSpPr>
        <p:spPr>
          <a:xfrm>
            <a:off x="2350460" y="4197762"/>
            <a:ext cx="49461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C376FD2-F452-EBC8-0397-60B66EE6A923}"/>
              </a:ext>
            </a:extLst>
          </p:cNvPr>
          <p:cNvSpPr/>
          <p:nvPr/>
        </p:nvSpPr>
        <p:spPr>
          <a:xfrm>
            <a:off x="5594777" y="4369979"/>
            <a:ext cx="1452527" cy="112686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inefficient</a:t>
            </a:r>
          </a:p>
        </p:txBody>
      </p:sp>
    </p:spTree>
    <p:extLst>
      <p:ext uri="{BB962C8B-B14F-4D97-AF65-F5344CB8AC3E}">
        <p14:creationId xmlns:p14="http://schemas.microsoft.com/office/powerpoint/2010/main" val="374766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2" grpId="0"/>
      <p:bldP spid="22" grpId="1"/>
      <p:bldP spid="37" grpId="0"/>
      <p:bldP spid="37" grpId="2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8774-A050-5D9A-D4D2-BFDD04B5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F8594C-09EE-8A8B-DBFB-9E0648799F13}"/>
              </a:ext>
            </a:extLst>
          </p:cNvPr>
          <p:cNvSpPr/>
          <p:nvPr/>
        </p:nvSpPr>
        <p:spPr>
          <a:xfrm>
            <a:off x="5981636" y="4186806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82C3DA-5734-7429-3B19-4B45E467DC7A}"/>
              </a:ext>
            </a:extLst>
          </p:cNvPr>
          <p:cNvSpPr/>
          <p:nvPr/>
        </p:nvSpPr>
        <p:spPr>
          <a:xfrm>
            <a:off x="5981636" y="4562475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C89E-6CA2-808A-8C5A-254E1D61EAE6}"/>
              </a:ext>
            </a:extLst>
          </p:cNvPr>
          <p:cNvSpPr/>
          <p:nvPr/>
        </p:nvSpPr>
        <p:spPr>
          <a:xfrm>
            <a:off x="5981636" y="4921131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ADB40-4C1A-7393-D9C5-2C71ADA7E6D6}"/>
              </a:ext>
            </a:extLst>
          </p:cNvPr>
          <p:cNvSpPr/>
          <p:nvPr/>
        </p:nvSpPr>
        <p:spPr>
          <a:xfrm>
            <a:off x="5981636" y="5275184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3A047-4E80-C9D1-76F9-83DA45B934E1}"/>
              </a:ext>
            </a:extLst>
          </p:cNvPr>
          <p:cNvSpPr/>
          <p:nvPr/>
        </p:nvSpPr>
        <p:spPr>
          <a:xfrm>
            <a:off x="5981636" y="5622632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0CCF3-8057-D2F5-7C5E-5008FD779336}"/>
              </a:ext>
            </a:extLst>
          </p:cNvPr>
          <p:cNvSpPr txBox="1"/>
          <p:nvPr/>
        </p:nvSpPr>
        <p:spPr>
          <a:xfrm>
            <a:off x="5999959" y="59282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474E9C-1E54-A017-AC9D-478060F41AFB}"/>
              </a:ext>
            </a:extLst>
          </p:cNvPr>
          <p:cNvSpPr/>
          <p:nvPr/>
        </p:nvSpPr>
        <p:spPr>
          <a:xfrm>
            <a:off x="7119102" y="4186806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84D7B0-181A-8F11-4CCA-8CCBCF49B710}"/>
              </a:ext>
            </a:extLst>
          </p:cNvPr>
          <p:cNvCxnSpPr>
            <a:cxnSpLocks/>
          </p:cNvCxnSpPr>
          <p:nvPr/>
        </p:nvCxnSpPr>
        <p:spPr>
          <a:xfrm flipV="1">
            <a:off x="6447129" y="4328769"/>
            <a:ext cx="554918" cy="75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0E460B-5277-F82C-0655-6DC7FC7A2FF7}"/>
              </a:ext>
            </a:extLst>
          </p:cNvPr>
          <p:cNvCxnSpPr>
            <a:cxnSpLocks/>
          </p:cNvCxnSpPr>
          <p:nvPr/>
        </p:nvCxnSpPr>
        <p:spPr>
          <a:xfrm>
            <a:off x="6445400" y="4704814"/>
            <a:ext cx="55664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7C003D-22AB-B78C-4133-49FBB4F93C85}"/>
              </a:ext>
            </a:extLst>
          </p:cNvPr>
          <p:cNvCxnSpPr>
            <a:cxnSpLocks/>
          </p:cNvCxnSpPr>
          <p:nvPr/>
        </p:nvCxnSpPr>
        <p:spPr>
          <a:xfrm flipV="1">
            <a:off x="6469860" y="5062743"/>
            <a:ext cx="489445" cy="145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DF7885-CD3D-5610-508F-C92026D55A63}"/>
              </a:ext>
            </a:extLst>
          </p:cNvPr>
          <p:cNvCxnSpPr>
            <a:cxnSpLocks/>
          </p:cNvCxnSpPr>
          <p:nvPr/>
        </p:nvCxnSpPr>
        <p:spPr>
          <a:xfrm>
            <a:off x="6445400" y="5414797"/>
            <a:ext cx="487211" cy="545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6FAC44-44FA-87F0-B8F4-085A76C57F43}"/>
              </a:ext>
            </a:extLst>
          </p:cNvPr>
          <p:cNvCxnSpPr>
            <a:cxnSpLocks/>
          </p:cNvCxnSpPr>
          <p:nvPr/>
        </p:nvCxnSpPr>
        <p:spPr>
          <a:xfrm>
            <a:off x="6457629" y="5764971"/>
            <a:ext cx="53935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5C2F6B2-443C-89E7-F172-A98FC64C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Scaling up: embarrassingly parallel</a:t>
            </a:r>
          </a:p>
        </p:txBody>
      </p:sp>
      <p:pic>
        <p:nvPicPr>
          <p:cNvPr id="3" name="Picture 2" descr="What Is HPC? - UArizona HPC Documentation">
            <a:extLst>
              <a:ext uri="{FF2B5EF4-FFF2-40B4-BE49-F238E27FC236}">
                <a16:creationId xmlns:a16="http://schemas.microsoft.com/office/drawing/2014/main" id="{B7C96C7B-5621-079C-8514-728DB12AF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0" y="1694962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B408A9-C9B8-F0FF-0239-975EED6C2D98}"/>
              </a:ext>
            </a:extLst>
          </p:cNvPr>
          <p:cNvSpPr txBox="1"/>
          <p:nvPr/>
        </p:nvSpPr>
        <p:spPr>
          <a:xfrm>
            <a:off x="1846180" y="3610098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sample: 1 job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B9209-B76D-2859-2235-C0C2CD309485}"/>
              </a:ext>
            </a:extLst>
          </p:cNvPr>
          <p:cNvSpPr txBox="1"/>
          <p:nvPr/>
        </p:nvSpPr>
        <p:spPr>
          <a:xfrm>
            <a:off x="5541362" y="3667827"/>
            <a:ext cx="315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 samples: 200 jobs (manual)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296260-F68F-6909-A7E6-97AED6F2B968}"/>
              </a:ext>
            </a:extLst>
          </p:cNvPr>
          <p:cNvSpPr/>
          <p:nvPr/>
        </p:nvSpPr>
        <p:spPr>
          <a:xfrm>
            <a:off x="1799112" y="4055423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37ACD-D9D1-56DA-DF18-946225985F0F}"/>
              </a:ext>
            </a:extLst>
          </p:cNvPr>
          <p:cNvSpPr/>
          <p:nvPr/>
        </p:nvSpPr>
        <p:spPr>
          <a:xfrm>
            <a:off x="2996540" y="4055423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What Is HPC? - UArizona HPC Documentation">
            <a:extLst>
              <a:ext uri="{FF2B5EF4-FFF2-40B4-BE49-F238E27FC236}">
                <a16:creationId xmlns:a16="http://schemas.microsoft.com/office/drawing/2014/main" id="{44B1C6E3-B6EE-8C12-7EF9-4B2A7A176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725" y="1748563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E0FBFC-F2A2-1624-363A-68CBE7F2530E}"/>
              </a:ext>
            </a:extLst>
          </p:cNvPr>
          <p:cNvSpPr/>
          <p:nvPr/>
        </p:nvSpPr>
        <p:spPr>
          <a:xfrm>
            <a:off x="8271219" y="4186806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22F2B-FF09-D021-1D30-54177327EF71}"/>
              </a:ext>
            </a:extLst>
          </p:cNvPr>
          <p:cNvSpPr/>
          <p:nvPr/>
        </p:nvSpPr>
        <p:spPr>
          <a:xfrm>
            <a:off x="8271219" y="4562475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848647-8EA0-087A-3BBB-E04833DF5DC8}"/>
              </a:ext>
            </a:extLst>
          </p:cNvPr>
          <p:cNvSpPr/>
          <p:nvPr/>
        </p:nvSpPr>
        <p:spPr>
          <a:xfrm>
            <a:off x="8274438" y="4921131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276130-C4B5-3B63-918F-B36538EF96C7}"/>
              </a:ext>
            </a:extLst>
          </p:cNvPr>
          <p:cNvSpPr/>
          <p:nvPr/>
        </p:nvSpPr>
        <p:spPr>
          <a:xfrm>
            <a:off x="8271219" y="5275184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865F36-CDA1-6515-1FCB-777D1B86F074}"/>
              </a:ext>
            </a:extLst>
          </p:cNvPr>
          <p:cNvSpPr/>
          <p:nvPr/>
        </p:nvSpPr>
        <p:spPr>
          <a:xfrm>
            <a:off x="8271219" y="5622632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06C59F-91B9-B284-6B66-2C5E45D69AA2}"/>
              </a:ext>
            </a:extLst>
          </p:cNvPr>
          <p:cNvSpPr txBox="1"/>
          <p:nvPr/>
        </p:nvSpPr>
        <p:spPr>
          <a:xfrm>
            <a:off x="8264133" y="59282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5C2AB5-948F-5B80-A03A-D86DACD24A39}"/>
              </a:ext>
            </a:extLst>
          </p:cNvPr>
          <p:cNvCxnSpPr>
            <a:cxnSpLocks/>
          </p:cNvCxnSpPr>
          <p:nvPr/>
        </p:nvCxnSpPr>
        <p:spPr>
          <a:xfrm flipV="1">
            <a:off x="7574279" y="4325887"/>
            <a:ext cx="580164" cy="651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F96349-3390-AA59-9A7B-79131EEFE5BD}"/>
              </a:ext>
            </a:extLst>
          </p:cNvPr>
          <p:cNvCxnSpPr>
            <a:cxnSpLocks/>
          </p:cNvCxnSpPr>
          <p:nvPr/>
        </p:nvCxnSpPr>
        <p:spPr>
          <a:xfrm>
            <a:off x="7648551" y="4704814"/>
            <a:ext cx="555996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44EE1D-5101-D507-18BA-15A616473DDE}"/>
              </a:ext>
            </a:extLst>
          </p:cNvPr>
          <p:cNvCxnSpPr>
            <a:cxnSpLocks/>
          </p:cNvCxnSpPr>
          <p:nvPr/>
        </p:nvCxnSpPr>
        <p:spPr>
          <a:xfrm flipV="1">
            <a:off x="7651156" y="5062743"/>
            <a:ext cx="489445" cy="145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F807E4-F42A-CCDE-8653-7E882A97327E}"/>
              </a:ext>
            </a:extLst>
          </p:cNvPr>
          <p:cNvCxnSpPr>
            <a:cxnSpLocks/>
          </p:cNvCxnSpPr>
          <p:nvPr/>
        </p:nvCxnSpPr>
        <p:spPr>
          <a:xfrm flipV="1">
            <a:off x="7648551" y="5411991"/>
            <a:ext cx="492050" cy="1106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EACF7D-3F48-BF18-377D-2271AF13ADAD}"/>
              </a:ext>
            </a:extLst>
          </p:cNvPr>
          <p:cNvCxnSpPr>
            <a:cxnSpLocks/>
          </p:cNvCxnSpPr>
          <p:nvPr/>
        </p:nvCxnSpPr>
        <p:spPr>
          <a:xfrm>
            <a:off x="7694566" y="5764971"/>
            <a:ext cx="44603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54AA40-060E-1C3C-1BBC-52AA9274ABBA}"/>
              </a:ext>
            </a:extLst>
          </p:cNvPr>
          <p:cNvCxnSpPr>
            <a:cxnSpLocks/>
          </p:cNvCxnSpPr>
          <p:nvPr/>
        </p:nvCxnSpPr>
        <p:spPr>
          <a:xfrm>
            <a:off x="2350460" y="4197762"/>
            <a:ext cx="49461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28D2652-CA26-AFD5-0061-6A512ADCBB10}"/>
              </a:ext>
            </a:extLst>
          </p:cNvPr>
          <p:cNvSpPr/>
          <p:nvPr/>
        </p:nvSpPr>
        <p:spPr>
          <a:xfrm>
            <a:off x="7127597" y="4562475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5AB734-D436-1E30-D86C-388B5ED7B8E7}"/>
              </a:ext>
            </a:extLst>
          </p:cNvPr>
          <p:cNvSpPr/>
          <p:nvPr/>
        </p:nvSpPr>
        <p:spPr>
          <a:xfrm>
            <a:off x="7127597" y="4921131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6F3C14-DB00-CAB0-91D7-219D9BF9B7C2}"/>
              </a:ext>
            </a:extLst>
          </p:cNvPr>
          <p:cNvSpPr/>
          <p:nvPr/>
        </p:nvSpPr>
        <p:spPr>
          <a:xfrm>
            <a:off x="7127597" y="5275184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B3FE583-CEE9-27F0-75B8-2E92BABE5A99}"/>
              </a:ext>
            </a:extLst>
          </p:cNvPr>
          <p:cNvSpPr/>
          <p:nvPr/>
        </p:nvSpPr>
        <p:spPr>
          <a:xfrm>
            <a:off x="7123601" y="5622632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FFE2D8-4956-7487-5EBD-6EB33A1322EC}"/>
              </a:ext>
            </a:extLst>
          </p:cNvPr>
          <p:cNvSpPr txBox="1"/>
          <p:nvPr/>
        </p:nvSpPr>
        <p:spPr>
          <a:xfrm>
            <a:off x="7137425" y="592826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5E97F3-73BC-49A0-CDC7-D8928EDAF860}"/>
              </a:ext>
            </a:extLst>
          </p:cNvPr>
          <p:cNvSpPr/>
          <p:nvPr/>
        </p:nvSpPr>
        <p:spPr>
          <a:xfrm>
            <a:off x="6568757" y="4415469"/>
            <a:ext cx="1452527" cy="112686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tedious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A3B6CA-4740-94DB-535F-AE7E3D67427A}"/>
              </a:ext>
            </a:extLst>
          </p:cNvPr>
          <p:cNvSpPr/>
          <p:nvPr/>
        </p:nvSpPr>
        <p:spPr>
          <a:xfrm>
            <a:off x="10354598" y="3957375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FB42A4-66DD-DBDA-580F-5A297882D869}"/>
              </a:ext>
            </a:extLst>
          </p:cNvPr>
          <p:cNvSpPr txBox="1"/>
          <p:nvPr/>
        </p:nvSpPr>
        <p:spPr>
          <a:xfrm>
            <a:off x="10791528" y="3959509"/>
            <a:ext cx="876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Job script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DF7019-FA49-6186-1180-D3090575EC8E}"/>
              </a:ext>
            </a:extLst>
          </p:cNvPr>
          <p:cNvSpPr/>
          <p:nvPr/>
        </p:nvSpPr>
        <p:spPr>
          <a:xfrm>
            <a:off x="10360230" y="2995901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0772569-E9F1-D83C-07A8-DF0225E334FF}"/>
              </a:ext>
            </a:extLst>
          </p:cNvPr>
          <p:cNvSpPr/>
          <p:nvPr/>
        </p:nvSpPr>
        <p:spPr>
          <a:xfrm>
            <a:off x="10354598" y="3449846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0A21B8-13B3-FB4A-651D-E24F6D77206C}"/>
              </a:ext>
            </a:extLst>
          </p:cNvPr>
          <p:cNvSpPr txBox="1"/>
          <p:nvPr/>
        </p:nvSpPr>
        <p:spPr>
          <a:xfrm>
            <a:off x="10791820" y="298435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4B7038-37BA-195E-0521-8DD4DBC80A58}"/>
              </a:ext>
            </a:extLst>
          </p:cNvPr>
          <p:cNvSpPr txBox="1"/>
          <p:nvPr/>
        </p:nvSpPr>
        <p:spPr>
          <a:xfrm>
            <a:off x="10791820" y="3415401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88FF7B-32A5-CFE0-C261-2F692B0ABE1E}"/>
              </a:ext>
            </a:extLst>
          </p:cNvPr>
          <p:cNvSpPr txBox="1"/>
          <p:nvPr/>
        </p:nvSpPr>
        <p:spPr>
          <a:xfrm>
            <a:off x="8761549" y="4155060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4D6956A-7DBE-8735-0964-86B9266E7399}"/>
              </a:ext>
            </a:extLst>
          </p:cNvPr>
          <p:cNvSpPr txBox="1"/>
          <p:nvPr/>
        </p:nvSpPr>
        <p:spPr>
          <a:xfrm>
            <a:off x="8761549" y="4550925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00CD62-B04B-98B2-4F1D-C34A788391A3}"/>
              </a:ext>
            </a:extLst>
          </p:cNvPr>
          <p:cNvSpPr txBox="1"/>
          <p:nvPr/>
        </p:nvSpPr>
        <p:spPr>
          <a:xfrm>
            <a:off x="8761549" y="4927805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A21427-9C0F-C93B-CFAD-EEA199268858}"/>
              </a:ext>
            </a:extLst>
          </p:cNvPr>
          <p:cNvSpPr txBox="1"/>
          <p:nvPr/>
        </p:nvSpPr>
        <p:spPr>
          <a:xfrm>
            <a:off x="8783001" y="527518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FE1F79-B7F8-B7A8-E0E5-1BB48AC8D704}"/>
              </a:ext>
            </a:extLst>
          </p:cNvPr>
          <p:cNvSpPr txBox="1"/>
          <p:nvPr/>
        </p:nvSpPr>
        <p:spPr>
          <a:xfrm>
            <a:off x="8780910" y="5611082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D06697-7DE7-68AA-E432-50707C2856FA}"/>
              </a:ext>
            </a:extLst>
          </p:cNvPr>
          <p:cNvSpPr txBox="1"/>
          <p:nvPr/>
        </p:nvSpPr>
        <p:spPr>
          <a:xfrm>
            <a:off x="8780910" y="5986582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Job…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926400-F86E-EBFD-E735-0AB3D773FFF8}"/>
              </a:ext>
            </a:extLst>
          </p:cNvPr>
          <p:cNvSpPr txBox="1"/>
          <p:nvPr/>
        </p:nvSpPr>
        <p:spPr>
          <a:xfrm>
            <a:off x="8696841" y="3856393"/>
            <a:ext cx="871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 Index</a:t>
            </a:r>
          </a:p>
        </p:txBody>
      </p:sp>
    </p:spTree>
    <p:extLst>
      <p:ext uri="{BB962C8B-B14F-4D97-AF65-F5344CB8AC3E}">
        <p14:creationId xmlns:p14="http://schemas.microsoft.com/office/powerpoint/2010/main" val="223574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684B-BB4E-4122-0F62-1550F72F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061FFD2C-F2D7-8D6D-495D-5C69EFED725E}"/>
              </a:ext>
            </a:extLst>
          </p:cNvPr>
          <p:cNvGrpSpPr/>
          <p:nvPr/>
        </p:nvGrpSpPr>
        <p:grpSpPr>
          <a:xfrm>
            <a:off x="6008643" y="4240691"/>
            <a:ext cx="1508676" cy="2024967"/>
            <a:chOff x="5589645" y="4055423"/>
            <a:chExt cx="1508676" cy="202496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E0034D-20CC-178B-90FB-68A2E56BEC95}"/>
                </a:ext>
              </a:extLst>
            </p:cNvPr>
            <p:cNvSpPr/>
            <p:nvPr/>
          </p:nvSpPr>
          <p:spPr>
            <a:xfrm>
              <a:off x="5589645" y="4055423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D30512-DBFB-1C4C-8E17-7952B006EE03}"/>
                </a:ext>
              </a:extLst>
            </p:cNvPr>
            <p:cNvSpPr/>
            <p:nvPr/>
          </p:nvSpPr>
          <p:spPr>
            <a:xfrm>
              <a:off x="5589645" y="4400674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26C2AF-F411-68CF-E40E-E454A4FC3601}"/>
                </a:ext>
              </a:extLst>
            </p:cNvPr>
            <p:cNvSpPr/>
            <p:nvPr/>
          </p:nvSpPr>
          <p:spPr>
            <a:xfrm>
              <a:off x="5589645" y="4739434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0C0172-6648-0B5F-EE3C-EC03F52F8DD5}"/>
                </a:ext>
              </a:extLst>
            </p:cNvPr>
            <p:cNvSpPr/>
            <p:nvPr/>
          </p:nvSpPr>
          <p:spPr>
            <a:xfrm>
              <a:off x="5589645" y="5084685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7C720FA-4D71-D962-B938-D4FCF756E4A7}"/>
                </a:ext>
              </a:extLst>
            </p:cNvPr>
            <p:cNvSpPr/>
            <p:nvPr/>
          </p:nvSpPr>
          <p:spPr>
            <a:xfrm>
              <a:off x="5589645" y="5429936"/>
              <a:ext cx="380010" cy="28467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89C70C-FA11-D6A0-0DD3-75269D12CFC6}"/>
                </a:ext>
              </a:extLst>
            </p:cNvPr>
            <p:cNvSpPr txBox="1"/>
            <p:nvPr/>
          </p:nvSpPr>
          <p:spPr>
            <a:xfrm>
              <a:off x="5607968" y="571105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9717BE-2838-3D3F-ABCD-12EDEEC6830E}"/>
                </a:ext>
              </a:extLst>
            </p:cNvPr>
            <p:cNvSpPr/>
            <p:nvPr/>
          </p:nvSpPr>
          <p:spPr>
            <a:xfrm>
              <a:off x="6718311" y="4694396"/>
              <a:ext cx="380010" cy="2846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A786A0B-1D75-A9B8-F613-026D1E21610B}"/>
                </a:ext>
              </a:extLst>
            </p:cNvPr>
            <p:cNvCxnSpPr/>
            <p:nvPr/>
          </p:nvCxnSpPr>
          <p:spPr>
            <a:xfrm>
              <a:off x="6096000" y="4197762"/>
              <a:ext cx="471314" cy="34525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393C4CD-A353-2507-F8B3-A244C6945497}"/>
                </a:ext>
              </a:extLst>
            </p:cNvPr>
            <p:cNvCxnSpPr>
              <a:cxnSpLocks/>
            </p:cNvCxnSpPr>
            <p:nvPr/>
          </p:nvCxnSpPr>
          <p:spPr>
            <a:xfrm>
              <a:off x="6053409" y="4530807"/>
              <a:ext cx="513905" cy="23053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51100BB-DBD2-8BED-5E05-AC839B725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869" y="4876058"/>
              <a:ext cx="489445" cy="1455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07C61E1-75AA-EDFF-8C43-871C3CB9F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409" y="4992226"/>
              <a:ext cx="513905" cy="23479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3C70AAC-B281-C21F-5F85-7E932FF990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5638" y="5094390"/>
              <a:ext cx="554367" cy="45546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EB8D00-A2AE-F3EC-5DCC-92076E93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Scaling up: embarrassingly parallel</a:t>
            </a:r>
          </a:p>
        </p:txBody>
      </p:sp>
      <p:pic>
        <p:nvPicPr>
          <p:cNvPr id="3" name="Picture 2" descr="What Is HPC? - UArizona HPC Documentation">
            <a:extLst>
              <a:ext uri="{FF2B5EF4-FFF2-40B4-BE49-F238E27FC236}">
                <a16:creationId xmlns:a16="http://schemas.microsoft.com/office/drawing/2014/main" id="{8F92F227-D1BA-0947-8402-B2B47359D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0" y="1694962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BBEF77-6ACB-0579-E96F-7089427C42C3}"/>
              </a:ext>
            </a:extLst>
          </p:cNvPr>
          <p:cNvSpPr txBox="1"/>
          <p:nvPr/>
        </p:nvSpPr>
        <p:spPr>
          <a:xfrm>
            <a:off x="1846180" y="3610098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sample: 1 job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6AFDB-62AA-C087-74B0-E28B0BC7A179}"/>
              </a:ext>
            </a:extLst>
          </p:cNvPr>
          <p:cNvSpPr txBox="1"/>
          <p:nvPr/>
        </p:nvSpPr>
        <p:spPr>
          <a:xfrm>
            <a:off x="5776097" y="3686091"/>
            <a:ext cx="2841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 samples: 200 job (array)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59464-2588-D126-FC82-B95A53F348C9}"/>
              </a:ext>
            </a:extLst>
          </p:cNvPr>
          <p:cNvSpPr/>
          <p:nvPr/>
        </p:nvSpPr>
        <p:spPr>
          <a:xfrm>
            <a:off x="1799112" y="4055423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0BFA19-9B8C-F53A-9BFF-F1B956CBD6B8}"/>
              </a:ext>
            </a:extLst>
          </p:cNvPr>
          <p:cNvSpPr/>
          <p:nvPr/>
        </p:nvSpPr>
        <p:spPr>
          <a:xfrm>
            <a:off x="2996540" y="4055423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What Is HPC? - UArizona HPC Documentation">
            <a:extLst>
              <a:ext uri="{FF2B5EF4-FFF2-40B4-BE49-F238E27FC236}">
                <a16:creationId xmlns:a16="http://schemas.microsoft.com/office/drawing/2014/main" id="{A920C2FC-07EB-104A-C4B0-EEC02A905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725" y="1748563"/>
            <a:ext cx="2401783" cy="173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194ED6-5BA0-BF2C-566E-333ED02E4EF2}"/>
              </a:ext>
            </a:extLst>
          </p:cNvPr>
          <p:cNvSpPr/>
          <p:nvPr/>
        </p:nvSpPr>
        <p:spPr>
          <a:xfrm>
            <a:off x="8271219" y="4131416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FA16B-9ADA-B40A-E4F7-267BC728BA4E}"/>
              </a:ext>
            </a:extLst>
          </p:cNvPr>
          <p:cNvSpPr/>
          <p:nvPr/>
        </p:nvSpPr>
        <p:spPr>
          <a:xfrm>
            <a:off x="8271219" y="4522287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263109-0CDD-102B-6E59-B794CE43567C}"/>
              </a:ext>
            </a:extLst>
          </p:cNvPr>
          <p:cNvSpPr/>
          <p:nvPr/>
        </p:nvSpPr>
        <p:spPr>
          <a:xfrm>
            <a:off x="8274438" y="4894999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15B2D-50DE-9431-D9F3-8A2299E1E800}"/>
              </a:ext>
            </a:extLst>
          </p:cNvPr>
          <p:cNvSpPr/>
          <p:nvPr/>
        </p:nvSpPr>
        <p:spPr>
          <a:xfrm>
            <a:off x="8271219" y="5278911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90F3B-67D2-DC80-CA93-FAB44675FF40}"/>
              </a:ext>
            </a:extLst>
          </p:cNvPr>
          <p:cNvSpPr/>
          <p:nvPr/>
        </p:nvSpPr>
        <p:spPr>
          <a:xfrm>
            <a:off x="8271219" y="5638706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FEDDDE-459F-B503-F09C-4190AF97B9EC}"/>
              </a:ext>
            </a:extLst>
          </p:cNvPr>
          <p:cNvSpPr txBox="1"/>
          <p:nvPr/>
        </p:nvSpPr>
        <p:spPr>
          <a:xfrm>
            <a:off x="8264133" y="595870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28A12F-9DE7-84FD-F9C3-1ED677899FA9}"/>
              </a:ext>
            </a:extLst>
          </p:cNvPr>
          <p:cNvCxnSpPr>
            <a:cxnSpLocks/>
          </p:cNvCxnSpPr>
          <p:nvPr/>
        </p:nvCxnSpPr>
        <p:spPr>
          <a:xfrm flipV="1">
            <a:off x="7516102" y="4317437"/>
            <a:ext cx="638341" cy="43374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64C435-0FDC-734A-09EB-7EB5A6879414}"/>
              </a:ext>
            </a:extLst>
          </p:cNvPr>
          <p:cNvCxnSpPr>
            <a:cxnSpLocks/>
          </p:cNvCxnSpPr>
          <p:nvPr/>
        </p:nvCxnSpPr>
        <p:spPr>
          <a:xfrm flipV="1">
            <a:off x="7578319" y="4664626"/>
            <a:ext cx="626228" cy="26917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47DA42-746B-1BD6-769B-75B36B1B15F0}"/>
              </a:ext>
            </a:extLst>
          </p:cNvPr>
          <p:cNvCxnSpPr>
            <a:cxnSpLocks/>
          </p:cNvCxnSpPr>
          <p:nvPr/>
        </p:nvCxnSpPr>
        <p:spPr>
          <a:xfrm flipV="1">
            <a:off x="7651156" y="5037338"/>
            <a:ext cx="489445" cy="145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C196AB-091D-9F4D-B53D-719BC186ACAF}"/>
              </a:ext>
            </a:extLst>
          </p:cNvPr>
          <p:cNvCxnSpPr>
            <a:cxnSpLocks/>
          </p:cNvCxnSpPr>
          <p:nvPr/>
        </p:nvCxnSpPr>
        <p:spPr>
          <a:xfrm>
            <a:off x="7626696" y="5181411"/>
            <a:ext cx="513905" cy="21440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28853B-42A8-A37C-387D-30301DE87315}"/>
              </a:ext>
            </a:extLst>
          </p:cNvPr>
          <p:cNvCxnSpPr>
            <a:cxnSpLocks/>
          </p:cNvCxnSpPr>
          <p:nvPr/>
        </p:nvCxnSpPr>
        <p:spPr>
          <a:xfrm>
            <a:off x="7508428" y="5254679"/>
            <a:ext cx="632173" cy="52636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CC29C29-B8BF-C90F-DB44-EC13FFEA67DA}"/>
              </a:ext>
            </a:extLst>
          </p:cNvPr>
          <p:cNvSpPr/>
          <p:nvPr/>
        </p:nvSpPr>
        <p:spPr>
          <a:xfrm>
            <a:off x="10354598" y="3957375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67A95A-9FD6-7829-A2F3-3472E117FB63}"/>
              </a:ext>
            </a:extLst>
          </p:cNvPr>
          <p:cNvSpPr txBox="1"/>
          <p:nvPr/>
        </p:nvSpPr>
        <p:spPr>
          <a:xfrm>
            <a:off x="10791528" y="3959509"/>
            <a:ext cx="876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Job script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77284E0-6070-5030-8C68-4509C26F4BBF}"/>
              </a:ext>
            </a:extLst>
          </p:cNvPr>
          <p:cNvSpPr/>
          <p:nvPr/>
        </p:nvSpPr>
        <p:spPr>
          <a:xfrm>
            <a:off x="10360230" y="2995901"/>
            <a:ext cx="380010" cy="2846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0C7AF0-BF53-DBE5-595F-11855FFB17F7}"/>
              </a:ext>
            </a:extLst>
          </p:cNvPr>
          <p:cNvSpPr/>
          <p:nvPr/>
        </p:nvSpPr>
        <p:spPr>
          <a:xfrm>
            <a:off x="10354598" y="3449846"/>
            <a:ext cx="380010" cy="2846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F26843-7306-A428-18EC-820FE698B611}"/>
              </a:ext>
            </a:extLst>
          </p:cNvPr>
          <p:cNvSpPr txBox="1"/>
          <p:nvPr/>
        </p:nvSpPr>
        <p:spPr>
          <a:xfrm>
            <a:off x="10791820" y="298435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9B5F5C-FF37-A336-B935-E1D3A5270991}"/>
              </a:ext>
            </a:extLst>
          </p:cNvPr>
          <p:cNvSpPr txBox="1"/>
          <p:nvPr/>
        </p:nvSpPr>
        <p:spPr>
          <a:xfrm>
            <a:off x="10791820" y="3415401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Job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14C0EF-690E-426B-2F27-A1E7D33999D6}"/>
              </a:ext>
            </a:extLst>
          </p:cNvPr>
          <p:cNvCxnSpPr>
            <a:cxnSpLocks/>
          </p:cNvCxnSpPr>
          <p:nvPr/>
        </p:nvCxnSpPr>
        <p:spPr>
          <a:xfrm>
            <a:off x="2350460" y="4197762"/>
            <a:ext cx="49461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7A306A-A7AB-01D7-749B-9ACC8BCCE3D0}"/>
              </a:ext>
            </a:extLst>
          </p:cNvPr>
          <p:cNvSpPr txBox="1"/>
          <p:nvPr/>
        </p:nvSpPr>
        <p:spPr>
          <a:xfrm>
            <a:off x="8761549" y="415506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Job1[1]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AF219-1165-6489-6E51-8C163C909D43}"/>
              </a:ext>
            </a:extLst>
          </p:cNvPr>
          <p:cNvSpPr txBox="1"/>
          <p:nvPr/>
        </p:nvSpPr>
        <p:spPr>
          <a:xfrm>
            <a:off x="8761549" y="455092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Job1[2]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E65B72-9ABA-CB95-A540-2609BA4043C6}"/>
              </a:ext>
            </a:extLst>
          </p:cNvPr>
          <p:cNvSpPr txBox="1"/>
          <p:nvPr/>
        </p:nvSpPr>
        <p:spPr>
          <a:xfrm>
            <a:off x="8761549" y="492780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Job1[3]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A5AE16-A6AA-0EA1-E578-9D9C911478C9}"/>
              </a:ext>
            </a:extLst>
          </p:cNvPr>
          <p:cNvSpPr txBox="1"/>
          <p:nvPr/>
        </p:nvSpPr>
        <p:spPr>
          <a:xfrm>
            <a:off x="8783001" y="527518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Job1[4]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2AEC92-5F32-AF31-28DF-894E1F902253}"/>
              </a:ext>
            </a:extLst>
          </p:cNvPr>
          <p:cNvSpPr txBox="1"/>
          <p:nvPr/>
        </p:nvSpPr>
        <p:spPr>
          <a:xfrm>
            <a:off x="8780910" y="561108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Job1[5]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666C87-EE30-8D88-8CF0-0A6ADAA778A0}"/>
              </a:ext>
            </a:extLst>
          </p:cNvPr>
          <p:cNvSpPr txBox="1"/>
          <p:nvPr/>
        </p:nvSpPr>
        <p:spPr>
          <a:xfrm>
            <a:off x="8780910" y="5986582"/>
            <a:ext cx="7665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Job1[…]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2F1826-DF50-0479-65AA-FB46774D3C48}"/>
              </a:ext>
            </a:extLst>
          </p:cNvPr>
          <p:cNvSpPr txBox="1"/>
          <p:nvPr/>
        </p:nvSpPr>
        <p:spPr>
          <a:xfrm>
            <a:off x="8696841" y="3856393"/>
            <a:ext cx="871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Job Index</a:t>
            </a:r>
          </a:p>
        </p:txBody>
      </p:sp>
    </p:spTree>
    <p:extLst>
      <p:ext uri="{BB962C8B-B14F-4D97-AF65-F5344CB8AC3E}">
        <p14:creationId xmlns:p14="http://schemas.microsoft.com/office/powerpoint/2010/main" val="99840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47ADB3-E38F-DCE8-86AA-99C012FB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Anatomy of the job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E3A7E8-988B-B6B9-ABD7-CCFCA57F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234" y="1505982"/>
            <a:ext cx="7532195" cy="51958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72EA39-AD7A-1F4B-4140-38A6FD534E66}"/>
              </a:ext>
            </a:extLst>
          </p:cNvPr>
          <p:cNvSpPr/>
          <p:nvPr/>
        </p:nvSpPr>
        <p:spPr>
          <a:xfrm>
            <a:off x="2319843" y="3802074"/>
            <a:ext cx="380010" cy="284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BDA64-0911-ACC8-90A7-B5827FE50804}"/>
              </a:ext>
            </a:extLst>
          </p:cNvPr>
          <p:cNvSpPr txBox="1"/>
          <p:nvPr/>
        </p:nvSpPr>
        <p:spPr>
          <a:xfrm>
            <a:off x="2862197" y="37597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643302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F945-E21B-F42C-B6B5-69129EEF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15A045-6869-4016-D0B2-A19A4849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Anatomy of the job array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F331D-A371-961F-EA38-BE6C2C5F34F2}"/>
              </a:ext>
            </a:extLst>
          </p:cNvPr>
          <p:cNvSpPr txBox="1"/>
          <p:nvPr/>
        </p:nvSpPr>
        <p:spPr>
          <a:xfrm>
            <a:off x="6394537" y="1846125"/>
            <a:ext cx="5022937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Sample list: </a:t>
            </a:r>
            <a:r>
              <a:rPr lang="en-US" dirty="0"/>
              <a:t>List of samples, txt file with one sample per 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Config file: </a:t>
            </a:r>
            <a:r>
              <a:rPr lang="en-US" dirty="0"/>
              <a:t>Stores environmental variables and paths for the </a:t>
            </a:r>
            <a:r>
              <a:rPr lang="en-US" i="1" dirty="0"/>
              <a:t>job script</a:t>
            </a:r>
            <a:r>
              <a:rPr lang="en-US" dirty="0"/>
              <a:t> and the </a:t>
            </a:r>
            <a:r>
              <a:rPr lang="en-US" i="1" dirty="0"/>
              <a:t>launcher 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Launcher script: </a:t>
            </a:r>
            <a:r>
              <a:rPr lang="en-US" dirty="0"/>
              <a:t>Reads the sample list and submits the job script for each sample to LSF. Defines the array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Job script: </a:t>
            </a:r>
            <a:r>
              <a:rPr lang="en-US" dirty="0"/>
              <a:t>Executes the program(s)/script(s) on the sample in the compute node using the index to grab its sample.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B418B-438D-9B32-9635-A8E1E140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5" y="2066907"/>
            <a:ext cx="5847443" cy="403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8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1CAB-FAD2-7FF1-BC68-38E813D5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FC316A-7B0B-9218-42CC-A3962039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Anatomy of the job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660AB-6D04-175F-931A-3468DB85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5" y="2066907"/>
            <a:ext cx="5847443" cy="4033678"/>
          </a:xfrm>
          <a:prstGeom prst="rect">
            <a:avLst/>
          </a:prstGeom>
        </p:spPr>
      </p:pic>
      <p:pic>
        <p:nvPicPr>
          <p:cNvPr id="2050" name="Picture 2" descr="Cook: What it Takes to Make It in a Michelin-Starred Restaurant">
            <a:extLst>
              <a:ext uri="{FF2B5EF4-FFF2-40B4-BE49-F238E27FC236}">
                <a16:creationId xmlns:a16="http://schemas.microsoft.com/office/drawing/2014/main" id="{7FEA96AA-52BF-BE32-FA66-0B1AD763C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21" y="2293481"/>
            <a:ext cx="2018047" cy="11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rom Home Cook to Haute Cuisine: My Experience Staging in a Michelin-Starred  Kitchen as an Amateur Chef | by Kevinjchen | Medium">
            <a:extLst>
              <a:ext uri="{FF2B5EF4-FFF2-40B4-BE49-F238E27FC236}">
                <a16:creationId xmlns:a16="http://schemas.microsoft.com/office/drawing/2014/main" id="{2D1B33F3-6BA6-FAFE-91B4-0FEE51743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361" y="5079051"/>
            <a:ext cx="1861766" cy="139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cipe - Free food icons">
            <a:extLst>
              <a:ext uri="{FF2B5EF4-FFF2-40B4-BE49-F238E27FC236}">
                <a16:creationId xmlns:a16="http://schemas.microsoft.com/office/drawing/2014/main" id="{C98011D2-CAD8-7FE0-EC2D-DCF169E6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836" y="3814153"/>
            <a:ext cx="860816" cy="86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13C32E-83D2-918A-D574-6F8C0A89F532}"/>
              </a:ext>
            </a:extLst>
          </p:cNvPr>
          <p:cNvSpPr txBox="1"/>
          <p:nvPr/>
        </p:nvSpPr>
        <p:spPr>
          <a:xfrm>
            <a:off x="9541056" y="908306"/>
            <a:ext cx="259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 (list of ingredients)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B02A7-375F-F658-3288-1560DAD0A278}"/>
              </a:ext>
            </a:extLst>
          </p:cNvPr>
          <p:cNvSpPr txBox="1"/>
          <p:nvPr/>
        </p:nvSpPr>
        <p:spPr>
          <a:xfrm>
            <a:off x="9541056" y="2491908"/>
            <a:ext cx="217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Launcher (head chef)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B727D-65BA-003B-6D9D-51FEA14820E1}"/>
              </a:ext>
            </a:extLst>
          </p:cNvPr>
          <p:cNvSpPr txBox="1"/>
          <p:nvPr/>
        </p:nvSpPr>
        <p:spPr>
          <a:xfrm>
            <a:off x="9541056" y="5445321"/>
            <a:ext cx="131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Jobs (cooks)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F83B4-13A6-98E5-238A-51509D056599}"/>
              </a:ext>
            </a:extLst>
          </p:cNvPr>
          <p:cNvSpPr txBox="1"/>
          <p:nvPr/>
        </p:nvSpPr>
        <p:spPr>
          <a:xfrm>
            <a:off x="9541056" y="4124961"/>
            <a:ext cx="1847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script (recipe)</a:t>
            </a:r>
          </a:p>
        </p:txBody>
      </p:sp>
      <p:pic>
        <p:nvPicPr>
          <p:cNvPr id="2058" name="Picture 10" descr="1,736 Ingredients List Icon Royalty-Free Images, Stock Photos &amp; Pictures |  Shutterstock">
            <a:extLst>
              <a:ext uri="{FF2B5EF4-FFF2-40B4-BE49-F238E27FC236}">
                <a16:creationId xmlns:a16="http://schemas.microsoft.com/office/drawing/2014/main" id="{6BF7B0B8-FB97-67C5-231E-6B5D0D68E5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82"/>
          <a:stretch>
            <a:fillRect/>
          </a:stretch>
        </p:blipFill>
        <p:spPr bwMode="auto">
          <a:xfrm>
            <a:off x="7544377" y="294257"/>
            <a:ext cx="1549734" cy="146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82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1287-A55E-36F7-C388-ED4D9F17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AF42AA-5823-CE6B-A932-64B08DA6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Config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5956A-EE72-28C7-E2A1-63B4D02A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75" y="4517189"/>
            <a:ext cx="5741804" cy="2030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F6890-5008-6C54-D9C8-87770514BFC5}"/>
              </a:ext>
            </a:extLst>
          </p:cNvPr>
          <p:cNvSpPr txBox="1"/>
          <p:nvPr/>
        </p:nvSpPr>
        <p:spPr>
          <a:xfrm>
            <a:off x="782875" y="4333649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config.sh</a:t>
            </a:r>
            <a:endParaRPr lang="en-US" sz="12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85F387-937A-F845-9218-771D9C1F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189" y="175364"/>
            <a:ext cx="2669882" cy="18417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48FB5E1-6745-7549-8489-31D84CF9358B}"/>
              </a:ext>
            </a:extLst>
          </p:cNvPr>
          <p:cNvSpPr/>
          <p:nvPr/>
        </p:nvSpPr>
        <p:spPr>
          <a:xfrm>
            <a:off x="9507255" y="306888"/>
            <a:ext cx="951978" cy="72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E0077-8A75-06DE-D5E8-578E1FF0B7B4}"/>
              </a:ext>
            </a:extLst>
          </p:cNvPr>
          <p:cNvSpPr txBox="1"/>
          <p:nvPr/>
        </p:nvSpPr>
        <p:spPr>
          <a:xfrm>
            <a:off x="838199" y="1427946"/>
            <a:ext cx="88193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</a:rPr>
              <a:t>The config file centralizes all variable elements of your pipeline, making it easy to modify parameters without editing multiple scripts.</a:t>
            </a:r>
          </a:p>
          <a:p>
            <a:pPr algn="l">
              <a:buNone/>
            </a:pPr>
            <a:endParaRPr lang="en-US" b="0" i="0" dirty="0">
              <a:effectLst/>
            </a:endParaRPr>
          </a:p>
          <a:p>
            <a:pPr algn="l">
              <a:buNone/>
            </a:pPr>
            <a:r>
              <a:rPr lang="en-US" i="0" dirty="0">
                <a:effectLst/>
              </a:rPr>
              <a:t>What belongs in the config file: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File paths</a:t>
            </a:r>
            <a:r>
              <a:rPr lang="en-US" b="0" i="0" dirty="0">
                <a:effectLst/>
              </a:rPr>
              <a:t> (input lists, output directories)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Resource requirements</a:t>
            </a:r>
            <a:r>
              <a:rPr lang="en-US" b="0" i="0" dirty="0">
                <a:effectLst/>
              </a:rPr>
              <a:t> (CPUs, memory, time limits)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Software parameters</a:t>
            </a:r>
            <a:r>
              <a:rPr lang="en-US" b="0" i="0" dirty="0">
                <a:effectLst/>
              </a:rPr>
              <a:t> (trimming thresholds, quality cutoffs)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Job names and dependencies</a:t>
            </a:r>
            <a:endParaRPr lang="en-US" b="0" i="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2E6E00-53CE-D5DA-8666-5FF7BBCDFD05}"/>
              </a:ext>
            </a:extLst>
          </p:cNvPr>
          <p:cNvSpPr txBox="1"/>
          <p:nvPr/>
        </p:nvSpPr>
        <p:spPr>
          <a:xfrm>
            <a:off x="838199" y="3832812"/>
            <a:ext cx="10034393" cy="369332"/>
          </a:xfrm>
          <a:prstGeom prst="rect">
            <a:avLst/>
          </a:prstGeom>
          <a:solidFill>
            <a:srgbClr val="FF0000">
              <a:alpha val="4196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You should </a:t>
            </a:r>
            <a:r>
              <a:rPr lang="en-US" b="1" dirty="0"/>
              <a:t>never need to edit the job script </a:t>
            </a:r>
            <a:r>
              <a:rPr lang="en-US" dirty="0"/>
              <a:t>itself when adapting a pipeline.</a:t>
            </a:r>
          </a:p>
        </p:txBody>
      </p:sp>
    </p:spTree>
    <p:extLst>
      <p:ext uri="{BB962C8B-B14F-4D97-AF65-F5344CB8AC3E}">
        <p14:creationId xmlns:p14="http://schemas.microsoft.com/office/powerpoint/2010/main" val="1343207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5838-9387-78CC-FA20-5C603AF9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A9742B-AF07-2BBE-788A-4A1767D2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Launcher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E547E-D498-32E6-C7E3-CC8C5C559F48}"/>
              </a:ext>
            </a:extLst>
          </p:cNvPr>
          <p:cNvSpPr txBox="1"/>
          <p:nvPr/>
        </p:nvSpPr>
        <p:spPr>
          <a:xfrm>
            <a:off x="838199" y="2751316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run_program.sh</a:t>
            </a:r>
            <a:endParaRPr lang="en-US" sz="12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2AF70-F0B1-E16B-A13E-DBD84C18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89" y="175364"/>
            <a:ext cx="2669882" cy="18417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C85439A-C94B-7F8E-023F-72D5978EA4EC}"/>
              </a:ext>
            </a:extLst>
          </p:cNvPr>
          <p:cNvSpPr/>
          <p:nvPr/>
        </p:nvSpPr>
        <p:spPr>
          <a:xfrm>
            <a:off x="9657566" y="1132876"/>
            <a:ext cx="951978" cy="72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6D78D-06A1-E910-B222-024F250624DC}"/>
              </a:ext>
            </a:extLst>
          </p:cNvPr>
          <p:cNvSpPr txBox="1"/>
          <p:nvPr/>
        </p:nvSpPr>
        <p:spPr>
          <a:xfrm>
            <a:off x="838200" y="1427946"/>
            <a:ext cx="8487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Calculates the total number of tasks needed and submits the array definition using the 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bsub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-J </a:t>
            </a:r>
            <a:r>
              <a:rPr lang="en-US" dirty="0"/>
              <a:t>directive.</a:t>
            </a:r>
            <a:endParaRPr lang="en-US" b="0" i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35F99A-B5CB-D019-BB68-D30D09AF3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076549"/>
            <a:ext cx="5257162" cy="341632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10835D-16A2-97E0-567E-402357CE5B1C}"/>
              </a:ext>
            </a:extLst>
          </p:cNvPr>
          <p:cNvCxnSpPr>
            <a:cxnSpLocks/>
          </p:cNvCxnSpPr>
          <p:nvPr/>
        </p:nvCxnSpPr>
        <p:spPr>
          <a:xfrm flipH="1">
            <a:off x="4478054" y="6256751"/>
            <a:ext cx="92066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13AD9E-51B8-09AF-96B3-75C4EA0F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39568"/>
              </p:ext>
            </p:extLst>
          </p:nvPr>
        </p:nvGraphicFramePr>
        <p:xfrm>
          <a:off x="6751529" y="3544194"/>
          <a:ext cx="4991622" cy="28269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21287">
                  <a:extLst>
                    <a:ext uri="{9D8B030D-6E8A-4147-A177-3AD203B41FA5}">
                      <a16:colId xmlns:a16="http://schemas.microsoft.com/office/drawing/2014/main" val="4174458864"/>
                    </a:ext>
                  </a:extLst>
                </a:gridCol>
                <a:gridCol w="1152395">
                  <a:extLst>
                    <a:ext uri="{9D8B030D-6E8A-4147-A177-3AD203B41FA5}">
                      <a16:colId xmlns:a16="http://schemas.microsoft.com/office/drawing/2014/main" val="151414760"/>
                    </a:ext>
                  </a:extLst>
                </a:gridCol>
                <a:gridCol w="2617940">
                  <a:extLst>
                    <a:ext uri="{9D8B030D-6E8A-4147-A177-3AD203B41FA5}">
                      <a16:colId xmlns:a16="http://schemas.microsoft.com/office/drawing/2014/main" val="3947809060"/>
                    </a:ext>
                  </a:extLst>
                </a:gridCol>
              </a:tblGrid>
              <a:tr h="166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>
                          <a:effectLst/>
                        </a:rPr>
                        <a:t>Component</a:t>
                      </a:r>
                    </a:p>
                  </a:txBody>
                  <a:tcPr marL="46291" marR="46291" marT="23145" marB="2314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>
                          <a:effectLst/>
                        </a:rPr>
                        <a:t>Example Value</a:t>
                      </a:r>
                    </a:p>
                  </a:txBody>
                  <a:tcPr marL="46291" marR="46291" marT="23145" marB="2314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Description</a:t>
                      </a:r>
                    </a:p>
                  </a:txBody>
                  <a:tcPr marL="46291" marR="46291" marT="23145" marB="2314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0804"/>
                  </a:ext>
                </a:extLst>
              </a:tr>
              <a:tr h="726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$JOB1</a:t>
                      </a: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0">
                          <a:solidFill>
                            <a:srgbClr val="7D12BA"/>
                          </a:solidFill>
                          <a:effectLst/>
                        </a:rPr>
                        <a:t>fastqc</a:t>
                      </a:r>
                      <a:endParaRPr lang="en-US" sz="1050">
                        <a:effectLst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This is the </a:t>
                      </a:r>
                      <a:r>
                        <a:rPr lang="en-US" sz="1050" b="1" dirty="0">
                          <a:effectLst/>
                        </a:rPr>
                        <a:t>base name</a:t>
                      </a:r>
                      <a:r>
                        <a:rPr lang="en-US" sz="1050" dirty="0">
                          <a:effectLst/>
                        </a:rPr>
                        <a:t> for the job array. Individual sub-jobs will be named, for example, </a:t>
                      </a:r>
                      <a:r>
                        <a:rPr lang="en-US" sz="1050" b="0" dirty="0" err="1">
                          <a:solidFill>
                            <a:srgbClr val="7D12BA"/>
                          </a:solidFill>
                          <a:effectLst/>
                        </a:rPr>
                        <a:t>fastqc</a:t>
                      </a:r>
                      <a:r>
                        <a:rPr lang="en-US" sz="1050" b="0" dirty="0">
                          <a:solidFill>
                            <a:srgbClr val="7D12BA"/>
                          </a:solidFill>
                          <a:effectLst/>
                        </a:rPr>
                        <a:t>[1]</a:t>
                      </a:r>
                      <a:r>
                        <a:rPr lang="en-US" sz="1050" dirty="0">
                          <a:effectLst/>
                        </a:rPr>
                        <a:t>, </a:t>
                      </a:r>
                      <a:r>
                        <a:rPr lang="en-US" sz="1050" b="0" dirty="0" err="1">
                          <a:solidFill>
                            <a:srgbClr val="7D12BA"/>
                          </a:solidFill>
                          <a:effectLst/>
                        </a:rPr>
                        <a:t>fastqc</a:t>
                      </a:r>
                      <a:r>
                        <a:rPr lang="en-US" sz="1050" b="0" dirty="0">
                          <a:solidFill>
                            <a:srgbClr val="7D12BA"/>
                          </a:solidFill>
                          <a:effectLst/>
                        </a:rPr>
                        <a:t>[2]</a:t>
                      </a:r>
                      <a:r>
                        <a:rPr lang="en-US" sz="1050" dirty="0">
                          <a:effectLst/>
                        </a:rPr>
                        <a:t>, etc.</a:t>
                      </a: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054834782"/>
                  </a:ext>
                </a:extLst>
              </a:tr>
              <a:tr h="969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[1-$NUM_JOB]</a:t>
                      </a: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e.g., </a:t>
                      </a:r>
                      <a:r>
                        <a:rPr lang="en-US" sz="1050" b="0">
                          <a:solidFill>
                            <a:srgbClr val="7D12BA"/>
                          </a:solidFill>
                          <a:effectLst/>
                        </a:rPr>
                        <a:t>[1-50]</a:t>
                      </a:r>
                      <a:endParaRPr lang="en-US" sz="1050">
                        <a:effectLst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This defines the </a:t>
                      </a:r>
                      <a:r>
                        <a:rPr lang="en-US" sz="1050" b="1" dirty="0">
                          <a:effectLst/>
                        </a:rPr>
                        <a:t>range</a:t>
                      </a:r>
                      <a:r>
                        <a:rPr lang="en-US" sz="1050" dirty="0">
                          <a:effectLst/>
                        </a:rPr>
                        <a:t> of the job array. It means the array will consist of sub-jobs with indices starting from </a:t>
                      </a:r>
                      <a:r>
                        <a:rPr lang="en-US" sz="1050" b="1" dirty="0">
                          <a:effectLst/>
                        </a:rPr>
                        <a:t>1</a:t>
                      </a:r>
                      <a:r>
                        <a:rPr lang="en-US" sz="1050" dirty="0">
                          <a:effectLst/>
                        </a:rPr>
                        <a:t> up to the value of $NUM_JOB (which is the number of lines in your input file). </a:t>
                      </a: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710373323"/>
                  </a:ext>
                </a:extLst>
              </a:tr>
              <a:tr h="9244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%$NUM_JOB</a:t>
                      </a: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e.g., </a:t>
                      </a:r>
                      <a:r>
                        <a:rPr lang="en-US" sz="1050" b="0">
                          <a:solidFill>
                            <a:srgbClr val="7D12BA"/>
                          </a:solidFill>
                          <a:effectLst/>
                        </a:rPr>
                        <a:t>%50</a:t>
                      </a:r>
                      <a:endParaRPr lang="en-US" sz="1050">
                        <a:effectLst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This is the crucial </a:t>
                      </a:r>
                      <a:r>
                        <a:rPr lang="en-US" sz="1050" b="1" dirty="0">
                          <a:effectLst/>
                        </a:rPr>
                        <a:t>concurrency limit</a:t>
                      </a:r>
                      <a:r>
                        <a:rPr lang="en-US" sz="1050" dirty="0">
                          <a:effectLst/>
                        </a:rPr>
                        <a:t>. It specifies the </a:t>
                      </a:r>
                      <a:r>
                        <a:rPr lang="en-US" sz="1050" b="1" dirty="0">
                          <a:effectLst/>
                        </a:rPr>
                        <a:t>maximum number of sub-jobs</a:t>
                      </a:r>
                      <a:r>
                        <a:rPr lang="en-US" sz="1050" dirty="0">
                          <a:effectLst/>
                        </a:rPr>
                        <a:t> from this array that LSF is allowed to run </a:t>
                      </a:r>
                      <a:r>
                        <a:rPr lang="en-US" sz="1050" b="1" dirty="0">
                          <a:effectLst/>
                        </a:rPr>
                        <a:t>at the same time</a:t>
                      </a:r>
                      <a:r>
                        <a:rPr lang="en-US" sz="1050" dirty="0">
                          <a:effectLst/>
                        </a:rPr>
                        <a:t> (concurrently).</a:t>
                      </a: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3035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53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1F8B-4A21-25E0-7000-9B856181D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32F008A-ED11-9CE8-56D4-5B30C1E5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Job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D722D-4EF0-8439-42A8-B5209EE2C2F0}"/>
              </a:ext>
            </a:extLst>
          </p:cNvPr>
          <p:cNvSpPr txBox="1"/>
          <p:nvPr/>
        </p:nvSpPr>
        <p:spPr>
          <a:xfrm>
            <a:off x="838200" y="14933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program.lsf</a:t>
            </a:r>
            <a:endParaRPr lang="en-US" sz="12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DC496-4117-D8F6-2A58-DD36037F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89" y="175364"/>
            <a:ext cx="2669882" cy="18417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D4BD65E-699B-ED45-EEDE-0E466653ED31}"/>
              </a:ext>
            </a:extLst>
          </p:cNvPr>
          <p:cNvSpPr/>
          <p:nvPr/>
        </p:nvSpPr>
        <p:spPr>
          <a:xfrm>
            <a:off x="11007372" y="1132876"/>
            <a:ext cx="951978" cy="72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DF5399-3C38-21D2-CA1F-0D91BCDFD403}"/>
              </a:ext>
            </a:extLst>
          </p:cNvPr>
          <p:cNvSpPr txBox="1"/>
          <p:nvPr/>
        </p:nvSpPr>
        <p:spPr>
          <a:xfrm>
            <a:off x="5101223" y="3910270"/>
            <a:ext cx="6520843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7D12BA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SAMPLE=head -n +${LSB_JOBINDEX $IN_LIST | tail -n 1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61FC2-C83E-E62A-AB27-EB494EA8A8D0}"/>
              </a:ext>
            </a:extLst>
          </p:cNvPr>
          <p:cNvSpPr/>
          <p:nvPr/>
        </p:nvSpPr>
        <p:spPr>
          <a:xfrm>
            <a:off x="732772" y="1837286"/>
            <a:ext cx="3497283" cy="47323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ACD94-938F-FCDA-C6D2-C4048F20C5C2}"/>
              </a:ext>
            </a:extLst>
          </p:cNvPr>
          <p:cNvSpPr/>
          <p:nvPr/>
        </p:nvSpPr>
        <p:spPr>
          <a:xfrm>
            <a:off x="792148" y="1914476"/>
            <a:ext cx="3390405" cy="196833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Instructions for scheduler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B2E0D2-2E07-AB21-D61B-86D4557F750B}"/>
              </a:ext>
            </a:extLst>
          </p:cNvPr>
          <p:cNvSpPr/>
          <p:nvPr/>
        </p:nvSpPr>
        <p:spPr>
          <a:xfrm>
            <a:off x="792148" y="3945156"/>
            <a:ext cx="3390405" cy="2541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 to be run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A5ED50-7EA1-9151-0F02-BEA6A66573CE}"/>
              </a:ext>
            </a:extLst>
          </p:cNvPr>
          <p:cNvCxnSpPr>
            <a:cxnSpLocks/>
          </p:cNvCxnSpPr>
          <p:nvPr/>
        </p:nvCxnSpPr>
        <p:spPr>
          <a:xfrm flipH="1">
            <a:off x="3895594" y="4133589"/>
            <a:ext cx="920663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41AD91-B3B2-2396-39C5-B8D20A4410BC}"/>
              </a:ext>
            </a:extLst>
          </p:cNvPr>
          <p:cNvSpPr txBox="1"/>
          <p:nvPr/>
        </p:nvSpPr>
        <p:spPr>
          <a:xfrm>
            <a:off x="5101223" y="4236682"/>
            <a:ext cx="528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It extracts the Nth line from your sample list, where N is the job index.</a:t>
            </a:r>
          </a:p>
        </p:txBody>
      </p:sp>
    </p:spTree>
    <p:extLst>
      <p:ext uri="{BB962C8B-B14F-4D97-AF65-F5344CB8AC3E}">
        <p14:creationId xmlns:p14="http://schemas.microsoft.com/office/powerpoint/2010/main" val="561044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6CF0-CD94-1DDB-21A5-A5D64D45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E0F962-91CA-E9DB-C50A-2DA41651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Job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B44C9-3787-4AED-C020-8316FCBD6569}"/>
              </a:ext>
            </a:extLst>
          </p:cNvPr>
          <p:cNvSpPr txBox="1"/>
          <p:nvPr/>
        </p:nvSpPr>
        <p:spPr>
          <a:xfrm>
            <a:off x="838200" y="14933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program.lsf</a:t>
            </a:r>
            <a:endParaRPr lang="en-US" sz="12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D21D1B-FF34-C35D-BD8E-34AF221C0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89" y="175364"/>
            <a:ext cx="2669882" cy="18417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D0A846C-C7A5-43BD-BB61-67DAFB93862F}"/>
              </a:ext>
            </a:extLst>
          </p:cNvPr>
          <p:cNvSpPr/>
          <p:nvPr/>
        </p:nvSpPr>
        <p:spPr>
          <a:xfrm>
            <a:off x="11007372" y="1132876"/>
            <a:ext cx="951978" cy="72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0BA41-EE34-D1C6-DC63-6987DEAE5144}"/>
              </a:ext>
            </a:extLst>
          </p:cNvPr>
          <p:cNvSpPr txBox="1"/>
          <p:nvPr/>
        </p:nvSpPr>
        <p:spPr>
          <a:xfrm>
            <a:off x="5101223" y="3910270"/>
            <a:ext cx="6520843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7D12BA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SAMPLE=head -n +${LSB_JOBINDEX $IN_LIST | tail -n 1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B1FC39-A7B0-8129-792E-C787E2B96CB8}"/>
              </a:ext>
            </a:extLst>
          </p:cNvPr>
          <p:cNvSpPr/>
          <p:nvPr/>
        </p:nvSpPr>
        <p:spPr>
          <a:xfrm>
            <a:off x="732772" y="1837286"/>
            <a:ext cx="3497283" cy="47323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83760-D42C-8065-77E0-CA1C6463A316}"/>
              </a:ext>
            </a:extLst>
          </p:cNvPr>
          <p:cNvSpPr/>
          <p:nvPr/>
        </p:nvSpPr>
        <p:spPr>
          <a:xfrm>
            <a:off x="792148" y="1914476"/>
            <a:ext cx="3390405" cy="196833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#BSUB -n 2 # number of CPUs required per task </a:t>
            </a:r>
          </a:p>
          <a:p>
            <a:r>
              <a:rPr lang="en-US" sz="1050" dirty="0"/>
              <a:t>#BSUB -q </a:t>
            </a:r>
            <a:r>
              <a:rPr lang="en-US" sz="1050" dirty="0" err="1"/>
              <a:t>shared_memory</a:t>
            </a:r>
            <a:r>
              <a:rPr lang="en-US" sz="1050" dirty="0"/>
              <a:t> # the queue to run on </a:t>
            </a:r>
          </a:p>
          <a:p>
            <a:r>
              <a:rPr lang="en-US" sz="1050" dirty="0"/>
              <a:t>#BSUB -R "span[hosts=1]" </a:t>
            </a:r>
          </a:p>
          <a:p>
            <a:r>
              <a:rPr lang="en-US" sz="1050" dirty="0"/>
              <a:t>#BSUB -R "</a:t>
            </a:r>
            <a:r>
              <a:rPr lang="en-US" sz="1050" dirty="0" err="1"/>
              <a:t>rusage</a:t>
            </a:r>
            <a:r>
              <a:rPr lang="en-US" sz="1050" dirty="0"/>
              <a:t>[mem=4GB]”</a:t>
            </a:r>
          </a:p>
          <a:p>
            <a:r>
              <a:rPr lang="en-US" sz="1050" dirty="0"/>
              <a:t>#BSUB -o "./output.%J_%</a:t>
            </a:r>
            <a:r>
              <a:rPr lang="en-US" sz="1050" dirty="0" err="1"/>
              <a:t>I.log</a:t>
            </a:r>
            <a:r>
              <a:rPr lang="en-US" sz="1050" dirty="0"/>
              <a:t>" </a:t>
            </a:r>
          </a:p>
          <a:p>
            <a:r>
              <a:rPr lang="en-US" sz="1050" dirty="0"/>
              <a:t>#BSUB -e "./error.%J_%</a:t>
            </a:r>
            <a:r>
              <a:rPr lang="en-US" sz="1050" dirty="0" err="1"/>
              <a:t>I.log</a:t>
            </a:r>
            <a:r>
              <a:rPr lang="en-US" sz="1050" dirty="0"/>
              <a:t>" #BSUB -W 10:00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BD988-68F6-854C-46C9-B3BC8CD58A20}"/>
              </a:ext>
            </a:extLst>
          </p:cNvPr>
          <p:cNvSpPr/>
          <p:nvPr/>
        </p:nvSpPr>
        <p:spPr>
          <a:xfrm>
            <a:off x="792148" y="3945156"/>
            <a:ext cx="3390405" cy="2541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 to be run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461B55-C066-F085-AAB4-25870160D869}"/>
              </a:ext>
            </a:extLst>
          </p:cNvPr>
          <p:cNvCxnSpPr>
            <a:cxnSpLocks/>
          </p:cNvCxnSpPr>
          <p:nvPr/>
        </p:nvCxnSpPr>
        <p:spPr>
          <a:xfrm flipH="1">
            <a:off x="3895594" y="4133589"/>
            <a:ext cx="920663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71FA77A-BEAB-D20F-5961-51AF5A9EDDC1}"/>
              </a:ext>
            </a:extLst>
          </p:cNvPr>
          <p:cNvSpPr txBox="1"/>
          <p:nvPr/>
        </p:nvSpPr>
        <p:spPr>
          <a:xfrm>
            <a:off x="5101223" y="4236682"/>
            <a:ext cx="528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It extracts the Nth line from your sample list, where N is the job index.</a:t>
            </a:r>
          </a:p>
        </p:txBody>
      </p:sp>
    </p:spTree>
    <p:extLst>
      <p:ext uri="{BB962C8B-B14F-4D97-AF65-F5344CB8AC3E}">
        <p14:creationId xmlns:p14="http://schemas.microsoft.com/office/powerpoint/2010/main" val="3610854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A7DD-351E-111E-D1E9-06B77A62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E868F-3ED1-EEBA-957C-4008A4390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Job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8835D-4153-4609-7F22-74B02067A3BC}"/>
              </a:ext>
            </a:extLst>
          </p:cNvPr>
          <p:cNvSpPr txBox="1"/>
          <p:nvPr/>
        </p:nvSpPr>
        <p:spPr>
          <a:xfrm>
            <a:off x="838200" y="14933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program.lsf</a:t>
            </a:r>
            <a:endParaRPr lang="en-US" sz="12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B7D39-F2E2-C4F9-92D9-347F4108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89" y="175364"/>
            <a:ext cx="2669882" cy="18417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7761FCF-19CD-01F0-AB83-D6A981E9542F}"/>
              </a:ext>
            </a:extLst>
          </p:cNvPr>
          <p:cNvSpPr/>
          <p:nvPr/>
        </p:nvSpPr>
        <p:spPr>
          <a:xfrm>
            <a:off x="11007372" y="1132876"/>
            <a:ext cx="951978" cy="7210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F9C14-B7B0-C82E-DD02-9459C520A7AD}"/>
              </a:ext>
            </a:extLst>
          </p:cNvPr>
          <p:cNvSpPr/>
          <p:nvPr/>
        </p:nvSpPr>
        <p:spPr>
          <a:xfrm>
            <a:off x="732772" y="1837286"/>
            <a:ext cx="3497283" cy="47323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3A574-13C9-A525-D495-8E446E2AE866}"/>
              </a:ext>
            </a:extLst>
          </p:cNvPr>
          <p:cNvSpPr/>
          <p:nvPr/>
        </p:nvSpPr>
        <p:spPr>
          <a:xfrm>
            <a:off x="792148" y="3945156"/>
            <a:ext cx="3390405" cy="2541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 to be run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8B732C-5E52-AC7A-36CC-F938B4647697}"/>
              </a:ext>
            </a:extLst>
          </p:cNvPr>
          <p:cNvCxnSpPr>
            <a:cxnSpLocks/>
          </p:cNvCxnSpPr>
          <p:nvPr/>
        </p:nvCxnSpPr>
        <p:spPr>
          <a:xfrm>
            <a:off x="6212909" y="2919106"/>
            <a:ext cx="1058450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2429E6-37F5-5416-DE7A-9F96A39D741F}"/>
              </a:ext>
            </a:extLst>
          </p:cNvPr>
          <p:cNvSpPr txBox="1"/>
          <p:nvPr/>
        </p:nvSpPr>
        <p:spPr>
          <a:xfrm>
            <a:off x="7388268" y="2758954"/>
            <a:ext cx="2977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config.sh</a:t>
            </a:r>
            <a:r>
              <a:rPr lang="en-US" sz="1400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 </a:t>
            </a:r>
            <a:r>
              <a:rPr lang="en-US" sz="14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run_program.sh</a:t>
            </a:r>
            <a:endParaRPr lang="en-US" sz="14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7EE76-E6FA-7B3B-73DA-F10502E8FEB2}"/>
              </a:ext>
            </a:extLst>
          </p:cNvPr>
          <p:cNvSpPr/>
          <p:nvPr/>
        </p:nvSpPr>
        <p:spPr>
          <a:xfrm>
            <a:off x="2593307" y="1907054"/>
            <a:ext cx="3390405" cy="196833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#BSUB -n 2 # number of CPUs required per task </a:t>
            </a:r>
          </a:p>
          <a:p>
            <a:r>
              <a:rPr lang="en-US" sz="1050" dirty="0"/>
              <a:t>#BSUB -q </a:t>
            </a:r>
            <a:r>
              <a:rPr lang="en-US" sz="1050" dirty="0" err="1"/>
              <a:t>shared_memory</a:t>
            </a:r>
            <a:r>
              <a:rPr lang="en-US" sz="1050" dirty="0"/>
              <a:t> # the queue to run on </a:t>
            </a:r>
          </a:p>
          <a:p>
            <a:r>
              <a:rPr lang="en-US" sz="1050" dirty="0"/>
              <a:t>#BSUB -R "span[hosts=1]" </a:t>
            </a:r>
          </a:p>
          <a:p>
            <a:r>
              <a:rPr lang="en-US" sz="1050" dirty="0"/>
              <a:t>#BSUB -R "</a:t>
            </a:r>
            <a:r>
              <a:rPr lang="en-US" sz="1050" dirty="0" err="1"/>
              <a:t>rusage</a:t>
            </a:r>
            <a:r>
              <a:rPr lang="en-US" sz="1050" dirty="0"/>
              <a:t>[mem=4GB]”</a:t>
            </a:r>
          </a:p>
          <a:p>
            <a:r>
              <a:rPr lang="en-US" sz="1050" dirty="0"/>
              <a:t>#BSUB -o "./output.%J_%</a:t>
            </a:r>
            <a:r>
              <a:rPr lang="en-US" sz="1050" dirty="0" err="1"/>
              <a:t>I.log</a:t>
            </a:r>
            <a:r>
              <a:rPr lang="en-US" sz="1050" dirty="0"/>
              <a:t>" </a:t>
            </a:r>
          </a:p>
          <a:p>
            <a:r>
              <a:rPr lang="en-US" sz="1050" dirty="0"/>
              <a:t>#BSUB -e "./error.%J_%</a:t>
            </a:r>
            <a:r>
              <a:rPr lang="en-US" sz="1050" dirty="0" err="1"/>
              <a:t>I.log</a:t>
            </a:r>
            <a:r>
              <a:rPr lang="en-US" sz="1050" dirty="0"/>
              <a:t>" #BSUB -W 10:00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9B35D0-1F1B-F380-CB81-AEC60F802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13" y="4203444"/>
            <a:ext cx="3282167" cy="17532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E98E42-76B2-9CF0-688B-8F34C54EC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118" y="3875389"/>
            <a:ext cx="3112096" cy="24045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EFE770-56F6-9001-D95A-8276191CBDF7}"/>
              </a:ext>
            </a:extLst>
          </p:cNvPr>
          <p:cNvSpPr txBox="1"/>
          <p:nvPr/>
        </p:nvSpPr>
        <p:spPr>
          <a:xfrm>
            <a:off x="8630011" y="3659945"/>
            <a:ext cx="1059906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run_program.sh</a:t>
            </a:r>
            <a:endParaRPr lang="en-US" sz="800" dirty="0">
              <a:solidFill>
                <a:srgbClr val="7030A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6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87952-1F43-9BFD-2559-31F22414BB0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Demo, </a:t>
            </a:r>
            <a:r>
              <a:rPr lang="en-US" b="1" dirty="0" err="1"/>
              <a:t>fastqc</a:t>
            </a:r>
            <a:r>
              <a:rPr lang="en-US" b="1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143755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0F7F9-5493-0008-74A9-38BC2DB1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861B58A-3584-2A75-CE4A-BC1665079C8A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Try it yourself!</a:t>
            </a:r>
          </a:p>
        </p:txBody>
      </p:sp>
      <p:pic>
        <p:nvPicPr>
          <p:cNvPr id="8" name="Picture 6" descr="coding Symbol mark in filled style 47628836 Vector Art at Vecteezy">
            <a:extLst>
              <a:ext uri="{FF2B5EF4-FFF2-40B4-BE49-F238E27FC236}">
                <a16:creationId xmlns:a16="http://schemas.microsoft.com/office/drawing/2014/main" id="{80925230-2674-741D-DBBC-632AEE001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440" y="626429"/>
            <a:ext cx="904240" cy="90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3177BE-CC3B-D76D-CEB2-FE40A73BA1D7}"/>
              </a:ext>
            </a:extLst>
          </p:cNvPr>
          <p:cNvSpPr txBox="1"/>
          <p:nvPr/>
        </p:nvSpPr>
        <p:spPr>
          <a:xfrm>
            <a:off x="1068111" y="1951992"/>
            <a:ext cx="7048533" cy="25423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Choose a program to run (it can be the job you ran in the last session)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Make a list of samples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Create your config and your launcher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Modify the job script to make it “</a:t>
            </a:r>
            <a:r>
              <a:rPr lang="en-US" dirty="0" err="1"/>
              <a:t>arrayable</a:t>
            </a:r>
            <a:r>
              <a:rPr lang="en-US" dirty="0"/>
              <a:t>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Test it!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86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1113</Words>
  <Application>Microsoft Macintosh PowerPoint</Application>
  <PresentationFormat>Widescreen</PresentationFormat>
  <Paragraphs>174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Helvetica</vt:lpstr>
      <vt:lpstr>Helvetica Light</vt:lpstr>
      <vt:lpstr>Menlo</vt:lpstr>
      <vt:lpstr>Wingdings</vt:lpstr>
      <vt:lpstr>Office Theme</vt:lpstr>
      <vt:lpstr>BRC workshops: Hazel HPC</vt:lpstr>
      <vt:lpstr>Leave us your feedback!</vt:lpstr>
      <vt:lpstr>Workshop Structure</vt:lpstr>
      <vt:lpstr>PowerPoint Presentation</vt:lpstr>
      <vt:lpstr>Scaling up: embarrassingly parallel</vt:lpstr>
      <vt:lpstr>Scaling up: embarrassingly parallel</vt:lpstr>
      <vt:lpstr>Scaling up: embarrassingly parallel</vt:lpstr>
      <vt:lpstr>Anatomy of the job array</vt:lpstr>
      <vt:lpstr>Anatomy of the job array</vt:lpstr>
      <vt:lpstr>Anatomy of the job array</vt:lpstr>
      <vt:lpstr>Config file</vt:lpstr>
      <vt:lpstr>Launcher script</vt:lpstr>
      <vt:lpstr>Job script</vt:lpstr>
      <vt:lpstr>Job script</vt:lpstr>
      <vt:lpstr>Job script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Touceda Suarez</dc:creator>
  <cp:lastModifiedBy>Maria Touceda Suarez</cp:lastModifiedBy>
  <cp:revision>6</cp:revision>
  <dcterms:created xsi:type="dcterms:W3CDTF">2026-04-16T14:32:56Z</dcterms:created>
  <dcterms:modified xsi:type="dcterms:W3CDTF">2026-04-16T17:41:39Z</dcterms:modified>
</cp:coreProperties>
</file>